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0" r:id="rId3"/>
    <p:sldId id="271" r:id="rId4"/>
    <p:sldId id="279" r:id="rId5"/>
    <p:sldId id="272" r:id="rId6"/>
    <p:sldId id="273" r:id="rId7"/>
    <p:sldId id="267" r:id="rId8"/>
    <p:sldId id="281" r:id="rId9"/>
    <p:sldId id="278" r:id="rId10"/>
    <p:sldId id="268" r:id="rId11"/>
    <p:sldId id="269" r:id="rId12"/>
    <p:sldId id="280" r:id="rId13"/>
    <p:sldId id="275" r:id="rId14"/>
    <p:sldId id="274" r:id="rId15"/>
    <p:sldId id="260" r:id="rId16"/>
    <p:sldId id="276" r:id="rId17"/>
    <p:sldId id="27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7"/>
    <p:restoredTop sz="94632"/>
  </p:normalViewPr>
  <p:slideViewPr>
    <p:cSldViewPr snapToGrid="0" snapToObjects="1">
      <p:cViewPr varScale="1">
        <p:scale>
          <a:sx n="159" d="100"/>
          <a:sy n="159" d="100"/>
        </p:scale>
        <p:origin x="41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hyperlink" Target="https://www.geeksforgeeks.org/system-design/what-is-system-design-learn-system-design/" TargetMode="External"/></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1" Type="http://schemas.openxmlformats.org/officeDocument/2006/relationships/hyperlink" Target="https://www.geeksforgeeks.org/system-design/what-is-system-design-learn-system-design/" TargetMode="External"/></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01EE15-E451-4FBC-8C42-EACE03C6EFFB}"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12729918-6666-4AA3-997C-EA0EB774C030}">
      <dgm:prSet/>
      <dgm:spPr/>
      <dgm:t>
        <a:bodyPr/>
        <a:lstStyle/>
        <a:p>
          <a:r>
            <a:rPr lang="en-GB"/>
            <a:t>Synchronous communication is a type of interaction in which the sender sends a request and waits for an immediate response before proceeding. In </a:t>
          </a:r>
          <a:r>
            <a:rPr lang="en-GB" u="sng">
              <a:hlinkClick xmlns:r="http://schemas.openxmlformats.org/officeDocument/2006/relationships" r:id="rId1"/>
            </a:rPr>
            <a:t>system design</a:t>
          </a:r>
          <a:r>
            <a:rPr lang="en-GB"/>
            <a:t>, this means that the requesting component (or service) must pause its execution until the receiving component processes the request and returns a result.</a:t>
          </a:r>
          <a:endParaRPr lang="en-US"/>
        </a:p>
      </dgm:t>
    </dgm:pt>
    <dgm:pt modelId="{62DC70A2-AD8A-4D2A-8F9B-3E6984BCC42A}" type="parTrans" cxnId="{E7E4087A-3BCA-4FF7-B8D1-949C8141822E}">
      <dgm:prSet/>
      <dgm:spPr/>
      <dgm:t>
        <a:bodyPr/>
        <a:lstStyle/>
        <a:p>
          <a:endParaRPr lang="en-US"/>
        </a:p>
      </dgm:t>
    </dgm:pt>
    <dgm:pt modelId="{651DF2D9-57B6-4E86-B447-4577CBD2367E}" type="sibTrans" cxnId="{E7E4087A-3BCA-4FF7-B8D1-949C8141822E}">
      <dgm:prSet/>
      <dgm:spPr/>
      <dgm:t>
        <a:bodyPr/>
        <a:lstStyle/>
        <a:p>
          <a:endParaRPr lang="en-US"/>
        </a:p>
      </dgm:t>
    </dgm:pt>
    <dgm:pt modelId="{8F6E12AE-6961-4A9C-8C19-81ED70310EC5}">
      <dgm:prSet/>
      <dgm:spPr/>
      <dgm:t>
        <a:bodyPr/>
        <a:lstStyle/>
        <a:p>
          <a:r>
            <a:rPr lang="en-GB"/>
            <a:t>Synchronous communication is </a:t>
          </a:r>
          <a:r>
            <a:rPr lang="en-GB" b="1"/>
            <a:t>often </a:t>
          </a:r>
          <a:r>
            <a:rPr lang="en-GB"/>
            <a:t>used in </a:t>
          </a:r>
          <a:r>
            <a:rPr lang="en-GB" b="1"/>
            <a:t>real-time</a:t>
          </a:r>
          <a:r>
            <a:rPr lang="en-GB"/>
            <a:t> scenarios where immediate feedback is necessary, such as in APIs, database queries, or tightly coupled systems.</a:t>
          </a:r>
          <a:endParaRPr lang="en-US"/>
        </a:p>
      </dgm:t>
    </dgm:pt>
    <dgm:pt modelId="{0046BA78-AAD4-4D9F-B358-AB58E6B40AE2}" type="parTrans" cxnId="{B0938914-B698-4B07-8A4E-B423743B69B4}">
      <dgm:prSet/>
      <dgm:spPr/>
      <dgm:t>
        <a:bodyPr/>
        <a:lstStyle/>
        <a:p>
          <a:endParaRPr lang="en-US"/>
        </a:p>
      </dgm:t>
    </dgm:pt>
    <dgm:pt modelId="{A5D66FF5-3A44-4A1F-BF06-075385002E83}" type="sibTrans" cxnId="{B0938914-B698-4B07-8A4E-B423743B69B4}">
      <dgm:prSet/>
      <dgm:spPr/>
      <dgm:t>
        <a:bodyPr/>
        <a:lstStyle/>
        <a:p>
          <a:endParaRPr lang="en-US"/>
        </a:p>
      </dgm:t>
    </dgm:pt>
    <dgm:pt modelId="{28A860AB-40F9-44D9-AB44-1D9F03975BB4}">
      <dgm:prSet/>
      <dgm:spPr/>
      <dgm:t>
        <a:bodyPr/>
        <a:lstStyle/>
        <a:p>
          <a:r>
            <a:rPr lang="en-GB"/>
            <a:t>While it ensures consistency and simplicity, it can introduce latency or slow down performance if the response time is delayed.</a:t>
          </a:r>
          <a:endParaRPr lang="en-US"/>
        </a:p>
      </dgm:t>
    </dgm:pt>
    <dgm:pt modelId="{C6925268-40CA-42C7-A6D1-164F72DDDCA3}" type="parTrans" cxnId="{3553A2E1-3B12-4E09-9288-09C021676F0F}">
      <dgm:prSet/>
      <dgm:spPr/>
      <dgm:t>
        <a:bodyPr/>
        <a:lstStyle/>
        <a:p>
          <a:endParaRPr lang="en-US"/>
        </a:p>
      </dgm:t>
    </dgm:pt>
    <dgm:pt modelId="{9ABF715D-5572-40DB-B3DE-091B809D42A1}" type="sibTrans" cxnId="{3553A2E1-3B12-4E09-9288-09C021676F0F}">
      <dgm:prSet/>
      <dgm:spPr/>
      <dgm:t>
        <a:bodyPr/>
        <a:lstStyle/>
        <a:p>
          <a:endParaRPr lang="en-US"/>
        </a:p>
      </dgm:t>
    </dgm:pt>
    <dgm:pt modelId="{2DBD3596-71E1-1746-BFAC-D0663132E821}" type="pres">
      <dgm:prSet presAssocID="{5401EE15-E451-4FBC-8C42-EACE03C6EFFB}" presName="Name0" presStyleCnt="0">
        <dgm:presLayoutVars>
          <dgm:dir/>
          <dgm:animLvl val="lvl"/>
          <dgm:resizeHandles val="exact"/>
        </dgm:presLayoutVars>
      </dgm:prSet>
      <dgm:spPr/>
    </dgm:pt>
    <dgm:pt modelId="{CF0B99F2-0658-8044-BF52-8D5F176D55F0}" type="pres">
      <dgm:prSet presAssocID="{28A860AB-40F9-44D9-AB44-1D9F03975BB4}" presName="boxAndChildren" presStyleCnt="0"/>
      <dgm:spPr/>
    </dgm:pt>
    <dgm:pt modelId="{3CA99C4A-2FA1-114A-A17C-2C885E5AFC28}" type="pres">
      <dgm:prSet presAssocID="{28A860AB-40F9-44D9-AB44-1D9F03975BB4}" presName="parentTextBox" presStyleLbl="node1" presStyleIdx="0" presStyleCnt="3"/>
      <dgm:spPr/>
    </dgm:pt>
    <dgm:pt modelId="{3EA0DA88-6830-544C-80A3-AA7F4F99630B}" type="pres">
      <dgm:prSet presAssocID="{A5D66FF5-3A44-4A1F-BF06-075385002E83}" presName="sp" presStyleCnt="0"/>
      <dgm:spPr/>
    </dgm:pt>
    <dgm:pt modelId="{40834ABF-C719-BA49-B5EF-DEB5C141471A}" type="pres">
      <dgm:prSet presAssocID="{8F6E12AE-6961-4A9C-8C19-81ED70310EC5}" presName="arrowAndChildren" presStyleCnt="0"/>
      <dgm:spPr/>
    </dgm:pt>
    <dgm:pt modelId="{43E8BAE1-09C2-CD4F-831B-8A3F1E194594}" type="pres">
      <dgm:prSet presAssocID="{8F6E12AE-6961-4A9C-8C19-81ED70310EC5}" presName="parentTextArrow" presStyleLbl="node1" presStyleIdx="1" presStyleCnt="3"/>
      <dgm:spPr/>
    </dgm:pt>
    <dgm:pt modelId="{3BFE7485-A8A5-6549-AAFB-DF91A1396001}" type="pres">
      <dgm:prSet presAssocID="{651DF2D9-57B6-4E86-B447-4577CBD2367E}" presName="sp" presStyleCnt="0"/>
      <dgm:spPr/>
    </dgm:pt>
    <dgm:pt modelId="{AB35700D-005C-3C41-86BD-D9548684D0F3}" type="pres">
      <dgm:prSet presAssocID="{12729918-6666-4AA3-997C-EA0EB774C030}" presName="arrowAndChildren" presStyleCnt="0"/>
      <dgm:spPr/>
    </dgm:pt>
    <dgm:pt modelId="{B0214B55-B4AB-4B4D-A4EA-07A223268410}" type="pres">
      <dgm:prSet presAssocID="{12729918-6666-4AA3-997C-EA0EB774C030}" presName="parentTextArrow" presStyleLbl="node1" presStyleIdx="2" presStyleCnt="3"/>
      <dgm:spPr/>
    </dgm:pt>
  </dgm:ptLst>
  <dgm:cxnLst>
    <dgm:cxn modelId="{B0938914-B698-4B07-8A4E-B423743B69B4}" srcId="{5401EE15-E451-4FBC-8C42-EACE03C6EFFB}" destId="{8F6E12AE-6961-4A9C-8C19-81ED70310EC5}" srcOrd="1" destOrd="0" parTransId="{0046BA78-AAD4-4D9F-B358-AB58E6B40AE2}" sibTransId="{A5D66FF5-3A44-4A1F-BF06-075385002E83}"/>
    <dgm:cxn modelId="{B1FD6E5E-EFFB-8E41-8AEB-03D9D89EE349}" type="presOf" srcId="{28A860AB-40F9-44D9-AB44-1D9F03975BB4}" destId="{3CA99C4A-2FA1-114A-A17C-2C885E5AFC28}" srcOrd="0" destOrd="0" presId="urn:microsoft.com/office/officeart/2005/8/layout/process4"/>
    <dgm:cxn modelId="{E7E4087A-3BCA-4FF7-B8D1-949C8141822E}" srcId="{5401EE15-E451-4FBC-8C42-EACE03C6EFFB}" destId="{12729918-6666-4AA3-997C-EA0EB774C030}" srcOrd="0" destOrd="0" parTransId="{62DC70A2-AD8A-4D2A-8F9B-3E6984BCC42A}" sibTransId="{651DF2D9-57B6-4E86-B447-4577CBD2367E}"/>
    <dgm:cxn modelId="{1D6F9587-B4F9-A744-8EEA-AF01AF6EC9C1}" type="presOf" srcId="{8F6E12AE-6961-4A9C-8C19-81ED70310EC5}" destId="{43E8BAE1-09C2-CD4F-831B-8A3F1E194594}" srcOrd="0" destOrd="0" presId="urn:microsoft.com/office/officeart/2005/8/layout/process4"/>
    <dgm:cxn modelId="{8861B6BD-B33A-9041-9F8E-91746066411C}" type="presOf" srcId="{5401EE15-E451-4FBC-8C42-EACE03C6EFFB}" destId="{2DBD3596-71E1-1746-BFAC-D0663132E821}" srcOrd="0" destOrd="0" presId="urn:microsoft.com/office/officeart/2005/8/layout/process4"/>
    <dgm:cxn modelId="{39140ADD-3F90-E74F-B3F7-6907C0E7FE19}" type="presOf" srcId="{12729918-6666-4AA3-997C-EA0EB774C030}" destId="{B0214B55-B4AB-4B4D-A4EA-07A223268410}" srcOrd="0" destOrd="0" presId="urn:microsoft.com/office/officeart/2005/8/layout/process4"/>
    <dgm:cxn modelId="{3553A2E1-3B12-4E09-9288-09C021676F0F}" srcId="{5401EE15-E451-4FBC-8C42-EACE03C6EFFB}" destId="{28A860AB-40F9-44D9-AB44-1D9F03975BB4}" srcOrd="2" destOrd="0" parTransId="{C6925268-40CA-42C7-A6D1-164F72DDDCA3}" sibTransId="{9ABF715D-5572-40DB-B3DE-091B809D42A1}"/>
    <dgm:cxn modelId="{F4DF973C-4B01-D145-9462-608E1FAB7845}" type="presParOf" srcId="{2DBD3596-71E1-1746-BFAC-D0663132E821}" destId="{CF0B99F2-0658-8044-BF52-8D5F176D55F0}" srcOrd="0" destOrd="0" presId="urn:microsoft.com/office/officeart/2005/8/layout/process4"/>
    <dgm:cxn modelId="{79A3369F-5E66-F349-B86E-E39EC6889B96}" type="presParOf" srcId="{CF0B99F2-0658-8044-BF52-8D5F176D55F0}" destId="{3CA99C4A-2FA1-114A-A17C-2C885E5AFC28}" srcOrd="0" destOrd="0" presId="urn:microsoft.com/office/officeart/2005/8/layout/process4"/>
    <dgm:cxn modelId="{DF8B83F1-3881-4F4D-BF70-0A208D3F79B0}" type="presParOf" srcId="{2DBD3596-71E1-1746-BFAC-D0663132E821}" destId="{3EA0DA88-6830-544C-80A3-AA7F4F99630B}" srcOrd="1" destOrd="0" presId="urn:microsoft.com/office/officeart/2005/8/layout/process4"/>
    <dgm:cxn modelId="{41539DEF-E1CC-4042-825A-6A7B8499C3AE}" type="presParOf" srcId="{2DBD3596-71E1-1746-BFAC-D0663132E821}" destId="{40834ABF-C719-BA49-B5EF-DEB5C141471A}" srcOrd="2" destOrd="0" presId="urn:microsoft.com/office/officeart/2005/8/layout/process4"/>
    <dgm:cxn modelId="{35CBCD7F-AF78-3846-AE2D-830470815DA2}" type="presParOf" srcId="{40834ABF-C719-BA49-B5EF-DEB5C141471A}" destId="{43E8BAE1-09C2-CD4F-831B-8A3F1E194594}" srcOrd="0" destOrd="0" presId="urn:microsoft.com/office/officeart/2005/8/layout/process4"/>
    <dgm:cxn modelId="{1EA0C437-9B79-E948-823B-8B1F4B458097}" type="presParOf" srcId="{2DBD3596-71E1-1746-BFAC-D0663132E821}" destId="{3BFE7485-A8A5-6549-AAFB-DF91A1396001}" srcOrd="3" destOrd="0" presId="urn:microsoft.com/office/officeart/2005/8/layout/process4"/>
    <dgm:cxn modelId="{0AD1B6D3-EAF4-A448-A3E9-20911E06DD91}" type="presParOf" srcId="{2DBD3596-71E1-1746-BFAC-D0663132E821}" destId="{AB35700D-005C-3C41-86BD-D9548684D0F3}" srcOrd="4" destOrd="0" presId="urn:microsoft.com/office/officeart/2005/8/layout/process4"/>
    <dgm:cxn modelId="{52F85A58-11C0-5C4E-9DCD-25419EA1D202}" type="presParOf" srcId="{AB35700D-005C-3C41-86BD-D9548684D0F3}" destId="{B0214B55-B4AB-4B4D-A4EA-07A223268410}"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F6E101-3800-487D-B113-38CC57EA01BC}"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54A102F7-03DB-4A09-B426-0411114CCAFE}">
      <dgm:prSet/>
      <dgm:spPr/>
      <dgm:t>
        <a:bodyPr/>
        <a:lstStyle/>
        <a:p>
          <a:pPr>
            <a:defRPr cap="all"/>
          </a:pPr>
          <a:r>
            <a:rPr lang="en-GB"/>
            <a:t>Immediate feedback and interaction.</a:t>
          </a:r>
          <a:endParaRPr lang="en-US"/>
        </a:p>
      </dgm:t>
    </dgm:pt>
    <dgm:pt modelId="{B4F7BBC0-DF92-471A-A7B2-AB0D0D851787}" type="parTrans" cxnId="{D5CAB1C4-DC2A-4E3D-8919-F24B1FA58DBE}">
      <dgm:prSet/>
      <dgm:spPr/>
      <dgm:t>
        <a:bodyPr/>
        <a:lstStyle/>
        <a:p>
          <a:endParaRPr lang="en-US"/>
        </a:p>
      </dgm:t>
    </dgm:pt>
    <dgm:pt modelId="{0597F4E6-8D16-4012-918C-FD2412DDB1E4}" type="sibTrans" cxnId="{D5CAB1C4-DC2A-4E3D-8919-F24B1FA58DBE}">
      <dgm:prSet/>
      <dgm:spPr/>
      <dgm:t>
        <a:bodyPr/>
        <a:lstStyle/>
        <a:p>
          <a:endParaRPr lang="en-US"/>
        </a:p>
      </dgm:t>
    </dgm:pt>
    <dgm:pt modelId="{8A41A989-1FC7-4BFE-BF2E-CA152F2DFF04}">
      <dgm:prSet/>
      <dgm:spPr/>
      <dgm:t>
        <a:bodyPr/>
        <a:lstStyle/>
        <a:p>
          <a:pPr>
            <a:defRPr cap="all"/>
          </a:pPr>
          <a:r>
            <a:rPr lang="en-GB"/>
            <a:t>Encourages clearer and faster decision-making.</a:t>
          </a:r>
          <a:endParaRPr lang="en-US"/>
        </a:p>
      </dgm:t>
    </dgm:pt>
    <dgm:pt modelId="{50EA0464-F36B-40BE-B61D-963BBE9D2693}" type="parTrans" cxnId="{DCF54445-FC36-463D-AB3A-00AE0EF64446}">
      <dgm:prSet/>
      <dgm:spPr/>
      <dgm:t>
        <a:bodyPr/>
        <a:lstStyle/>
        <a:p>
          <a:endParaRPr lang="en-US"/>
        </a:p>
      </dgm:t>
    </dgm:pt>
    <dgm:pt modelId="{F8463C28-0D6B-4FDF-9701-567C922B2EAA}" type="sibTrans" cxnId="{DCF54445-FC36-463D-AB3A-00AE0EF64446}">
      <dgm:prSet/>
      <dgm:spPr/>
      <dgm:t>
        <a:bodyPr/>
        <a:lstStyle/>
        <a:p>
          <a:endParaRPr lang="en-US"/>
        </a:p>
      </dgm:t>
    </dgm:pt>
    <dgm:pt modelId="{9122B604-C072-48A7-8F8E-BF396853B50D}" type="pres">
      <dgm:prSet presAssocID="{02F6E101-3800-487D-B113-38CC57EA01BC}" presName="root" presStyleCnt="0">
        <dgm:presLayoutVars>
          <dgm:dir/>
          <dgm:resizeHandles val="exact"/>
        </dgm:presLayoutVars>
      </dgm:prSet>
      <dgm:spPr/>
    </dgm:pt>
    <dgm:pt modelId="{2B72A257-AE23-422B-940C-901818DF2702}" type="pres">
      <dgm:prSet presAssocID="{54A102F7-03DB-4A09-B426-0411114CCAFE}" presName="compNode" presStyleCnt="0"/>
      <dgm:spPr/>
    </dgm:pt>
    <dgm:pt modelId="{AA34E945-21EB-4793-A9FC-B81028EE8369}" type="pres">
      <dgm:prSet presAssocID="{54A102F7-03DB-4A09-B426-0411114CCAFE}" presName="iconBgRect" presStyleLbl="bgShp" presStyleIdx="0" presStyleCnt="2"/>
      <dgm:spPr/>
    </dgm:pt>
    <dgm:pt modelId="{B0D2875E-D759-4955-B92C-65A04DE99AB2}" type="pres">
      <dgm:prSet presAssocID="{54A102F7-03DB-4A09-B426-0411114CCAF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F0508ED5-E9F0-444B-B5B5-3556C25CD813}" type="pres">
      <dgm:prSet presAssocID="{54A102F7-03DB-4A09-B426-0411114CCAFE}" presName="spaceRect" presStyleCnt="0"/>
      <dgm:spPr/>
    </dgm:pt>
    <dgm:pt modelId="{C05412AA-33FF-4CF2-A6B7-77735E249C77}" type="pres">
      <dgm:prSet presAssocID="{54A102F7-03DB-4A09-B426-0411114CCAFE}" presName="textRect" presStyleLbl="revTx" presStyleIdx="0" presStyleCnt="2">
        <dgm:presLayoutVars>
          <dgm:chMax val="1"/>
          <dgm:chPref val="1"/>
        </dgm:presLayoutVars>
      </dgm:prSet>
      <dgm:spPr/>
    </dgm:pt>
    <dgm:pt modelId="{39924A24-F23E-4A41-91A8-3F2581F2E2CB}" type="pres">
      <dgm:prSet presAssocID="{0597F4E6-8D16-4012-918C-FD2412DDB1E4}" presName="sibTrans" presStyleCnt="0"/>
      <dgm:spPr/>
    </dgm:pt>
    <dgm:pt modelId="{00F734C8-393F-4EF2-87D2-695EBD95C996}" type="pres">
      <dgm:prSet presAssocID="{8A41A989-1FC7-4BFE-BF2E-CA152F2DFF04}" presName="compNode" presStyleCnt="0"/>
      <dgm:spPr/>
    </dgm:pt>
    <dgm:pt modelId="{4E92E9EE-5669-4496-A0CB-C53FF1B642EB}" type="pres">
      <dgm:prSet presAssocID="{8A41A989-1FC7-4BFE-BF2E-CA152F2DFF04}" presName="iconBgRect" presStyleLbl="bgShp" presStyleIdx="1" presStyleCnt="2"/>
      <dgm:spPr/>
    </dgm:pt>
    <dgm:pt modelId="{B18F95FC-DA25-43D8-B5B3-35D356C86826}" type="pres">
      <dgm:prSet presAssocID="{8A41A989-1FC7-4BFE-BF2E-CA152F2DFF0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cision chart"/>
        </a:ext>
      </dgm:extLst>
    </dgm:pt>
    <dgm:pt modelId="{9CFECC54-20E0-4142-B196-1D62D655D8DF}" type="pres">
      <dgm:prSet presAssocID="{8A41A989-1FC7-4BFE-BF2E-CA152F2DFF04}" presName="spaceRect" presStyleCnt="0"/>
      <dgm:spPr/>
    </dgm:pt>
    <dgm:pt modelId="{B0E19AE7-8160-49D5-B83F-8F2053B30E6B}" type="pres">
      <dgm:prSet presAssocID="{8A41A989-1FC7-4BFE-BF2E-CA152F2DFF04}" presName="textRect" presStyleLbl="revTx" presStyleIdx="1" presStyleCnt="2">
        <dgm:presLayoutVars>
          <dgm:chMax val="1"/>
          <dgm:chPref val="1"/>
        </dgm:presLayoutVars>
      </dgm:prSet>
      <dgm:spPr/>
    </dgm:pt>
  </dgm:ptLst>
  <dgm:cxnLst>
    <dgm:cxn modelId="{DCF54445-FC36-463D-AB3A-00AE0EF64446}" srcId="{02F6E101-3800-487D-B113-38CC57EA01BC}" destId="{8A41A989-1FC7-4BFE-BF2E-CA152F2DFF04}" srcOrd="1" destOrd="0" parTransId="{50EA0464-F36B-40BE-B61D-963BBE9D2693}" sibTransId="{F8463C28-0D6B-4FDF-9701-567C922B2EAA}"/>
    <dgm:cxn modelId="{F56A3548-4334-49D0-8741-EAAE28FB53C5}" type="presOf" srcId="{54A102F7-03DB-4A09-B426-0411114CCAFE}" destId="{C05412AA-33FF-4CF2-A6B7-77735E249C77}" srcOrd="0" destOrd="0" presId="urn:microsoft.com/office/officeart/2018/5/layout/IconCircleLabelList"/>
    <dgm:cxn modelId="{EA0F5986-6CAA-40DA-8F66-93D8DC18A086}" type="presOf" srcId="{8A41A989-1FC7-4BFE-BF2E-CA152F2DFF04}" destId="{B0E19AE7-8160-49D5-B83F-8F2053B30E6B}" srcOrd="0" destOrd="0" presId="urn:microsoft.com/office/officeart/2018/5/layout/IconCircleLabelList"/>
    <dgm:cxn modelId="{D5CAB1C4-DC2A-4E3D-8919-F24B1FA58DBE}" srcId="{02F6E101-3800-487D-B113-38CC57EA01BC}" destId="{54A102F7-03DB-4A09-B426-0411114CCAFE}" srcOrd="0" destOrd="0" parTransId="{B4F7BBC0-DF92-471A-A7B2-AB0D0D851787}" sibTransId="{0597F4E6-8D16-4012-918C-FD2412DDB1E4}"/>
    <dgm:cxn modelId="{2C648ADB-82E1-426E-B610-68BA53A59C99}" type="presOf" srcId="{02F6E101-3800-487D-B113-38CC57EA01BC}" destId="{9122B604-C072-48A7-8F8E-BF396853B50D}" srcOrd="0" destOrd="0" presId="urn:microsoft.com/office/officeart/2018/5/layout/IconCircleLabelList"/>
    <dgm:cxn modelId="{E1F23B77-7833-492D-B24F-EB745CFAB211}" type="presParOf" srcId="{9122B604-C072-48A7-8F8E-BF396853B50D}" destId="{2B72A257-AE23-422B-940C-901818DF2702}" srcOrd="0" destOrd="0" presId="urn:microsoft.com/office/officeart/2018/5/layout/IconCircleLabelList"/>
    <dgm:cxn modelId="{0FF9A4AF-3A9A-401F-9824-B52695707E8B}" type="presParOf" srcId="{2B72A257-AE23-422B-940C-901818DF2702}" destId="{AA34E945-21EB-4793-A9FC-B81028EE8369}" srcOrd="0" destOrd="0" presId="urn:microsoft.com/office/officeart/2018/5/layout/IconCircleLabelList"/>
    <dgm:cxn modelId="{9033F1F7-17D9-4E88-9A7B-A6333247109A}" type="presParOf" srcId="{2B72A257-AE23-422B-940C-901818DF2702}" destId="{B0D2875E-D759-4955-B92C-65A04DE99AB2}" srcOrd="1" destOrd="0" presId="urn:microsoft.com/office/officeart/2018/5/layout/IconCircleLabelList"/>
    <dgm:cxn modelId="{FA465BF9-8BBA-4FCE-B01E-8BA0E47902B6}" type="presParOf" srcId="{2B72A257-AE23-422B-940C-901818DF2702}" destId="{F0508ED5-E9F0-444B-B5B5-3556C25CD813}" srcOrd="2" destOrd="0" presId="urn:microsoft.com/office/officeart/2018/5/layout/IconCircleLabelList"/>
    <dgm:cxn modelId="{F5A84D92-2962-4166-8624-7D619D496CB5}" type="presParOf" srcId="{2B72A257-AE23-422B-940C-901818DF2702}" destId="{C05412AA-33FF-4CF2-A6B7-77735E249C77}" srcOrd="3" destOrd="0" presId="urn:microsoft.com/office/officeart/2018/5/layout/IconCircleLabelList"/>
    <dgm:cxn modelId="{27D2CE77-F2A4-4BD5-B752-114186BC7B08}" type="presParOf" srcId="{9122B604-C072-48A7-8F8E-BF396853B50D}" destId="{39924A24-F23E-4A41-91A8-3F2581F2E2CB}" srcOrd="1" destOrd="0" presId="urn:microsoft.com/office/officeart/2018/5/layout/IconCircleLabelList"/>
    <dgm:cxn modelId="{FC8F71A1-85E0-4DB1-8694-692A9D12D983}" type="presParOf" srcId="{9122B604-C072-48A7-8F8E-BF396853B50D}" destId="{00F734C8-393F-4EF2-87D2-695EBD95C996}" srcOrd="2" destOrd="0" presId="urn:microsoft.com/office/officeart/2018/5/layout/IconCircleLabelList"/>
    <dgm:cxn modelId="{C7A1391A-7B08-4A45-8998-DA3280A29C92}" type="presParOf" srcId="{00F734C8-393F-4EF2-87D2-695EBD95C996}" destId="{4E92E9EE-5669-4496-A0CB-C53FF1B642EB}" srcOrd="0" destOrd="0" presId="urn:microsoft.com/office/officeart/2018/5/layout/IconCircleLabelList"/>
    <dgm:cxn modelId="{865BD6FA-FCC0-4817-BFE4-AE5B35135809}" type="presParOf" srcId="{00F734C8-393F-4EF2-87D2-695EBD95C996}" destId="{B18F95FC-DA25-43D8-B5B3-35D356C86826}" srcOrd="1" destOrd="0" presId="urn:microsoft.com/office/officeart/2018/5/layout/IconCircleLabelList"/>
    <dgm:cxn modelId="{21ECF672-5DD9-461A-80FF-46A804600AFD}" type="presParOf" srcId="{00F734C8-393F-4EF2-87D2-695EBD95C996}" destId="{9CFECC54-20E0-4142-B196-1D62D655D8DF}" srcOrd="2" destOrd="0" presId="urn:microsoft.com/office/officeart/2018/5/layout/IconCircleLabelList"/>
    <dgm:cxn modelId="{3F15BFE0-A1C4-424F-94F4-2A0851D75EB3}" type="presParOf" srcId="{00F734C8-393F-4EF2-87D2-695EBD95C996}" destId="{B0E19AE7-8160-49D5-B83F-8F2053B30E6B}"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5068B2-1A3F-44F1-B131-B9152C6DFBC4}"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2C9619A9-E8A3-4FA1-AD24-73F81F403CD8}">
      <dgm:prSet/>
      <dgm:spPr/>
      <dgm:t>
        <a:bodyPr/>
        <a:lstStyle/>
        <a:p>
          <a:r>
            <a:rPr lang="en-GB"/>
            <a:t>Requires all parties to be available at the same time.</a:t>
          </a:r>
          <a:endParaRPr lang="en-US"/>
        </a:p>
      </dgm:t>
    </dgm:pt>
    <dgm:pt modelId="{E4EC08F0-FDA2-41A1-9BB3-CF57A33697F0}" type="parTrans" cxnId="{AF59E134-5419-4C1F-9A7A-116B170CB412}">
      <dgm:prSet/>
      <dgm:spPr/>
      <dgm:t>
        <a:bodyPr/>
        <a:lstStyle/>
        <a:p>
          <a:endParaRPr lang="en-US"/>
        </a:p>
      </dgm:t>
    </dgm:pt>
    <dgm:pt modelId="{AD28CCB0-A8AE-4BF9-825A-6F0635E58DD1}" type="sibTrans" cxnId="{AF59E134-5419-4C1F-9A7A-116B170CB412}">
      <dgm:prSet/>
      <dgm:spPr/>
      <dgm:t>
        <a:bodyPr/>
        <a:lstStyle/>
        <a:p>
          <a:endParaRPr lang="en-US"/>
        </a:p>
      </dgm:t>
    </dgm:pt>
    <dgm:pt modelId="{F8C44F2F-EB5F-4030-8EAB-5040685ADA27}">
      <dgm:prSet/>
      <dgm:spPr/>
      <dgm:t>
        <a:bodyPr/>
        <a:lstStyle/>
        <a:p>
          <a:r>
            <a:rPr lang="en-GB"/>
            <a:t>Can lead to interruptions and be time-consuming.</a:t>
          </a:r>
          <a:endParaRPr lang="en-US"/>
        </a:p>
      </dgm:t>
    </dgm:pt>
    <dgm:pt modelId="{A9D66C1A-8B76-4484-86EE-A17A17F164B7}" type="parTrans" cxnId="{24476782-E3AD-407D-9479-5E41320567C0}">
      <dgm:prSet/>
      <dgm:spPr/>
      <dgm:t>
        <a:bodyPr/>
        <a:lstStyle/>
        <a:p>
          <a:endParaRPr lang="en-US"/>
        </a:p>
      </dgm:t>
    </dgm:pt>
    <dgm:pt modelId="{B4915A47-51F5-4D07-A8FF-98B704A2D9BF}" type="sibTrans" cxnId="{24476782-E3AD-407D-9479-5E41320567C0}">
      <dgm:prSet/>
      <dgm:spPr/>
      <dgm:t>
        <a:bodyPr/>
        <a:lstStyle/>
        <a:p>
          <a:endParaRPr lang="en-US"/>
        </a:p>
      </dgm:t>
    </dgm:pt>
    <dgm:pt modelId="{F38322BA-32C2-49E1-B91B-AE952E99C64C}" type="pres">
      <dgm:prSet presAssocID="{A25068B2-1A3F-44F1-B131-B9152C6DFBC4}" presName="root" presStyleCnt="0">
        <dgm:presLayoutVars>
          <dgm:dir/>
          <dgm:resizeHandles val="exact"/>
        </dgm:presLayoutVars>
      </dgm:prSet>
      <dgm:spPr/>
    </dgm:pt>
    <dgm:pt modelId="{FB7D30C9-86BF-4453-93AC-EADF3D6A8B10}" type="pres">
      <dgm:prSet presAssocID="{2C9619A9-E8A3-4FA1-AD24-73F81F403CD8}" presName="compNode" presStyleCnt="0"/>
      <dgm:spPr/>
    </dgm:pt>
    <dgm:pt modelId="{BD33E27D-429F-453A-9A3C-90459892C8D7}" type="pres">
      <dgm:prSet presAssocID="{2C9619A9-E8A3-4FA1-AD24-73F81F403CD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vel"/>
        </a:ext>
      </dgm:extLst>
    </dgm:pt>
    <dgm:pt modelId="{6DDE3D80-0873-4009-9C3A-8069C842F4D8}" type="pres">
      <dgm:prSet presAssocID="{2C9619A9-E8A3-4FA1-AD24-73F81F403CD8}" presName="spaceRect" presStyleCnt="0"/>
      <dgm:spPr/>
    </dgm:pt>
    <dgm:pt modelId="{0D2EDA7E-6B40-4E22-8BC6-5F1D4D6252B2}" type="pres">
      <dgm:prSet presAssocID="{2C9619A9-E8A3-4FA1-AD24-73F81F403CD8}" presName="textRect" presStyleLbl="revTx" presStyleIdx="0" presStyleCnt="2">
        <dgm:presLayoutVars>
          <dgm:chMax val="1"/>
          <dgm:chPref val="1"/>
        </dgm:presLayoutVars>
      </dgm:prSet>
      <dgm:spPr/>
    </dgm:pt>
    <dgm:pt modelId="{AAD28F44-9BE0-40A9-8FBA-EB4EC04E844F}" type="pres">
      <dgm:prSet presAssocID="{AD28CCB0-A8AE-4BF9-825A-6F0635E58DD1}" presName="sibTrans" presStyleCnt="0"/>
      <dgm:spPr/>
    </dgm:pt>
    <dgm:pt modelId="{0913F9E0-BA32-4E37-A790-F210D676077C}" type="pres">
      <dgm:prSet presAssocID="{F8C44F2F-EB5F-4030-8EAB-5040685ADA27}" presName="compNode" presStyleCnt="0"/>
      <dgm:spPr/>
    </dgm:pt>
    <dgm:pt modelId="{3CDD930D-1F03-4C94-92B4-5086980A71A3}" type="pres">
      <dgm:prSet presAssocID="{F8C44F2F-EB5F-4030-8EAB-5040685ADA2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urglass Finished"/>
        </a:ext>
      </dgm:extLst>
    </dgm:pt>
    <dgm:pt modelId="{664B0623-6B34-4E60-BA2B-B0270945D0F7}" type="pres">
      <dgm:prSet presAssocID="{F8C44F2F-EB5F-4030-8EAB-5040685ADA27}" presName="spaceRect" presStyleCnt="0"/>
      <dgm:spPr/>
    </dgm:pt>
    <dgm:pt modelId="{49A66AB2-11F5-4B0F-A1CF-170FBFD39B90}" type="pres">
      <dgm:prSet presAssocID="{F8C44F2F-EB5F-4030-8EAB-5040685ADA27}" presName="textRect" presStyleLbl="revTx" presStyleIdx="1" presStyleCnt="2">
        <dgm:presLayoutVars>
          <dgm:chMax val="1"/>
          <dgm:chPref val="1"/>
        </dgm:presLayoutVars>
      </dgm:prSet>
      <dgm:spPr/>
    </dgm:pt>
  </dgm:ptLst>
  <dgm:cxnLst>
    <dgm:cxn modelId="{AF59E134-5419-4C1F-9A7A-116B170CB412}" srcId="{A25068B2-1A3F-44F1-B131-B9152C6DFBC4}" destId="{2C9619A9-E8A3-4FA1-AD24-73F81F403CD8}" srcOrd="0" destOrd="0" parTransId="{E4EC08F0-FDA2-41A1-9BB3-CF57A33697F0}" sibTransId="{AD28CCB0-A8AE-4BF9-825A-6F0635E58DD1}"/>
    <dgm:cxn modelId="{FC5BEB57-CA81-4861-BF6E-A524892BE47D}" type="presOf" srcId="{A25068B2-1A3F-44F1-B131-B9152C6DFBC4}" destId="{F38322BA-32C2-49E1-B91B-AE952E99C64C}" srcOrd="0" destOrd="0" presId="urn:microsoft.com/office/officeart/2018/2/layout/IconLabelList"/>
    <dgm:cxn modelId="{24476782-E3AD-407D-9479-5E41320567C0}" srcId="{A25068B2-1A3F-44F1-B131-B9152C6DFBC4}" destId="{F8C44F2F-EB5F-4030-8EAB-5040685ADA27}" srcOrd="1" destOrd="0" parTransId="{A9D66C1A-8B76-4484-86EE-A17A17F164B7}" sibTransId="{B4915A47-51F5-4D07-A8FF-98B704A2D9BF}"/>
    <dgm:cxn modelId="{AE815686-0B9D-415E-A760-012E67C74431}" type="presOf" srcId="{2C9619A9-E8A3-4FA1-AD24-73F81F403CD8}" destId="{0D2EDA7E-6B40-4E22-8BC6-5F1D4D6252B2}" srcOrd="0" destOrd="0" presId="urn:microsoft.com/office/officeart/2018/2/layout/IconLabelList"/>
    <dgm:cxn modelId="{F2700E97-FBF4-43B3-90AF-0550EB52BAF4}" type="presOf" srcId="{F8C44F2F-EB5F-4030-8EAB-5040685ADA27}" destId="{49A66AB2-11F5-4B0F-A1CF-170FBFD39B90}" srcOrd="0" destOrd="0" presId="urn:microsoft.com/office/officeart/2018/2/layout/IconLabelList"/>
    <dgm:cxn modelId="{D5BC1E21-85C7-490F-AF69-1745A84536FE}" type="presParOf" srcId="{F38322BA-32C2-49E1-B91B-AE952E99C64C}" destId="{FB7D30C9-86BF-4453-93AC-EADF3D6A8B10}" srcOrd="0" destOrd="0" presId="urn:microsoft.com/office/officeart/2018/2/layout/IconLabelList"/>
    <dgm:cxn modelId="{43841338-DD68-48BC-AD5C-2657D98AF32F}" type="presParOf" srcId="{FB7D30C9-86BF-4453-93AC-EADF3D6A8B10}" destId="{BD33E27D-429F-453A-9A3C-90459892C8D7}" srcOrd="0" destOrd="0" presId="urn:microsoft.com/office/officeart/2018/2/layout/IconLabelList"/>
    <dgm:cxn modelId="{F83DFF45-0225-4075-B69E-969090B206EC}" type="presParOf" srcId="{FB7D30C9-86BF-4453-93AC-EADF3D6A8B10}" destId="{6DDE3D80-0873-4009-9C3A-8069C842F4D8}" srcOrd="1" destOrd="0" presId="urn:microsoft.com/office/officeart/2018/2/layout/IconLabelList"/>
    <dgm:cxn modelId="{38B642A7-703B-4346-A287-D9A544CD2768}" type="presParOf" srcId="{FB7D30C9-86BF-4453-93AC-EADF3D6A8B10}" destId="{0D2EDA7E-6B40-4E22-8BC6-5F1D4D6252B2}" srcOrd="2" destOrd="0" presId="urn:microsoft.com/office/officeart/2018/2/layout/IconLabelList"/>
    <dgm:cxn modelId="{567A9452-90D9-4083-A72B-E10FB8F2EAAF}" type="presParOf" srcId="{F38322BA-32C2-49E1-B91B-AE952E99C64C}" destId="{AAD28F44-9BE0-40A9-8FBA-EB4EC04E844F}" srcOrd="1" destOrd="0" presId="urn:microsoft.com/office/officeart/2018/2/layout/IconLabelList"/>
    <dgm:cxn modelId="{DF25F249-A317-4996-870D-82E3B0847F5B}" type="presParOf" srcId="{F38322BA-32C2-49E1-B91B-AE952E99C64C}" destId="{0913F9E0-BA32-4E37-A790-F210D676077C}" srcOrd="2" destOrd="0" presId="urn:microsoft.com/office/officeart/2018/2/layout/IconLabelList"/>
    <dgm:cxn modelId="{1EE29093-E31F-4566-A905-8745424E1646}" type="presParOf" srcId="{0913F9E0-BA32-4E37-A790-F210D676077C}" destId="{3CDD930D-1F03-4C94-92B4-5086980A71A3}" srcOrd="0" destOrd="0" presId="urn:microsoft.com/office/officeart/2018/2/layout/IconLabelList"/>
    <dgm:cxn modelId="{6EB2A0B2-0D8E-4A9D-A5AD-8ECBFA9DA139}" type="presParOf" srcId="{0913F9E0-BA32-4E37-A790-F210D676077C}" destId="{664B0623-6B34-4E60-BA2B-B0270945D0F7}" srcOrd="1" destOrd="0" presId="urn:microsoft.com/office/officeart/2018/2/layout/IconLabelList"/>
    <dgm:cxn modelId="{37C6AE56-28E2-4D3A-8433-62868C65EFAF}" type="presParOf" srcId="{0913F9E0-BA32-4E37-A790-F210D676077C}" destId="{49A66AB2-11F5-4B0F-A1CF-170FBFD39B9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4F5EA77-D766-436B-BE39-D51E1F471362}"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25B31FE1-6183-4CB0-B49E-F49D7628498B}">
      <dgm:prSet/>
      <dgm:spPr/>
      <dgm:t>
        <a:bodyPr/>
        <a:lstStyle/>
        <a:p>
          <a:r>
            <a:rPr lang="en-GB"/>
            <a:t>Flexibility – people can respond at their convenience.</a:t>
          </a:r>
          <a:endParaRPr lang="en-US"/>
        </a:p>
      </dgm:t>
    </dgm:pt>
    <dgm:pt modelId="{E5C645BD-0AC1-49CE-9FDA-6AABDF361AA4}" type="parTrans" cxnId="{62E4C43E-98D5-4328-AA3C-09EFF3F44CEE}">
      <dgm:prSet/>
      <dgm:spPr/>
      <dgm:t>
        <a:bodyPr/>
        <a:lstStyle/>
        <a:p>
          <a:endParaRPr lang="en-US"/>
        </a:p>
      </dgm:t>
    </dgm:pt>
    <dgm:pt modelId="{457E706D-FF31-4DE7-8666-23F1B499E11B}" type="sibTrans" cxnId="{62E4C43E-98D5-4328-AA3C-09EFF3F44CEE}">
      <dgm:prSet/>
      <dgm:spPr/>
      <dgm:t>
        <a:bodyPr/>
        <a:lstStyle/>
        <a:p>
          <a:endParaRPr lang="en-US"/>
        </a:p>
      </dgm:t>
    </dgm:pt>
    <dgm:pt modelId="{FF0DC5E6-D85C-4EFE-A92A-3B675966E133}">
      <dgm:prSet/>
      <dgm:spPr/>
      <dgm:t>
        <a:bodyPr/>
        <a:lstStyle/>
        <a:p>
          <a:r>
            <a:rPr lang="en-GB"/>
            <a:t>Reduces pressure for instant replies, allowing more thoughtful responses.</a:t>
          </a:r>
          <a:endParaRPr lang="en-US"/>
        </a:p>
      </dgm:t>
    </dgm:pt>
    <dgm:pt modelId="{F74735FD-A18C-4573-B5A2-D1BDC2ECDD60}" type="parTrans" cxnId="{D8332ECB-860D-4285-9FE1-6F389430E0EF}">
      <dgm:prSet/>
      <dgm:spPr/>
      <dgm:t>
        <a:bodyPr/>
        <a:lstStyle/>
        <a:p>
          <a:endParaRPr lang="en-US"/>
        </a:p>
      </dgm:t>
    </dgm:pt>
    <dgm:pt modelId="{E8B752D1-2B4D-4143-A90D-04B67E447A77}" type="sibTrans" cxnId="{D8332ECB-860D-4285-9FE1-6F389430E0EF}">
      <dgm:prSet/>
      <dgm:spPr/>
      <dgm:t>
        <a:bodyPr/>
        <a:lstStyle/>
        <a:p>
          <a:endParaRPr lang="en-US"/>
        </a:p>
      </dgm:t>
    </dgm:pt>
    <dgm:pt modelId="{A94562A8-CB68-AC4E-B98A-A1F6384BD0D9}" type="pres">
      <dgm:prSet presAssocID="{84F5EA77-D766-436B-BE39-D51E1F471362}" presName="linear" presStyleCnt="0">
        <dgm:presLayoutVars>
          <dgm:animLvl val="lvl"/>
          <dgm:resizeHandles val="exact"/>
        </dgm:presLayoutVars>
      </dgm:prSet>
      <dgm:spPr/>
    </dgm:pt>
    <dgm:pt modelId="{30D5631F-2AE7-8449-A517-D82C8CE2E1D6}" type="pres">
      <dgm:prSet presAssocID="{25B31FE1-6183-4CB0-B49E-F49D7628498B}" presName="parentText" presStyleLbl="node1" presStyleIdx="0" presStyleCnt="2">
        <dgm:presLayoutVars>
          <dgm:chMax val="0"/>
          <dgm:bulletEnabled val="1"/>
        </dgm:presLayoutVars>
      </dgm:prSet>
      <dgm:spPr/>
    </dgm:pt>
    <dgm:pt modelId="{53CFC3DC-90A5-9946-8E31-8290FA4B0722}" type="pres">
      <dgm:prSet presAssocID="{457E706D-FF31-4DE7-8666-23F1B499E11B}" presName="spacer" presStyleCnt="0"/>
      <dgm:spPr/>
    </dgm:pt>
    <dgm:pt modelId="{3400DC05-F0CC-114F-A199-52082E7ACB23}" type="pres">
      <dgm:prSet presAssocID="{FF0DC5E6-D85C-4EFE-A92A-3B675966E133}" presName="parentText" presStyleLbl="node1" presStyleIdx="1" presStyleCnt="2">
        <dgm:presLayoutVars>
          <dgm:chMax val="0"/>
          <dgm:bulletEnabled val="1"/>
        </dgm:presLayoutVars>
      </dgm:prSet>
      <dgm:spPr/>
    </dgm:pt>
  </dgm:ptLst>
  <dgm:cxnLst>
    <dgm:cxn modelId="{A912272D-8C05-3D4E-B5E9-D17E4723F672}" type="presOf" srcId="{25B31FE1-6183-4CB0-B49E-F49D7628498B}" destId="{30D5631F-2AE7-8449-A517-D82C8CE2E1D6}" srcOrd="0" destOrd="0" presId="urn:microsoft.com/office/officeart/2005/8/layout/vList2"/>
    <dgm:cxn modelId="{32D99331-AC41-2347-8318-D76696E8B2ED}" type="presOf" srcId="{84F5EA77-D766-436B-BE39-D51E1F471362}" destId="{A94562A8-CB68-AC4E-B98A-A1F6384BD0D9}" srcOrd="0" destOrd="0" presId="urn:microsoft.com/office/officeart/2005/8/layout/vList2"/>
    <dgm:cxn modelId="{62E4C43E-98D5-4328-AA3C-09EFF3F44CEE}" srcId="{84F5EA77-D766-436B-BE39-D51E1F471362}" destId="{25B31FE1-6183-4CB0-B49E-F49D7628498B}" srcOrd="0" destOrd="0" parTransId="{E5C645BD-0AC1-49CE-9FDA-6AABDF361AA4}" sibTransId="{457E706D-FF31-4DE7-8666-23F1B499E11B}"/>
    <dgm:cxn modelId="{895EEAA2-A33C-6E4A-B405-2DA9C1CAE226}" type="presOf" srcId="{FF0DC5E6-D85C-4EFE-A92A-3B675966E133}" destId="{3400DC05-F0CC-114F-A199-52082E7ACB23}" srcOrd="0" destOrd="0" presId="urn:microsoft.com/office/officeart/2005/8/layout/vList2"/>
    <dgm:cxn modelId="{D8332ECB-860D-4285-9FE1-6F389430E0EF}" srcId="{84F5EA77-D766-436B-BE39-D51E1F471362}" destId="{FF0DC5E6-D85C-4EFE-A92A-3B675966E133}" srcOrd="1" destOrd="0" parTransId="{F74735FD-A18C-4573-B5A2-D1BDC2ECDD60}" sibTransId="{E8B752D1-2B4D-4143-A90D-04B67E447A77}"/>
    <dgm:cxn modelId="{C3869FB5-3D4A-474F-83B1-78FF69432F9B}" type="presParOf" srcId="{A94562A8-CB68-AC4E-B98A-A1F6384BD0D9}" destId="{30D5631F-2AE7-8449-A517-D82C8CE2E1D6}" srcOrd="0" destOrd="0" presId="urn:microsoft.com/office/officeart/2005/8/layout/vList2"/>
    <dgm:cxn modelId="{931A15A0-0DAC-8844-B058-2BBFF4302720}" type="presParOf" srcId="{A94562A8-CB68-AC4E-B98A-A1F6384BD0D9}" destId="{53CFC3DC-90A5-9946-8E31-8290FA4B0722}" srcOrd="1" destOrd="0" presId="urn:microsoft.com/office/officeart/2005/8/layout/vList2"/>
    <dgm:cxn modelId="{F75DB1D7-6E93-6D41-857B-AB1F2A084A2E}" type="presParOf" srcId="{A94562A8-CB68-AC4E-B98A-A1F6384BD0D9}" destId="{3400DC05-F0CC-114F-A199-52082E7ACB23}"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3DDC310-703C-4D99-88BF-3B2059892A42}"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A2338016-FC80-42ED-B52A-B64D6CFA4D4C}">
      <dgm:prSet/>
      <dgm:spPr/>
      <dgm:t>
        <a:bodyPr/>
        <a:lstStyle/>
        <a:p>
          <a:r>
            <a:rPr lang="en-GB"/>
            <a:t>Slower communication process.</a:t>
          </a:r>
          <a:endParaRPr lang="en-US"/>
        </a:p>
      </dgm:t>
    </dgm:pt>
    <dgm:pt modelId="{2E24C470-8DB7-4164-8BFC-7128733291F5}" type="parTrans" cxnId="{33A21EE9-1A28-4E49-9088-42699B8D3CEC}">
      <dgm:prSet/>
      <dgm:spPr/>
      <dgm:t>
        <a:bodyPr/>
        <a:lstStyle/>
        <a:p>
          <a:endParaRPr lang="en-US"/>
        </a:p>
      </dgm:t>
    </dgm:pt>
    <dgm:pt modelId="{D1805684-034A-4C5B-9559-0D4629DC06D8}" type="sibTrans" cxnId="{33A21EE9-1A28-4E49-9088-42699B8D3CEC}">
      <dgm:prSet/>
      <dgm:spPr/>
      <dgm:t>
        <a:bodyPr/>
        <a:lstStyle/>
        <a:p>
          <a:endParaRPr lang="en-US"/>
        </a:p>
      </dgm:t>
    </dgm:pt>
    <dgm:pt modelId="{0930C2F2-C7B1-48D2-ABA8-2188D03A7016}">
      <dgm:prSet/>
      <dgm:spPr/>
      <dgm:t>
        <a:bodyPr/>
        <a:lstStyle/>
        <a:p>
          <a:r>
            <a:rPr lang="en-GB"/>
            <a:t>May lead to misunderstandings or delays in decision-making.</a:t>
          </a:r>
          <a:endParaRPr lang="en-US"/>
        </a:p>
      </dgm:t>
    </dgm:pt>
    <dgm:pt modelId="{A240D2ED-6493-4DB1-8B65-37C2C2D7BCA5}" type="parTrans" cxnId="{925E4CBE-A0C4-4B76-BE39-57531100A4DB}">
      <dgm:prSet/>
      <dgm:spPr/>
      <dgm:t>
        <a:bodyPr/>
        <a:lstStyle/>
        <a:p>
          <a:endParaRPr lang="en-US"/>
        </a:p>
      </dgm:t>
    </dgm:pt>
    <dgm:pt modelId="{4311F1E9-1809-4C12-BF02-C223F151E549}" type="sibTrans" cxnId="{925E4CBE-A0C4-4B76-BE39-57531100A4DB}">
      <dgm:prSet/>
      <dgm:spPr/>
      <dgm:t>
        <a:bodyPr/>
        <a:lstStyle/>
        <a:p>
          <a:endParaRPr lang="en-US"/>
        </a:p>
      </dgm:t>
    </dgm:pt>
    <dgm:pt modelId="{F6BCFB17-6A53-B141-B094-6968516C6C64}" type="pres">
      <dgm:prSet presAssocID="{63DDC310-703C-4D99-88BF-3B2059892A42}" presName="linear" presStyleCnt="0">
        <dgm:presLayoutVars>
          <dgm:animLvl val="lvl"/>
          <dgm:resizeHandles val="exact"/>
        </dgm:presLayoutVars>
      </dgm:prSet>
      <dgm:spPr/>
    </dgm:pt>
    <dgm:pt modelId="{C06A2F46-98C6-B743-B57C-665A04D8E489}" type="pres">
      <dgm:prSet presAssocID="{A2338016-FC80-42ED-B52A-B64D6CFA4D4C}" presName="parentText" presStyleLbl="node1" presStyleIdx="0" presStyleCnt="2">
        <dgm:presLayoutVars>
          <dgm:chMax val="0"/>
          <dgm:bulletEnabled val="1"/>
        </dgm:presLayoutVars>
      </dgm:prSet>
      <dgm:spPr/>
    </dgm:pt>
    <dgm:pt modelId="{ADBBA5DE-C7D3-5340-ADD5-3440DC57B9B7}" type="pres">
      <dgm:prSet presAssocID="{D1805684-034A-4C5B-9559-0D4629DC06D8}" presName="spacer" presStyleCnt="0"/>
      <dgm:spPr/>
    </dgm:pt>
    <dgm:pt modelId="{6CDAD789-B4C7-144A-B987-95E3063A9B78}" type="pres">
      <dgm:prSet presAssocID="{0930C2F2-C7B1-48D2-ABA8-2188D03A7016}" presName="parentText" presStyleLbl="node1" presStyleIdx="1" presStyleCnt="2">
        <dgm:presLayoutVars>
          <dgm:chMax val="0"/>
          <dgm:bulletEnabled val="1"/>
        </dgm:presLayoutVars>
      </dgm:prSet>
      <dgm:spPr/>
    </dgm:pt>
  </dgm:ptLst>
  <dgm:cxnLst>
    <dgm:cxn modelId="{FC1E6007-EDEF-4F49-BC30-8CA31F8A142E}" type="presOf" srcId="{63DDC310-703C-4D99-88BF-3B2059892A42}" destId="{F6BCFB17-6A53-B141-B094-6968516C6C64}" srcOrd="0" destOrd="0" presId="urn:microsoft.com/office/officeart/2005/8/layout/vList2"/>
    <dgm:cxn modelId="{A0AF7833-593E-414D-8688-2FDBD23049F3}" type="presOf" srcId="{0930C2F2-C7B1-48D2-ABA8-2188D03A7016}" destId="{6CDAD789-B4C7-144A-B987-95E3063A9B78}" srcOrd="0" destOrd="0" presId="urn:microsoft.com/office/officeart/2005/8/layout/vList2"/>
    <dgm:cxn modelId="{7B761390-5266-BE45-B31A-AF0C720B9C27}" type="presOf" srcId="{A2338016-FC80-42ED-B52A-B64D6CFA4D4C}" destId="{C06A2F46-98C6-B743-B57C-665A04D8E489}" srcOrd="0" destOrd="0" presId="urn:microsoft.com/office/officeart/2005/8/layout/vList2"/>
    <dgm:cxn modelId="{925E4CBE-A0C4-4B76-BE39-57531100A4DB}" srcId="{63DDC310-703C-4D99-88BF-3B2059892A42}" destId="{0930C2F2-C7B1-48D2-ABA8-2188D03A7016}" srcOrd="1" destOrd="0" parTransId="{A240D2ED-6493-4DB1-8B65-37C2C2D7BCA5}" sibTransId="{4311F1E9-1809-4C12-BF02-C223F151E549}"/>
    <dgm:cxn modelId="{33A21EE9-1A28-4E49-9088-42699B8D3CEC}" srcId="{63DDC310-703C-4D99-88BF-3B2059892A42}" destId="{A2338016-FC80-42ED-B52A-B64D6CFA4D4C}" srcOrd="0" destOrd="0" parTransId="{2E24C470-8DB7-4164-8BFC-7128733291F5}" sibTransId="{D1805684-034A-4C5B-9559-0D4629DC06D8}"/>
    <dgm:cxn modelId="{A1396558-61D7-0248-99C4-AE0CC132EB8B}" type="presParOf" srcId="{F6BCFB17-6A53-B141-B094-6968516C6C64}" destId="{C06A2F46-98C6-B743-B57C-665A04D8E489}" srcOrd="0" destOrd="0" presId="urn:microsoft.com/office/officeart/2005/8/layout/vList2"/>
    <dgm:cxn modelId="{7888CFCB-2562-2743-B530-D244C1E8025E}" type="presParOf" srcId="{F6BCFB17-6A53-B141-B094-6968516C6C64}" destId="{ADBBA5DE-C7D3-5340-ADD5-3440DC57B9B7}" srcOrd="1" destOrd="0" presId="urn:microsoft.com/office/officeart/2005/8/layout/vList2"/>
    <dgm:cxn modelId="{2614DDA6-727D-3E4C-A05E-33B5EBE47FA7}" type="presParOf" srcId="{F6BCFB17-6A53-B141-B094-6968516C6C64}" destId="{6CDAD789-B4C7-144A-B987-95E3063A9B78}"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A99C4A-2FA1-114A-A17C-2C885E5AFC28}">
      <dsp:nvSpPr>
        <dsp:cNvPr id="0" name=""/>
        <dsp:cNvSpPr/>
      </dsp:nvSpPr>
      <dsp:spPr>
        <a:xfrm>
          <a:off x="0" y="3275482"/>
          <a:ext cx="7886700" cy="107508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kern="1200"/>
            <a:t>While it ensures consistency and simplicity, it can introduce latency or slow down performance if the response time is delayed.</a:t>
          </a:r>
          <a:endParaRPr lang="en-US" sz="1500" kern="1200"/>
        </a:p>
      </dsp:txBody>
      <dsp:txXfrm>
        <a:off x="0" y="3275482"/>
        <a:ext cx="7886700" cy="1075086"/>
      </dsp:txXfrm>
    </dsp:sp>
    <dsp:sp modelId="{43E8BAE1-09C2-CD4F-831B-8A3F1E194594}">
      <dsp:nvSpPr>
        <dsp:cNvPr id="0" name=""/>
        <dsp:cNvSpPr/>
      </dsp:nvSpPr>
      <dsp:spPr>
        <a:xfrm rot="10800000">
          <a:off x="0" y="1638125"/>
          <a:ext cx="7886700" cy="1653482"/>
        </a:xfrm>
        <a:prstGeom prst="upArrowCallou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kern="1200"/>
            <a:t>Synchronous communication is </a:t>
          </a:r>
          <a:r>
            <a:rPr lang="en-GB" sz="1500" b="1" kern="1200"/>
            <a:t>often </a:t>
          </a:r>
          <a:r>
            <a:rPr lang="en-GB" sz="1500" kern="1200"/>
            <a:t>used in </a:t>
          </a:r>
          <a:r>
            <a:rPr lang="en-GB" sz="1500" b="1" kern="1200"/>
            <a:t>real-time</a:t>
          </a:r>
          <a:r>
            <a:rPr lang="en-GB" sz="1500" kern="1200"/>
            <a:t> scenarios where immediate feedback is necessary, such as in APIs, database queries, or tightly coupled systems.</a:t>
          </a:r>
          <a:endParaRPr lang="en-US" sz="1500" kern="1200"/>
        </a:p>
      </dsp:txBody>
      <dsp:txXfrm rot="10800000">
        <a:off x="0" y="1638125"/>
        <a:ext cx="7886700" cy="1074383"/>
      </dsp:txXfrm>
    </dsp:sp>
    <dsp:sp modelId="{B0214B55-B4AB-4B4D-A4EA-07A223268410}">
      <dsp:nvSpPr>
        <dsp:cNvPr id="0" name=""/>
        <dsp:cNvSpPr/>
      </dsp:nvSpPr>
      <dsp:spPr>
        <a:xfrm rot="10800000">
          <a:off x="0" y="769"/>
          <a:ext cx="7886700" cy="1653482"/>
        </a:xfrm>
        <a:prstGeom prst="upArrowCallou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kern="1200"/>
            <a:t>Synchronous communication is a type of interaction in which the sender sends a request and waits for an immediate response before proceeding. In </a:t>
          </a:r>
          <a:r>
            <a:rPr lang="en-GB" sz="1500" u="sng" kern="1200">
              <a:hlinkClick xmlns:r="http://schemas.openxmlformats.org/officeDocument/2006/relationships" r:id="rId1"/>
            </a:rPr>
            <a:t>system design</a:t>
          </a:r>
          <a:r>
            <a:rPr lang="en-GB" sz="1500" kern="1200"/>
            <a:t>, this means that the requesting component (or service) must pause its execution until the receiving component processes the request and returns a result.</a:t>
          </a:r>
          <a:endParaRPr lang="en-US" sz="1500" kern="1200"/>
        </a:p>
      </dsp:txBody>
      <dsp:txXfrm rot="10800000">
        <a:off x="0" y="769"/>
        <a:ext cx="7886700" cy="10743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34E945-21EB-4793-A9FC-B81028EE8369}">
      <dsp:nvSpPr>
        <dsp:cNvPr id="0" name=""/>
        <dsp:cNvSpPr/>
      </dsp:nvSpPr>
      <dsp:spPr>
        <a:xfrm>
          <a:off x="884935" y="296402"/>
          <a:ext cx="2196000" cy="2196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D2875E-D759-4955-B92C-65A04DE99AB2}">
      <dsp:nvSpPr>
        <dsp:cNvPr id="0" name=""/>
        <dsp:cNvSpPr/>
      </dsp:nvSpPr>
      <dsp:spPr>
        <a:xfrm>
          <a:off x="1352935" y="764402"/>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05412AA-33FF-4CF2-A6B7-77735E249C77}">
      <dsp:nvSpPr>
        <dsp:cNvPr id="0" name=""/>
        <dsp:cNvSpPr/>
      </dsp:nvSpPr>
      <dsp:spPr>
        <a:xfrm>
          <a:off x="182935"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defRPr cap="all"/>
          </a:pPr>
          <a:r>
            <a:rPr lang="en-GB" sz="2400" kern="1200"/>
            <a:t>Immediate feedback and interaction.</a:t>
          </a:r>
          <a:endParaRPr lang="en-US" sz="2400" kern="1200"/>
        </a:p>
      </dsp:txBody>
      <dsp:txXfrm>
        <a:off x="182935" y="3176402"/>
        <a:ext cx="3600000" cy="720000"/>
      </dsp:txXfrm>
    </dsp:sp>
    <dsp:sp modelId="{4E92E9EE-5669-4496-A0CB-C53FF1B642EB}">
      <dsp:nvSpPr>
        <dsp:cNvPr id="0" name=""/>
        <dsp:cNvSpPr/>
      </dsp:nvSpPr>
      <dsp:spPr>
        <a:xfrm>
          <a:off x="5114935" y="296402"/>
          <a:ext cx="2196000" cy="2196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8F95FC-DA25-43D8-B5B3-35D356C86826}">
      <dsp:nvSpPr>
        <dsp:cNvPr id="0" name=""/>
        <dsp:cNvSpPr/>
      </dsp:nvSpPr>
      <dsp:spPr>
        <a:xfrm>
          <a:off x="5582935" y="764402"/>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E19AE7-8160-49D5-B83F-8F2053B30E6B}">
      <dsp:nvSpPr>
        <dsp:cNvPr id="0" name=""/>
        <dsp:cNvSpPr/>
      </dsp:nvSpPr>
      <dsp:spPr>
        <a:xfrm>
          <a:off x="4412935"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defRPr cap="all"/>
          </a:pPr>
          <a:r>
            <a:rPr lang="en-GB" sz="2400" kern="1200"/>
            <a:t>Encourages clearer and faster decision-making.</a:t>
          </a:r>
          <a:endParaRPr lang="en-US" sz="2400" kern="1200"/>
        </a:p>
      </dsp:txBody>
      <dsp:txXfrm>
        <a:off x="4412935" y="3176402"/>
        <a:ext cx="36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33E27D-429F-453A-9A3C-90459892C8D7}">
      <dsp:nvSpPr>
        <dsp:cNvPr id="0" name=""/>
        <dsp:cNvSpPr/>
      </dsp:nvSpPr>
      <dsp:spPr>
        <a:xfrm>
          <a:off x="1099810" y="696102"/>
          <a:ext cx="1660500" cy="1660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D2EDA7E-6B40-4E22-8BC6-5F1D4D6252B2}">
      <dsp:nvSpPr>
        <dsp:cNvPr id="0" name=""/>
        <dsp:cNvSpPr/>
      </dsp:nvSpPr>
      <dsp:spPr>
        <a:xfrm>
          <a:off x="85060" y="2776702"/>
          <a:ext cx="369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GB" sz="2500" kern="1200"/>
            <a:t>Requires all parties to be available at the same time.</a:t>
          </a:r>
          <a:endParaRPr lang="en-US" sz="2500" kern="1200"/>
        </a:p>
      </dsp:txBody>
      <dsp:txXfrm>
        <a:off x="85060" y="2776702"/>
        <a:ext cx="3690000" cy="720000"/>
      </dsp:txXfrm>
    </dsp:sp>
    <dsp:sp modelId="{3CDD930D-1F03-4C94-92B4-5086980A71A3}">
      <dsp:nvSpPr>
        <dsp:cNvPr id="0" name=""/>
        <dsp:cNvSpPr/>
      </dsp:nvSpPr>
      <dsp:spPr>
        <a:xfrm>
          <a:off x="5435560" y="696102"/>
          <a:ext cx="1660500" cy="1660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9A66AB2-11F5-4B0F-A1CF-170FBFD39B90}">
      <dsp:nvSpPr>
        <dsp:cNvPr id="0" name=""/>
        <dsp:cNvSpPr/>
      </dsp:nvSpPr>
      <dsp:spPr>
        <a:xfrm>
          <a:off x="4420810" y="2776702"/>
          <a:ext cx="369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GB" sz="2500" kern="1200"/>
            <a:t>Can lead to interruptions and be time-consuming.</a:t>
          </a:r>
          <a:endParaRPr lang="en-US" sz="2500" kern="1200"/>
        </a:p>
      </dsp:txBody>
      <dsp:txXfrm>
        <a:off x="4420810" y="2776702"/>
        <a:ext cx="369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D5631F-2AE7-8449-A517-D82C8CE2E1D6}">
      <dsp:nvSpPr>
        <dsp:cNvPr id="0" name=""/>
        <dsp:cNvSpPr/>
      </dsp:nvSpPr>
      <dsp:spPr>
        <a:xfrm>
          <a:off x="0" y="36024"/>
          <a:ext cx="5175384" cy="2677325"/>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GB" sz="3800" kern="1200"/>
            <a:t>Flexibility – people can respond at their convenience.</a:t>
          </a:r>
          <a:endParaRPr lang="en-US" sz="3800" kern="1200"/>
        </a:p>
      </dsp:txBody>
      <dsp:txXfrm>
        <a:off x="130696" y="166720"/>
        <a:ext cx="4913992" cy="2415933"/>
      </dsp:txXfrm>
    </dsp:sp>
    <dsp:sp modelId="{3400DC05-F0CC-114F-A199-52082E7ACB23}">
      <dsp:nvSpPr>
        <dsp:cNvPr id="0" name=""/>
        <dsp:cNvSpPr/>
      </dsp:nvSpPr>
      <dsp:spPr>
        <a:xfrm>
          <a:off x="0" y="2822790"/>
          <a:ext cx="5175384" cy="2677325"/>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GB" sz="3800" kern="1200"/>
            <a:t>Reduces pressure for instant replies, allowing more thoughtful responses.</a:t>
          </a:r>
          <a:endParaRPr lang="en-US" sz="3800" kern="1200"/>
        </a:p>
      </dsp:txBody>
      <dsp:txXfrm>
        <a:off x="130696" y="2953486"/>
        <a:ext cx="4913992" cy="241593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6A2F46-98C6-B743-B57C-665A04D8E489}">
      <dsp:nvSpPr>
        <dsp:cNvPr id="0" name=""/>
        <dsp:cNvSpPr/>
      </dsp:nvSpPr>
      <dsp:spPr>
        <a:xfrm>
          <a:off x="0" y="66649"/>
          <a:ext cx="4988440" cy="2550892"/>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GB" sz="3600" kern="1200"/>
            <a:t>Slower communication process.</a:t>
          </a:r>
          <a:endParaRPr lang="en-US" sz="3600" kern="1200"/>
        </a:p>
      </dsp:txBody>
      <dsp:txXfrm>
        <a:off x="124524" y="191173"/>
        <a:ext cx="4739392" cy="2301844"/>
      </dsp:txXfrm>
    </dsp:sp>
    <dsp:sp modelId="{6CDAD789-B4C7-144A-B987-95E3063A9B78}">
      <dsp:nvSpPr>
        <dsp:cNvPr id="0" name=""/>
        <dsp:cNvSpPr/>
      </dsp:nvSpPr>
      <dsp:spPr>
        <a:xfrm>
          <a:off x="0" y="2721222"/>
          <a:ext cx="4988440" cy="2550892"/>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GB" sz="3600" kern="1200"/>
            <a:t>May lead to misunderstandings or delays in decision-making.</a:t>
          </a:r>
          <a:endParaRPr lang="en-US" sz="3600" kern="1200"/>
        </a:p>
      </dsp:txBody>
      <dsp:txXfrm>
        <a:off x="124524" y="2845746"/>
        <a:ext cx="4739392" cy="230184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11/7/25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geeksforgeeks.org/system-design/what-is-system-design-learn-system-desig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system-design/what-is-system-design-learn-system-desig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Server Programming</a:t>
            </a:r>
            <a:endParaRPr dirty="0"/>
          </a:p>
        </p:txBody>
      </p:sp>
      <p:sp>
        <p:nvSpPr>
          <p:cNvPr id="4" name="Title 1">
            <a:extLst>
              <a:ext uri="{FF2B5EF4-FFF2-40B4-BE49-F238E27FC236}">
                <a16:creationId xmlns:a16="http://schemas.microsoft.com/office/drawing/2014/main" id="{7948DCE4-965E-0880-E52F-75AFEACFEE10}"/>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r>
              <a:rPr lang="en-US" dirty="0"/>
              <a:t>Topic: </a:t>
            </a:r>
            <a:r>
              <a:rPr dirty="0"/>
              <a:t>Asynchronous Communication</a:t>
            </a:r>
            <a:endParaRPr lang="en-US" dirty="0"/>
          </a:p>
          <a:p>
            <a:pPr marL="0" indent="0" algn="ctr">
              <a:buNone/>
            </a:pPr>
            <a:endParaRPr lang="en-GB" dirty="0"/>
          </a:p>
          <a:p>
            <a:pPr marL="0" indent="0" algn="ctr">
              <a:buNone/>
            </a:pPr>
            <a:endParaRPr lang="en-GB" dirty="0"/>
          </a:p>
          <a:p>
            <a:pPr marL="0" indent="0" algn="ctr">
              <a:buNone/>
            </a:pPr>
            <a:r>
              <a:rPr lang="en-GB" dirty="0"/>
              <a:t>Lecturer: Shakhnoza Muksimova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7" name="Rectangle 1036">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F575FB-40F3-6894-323E-2262F72BCBC2}"/>
              </a:ext>
            </a:extLst>
          </p:cNvPr>
          <p:cNvSpPr>
            <a:spLocks noGrp="1"/>
          </p:cNvSpPr>
          <p:nvPr>
            <p:ph type="title"/>
          </p:nvPr>
        </p:nvSpPr>
        <p:spPr>
          <a:xfrm>
            <a:off x="473202" y="502920"/>
            <a:ext cx="2564892" cy="1463040"/>
          </a:xfrm>
        </p:spPr>
        <p:txBody>
          <a:bodyPr vert="horz" lIns="91440" tIns="45720" rIns="91440" bIns="45720" rtlCol="0" anchor="ctr">
            <a:normAutofit/>
          </a:bodyPr>
          <a:lstStyle/>
          <a:p>
            <a:pPr algn="l" defTabSz="914400">
              <a:lnSpc>
                <a:spcPct val="90000"/>
              </a:lnSpc>
            </a:pPr>
            <a:r>
              <a:rPr lang="en-US" sz="2000" b="1" kern="1200">
                <a:solidFill>
                  <a:schemeClr val="tx1"/>
                </a:solidFill>
                <a:latin typeface="+mj-lt"/>
                <a:ea typeface="+mj-ea"/>
                <a:cs typeface="+mj-cs"/>
              </a:rPr>
              <a:t>Synchronous vs. Asynchronous Communication - System Design</a:t>
            </a:r>
            <a:br>
              <a:rPr lang="en-US" sz="2000" b="1" kern="1200">
                <a:solidFill>
                  <a:schemeClr val="tx1"/>
                </a:solidFill>
                <a:latin typeface="+mj-lt"/>
                <a:ea typeface="+mj-ea"/>
                <a:cs typeface="+mj-cs"/>
              </a:rPr>
            </a:br>
            <a:endParaRPr lang="en-US" sz="2000" kern="1200">
              <a:solidFill>
                <a:schemeClr val="tx1"/>
              </a:solidFill>
              <a:latin typeface="+mj-lt"/>
              <a:ea typeface="+mj-ea"/>
              <a:cs typeface="+mj-cs"/>
            </a:endParaRPr>
          </a:p>
        </p:txBody>
      </p:sp>
      <p:sp>
        <p:nvSpPr>
          <p:cNvPr id="1039"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80309" y="1227582"/>
            <a:ext cx="1554480" cy="13716"/>
          </a:xfrm>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3820" y="4959"/>
                  <a:pt x="1554594" y="10798"/>
                  <a:pt x="1554480" y="13716"/>
                </a:cubicBezTo>
                <a:cubicBezTo>
                  <a:pt x="1338847" y="1555"/>
                  <a:pt x="1215066" y="33279"/>
                  <a:pt x="1067410" y="13716"/>
                </a:cubicBezTo>
                <a:cubicBezTo>
                  <a:pt x="919754" y="-5847"/>
                  <a:pt x="800465" y="-1492"/>
                  <a:pt x="549250" y="13716"/>
                </a:cubicBezTo>
                <a:cubicBezTo>
                  <a:pt x="298035" y="28924"/>
                  <a:pt x="158868" y="18197"/>
                  <a:pt x="0" y="13716"/>
                </a:cubicBezTo>
                <a:cubicBezTo>
                  <a:pt x="488" y="8630"/>
                  <a:pt x="480" y="6612"/>
                  <a:pt x="0" y="0"/>
                </a:cubicBezTo>
                <a:close/>
              </a:path>
              <a:path w="1554480" h="13716"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232" y="4157"/>
                  <a:pt x="1554673" y="7559"/>
                  <a:pt x="1554480" y="13716"/>
                </a:cubicBezTo>
                <a:cubicBezTo>
                  <a:pt x="1336087" y="7600"/>
                  <a:pt x="1310024" y="15187"/>
                  <a:pt x="1067410" y="13716"/>
                </a:cubicBezTo>
                <a:cubicBezTo>
                  <a:pt x="824796" y="12246"/>
                  <a:pt x="787902" y="30075"/>
                  <a:pt x="518160" y="13716"/>
                </a:cubicBezTo>
                <a:cubicBezTo>
                  <a:pt x="248418" y="-2643"/>
                  <a:pt x="133160" y="4633"/>
                  <a:pt x="0" y="13716"/>
                </a:cubicBezTo>
                <a:cubicBezTo>
                  <a:pt x="43" y="9160"/>
                  <a:pt x="-111" y="481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06B5EAD6-DF8C-1E2B-BE66-14AC5DE0348F}"/>
              </a:ext>
            </a:extLst>
          </p:cNvPr>
          <p:cNvSpPr>
            <a:spLocks noGrp="1"/>
          </p:cNvSpPr>
          <p:nvPr>
            <p:ph idx="1"/>
          </p:nvPr>
        </p:nvSpPr>
        <p:spPr>
          <a:xfrm>
            <a:off x="3490721" y="502920"/>
            <a:ext cx="5170932" cy="1463040"/>
          </a:xfr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1300" b="0" i="0">
                <a:effectLst/>
              </a:rPr>
              <a:t>In </a:t>
            </a:r>
            <a:r>
              <a:rPr lang="en-US" sz="1300" b="0" i="0" u="sng">
                <a:effectLst/>
                <a:hlinkClick r:id="rId2"/>
              </a:rPr>
              <a:t>system design</a:t>
            </a:r>
            <a:r>
              <a:rPr lang="en-US" sz="1300" b="0" i="0">
                <a:effectLst/>
              </a:rPr>
              <a:t>, understanding the difference between synchronous and asynchronous communication is crucial for building efficient and scalable systems. Synchronous communication requires the sender to wait for an immediate response, making it suitable for real-time interactions. Asynchronous communication, on the other hand, allows the sender to proceed without waiting, enabling better scalability and flexibility in distributed systems.</a:t>
            </a:r>
            <a:endParaRPr lang="en-US" sz="1300"/>
          </a:p>
        </p:txBody>
      </p:sp>
      <p:pic>
        <p:nvPicPr>
          <p:cNvPr id="1032" name="Picture 8" descr="Synchronous vs. Asynchronous Communication - System Design - GeeksforGeeks">
            <a:extLst>
              <a:ext uri="{FF2B5EF4-FFF2-40B4-BE49-F238E27FC236}">
                <a16:creationId xmlns:a16="http://schemas.microsoft.com/office/drawing/2014/main" id="{02F95994-FDB7-52A6-1581-B1CC8FEFA37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23" t="11630" r="3140" b="10112"/>
          <a:stretch>
            <a:fillRect/>
          </a:stretch>
        </p:blipFill>
        <p:spPr bwMode="auto">
          <a:xfrm>
            <a:off x="473202" y="2208601"/>
            <a:ext cx="8188452" cy="3607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883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DD319DC-8911-D600-E91C-59B0A6359502}"/>
              </a:ext>
            </a:extLst>
          </p:cNvPr>
          <p:cNvPicPr>
            <a:picLocks noChangeAspect="1"/>
          </p:cNvPicPr>
          <p:nvPr/>
        </p:nvPicPr>
        <p:blipFill>
          <a:blip r:embed="rId2">
            <a:duotone>
              <a:schemeClr val="bg2">
                <a:shade val="45000"/>
                <a:satMod val="135000"/>
              </a:schemeClr>
              <a:prstClr val="white"/>
            </a:duotone>
          </a:blip>
          <a:srcRect l="6814" r="20186"/>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1164E1-58FB-5857-F7FD-B350F54CECC9}"/>
              </a:ext>
            </a:extLst>
          </p:cNvPr>
          <p:cNvSpPr>
            <a:spLocks noGrp="1"/>
          </p:cNvSpPr>
          <p:nvPr>
            <p:ph type="title"/>
          </p:nvPr>
        </p:nvSpPr>
        <p:spPr>
          <a:xfrm>
            <a:off x="628650" y="365125"/>
            <a:ext cx="7886700" cy="1325563"/>
          </a:xfrm>
        </p:spPr>
        <p:txBody>
          <a:bodyPr>
            <a:normAutofit/>
          </a:bodyPr>
          <a:lstStyle/>
          <a:p>
            <a:pPr>
              <a:lnSpc>
                <a:spcPct val="90000"/>
              </a:lnSpc>
            </a:pPr>
            <a:r>
              <a:rPr lang="en-GB" b="1"/>
              <a:t>What is Synchronous Communication?</a:t>
            </a:r>
            <a:endParaRPr lang="en-US"/>
          </a:p>
        </p:txBody>
      </p:sp>
      <p:graphicFrame>
        <p:nvGraphicFramePr>
          <p:cNvPr id="5" name="Content Placeholder 2">
            <a:extLst>
              <a:ext uri="{FF2B5EF4-FFF2-40B4-BE49-F238E27FC236}">
                <a16:creationId xmlns:a16="http://schemas.microsoft.com/office/drawing/2014/main" id="{B46E7A00-6A18-112B-0AE1-F91196E667C2}"/>
              </a:ext>
            </a:extLst>
          </p:cNvPr>
          <p:cNvGraphicFramePr>
            <a:graphicFrameLocks noGrp="1"/>
          </p:cNvGraphicFramePr>
          <p:nvPr>
            <p:ph idx="1"/>
            <p:extLst>
              <p:ext uri="{D42A27DB-BD31-4B8C-83A1-F6EECF244321}">
                <p14:modId xmlns:p14="http://schemas.microsoft.com/office/powerpoint/2010/main" val="409357663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35342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B5D150-BCD8-A952-3B45-AB0127312A87}"/>
              </a:ext>
            </a:extLst>
          </p:cNvPr>
          <p:cNvSpPr>
            <a:spLocks noGrp="1"/>
          </p:cNvSpPr>
          <p:nvPr>
            <p:ph type="title"/>
          </p:nvPr>
        </p:nvSpPr>
        <p:spPr>
          <a:xfrm>
            <a:off x="630936" y="548640"/>
            <a:ext cx="2700645" cy="5431536"/>
          </a:xfrm>
        </p:spPr>
        <p:txBody>
          <a:bodyPr>
            <a:normAutofit/>
          </a:bodyPr>
          <a:lstStyle/>
          <a:p>
            <a:r>
              <a:rPr lang="en-GB" sz="3600"/>
              <a:t>Code Example: Synchronous</a:t>
            </a:r>
            <a:endParaRPr lang="en-US" sz="36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8B45D5-C51A-572B-1348-904E2E2292D0}"/>
              </a:ext>
            </a:extLst>
          </p:cNvPr>
          <p:cNvSpPr>
            <a:spLocks noGrp="1"/>
          </p:cNvSpPr>
          <p:nvPr>
            <p:ph idx="1"/>
          </p:nvPr>
        </p:nvSpPr>
        <p:spPr>
          <a:xfrm>
            <a:off x="3844813" y="552091"/>
            <a:ext cx="4668251" cy="5431536"/>
          </a:xfrm>
        </p:spPr>
        <p:txBody>
          <a:bodyPr anchor="ctr">
            <a:normAutofit/>
          </a:bodyPr>
          <a:lstStyle/>
          <a:p>
            <a:r>
              <a:rPr lang="en-US" sz="1900" dirty="0"/>
              <a:t>function </a:t>
            </a:r>
            <a:r>
              <a:rPr lang="en-US" sz="1900" dirty="0" err="1"/>
              <a:t>printNumbers</a:t>
            </a:r>
            <a:r>
              <a:rPr lang="en-US" sz="1900" dirty="0"/>
              <a:t>(numbers) {</a:t>
            </a:r>
          </a:p>
          <a:p>
            <a:r>
              <a:rPr lang="en-US" sz="1900" dirty="0"/>
              <a:t>    for (let </a:t>
            </a:r>
            <a:r>
              <a:rPr lang="en-US" sz="1900" dirty="0" err="1"/>
              <a:t>i</a:t>
            </a:r>
            <a:r>
              <a:rPr lang="en-US" sz="1900" dirty="0"/>
              <a:t> = 0; </a:t>
            </a:r>
            <a:r>
              <a:rPr lang="en-US" sz="1900" dirty="0" err="1"/>
              <a:t>i</a:t>
            </a:r>
            <a:r>
              <a:rPr lang="en-US" sz="1900" dirty="0"/>
              <a:t> &lt; </a:t>
            </a:r>
            <a:r>
              <a:rPr lang="en-US" sz="1900" dirty="0" err="1"/>
              <a:t>numbers.length</a:t>
            </a:r>
            <a:r>
              <a:rPr lang="en-US" sz="1900" dirty="0"/>
              <a:t>; </a:t>
            </a:r>
            <a:r>
              <a:rPr lang="en-US" sz="1900" dirty="0" err="1"/>
              <a:t>i</a:t>
            </a:r>
            <a:r>
              <a:rPr lang="en-US" sz="1900" dirty="0"/>
              <a:t>++) {</a:t>
            </a:r>
          </a:p>
          <a:p>
            <a:r>
              <a:rPr lang="en-US" sz="1900" dirty="0"/>
              <a:t>        </a:t>
            </a:r>
            <a:r>
              <a:rPr lang="en-US" sz="1900" dirty="0" err="1"/>
              <a:t>console.log</a:t>
            </a:r>
            <a:r>
              <a:rPr lang="en-US" sz="1900" dirty="0"/>
              <a:t>(numbers[</a:t>
            </a:r>
            <a:r>
              <a:rPr lang="en-US" sz="1900" dirty="0" err="1"/>
              <a:t>i</a:t>
            </a:r>
            <a:r>
              <a:rPr lang="en-US" sz="1900" dirty="0"/>
              <a:t>]);</a:t>
            </a:r>
          </a:p>
          <a:p>
            <a:r>
              <a:rPr lang="en-US" sz="1900" dirty="0"/>
              <a:t>    }</a:t>
            </a:r>
          </a:p>
          <a:p>
            <a:r>
              <a:rPr lang="en-US" sz="1900" dirty="0"/>
              <a:t>    </a:t>
            </a:r>
            <a:r>
              <a:rPr lang="en-US" sz="1900" dirty="0" err="1"/>
              <a:t>console.log</a:t>
            </a:r>
            <a:r>
              <a:rPr lang="en-US" sz="1900" dirty="0"/>
              <a:t>("Done!");</a:t>
            </a:r>
          </a:p>
          <a:p>
            <a:r>
              <a:rPr lang="en-US" sz="1900" dirty="0"/>
              <a:t>}</a:t>
            </a:r>
          </a:p>
          <a:p>
            <a:r>
              <a:rPr lang="en-US" sz="1900" dirty="0"/>
              <a:t> </a:t>
            </a:r>
          </a:p>
          <a:p>
            <a:r>
              <a:rPr lang="en-US" sz="1900" dirty="0" err="1"/>
              <a:t>printNumbers</a:t>
            </a:r>
            <a:r>
              <a:rPr lang="en-US" sz="1900" dirty="0"/>
              <a:t>([1, 2, 3]);</a:t>
            </a:r>
          </a:p>
        </p:txBody>
      </p:sp>
    </p:spTree>
    <p:extLst>
      <p:ext uri="{BB962C8B-B14F-4D97-AF65-F5344CB8AC3E}">
        <p14:creationId xmlns:p14="http://schemas.microsoft.com/office/powerpoint/2010/main" val="990873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862E69C-6F91-FE02-542A-88ED3DB28046}"/>
              </a:ext>
            </a:extLst>
          </p:cNvPr>
          <p:cNvSpPr>
            <a:spLocks noGrp="1"/>
          </p:cNvSpPr>
          <p:nvPr>
            <p:ph type="title"/>
          </p:nvPr>
        </p:nvSpPr>
        <p:spPr>
          <a:xfrm>
            <a:off x="1028697" y="348865"/>
            <a:ext cx="7533018" cy="877729"/>
          </a:xfrm>
        </p:spPr>
        <p:txBody>
          <a:bodyPr anchor="ctr">
            <a:normAutofit/>
          </a:bodyPr>
          <a:lstStyle/>
          <a:p>
            <a:pPr>
              <a:lnSpc>
                <a:spcPct val="90000"/>
              </a:lnSpc>
            </a:pPr>
            <a:r>
              <a:rPr lang="en-GB" sz="3000" b="1">
                <a:solidFill>
                  <a:srgbClr val="FFFFFF"/>
                </a:solidFill>
              </a:rPr>
              <a:t>Advantages of Synchronous Communication</a:t>
            </a:r>
            <a:endParaRPr lang="en-US" sz="3000">
              <a:solidFill>
                <a:srgbClr val="FFFFFF"/>
              </a:solidFill>
            </a:endParaRPr>
          </a:p>
        </p:txBody>
      </p:sp>
      <p:graphicFrame>
        <p:nvGraphicFramePr>
          <p:cNvPr id="5" name="Content Placeholder 2">
            <a:extLst>
              <a:ext uri="{FF2B5EF4-FFF2-40B4-BE49-F238E27FC236}">
                <a16:creationId xmlns:a16="http://schemas.microsoft.com/office/drawing/2014/main" id="{6207F488-2150-4C73-04A3-3E458C11625D}"/>
              </a:ext>
            </a:extLst>
          </p:cNvPr>
          <p:cNvGraphicFramePr>
            <a:graphicFrameLocks noGrp="1"/>
          </p:cNvGraphicFramePr>
          <p:nvPr>
            <p:ph idx="1"/>
            <p:extLst>
              <p:ext uri="{D42A27DB-BD31-4B8C-83A1-F6EECF244321}">
                <p14:modId xmlns:p14="http://schemas.microsoft.com/office/powerpoint/2010/main" val="3893664726"/>
              </p:ext>
            </p:extLst>
          </p:nvPr>
        </p:nvGraphicFramePr>
        <p:xfrm>
          <a:off x="474064" y="157545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4442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FB0E950-8A27-8CAE-F066-C4D0262D1C4E}"/>
              </a:ext>
            </a:extLst>
          </p:cNvPr>
          <p:cNvSpPr>
            <a:spLocks noGrp="1"/>
          </p:cNvSpPr>
          <p:nvPr>
            <p:ph type="title"/>
          </p:nvPr>
        </p:nvSpPr>
        <p:spPr>
          <a:xfrm>
            <a:off x="1028697" y="348865"/>
            <a:ext cx="7533018" cy="877729"/>
          </a:xfrm>
        </p:spPr>
        <p:txBody>
          <a:bodyPr anchor="ctr">
            <a:normAutofit/>
          </a:bodyPr>
          <a:lstStyle/>
          <a:p>
            <a:pPr>
              <a:lnSpc>
                <a:spcPct val="90000"/>
              </a:lnSpc>
            </a:pPr>
            <a:r>
              <a:rPr lang="en-GB" sz="2700" b="1">
                <a:solidFill>
                  <a:srgbClr val="FFFFFF"/>
                </a:solidFill>
              </a:rPr>
              <a:t>Disadvantages of Synchronous Communication</a:t>
            </a:r>
            <a:endParaRPr lang="en-US" sz="2700">
              <a:solidFill>
                <a:srgbClr val="FFFFFF"/>
              </a:solidFill>
            </a:endParaRPr>
          </a:p>
        </p:txBody>
      </p:sp>
      <p:graphicFrame>
        <p:nvGraphicFramePr>
          <p:cNvPr id="5" name="Content Placeholder 2">
            <a:extLst>
              <a:ext uri="{FF2B5EF4-FFF2-40B4-BE49-F238E27FC236}">
                <a16:creationId xmlns:a16="http://schemas.microsoft.com/office/drawing/2014/main" id="{C339539D-F2A3-E49F-07EE-FC1FBAE7BB0D}"/>
              </a:ext>
            </a:extLst>
          </p:cNvPr>
          <p:cNvGraphicFramePr>
            <a:graphicFrameLocks noGrp="1"/>
          </p:cNvGraphicFramePr>
          <p:nvPr>
            <p:ph idx="1"/>
            <p:extLst>
              <p:ext uri="{D42A27DB-BD31-4B8C-83A1-F6EECF244321}">
                <p14:modId xmlns:p14="http://schemas.microsoft.com/office/powerpoint/2010/main" val="1692841210"/>
              </p:ext>
            </p:extLst>
          </p:nvPr>
        </p:nvGraphicFramePr>
        <p:xfrm>
          <a:off x="474064" y="1924820"/>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5666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F2BA4A-67B1-3B5B-225F-C50B7844CD82}"/>
              </a:ext>
            </a:extLst>
          </p:cNvPr>
          <p:cNvSpPr>
            <a:spLocks noGrp="1"/>
          </p:cNvSpPr>
          <p:nvPr>
            <p:ph type="title"/>
          </p:nvPr>
        </p:nvSpPr>
        <p:spPr>
          <a:xfrm>
            <a:off x="1028699" y="294538"/>
            <a:ext cx="7421963" cy="1033669"/>
          </a:xfrm>
        </p:spPr>
        <p:txBody>
          <a:bodyPr>
            <a:normAutofit/>
          </a:bodyPr>
          <a:lstStyle/>
          <a:p>
            <a:r>
              <a:rPr lang="en-GB" sz="3200" b="1">
                <a:solidFill>
                  <a:srgbClr val="FFFFFF"/>
                </a:solidFill>
              </a:rPr>
              <a:t>What is Asynchronous Communication?</a:t>
            </a:r>
            <a:endParaRPr lang="en-US" sz="3200">
              <a:solidFill>
                <a:srgbClr val="FFFFFF"/>
              </a:solidFill>
            </a:endParaRPr>
          </a:p>
        </p:txBody>
      </p:sp>
      <p:sp>
        <p:nvSpPr>
          <p:cNvPr id="3" name="Content Placeholder 2">
            <a:extLst>
              <a:ext uri="{FF2B5EF4-FFF2-40B4-BE49-F238E27FC236}">
                <a16:creationId xmlns:a16="http://schemas.microsoft.com/office/drawing/2014/main" id="{24489689-CB51-1F92-E2DF-8697F612CF8A}"/>
              </a:ext>
            </a:extLst>
          </p:cNvPr>
          <p:cNvSpPr>
            <a:spLocks noGrp="1"/>
          </p:cNvSpPr>
          <p:nvPr>
            <p:ph idx="1"/>
          </p:nvPr>
        </p:nvSpPr>
        <p:spPr>
          <a:xfrm>
            <a:off x="752253" y="1891970"/>
            <a:ext cx="7509245" cy="3683358"/>
          </a:xfrm>
        </p:spPr>
        <p:txBody>
          <a:bodyPr anchor="ctr">
            <a:normAutofit/>
          </a:bodyPr>
          <a:lstStyle/>
          <a:p>
            <a:pPr algn="just" fontAlgn="base"/>
            <a:r>
              <a:rPr lang="en-GB" sz="1700" dirty="0"/>
              <a:t>Asynchronous communication is a method in which the sender sends a request and continues its execution without waiting for an immediate response. In</a:t>
            </a:r>
            <a:r>
              <a:rPr lang="en-GB" sz="1700" u="sng" dirty="0">
                <a:hlinkClick r:id="rId2"/>
              </a:rPr>
              <a:t> system design</a:t>
            </a:r>
            <a:r>
              <a:rPr lang="en-GB" sz="1700" dirty="0"/>
              <a:t>, this allows the requesting component (or service) to proceed with other tasks while the receiving component processes the request independently. Once the response is ready, it can be delivered via callbacks, message queues, or event-driven mechanisms.</a:t>
            </a:r>
          </a:p>
          <a:p>
            <a:pPr algn="just" fontAlgn="base"/>
            <a:r>
              <a:rPr lang="en-GB" sz="1700" dirty="0"/>
              <a:t>Asynchronous communication is commonly used in distributed systems, microservices, and applications requiring high scalability and flexibility.</a:t>
            </a:r>
          </a:p>
          <a:p>
            <a:pPr algn="just" fontAlgn="base"/>
            <a:r>
              <a:rPr lang="en-GB" sz="1700" dirty="0"/>
              <a:t>It reduces latency and improves system performance by decoupling the sender and receiver, though it may add complexity in managing responses.</a:t>
            </a:r>
            <a:br>
              <a:rPr lang="en-GB" sz="1700" i="1" dirty="0"/>
            </a:br>
            <a:endParaRPr lang="en-GB" sz="1700" i="1" dirty="0"/>
          </a:p>
          <a:p>
            <a:endParaRPr lang="en-US" sz="1700" dirty="0"/>
          </a:p>
        </p:txBody>
      </p:sp>
    </p:spTree>
    <p:extLst>
      <p:ext uri="{BB962C8B-B14F-4D97-AF65-F5344CB8AC3E}">
        <p14:creationId xmlns:p14="http://schemas.microsoft.com/office/powerpoint/2010/main" val="1663140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2B616F-C60B-5ABB-C878-EAB8EBFF3FBD}"/>
              </a:ext>
            </a:extLst>
          </p:cNvPr>
          <p:cNvSpPr>
            <a:spLocks noGrp="1"/>
          </p:cNvSpPr>
          <p:nvPr>
            <p:ph type="title"/>
          </p:nvPr>
        </p:nvSpPr>
        <p:spPr>
          <a:xfrm>
            <a:off x="630936" y="548640"/>
            <a:ext cx="2700645" cy="5431536"/>
          </a:xfrm>
        </p:spPr>
        <p:txBody>
          <a:bodyPr>
            <a:normAutofit/>
          </a:bodyPr>
          <a:lstStyle/>
          <a:p>
            <a:r>
              <a:rPr lang="en-GB" sz="3300"/>
              <a:t>Code Example: Asynchronous</a:t>
            </a:r>
            <a:endParaRPr lang="en-US" sz="33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0D4330-7C69-1826-04E1-D8A2E8C2EE2E}"/>
              </a:ext>
            </a:extLst>
          </p:cNvPr>
          <p:cNvSpPr>
            <a:spLocks noGrp="1"/>
          </p:cNvSpPr>
          <p:nvPr>
            <p:ph idx="1"/>
          </p:nvPr>
        </p:nvSpPr>
        <p:spPr>
          <a:xfrm>
            <a:off x="3844813" y="552091"/>
            <a:ext cx="4668251" cy="5431536"/>
          </a:xfrm>
        </p:spPr>
        <p:txBody>
          <a:bodyPr anchor="ctr">
            <a:normAutofit/>
          </a:bodyPr>
          <a:lstStyle/>
          <a:p>
            <a:pPr marL="0" indent="0">
              <a:lnSpc>
                <a:spcPct val="90000"/>
              </a:lnSpc>
              <a:buNone/>
            </a:pPr>
            <a:r>
              <a:rPr lang="en-US" sz="1600"/>
              <a:t>function fetchData(url) {</a:t>
            </a:r>
          </a:p>
          <a:p>
            <a:pPr marL="0" indent="0">
              <a:lnSpc>
                <a:spcPct val="90000"/>
              </a:lnSpc>
              <a:buNone/>
            </a:pPr>
            <a:r>
              <a:rPr lang="en-US" sz="1600"/>
              <a:t>    return new Promise((resolve, reject) =&gt; {</a:t>
            </a:r>
          </a:p>
          <a:p>
            <a:pPr marL="0" indent="0">
              <a:lnSpc>
                <a:spcPct val="90000"/>
              </a:lnSpc>
              <a:buNone/>
            </a:pPr>
            <a:r>
              <a:rPr lang="en-US" sz="1600"/>
              <a:t>        // Send async HTTP request</a:t>
            </a:r>
          </a:p>
          <a:p>
            <a:pPr marL="0" indent="0">
              <a:lnSpc>
                <a:spcPct val="90000"/>
              </a:lnSpc>
              <a:buNone/>
            </a:pPr>
            <a:r>
              <a:rPr lang="en-US" sz="1600"/>
              <a:t>        fetch(url)</a:t>
            </a:r>
          </a:p>
          <a:p>
            <a:pPr marL="0" indent="0">
              <a:lnSpc>
                <a:spcPct val="90000"/>
              </a:lnSpc>
              <a:buNone/>
            </a:pPr>
            <a:r>
              <a:rPr lang="en-US" sz="1600"/>
              <a:t>            .then(response =&gt; response.json()) </a:t>
            </a:r>
          </a:p>
          <a:p>
            <a:pPr marL="0" indent="0">
              <a:lnSpc>
                <a:spcPct val="90000"/>
              </a:lnSpc>
              <a:buNone/>
            </a:pPr>
            <a:r>
              <a:rPr lang="en-US" sz="1600"/>
              <a:t>            .then(data =&gt; resolve(data)) </a:t>
            </a:r>
          </a:p>
          <a:p>
            <a:pPr marL="0" indent="0">
              <a:lnSpc>
                <a:spcPct val="90000"/>
              </a:lnSpc>
              <a:buNone/>
            </a:pPr>
            <a:r>
              <a:rPr lang="en-US" sz="1600"/>
              <a:t>            .catch(error =&gt; reject(error));</a:t>
            </a:r>
          </a:p>
          <a:p>
            <a:pPr marL="0" indent="0">
              <a:lnSpc>
                <a:spcPct val="90000"/>
              </a:lnSpc>
              <a:buNone/>
            </a:pPr>
            <a:r>
              <a:rPr lang="en-US" sz="1600"/>
              <a:t>    });</a:t>
            </a:r>
          </a:p>
          <a:p>
            <a:pPr marL="0" indent="0">
              <a:lnSpc>
                <a:spcPct val="90000"/>
              </a:lnSpc>
              <a:buNone/>
            </a:pPr>
            <a:r>
              <a:rPr lang="en-US" sz="1600"/>
              <a:t>}</a:t>
            </a:r>
          </a:p>
          <a:p>
            <a:pPr marL="0" indent="0">
              <a:lnSpc>
                <a:spcPct val="90000"/>
              </a:lnSpc>
              <a:buNone/>
            </a:pPr>
            <a:r>
              <a:rPr lang="en-US" sz="1600"/>
              <a:t> </a:t>
            </a:r>
          </a:p>
          <a:p>
            <a:pPr marL="0" indent="0">
              <a:lnSpc>
                <a:spcPct val="90000"/>
              </a:lnSpc>
              <a:buNone/>
            </a:pPr>
            <a:r>
              <a:rPr lang="en-US" sz="1600"/>
              <a:t>async function main() {</a:t>
            </a:r>
          </a:p>
          <a:p>
            <a:pPr marL="0" indent="0">
              <a:lnSpc>
                <a:spcPct val="90000"/>
              </a:lnSpc>
              <a:buNone/>
            </a:pPr>
            <a:r>
              <a:rPr lang="en-US" sz="1600"/>
              <a:t>    const data = await fetchData('[https://example.com/api](https://example.com/api)');</a:t>
            </a:r>
          </a:p>
          <a:p>
            <a:pPr marL="0" indent="0">
              <a:lnSpc>
                <a:spcPct val="90000"/>
              </a:lnSpc>
              <a:buNone/>
            </a:pPr>
            <a:r>
              <a:rPr lang="en-US" sz="1600"/>
              <a:t> </a:t>
            </a:r>
          </a:p>
          <a:p>
            <a:pPr marL="0" indent="0">
              <a:lnSpc>
                <a:spcPct val="90000"/>
              </a:lnSpc>
              <a:buNone/>
            </a:pPr>
            <a:r>
              <a:rPr lang="en-US" sz="1600"/>
              <a:t>    console.log(data);</a:t>
            </a:r>
          </a:p>
          <a:p>
            <a:pPr marL="0" indent="0">
              <a:lnSpc>
                <a:spcPct val="90000"/>
              </a:lnSpc>
              <a:buNone/>
            </a:pPr>
            <a:r>
              <a:rPr lang="en-US" sz="1600"/>
              <a:t>}</a:t>
            </a:r>
          </a:p>
          <a:p>
            <a:pPr marL="0" indent="0">
              <a:lnSpc>
                <a:spcPct val="90000"/>
              </a:lnSpc>
              <a:buNone/>
            </a:pPr>
            <a:r>
              <a:rPr lang="en-US" sz="1600"/>
              <a:t> </a:t>
            </a:r>
          </a:p>
          <a:p>
            <a:pPr marL="0" indent="0">
              <a:lnSpc>
                <a:spcPct val="90000"/>
              </a:lnSpc>
              <a:buNone/>
            </a:pPr>
            <a:r>
              <a:rPr lang="en-US" sz="1600"/>
              <a:t>main();</a:t>
            </a:r>
          </a:p>
        </p:txBody>
      </p:sp>
    </p:spTree>
    <p:extLst>
      <p:ext uri="{BB962C8B-B14F-4D97-AF65-F5344CB8AC3E}">
        <p14:creationId xmlns:p14="http://schemas.microsoft.com/office/powerpoint/2010/main" val="3905725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Rectangle 717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77" name="Freeform: Shape 717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79" name="Rectangle 717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1" name="Rectangle 718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3" name="Freeform: Shape 718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85" name="Isosceles Triangle 718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Common Tools Used for Asynchronous Communications are Shown on the... |  Download Scientific Diagram">
            <a:extLst>
              <a:ext uri="{FF2B5EF4-FFF2-40B4-BE49-F238E27FC236}">
                <a16:creationId xmlns:a16="http://schemas.microsoft.com/office/drawing/2014/main" id="{826C7FEA-1DBF-3E38-E0F8-DAD1C3723B3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2600" y="1406289"/>
            <a:ext cx="8178799" cy="413327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187" name="Isosceles Triangle 718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3597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66D9A3-8804-5C0E-5763-35827A2AE865}"/>
              </a:ext>
            </a:extLst>
          </p:cNvPr>
          <p:cNvSpPr>
            <a:spLocks noGrp="1"/>
          </p:cNvSpPr>
          <p:nvPr>
            <p:ph type="title"/>
          </p:nvPr>
        </p:nvSpPr>
        <p:spPr>
          <a:xfrm>
            <a:off x="476250" y="640823"/>
            <a:ext cx="2563994" cy="5583148"/>
          </a:xfrm>
        </p:spPr>
        <p:txBody>
          <a:bodyPr anchor="ctr">
            <a:normAutofit/>
          </a:bodyPr>
          <a:lstStyle/>
          <a:p>
            <a:r>
              <a:rPr lang="en-GB" sz="2600" b="1"/>
              <a:t>Advantages of Asynchronous Communication</a:t>
            </a:r>
            <a:endParaRPr lang="en-US" sz="26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EE0D519-3DC6-C75B-8F07-1CBBB81DA720}"/>
              </a:ext>
            </a:extLst>
          </p:cNvPr>
          <p:cNvGraphicFramePr>
            <a:graphicFrameLocks noGrp="1"/>
          </p:cNvGraphicFramePr>
          <p:nvPr>
            <p:ph idx="1"/>
            <p:extLst>
              <p:ext uri="{D42A27DB-BD31-4B8C-83A1-F6EECF244321}">
                <p14:modId xmlns:p14="http://schemas.microsoft.com/office/powerpoint/2010/main" val="3208887072"/>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5201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926" y="1371600"/>
            <a:ext cx="3396984"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67C62460-71C9-2C56-C50A-B41BD458618C}"/>
              </a:ext>
            </a:extLst>
          </p:cNvPr>
          <p:cNvSpPr>
            <a:spLocks noGrp="1"/>
          </p:cNvSpPr>
          <p:nvPr>
            <p:ph type="title"/>
          </p:nvPr>
        </p:nvSpPr>
        <p:spPr>
          <a:xfrm>
            <a:off x="750705" y="685801"/>
            <a:ext cx="2621145" cy="5491162"/>
          </a:xfrm>
        </p:spPr>
        <p:txBody>
          <a:bodyPr>
            <a:normAutofit/>
          </a:bodyPr>
          <a:lstStyle/>
          <a:p>
            <a:r>
              <a:rPr lang="en-GB" sz="2800" b="1"/>
              <a:t>Disadvantages of Asynchronous Communication</a:t>
            </a:r>
            <a:br>
              <a:rPr lang="en-GB" sz="2800" b="1"/>
            </a:br>
            <a:endParaRPr lang="en-US" sz="2800"/>
          </a:p>
        </p:txBody>
      </p:sp>
      <p:graphicFrame>
        <p:nvGraphicFramePr>
          <p:cNvPr id="5" name="Content Placeholder 2">
            <a:extLst>
              <a:ext uri="{FF2B5EF4-FFF2-40B4-BE49-F238E27FC236}">
                <a16:creationId xmlns:a16="http://schemas.microsoft.com/office/drawing/2014/main" id="{7D8D09FA-C629-9659-26F7-57C1F532ED0F}"/>
              </a:ext>
            </a:extLst>
          </p:cNvPr>
          <p:cNvGraphicFramePr>
            <a:graphicFrameLocks noGrp="1"/>
          </p:cNvGraphicFramePr>
          <p:nvPr>
            <p:ph idx="1"/>
            <p:extLst>
              <p:ext uri="{D42A27DB-BD31-4B8C-83A1-F6EECF244321}">
                <p14:modId xmlns:p14="http://schemas.microsoft.com/office/powerpoint/2010/main" val="2367075994"/>
              </p:ext>
            </p:extLst>
          </p:nvPr>
        </p:nvGraphicFramePr>
        <p:xfrm>
          <a:off x="3526910" y="838199"/>
          <a:ext cx="4988440"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1013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15" name="Rectangle 8214">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BD7AB06-E122-EA9E-7F1B-F5B267C8A6FC}"/>
              </a:ext>
            </a:extLst>
          </p:cNvPr>
          <p:cNvSpPr txBox="1"/>
          <p:nvPr/>
        </p:nvSpPr>
        <p:spPr>
          <a:xfrm>
            <a:off x="342901" y="829340"/>
            <a:ext cx="5383370" cy="5111637"/>
          </a:xfrm>
          <a:prstGeom prst="rect">
            <a:avLst/>
          </a:prstGeom>
        </p:spPr>
        <p:txBody>
          <a:bodyPr vert="horz" lIns="91440" tIns="45720" rIns="91440" bIns="45720" rtlCol="0" anchor="t">
            <a:noAutofit/>
          </a:bodyPr>
          <a:lstStyle/>
          <a:p>
            <a:pPr algn="just" defTabSz="914400">
              <a:lnSpc>
                <a:spcPct val="90000"/>
              </a:lnSpc>
              <a:spcAft>
                <a:spcPts val="600"/>
              </a:spcAft>
            </a:pPr>
            <a:r>
              <a:rPr lang="en-US" b="1" dirty="0"/>
              <a:t>Asynchronous Programming – Pros</a:t>
            </a:r>
          </a:p>
          <a:p>
            <a:pPr indent="-228600" algn="just" defTabSz="914400">
              <a:lnSpc>
                <a:spcPct val="90000"/>
              </a:lnSpc>
              <a:spcAft>
                <a:spcPts val="600"/>
              </a:spcAft>
              <a:buFont typeface="Arial" panose="020B0604020202020204" pitchFamily="34" charset="0"/>
              <a:buChar char="•"/>
            </a:pPr>
            <a:r>
              <a:rPr lang="en-US" b="1" dirty="0"/>
              <a:t>Better Performance:</a:t>
            </a:r>
            <a:r>
              <a:rPr lang="en-US" dirty="0"/>
              <a:t> Tasks run concurrently without blocking each other, improving speed and resource efficiency.</a:t>
            </a:r>
          </a:p>
          <a:p>
            <a:pPr indent="-228600" algn="just" defTabSz="914400">
              <a:lnSpc>
                <a:spcPct val="90000"/>
              </a:lnSpc>
              <a:spcAft>
                <a:spcPts val="600"/>
              </a:spcAft>
              <a:buFont typeface="Arial" panose="020B0604020202020204" pitchFamily="34" charset="0"/>
              <a:buChar char="•"/>
            </a:pPr>
            <a:r>
              <a:rPr lang="en-US" b="1" dirty="0"/>
              <a:t>Higher Scalability:</a:t>
            </a:r>
            <a:r>
              <a:rPr lang="en-US" dirty="0"/>
              <a:t> Non-blocking I/O allows handling more users and requests with the same hardware.</a:t>
            </a:r>
          </a:p>
          <a:p>
            <a:pPr indent="-228600" algn="just" defTabSz="914400">
              <a:lnSpc>
                <a:spcPct val="90000"/>
              </a:lnSpc>
              <a:spcAft>
                <a:spcPts val="600"/>
              </a:spcAft>
              <a:buFont typeface="Arial" panose="020B0604020202020204" pitchFamily="34" charset="0"/>
              <a:buChar char="•"/>
            </a:pPr>
            <a:r>
              <a:rPr lang="en-US" b="1" dirty="0"/>
              <a:t>Responsive UI:</a:t>
            </a:r>
            <a:r>
              <a:rPr lang="en-US" dirty="0"/>
              <a:t> Asynchronous calls keep the interface active while background operations (like network or disk access) complete.</a:t>
            </a:r>
            <a:br>
              <a:rPr lang="en-US" dirty="0"/>
            </a:br>
            <a:endParaRPr lang="en-US" dirty="0"/>
          </a:p>
          <a:p>
            <a:pPr algn="just" defTabSz="914400">
              <a:lnSpc>
                <a:spcPct val="90000"/>
              </a:lnSpc>
              <a:spcAft>
                <a:spcPts val="600"/>
              </a:spcAft>
            </a:pPr>
            <a:r>
              <a:rPr lang="en-US" b="1" dirty="0"/>
              <a:t>Asynchronous Programming – Cons</a:t>
            </a:r>
          </a:p>
          <a:p>
            <a:pPr indent="-228600" algn="just" defTabSz="914400">
              <a:lnSpc>
                <a:spcPct val="90000"/>
              </a:lnSpc>
              <a:spcAft>
                <a:spcPts val="600"/>
              </a:spcAft>
              <a:buFont typeface="Arial" panose="020B0604020202020204" pitchFamily="34" charset="0"/>
              <a:buChar char="•"/>
            </a:pPr>
            <a:r>
              <a:rPr lang="en-US" b="1" dirty="0"/>
              <a:t>Complex Flow:</a:t>
            </a:r>
            <a:r>
              <a:rPr lang="en-US" dirty="0"/>
              <a:t> Execution order is harder to follow due to callbacks and async events.</a:t>
            </a:r>
          </a:p>
          <a:p>
            <a:pPr indent="-228600" algn="just" defTabSz="914400">
              <a:lnSpc>
                <a:spcPct val="90000"/>
              </a:lnSpc>
              <a:spcAft>
                <a:spcPts val="600"/>
              </a:spcAft>
              <a:buFont typeface="Arial" panose="020B0604020202020204" pitchFamily="34" charset="0"/>
              <a:buChar char="•"/>
            </a:pPr>
            <a:r>
              <a:rPr lang="en-US" b="1" dirty="0"/>
              <a:t>Difficult Debugging:</a:t>
            </a:r>
            <a:r>
              <a:rPr lang="en-US" dirty="0"/>
              <a:t> Non-sequential behavior makes errors harder to trace.</a:t>
            </a:r>
          </a:p>
          <a:p>
            <a:pPr indent="-228600" algn="just" defTabSz="914400">
              <a:lnSpc>
                <a:spcPct val="90000"/>
              </a:lnSpc>
              <a:spcAft>
                <a:spcPts val="600"/>
              </a:spcAft>
              <a:buFont typeface="Arial" panose="020B0604020202020204" pitchFamily="34" charset="0"/>
              <a:buChar char="•"/>
            </a:pPr>
            <a:r>
              <a:rPr lang="en-US" b="1" dirty="0"/>
              <a:t>Callback Overload:</a:t>
            </a:r>
            <a:r>
              <a:rPr lang="en-US" dirty="0"/>
              <a:t> Too many nested callbacks can make code messy and hard to maintain.</a:t>
            </a:r>
          </a:p>
        </p:txBody>
      </p:sp>
      <p:sp>
        <p:nvSpPr>
          <p:cNvPr id="8217" name="Rectangle 821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8" name="Rectangle 8217">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14" name="Rectangle 8213">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16" name="Rectangle 8215">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194" name="Picture 2" descr="null">
            <a:extLst>
              <a:ext uri="{FF2B5EF4-FFF2-40B4-BE49-F238E27FC236}">
                <a16:creationId xmlns:a16="http://schemas.microsoft.com/office/drawing/2014/main" id="{A6857E79-83B9-5AE8-2CFC-E741F7167D9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306975" y="2271985"/>
            <a:ext cx="3127897" cy="2345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4340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D63EBC-3571-9470-AF28-C20C88887ABD}"/>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Synchronous vs Asynchronous Communication</a:t>
            </a:r>
          </a:p>
        </p:txBody>
      </p:sp>
      <p:pic>
        <p:nvPicPr>
          <p:cNvPr id="3074" name="Picture 2" descr="Remote and Hybrid Teamwork Success: “Asynchronous” Communication is the Key">
            <a:extLst>
              <a:ext uri="{FF2B5EF4-FFF2-40B4-BE49-F238E27FC236}">
                <a16:creationId xmlns:a16="http://schemas.microsoft.com/office/drawing/2014/main" id="{8F66F5EA-4838-47DA-88D8-81E657EF6A30}"/>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7978" t="25489" r="5600" b="11081"/>
          <a:stretch>
            <a:fillRect/>
          </a:stretch>
        </p:blipFill>
        <p:spPr bwMode="auto">
          <a:xfrm>
            <a:off x="482600" y="2184016"/>
            <a:ext cx="8178799" cy="3376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5534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C6CEB-6AFB-8DBF-43B1-D3F36C80344B}"/>
              </a:ext>
            </a:extLst>
          </p:cNvPr>
          <p:cNvSpPr>
            <a:spLocks noGrp="1"/>
          </p:cNvSpPr>
          <p:nvPr>
            <p:ph type="title"/>
          </p:nvPr>
        </p:nvSpPr>
        <p:spPr/>
        <p:txBody>
          <a:bodyPr>
            <a:normAutofit fontScale="90000"/>
          </a:bodyPr>
          <a:lstStyle/>
          <a:p>
            <a:r>
              <a:rPr lang="en-GB" b="1"/>
              <a:t>Differences between Synchronous and Asynchronous Communication</a:t>
            </a:r>
            <a:endParaRPr lang="en-US" dirty="0"/>
          </a:p>
        </p:txBody>
      </p:sp>
      <p:pic>
        <p:nvPicPr>
          <p:cNvPr id="5" name="Content Placeholder 4" descr="A screenshot of a white table&#10;&#10;AI-generated content may be incorrect.">
            <a:extLst>
              <a:ext uri="{FF2B5EF4-FFF2-40B4-BE49-F238E27FC236}">
                <a16:creationId xmlns:a16="http://schemas.microsoft.com/office/drawing/2014/main" id="{23825707-3FCB-11DC-923E-A68DD9909FD1}"/>
              </a:ext>
            </a:extLst>
          </p:cNvPr>
          <p:cNvPicPr>
            <a:picLocks noGrp="1" noChangeAspect="1"/>
          </p:cNvPicPr>
          <p:nvPr>
            <p:ph idx="1"/>
          </p:nvPr>
        </p:nvPicPr>
        <p:blipFill>
          <a:blip r:embed="rId2"/>
          <a:stretch>
            <a:fillRect/>
          </a:stretch>
        </p:blipFill>
        <p:spPr>
          <a:xfrm>
            <a:off x="884727" y="1600200"/>
            <a:ext cx="7374545" cy="4525963"/>
          </a:xfrm>
        </p:spPr>
      </p:pic>
    </p:spTree>
    <p:extLst>
      <p:ext uri="{BB962C8B-B14F-4D97-AF65-F5344CB8AC3E}">
        <p14:creationId xmlns:p14="http://schemas.microsoft.com/office/powerpoint/2010/main" val="1483025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0" name="Rectangle 2059">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44550" y="3986952"/>
            <a:ext cx="3482624" cy="1800165"/>
          </a:xfrm>
        </p:spPr>
        <p:txBody>
          <a:bodyPr anchor="t">
            <a:normAutofit/>
          </a:bodyPr>
          <a:lstStyle/>
          <a:p>
            <a:pPr algn="r"/>
            <a:r>
              <a:rPr lang="en-GB" sz="3500" b="1" dirty="0"/>
              <a:t>Frame Structure components</a:t>
            </a:r>
            <a:br>
              <a:rPr lang="en-GB" sz="3500" dirty="0"/>
            </a:br>
            <a:endParaRPr lang="en-GB" sz="3500" dirty="0"/>
          </a:p>
        </p:txBody>
      </p:sp>
      <p:pic>
        <p:nvPicPr>
          <p:cNvPr id="2055" name="Picture 7">
            <a:extLst>
              <a:ext uri="{FF2B5EF4-FFF2-40B4-BE49-F238E27FC236}">
                <a16:creationId xmlns:a16="http://schemas.microsoft.com/office/drawing/2014/main" id="{A0B61027-A859-4633-8D2A-C51A43C83C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86" t="26874" r="23837" b="33333"/>
          <a:stretch>
            <a:fillRect/>
          </a:stretch>
        </p:blipFill>
        <p:spPr bwMode="auto">
          <a:xfrm>
            <a:off x="560180" y="265814"/>
            <a:ext cx="8023638" cy="345532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3971724" y="3986953"/>
            <a:ext cx="4676451" cy="1800164"/>
          </a:xfrm>
        </p:spPr>
        <p:txBody>
          <a:bodyPr anchor="t">
            <a:normAutofit/>
          </a:bodyPr>
          <a:lstStyle/>
          <a:p>
            <a:pPr>
              <a:lnSpc>
                <a:spcPct val="90000"/>
              </a:lnSpc>
            </a:pPr>
            <a:r>
              <a:rPr lang="en-GB" sz="900" b="1" dirty="0"/>
              <a:t>Start Bit</a:t>
            </a:r>
            <a:r>
              <a:rPr lang="en-GB" sz="900" dirty="0"/>
              <a:t>: A single bit that transitions to signal the beginning of a character and enables the receiver's clock to synchronize with the incoming data.</a:t>
            </a:r>
          </a:p>
          <a:p>
            <a:pPr>
              <a:lnSpc>
                <a:spcPct val="90000"/>
              </a:lnSpc>
            </a:pPr>
            <a:r>
              <a:rPr lang="en-GB" sz="900" b="1" dirty="0"/>
              <a:t>Data Bits</a:t>
            </a:r>
            <a:r>
              <a:rPr lang="en-GB" sz="900" dirty="0"/>
              <a:t>: The actual data being transmitted, which is usually 7 or 8 bits long.</a:t>
            </a:r>
          </a:p>
          <a:p>
            <a:pPr>
              <a:lnSpc>
                <a:spcPct val="90000"/>
              </a:lnSpc>
            </a:pPr>
            <a:r>
              <a:rPr lang="en-GB" sz="900" b="1" dirty="0"/>
              <a:t>Parity Bit </a:t>
            </a:r>
            <a:r>
              <a:rPr lang="en-GB" sz="900" dirty="0"/>
              <a:t>(Optional): An extra bit added to the data for basic error detection. It can be configured for even, odd, or no parity.</a:t>
            </a:r>
          </a:p>
          <a:p>
            <a:pPr>
              <a:lnSpc>
                <a:spcPct val="90000"/>
              </a:lnSpc>
            </a:pPr>
            <a:r>
              <a:rPr lang="en-GB" sz="900" b="1" dirty="0"/>
              <a:t>Stop Bit</a:t>
            </a:r>
            <a:r>
              <a:rPr lang="en-GB" sz="900" dirty="0"/>
              <a:t>(s): One or two bits that signal the end of the character frame and give the receiver time to reset its state before the next start bit arrives. The stop bit period can't be shorter than the specified amount, usually 1 to 2 bit times. </a:t>
            </a:r>
          </a:p>
        </p:txBody>
      </p:sp>
      <p:sp>
        <p:nvSpPr>
          <p:cNvPr id="2062" name="Rectangle 2061">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9143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4" name="Rectangle 2063">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5" y="6406115"/>
            <a:ext cx="3057523"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6" name="Rectangle 4115">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FF674D-85D0-2598-10F5-DB85BAFBBD50}"/>
              </a:ext>
            </a:extLst>
          </p:cNvPr>
          <p:cNvSpPr>
            <a:spLocks noGrp="1"/>
          </p:cNvSpPr>
          <p:nvPr>
            <p:ph type="title"/>
          </p:nvPr>
        </p:nvSpPr>
        <p:spPr>
          <a:xfrm>
            <a:off x="595246" y="386930"/>
            <a:ext cx="7549592" cy="1298448"/>
          </a:xfrm>
        </p:spPr>
        <p:txBody>
          <a:bodyPr vert="horz" lIns="91440" tIns="45720" rIns="91440" bIns="45720" rtlCol="0" anchor="b">
            <a:normAutofit/>
          </a:bodyPr>
          <a:lstStyle/>
          <a:p>
            <a:pPr algn="l" defTabSz="914400" fontAlgn="base">
              <a:lnSpc>
                <a:spcPct val="90000"/>
              </a:lnSpc>
            </a:pPr>
            <a:br>
              <a:rPr lang="en-US" sz="2900" kern="1200">
                <a:solidFill>
                  <a:schemeClr val="tx1"/>
                </a:solidFill>
                <a:latin typeface="+mj-lt"/>
                <a:ea typeface="+mj-ea"/>
                <a:cs typeface="+mj-cs"/>
              </a:rPr>
            </a:br>
            <a:r>
              <a:rPr lang="en-US" sz="2900" b="1" kern="1200">
                <a:solidFill>
                  <a:schemeClr val="tx1"/>
                </a:solidFill>
                <a:latin typeface="+mj-lt"/>
                <a:ea typeface="+mj-ea"/>
                <a:cs typeface="+mj-cs"/>
              </a:rPr>
              <a:t>Asynchronous Communication Interface</a:t>
            </a:r>
            <a:br>
              <a:rPr lang="en-US" sz="2900" b="1" kern="1200">
                <a:solidFill>
                  <a:schemeClr val="tx1"/>
                </a:solidFill>
                <a:latin typeface="+mj-lt"/>
                <a:ea typeface="+mj-ea"/>
                <a:cs typeface="+mj-cs"/>
              </a:rPr>
            </a:br>
            <a:endParaRPr lang="en-US" sz="2900" kern="1200">
              <a:solidFill>
                <a:schemeClr val="tx1"/>
              </a:solidFill>
              <a:latin typeface="+mj-lt"/>
              <a:ea typeface="+mj-ea"/>
              <a:cs typeface="+mj-cs"/>
            </a:endParaRPr>
          </a:p>
        </p:txBody>
      </p:sp>
      <p:sp>
        <p:nvSpPr>
          <p:cNvPr id="4118" name="Rectangle 411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0" name="Rectangle 411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26BD3C8-02A3-5513-1565-064D5C642538}"/>
              </a:ext>
            </a:extLst>
          </p:cNvPr>
          <p:cNvSpPr txBox="1"/>
          <p:nvPr/>
        </p:nvSpPr>
        <p:spPr>
          <a:xfrm>
            <a:off x="276269" y="2389218"/>
            <a:ext cx="3721086" cy="3639450"/>
          </a:xfrm>
          <a:prstGeom prst="rect">
            <a:avLst/>
          </a:prstGeom>
        </p:spPr>
        <p:txBody>
          <a:bodyPr vert="horz" lIns="91440" tIns="45720" rIns="91440" bIns="45720" rtlCol="0" anchor="ctr">
            <a:normAutofit/>
          </a:bodyPr>
          <a:lstStyle/>
          <a:p>
            <a:pPr indent="-228600" algn="just" defTabSz="914400">
              <a:lnSpc>
                <a:spcPct val="90000"/>
              </a:lnSpc>
              <a:spcAft>
                <a:spcPts val="600"/>
              </a:spcAft>
              <a:buFont typeface="Arial" panose="020B0604020202020204" pitchFamily="34" charset="0"/>
              <a:buChar char="•"/>
            </a:pPr>
            <a:r>
              <a:rPr lang="en-US" sz="1300" b="1" i="0" dirty="0">
                <a:effectLst/>
              </a:rPr>
              <a:t>Parts of the Interface :</a:t>
            </a:r>
            <a:r>
              <a:rPr lang="en-US" sz="1300" b="0" i="0" dirty="0">
                <a:effectLst/>
              </a:rPr>
              <a:t> The interface is initialized by the help of control bit loaded into the control register. The transmitter register accepts the data byte from CPU through data bus which is then transferred to shift register for serial transmission. The serial information is received into another shift register and is transferred to the receiver register when a complete data byte is accumulated. The bits in status register are used to check any errors during transmission and for input and output flags which can be read by the CPU. The chip select (CS) input is used to select interface through address bus. The register select (RS) is associated with Read (RD) and write (WR) controls. Two registers are read and write only. The register selected is the function of RS value and RD and WR.</a:t>
            </a:r>
            <a:endParaRPr lang="en-US" sz="1300" dirty="0"/>
          </a:p>
        </p:txBody>
      </p:sp>
      <p:pic>
        <p:nvPicPr>
          <p:cNvPr id="4098" name="Picture 2">
            <a:extLst>
              <a:ext uri="{FF2B5EF4-FFF2-40B4-BE49-F238E27FC236}">
                <a16:creationId xmlns:a16="http://schemas.microsoft.com/office/drawing/2014/main" id="{4F6887D2-23D2-3B27-4026-31576982DEF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268760" y="2584643"/>
            <a:ext cx="3862707" cy="3248599"/>
          </a:xfrm>
          <a:prstGeom prst="rect">
            <a:avLst/>
          </a:prstGeom>
          <a:noFill/>
          <a:extLst>
            <a:ext uri="{909E8E84-426E-40DD-AFC4-6F175D3DCCD1}">
              <a14:hiddenFill xmlns:a14="http://schemas.microsoft.com/office/drawing/2010/main">
                <a:solidFill>
                  <a:srgbClr val="FFFFFF"/>
                </a:solidFill>
              </a14:hiddenFill>
            </a:ext>
          </a:extLst>
        </p:spPr>
      </p:pic>
      <p:sp>
        <p:nvSpPr>
          <p:cNvPr id="4122" name="Rectangle 412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4110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1" name="Rectangle 5130">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62E9CB2-8719-81BD-D0EA-F9AB0CD7B497}"/>
              </a:ext>
            </a:extLst>
          </p:cNvPr>
          <p:cNvSpPr txBox="1"/>
          <p:nvPr/>
        </p:nvSpPr>
        <p:spPr>
          <a:xfrm>
            <a:off x="753851" y="434670"/>
            <a:ext cx="7631722" cy="2085246"/>
          </a:xfrm>
          <a:prstGeom prst="rect">
            <a:avLst/>
          </a:prstGeom>
        </p:spPr>
        <p:txBody>
          <a:bodyPr vert="horz" lIns="91440" tIns="45720" rIns="91440" bIns="45720" rtlCol="0" anchor="ctr">
            <a:noAutofit/>
          </a:bodyPr>
          <a:lstStyle/>
          <a:p>
            <a:pPr indent="-228600" algn="just" defTabSz="914400">
              <a:lnSpc>
                <a:spcPct val="90000"/>
              </a:lnSpc>
              <a:spcAft>
                <a:spcPts val="600"/>
              </a:spcAft>
              <a:buFont typeface="Arial" panose="020B0604020202020204" pitchFamily="34" charset="0"/>
              <a:buChar char="•"/>
            </a:pPr>
            <a:r>
              <a:rPr lang="en-US" sz="1200" b="1" i="0" dirty="0">
                <a:effectLst/>
                <a:latin typeface="Times New Roman" panose="02020603050405020304" pitchFamily="18" charset="0"/>
                <a:cs typeface="Times New Roman" panose="02020603050405020304" pitchFamily="18" charset="0"/>
              </a:rPr>
              <a:t>Working of the interface :</a:t>
            </a:r>
            <a:r>
              <a:rPr lang="en-US" sz="1200" b="0" i="0" dirty="0">
                <a:effectLst/>
                <a:latin typeface="Times New Roman" panose="02020603050405020304" pitchFamily="18" charset="0"/>
                <a:cs typeface="Times New Roman" panose="02020603050405020304" pitchFamily="18" charset="0"/>
              </a:rPr>
              <a:t> The interface is initialized by the CPU by sending a byte to the control register. Two bits in the status register are used as flags and one bit is used to indicate whether the transmission register is empty and another bit is used to indicate whether the receiver register is full. </a:t>
            </a:r>
            <a:r>
              <a:rPr lang="en-US" sz="1200" b="1" i="0" dirty="0">
                <a:effectLst/>
                <a:latin typeface="Times New Roman" panose="02020603050405020304" pitchFamily="18" charset="0"/>
                <a:cs typeface="Times New Roman" panose="02020603050405020304" pitchFamily="18" charset="0"/>
              </a:rPr>
              <a:t>Working of the transmitter portion :</a:t>
            </a:r>
            <a:r>
              <a:rPr lang="en-US" sz="1200" b="0" i="0" dirty="0">
                <a:effectLst/>
                <a:latin typeface="Times New Roman" panose="02020603050405020304" pitchFamily="18" charset="0"/>
                <a:cs typeface="Times New Roman" panose="02020603050405020304" pitchFamily="18" charset="0"/>
              </a:rPr>
              <a:t> The CPU reads the status register and checks the transmitter. If the transmitter is empty then CPU transfers the character to transmitter. The first bit in transmitter is set to 0 to generate a start bit. The parallel transfer of character takes place from the transmitter register to the shift register. The transmitter is then marked empty. The CPU can transfer another character to transmitter register after checking the flag in status register. </a:t>
            </a:r>
            <a:r>
              <a:rPr lang="en-US" sz="1200" b="1" i="0" dirty="0">
                <a:effectLst/>
                <a:latin typeface="Times New Roman" panose="02020603050405020304" pitchFamily="18" charset="0"/>
                <a:cs typeface="Times New Roman" panose="02020603050405020304" pitchFamily="18" charset="0"/>
              </a:rPr>
              <a:t>Working of receiver portion :</a:t>
            </a:r>
            <a:r>
              <a:rPr lang="en-US" sz="1200" b="0" i="0" dirty="0">
                <a:effectLst/>
                <a:latin typeface="Times New Roman" panose="02020603050405020304" pitchFamily="18" charset="0"/>
                <a:cs typeface="Times New Roman" panose="02020603050405020304" pitchFamily="18" charset="0"/>
              </a:rPr>
              <a:t> The receive data input is in 1-state when line is idle. The receiver control monitors the receive data line to detect the occurrence of a start bit. The character bits are then shifted to the shift register once the start bit has been detected. When the stop bit is received, the character is transferred in parallel from shift register to the receiver register. The interface checks for any errors during transmission and sets appropriate bits in the status register. The three possible errors that the interface checks are the parity error, framing error and over run error.</a:t>
            </a:r>
            <a:endParaRPr lang="en-US" sz="1200" dirty="0">
              <a:latin typeface="Times New Roman" panose="02020603050405020304" pitchFamily="18" charset="0"/>
              <a:cs typeface="Times New Roman" panose="02020603050405020304" pitchFamily="18" charset="0"/>
            </a:endParaRPr>
          </a:p>
        </p:txBody>
      </p:sp>
      <p:pic>
        <p:nvPicPr>
          <p:cNvPr id="5122" name="Picture 2">
            <a:extLst>
              <a:ext uri="{FF2B5EF4-FFF2-40B4-BE49-F238E27FC236}">
                <a16:creationId xmlns:a16="http://schemas.microsoft.com/office/drawing/2014/main" id="{46FC53C2-EBE6-4AEC-9580-4CCA095829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397651" y="2626773"/>
            <a:ext cx="6348698" cy="3422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66676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92</TotalTime>
  <Words>1211</Words>
  <Application>Microsoft Macintosh PowerPoint</Application>
  <PresentationFormat>On-screen Show (4:3)</PresentationFormat>
  <Paragraphs>74</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Web Server Programming</vt:lpstr>
      <vt:lpstr>Synchronous vs. Asynchronous Communication - System Design </vt:lpstr>
      <vt:lpstr>What is Synchronous Communication?</vt:lpstr>
      <vt:lpstr>Code Example: Synchronous</vt:lpstr>
      <vt:lpstr>Advantages of Synchronous Communication</vt:lpstr>
      <vt:lpstr>Disadvantages of Synchronous Communication</vt:lpstr>
      <vt:lpstr>What is Asynchronous Communication?</vt:lpstr>
      <vt:lpstr>Code Example: Asynchronous</vt:lpstr>
      <vt:lpstr>PowerPoint Presentation</vt:lpstr>
      <vt:lpstr>Advantages of Asynchronous Communication</vt:lpstr>
      <vt:lpstr>Disadvantages of Asynchronous Communication </vt:lpstr>
      <vt:lpstr>PowerPoint Presentation</vt:lpstr>
      <vt:lpstr>Synchronous vs Asynchronous Communication</vt:lpstr>
      <vt:lpstr>Differences between Synchronous and Asynchronous Communication</vt:lpstr>
      <vt:lpstr>Frame Structure components </vt:lpstr>
      <vt:lpstr> Asynchronous Communication Interface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Shakhnoza Muksimova</cp:lastModifiedBy>
  <cp:revision>2</cp:revision>
  <dcterms:created xsi:type="dcterms:W3CDTF">2013-01-27T09:14:16Z</dcterms:created>
  <dcterms:modified xsi:type="dcterms:W3CDTF">2025-11-07T03:26:10Z</dcterms:modified>
  <cp:category/>
</cp:coreProperties>
</file>