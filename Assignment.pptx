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257" r:id="rId5"/>
    <p:sldId id="290" r:id="rId6"/>
    <p:sldId id="258" r:id="rId7"/>
    <p:sldId id="294" r:id="rId8"/>
    <p:sldId id="291" r:id="rId9"/>
    <p:sldId id="266" r:id="rId10"/>
    <p:sldId id="29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DABB6"/>
    <a:srgbClr val="4A6C78"/>
    <a:srgbClr val="8EACB7"/>
    <a:srgbClr val="F0F0F0"/>
    <a:srgbClr val="648FA0"/>
    <a:srgbClr val="4D7D91"/>
    <a:srgbClr val="FEFFFF"/>
    <a:srgbClr val="DCDCD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23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90204" pitchFamily="34" charset="0"/>
                <a:ea typeface="Arial" panose="020B0604020202090204" pitchFamily="34" charset="0"/>
              </a:rPr>
            </a:fld>
            <a:endParaRPr lang="zh-CN" altLang="en-US" smtClean="0"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Arial" panose="020B0604020202090204" pitchFamily="34" charset="0"/>
                <a:ea typeface="Arial" panose="020B0604020202090204" pitchFamily="34" charset="0"/>
              </a:rPr>
            </a:fld>
            <a:endParaRPr lang="zh-CN" altLang="en-US" smtClean="0"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90204" pitchFamily="34" charset="0"/>
                <a:ea typeface="Arial" panose="020B060402020209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90204" pitchFamily="34" charset="0"/>
                <a:ea typeface="Arial" panose="020B0604020202090204" pitchFamily="34" charset="0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90204" pitchFamily="34" charset="0"/>
                <a:ea typeface="Arial" panose="020B060402020209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90204" pitchFamily="34" charset="0"/>
                <a:ea typeface="Arial" panose="020B0604020202090204" pitchFamily="34" charset="0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Arial" panose="020B0604020202090204" pitchFamily="34" charset="0"/>
        <a:ea typeface="Arial" panose="020B060402020209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90204" pitchFamily="34" charset="0"/>
        <a:ea typeface="Arial" panose="020B060402020209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90204" pitchFamily="34" charset="0"/>
        <a:ea typeface="Arial" panose="020B060402020209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90204" pitchFamily="34" charset="0"/>
        <a:ea typeface="Arial" panose="020B060402020209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90204" pitchFamily="34" charset="0"/>
        <a:ea typeface="Arial" panose="020B060402020209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panose="020B060402020209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Arial" panose="020B0604020202090204" pitchFamily="34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Arial" panose="020B0604020202090204" pitchFamily="34" charset="0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Arial" panose="020B0604020202090204" pitchFamily="34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Arial" panose="020B0604020202090204" pitchFamily="34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Arial" panose="020B0604020202090204" pitchFamily="34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Arial" panose="020B060402020209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8.xml"/><Relationship Id="rId3" Type="http://schemas.openxmlformats.org/officeDocument/2006/relationships/image" Target="../media/image4.png"/><Relationship Id="rId2" Type="http://schemas.openxmlformats.org/officeDocument/2006/relationships/tags" Target="../tags/tag6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  <p:sp>
        <p:nvSpPr>
          <p:cNvPr id="8" name="副标题 7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636520" y="4629785"/>
            <a:ext cx="8376285" cy="607695"/>
          </a:xfrm>
        </p:spPr>
        <p:txBody>
          <a:bodyPr/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solidFill>
                  <a:schemeClr val="bg1"/>
                </a:solidFill>
              </a:rPr>
              <a:t>Student: MukhammadSodik, Roziboy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150110" y="2204720"/>
            <a:ext cx="7919720" cy="1008000"/>
          </a:xfrm>
          <a:prstGeom prst="roundRect">
            <a:avLst/>
          </a:prstGeom>
          <a:solidFill>
            <a:srgbClr val="FE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2515553" y="2272665"/>
            <a:ext cx="7160895" cy="972000"/>
          </a:xfrm>
        </p:spPr>
        <p:txBody>
          <a:bodyPr/>
          <a:lstStyle/>
          <a:p>
            <a:r>
              <a:rPr lang="en-US" altLang="zh-CN" sz="5200">
                <a:gradFill>
                  <a:gsLst>
                    <a:gs pos="0">
                      <a:srgbClr val="4A6C78"/>
                    </a:gs>
                    <a:gs pos="100000">
                      <a:srgbClr val="648FA0"/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Assignment</a:t>
            </a:r>
            <a:endParaRPr lang="en-US" altLang="zh-CN" sz="5200">
              <a:gradFill>
                <a:gsLst>
                  <a:gs pos="0">
                    <a:srgbClr val="4A6C78"/>
                  </a:gs>
                  <a:gs pos="100000">
                    <a:srgbClr val="648FA0"/>
                  </a:gs>
                </a:gsLst>
                <a:lin ang="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2052130" y="774700"/>
            <a:ext cx="8136000" cy="8115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spcBef>
                <a:spcPts val="1200"/>
              </a:spcBef>
              <a:buClr>
                <a:schemeClr val="accent6"/>
              </a:buClr>
              <a:defRPr sz="1400">
                <a:latin typeface="Arial" panose="020B0604020202090204" pitchFamily="34" charset="0"/>
                <a:ea typeface="Open Sans" panose="020B0606030504020204" pitchFamily="34" charset="0"/>
                <a:cs typeface="Arial" panose="020B0604020202090204" pitchFamily="34" charset="0"/>
              </a:defRPr>
            </a:lvl1pPr>
          </a:lstStyle>
          <a:p>
            <a:pPr algn="ctr"/>
            <a:r>
              <a:rPr lang="en-US" altLang="zh-CN" sz="3600" dirty="0">
                <a:solidFill>
                  <a:schemeClr val="bg1"/>
                </a:solidFill>
                <a:ea typeface="Arial" panose="020B0604020202090204" pitchFamily="34" charset="0"/>
              </a:rPr>
              <a:t>Web Server Programming</a:t>
            </a:r>
            <a:endParaRPr lang="en-US" altLang="zh-CN" sz="3600" dirty="0">
              <a:solidFill>
                <a:schemeClr val="bg1"/>
              </a:solidFill>
              <a:ea typeface="Arial" panose="020B0604020202090204" pitchFamily="34" charset="0"/>
            </a:endParaRPr>
          </a:p>
        </p:txBody>
      </p:sp>
      <p:pic>
        <p:nvPicPr>
          <p:cNvPr id="3" name="图片 2" descr="公司"/>
          <p:cNvPicPr>
            <a:picLocks noChangeAspect="1"/>
          </p:cNvPicPr>
          <p:nvPr/>
        </p:nvPicPr>
        <p:blipFill>
          <a:blip r:embed="rId5">
            <a:lum bright="100000"/>
          </a:blip>
          <a:stretch>
            <a:fillRect/>
          </a:stretch>
        </p:blipFill>
        <p:spPr>
          <a:xfrm>
            <a:off x="2348230" y="5385435"/>
            <a:ext cx="288000" cy="288000"/>
          </a:xfrm>
          <a:prstGeom prst="rect">
            <a:avLst/>
          </a:prstGeom>
        </p:spPr>
      </p:pic>
      <p:pic>
        <p:nvPicPr>
          <p:cNvPr id="4" name="图片 3" descr="人"/>
          <p:cNvPicPr>
            <a:picLocks noChangeAspect="1"/>
          </p:cNvPicPr>
          <p:nvPr/>
        </p:nvPicPr>
        <p:blipFill>
          <a:blip r:embed="rId6">
            <a:lum bright="100000"/>
          </a:blip>
          <a:stretch>
            <a:fillRect/>
          </a:stretch>
        </p:blipFill>
        <p:spPr>
          <a:xfrm>
            <a:off x="2312670" y="4745355"/>
            <a:ext cx="324000" cy="324000"/>
          </a:xfrm>
          <a:prstGeom prst="rect">
            <a:avLst/>
          </a:prstGeom>
        </p:spPr>
      </p:pic>
      <p:sp>
        <p:nvSpPr>
          <p:cNvPr id="5" name="副标题 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636520" y="5262245"/>
            <a:ext cx="7731760" cy="704215"/>
          </a:xfrm>
          <a:prstGeom prst="rect">
            <a:avLst/>
          </a:prstGeom>
        </p:spPr>
        <p:txBody>
          <a:bodyPr vert="horz" lIns="101600" tIns="38100" rIns="76200" bIns="38100" rtlCol="0">
            <a:no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solidFill>
                  <a:schemeClr val="bg1"/>
                </a:solidFill>
              </a:rPr>
              <a:t>Department:Computer Engineering</a:t>
            </a:r>
            <a:endParaRPr lang="en-US" altLang="zh-CN" sz="2000">
              <a:solidFill>
                <a:schemeClr val="bg1"/>
              </a:solidFill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3813" y="643890"/>
            <a:ext cx="6458585" cy="972185"/>
          </a:xfrm>
        </p:spPr>
        <p:txBody>
          <a:bodyPr/>
          <a:p>
            <a:r>
              <a:rPr lang="en-US" altLang="zh-CN"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Question:</a:t>
            </a:r>
            <a:endParaRPr lang="en-US" altLang="zh-CN" sz="4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2" name="Picture 1" descr="Screenshot 2025-11-22 at 5.45.04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12950"/>
            <a:ext cx="10668000" cy="28321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4455" y="76835"/>
            <a:ext cx="11912600" cy="6459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90000"/>
              </a:lnSpc>
            </a:pPr>
            <a:r>
              <a:rPr lang="en-US" altLang="zh-CN" sz="3200" dirty="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What is bcrypt hash?</a:t>
            </a:r>
            <a:endParaRPr lang="en-US" altLang="zh-CN" sz="3200" dirty="0">
              <a:solidFill>
                <a:schemeClr val="tx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  <a:p>
            <a:pPr algn="l">
              <a:lnSpc>
                <a:spcPct val="90000"/>
              </a:lnSpc>
            </a:pPr>
            <a:endParaRPr lang="en-US" altLang="zh-CN" sz="3200" dirty="0">
              <a:solidFill>
                <a:schemeClr val="tx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  <a:p>
            <a:pPr indent="457200" algn="l">
              <a:lnSpc>
                <a:spcPct val="90000"/>
              </a:lnSpc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A </a:t>
            </a:r>
            <a:r>
              <a:rPr lang="en-US" altLang="en-US" sz="3200" i="1" dirty="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bcrypt</a:t>
            </a:r>
            <a:r>
              <a:rPr lang="en-US" altLang="en-US" sz="3200" dirty="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 hash is what you get when you take a password and run it through the bcrypt algorithm.</a:t>
            </a:r>
            <a:endParaRPr lang="en-US" altLang="en-US" sz="3200" dirty="0">
              <a:solidFill>
                <a:schemeClr val="tx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  <a:p>
            <a:pPr indent="457200" algn="l">
              <a:lnSpc>
                <a:spcPct val="90000"/>
              </a:lnSpc>
            </a:pPr>
            <a:endParaRPr lang="en-US" altLang="en-US" sz="3200" dirty="0">
              <a:solidFill>
                <a:schemeClr val="tx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  <a:p>
            <a:pPr indent="457200" algn="l">
              <a:lnSpc>
                <a:spcPct val="90000"/>
              </a:lnSpc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Example:</a:t>
            </a:r>
            <a:endParaRPr lang="en-US" altLang="en-US" sz="3200" dirty="0">
              <a:solidFill>
                <a:srgbClr val="FF0000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  <a:p>
            <a:pPr indent="457200" algn="l">
              <a:lnSpc>
                <a:spcPct val="90000"/>
              </a:lnSpc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$2b$</a:t>
            </a:r>
            <a:r>
              <a:rPr lang="en-US" altLang="en-US" sz="3200" dirty="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12$X9f1u0e9yC8jE4Pki6mY4uTGH1yO9n1rN8</a:t>
            </a:r>
            <a:endParaRPr lang="en-US" altLang="en-US" sz="3200" dirty="0">
              <a:solidFill>
                <a:schemeClr val="tx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  <a:p>
            <a:pPr indent="457200" algn="l">
              <a:lnSpc>
                <a:spcPct val="90000"/>
              </a:lnSpc>
            </a:pPr>
            <a:endParaRPr lang="en-US" altLang="en-US" sz="3200" dirty="0">
              <a:solidFill>
                <a:schemeClr val="tx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  <a:p>
            <a:pPr indent="457200" algn="l">
              <a:lnSpc>
                <a:spcPct val="90000"/>
              </a:lnSpc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Salted:</a:t>
            </a:r>
            <a:endParaRPr lang="en-US" altLang="en-US" sz="3200" dirty="0">
              <a:solidFill>
                <a:schemeClr val="tx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  <a:p>
            <a:pPr indent="457200" algn="l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Bcrypt automatically adds a random salt. This ensures no two hashes are ever identical.</a:t>
            </a:r>
            <a:endParaRPr lang="en-US" altLang="en-US" sz="2800" dirty="0">
              <a:solidFill>
                <a:schemeClr val="tx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  <a:p>
            <a:pPr indent="457200" algn="l">
              <a:lnSpc>
                <a:spcPct val="90000"/>
              </a:lnSpc>
            </a:pPr>
            <a:endParaRPr lang="en-US" altLang="en-US" sz="3200" dirty="0">
              <a:solidFill>
                <a:schemeClr val="tx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  <a:p>
            <a:pPr indent="457200" algn="l">
              <a:lnSpc>
                <a:spcPct val="90000"/>
              </a:lnSpc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Slow on purpose:</a:t>
            </a:r>
            <a:endParaRPr lang="en-US" altLang="en-US" sz="3200" dirty="0">
              <a:solidFill>
                <a:schemeClr val="tx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  <a:p>
            <a:pPr indent="457200" algn="l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It takes ~100 ms to run (configurable). A hacker cannot try millions of guesses per second. And has a built-in storage</a:t>
            </a:r>
            <a:endParaRPr lang="en-US" altLang="en-US" sz="2800" dirty="0">
              <a:solidFill>
                <a:schemeClr val="tx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7478" y="76835"/>
            <a:ext cx="29622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Code:</a:t>
            </a:r>
            <a:endParaRPr lang="en-US" altLang="zh-CN" sz="6000" b="1" dirty="0">
              <a:solidFill>
                <a:schemeClr val="bg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  <p:pic>
        <p:nvPicPr>
          <p:cNvPr id="5" name="Picture 4" descr="Screenshot 2025-11-22 at 5.47.23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30" y="1224915"/>
            <a:ext cx="6350000" cy="5016500"/>
          </a:xfrm>
          <a:prstGeom prst="rect">
            <a:avLst/>
          </a:prstGeom>
        </p:spPr>
      </p:pic>
      <p:graphicFrame>
        <p:nvGraphicFramePr>
          <p:cNvPr id="7" name="Table 6"/>
          <p:cNvGraphicFramePr/>
          <p:nvPr/>
        </p:nvGraphicFramePr>
        <p:xfrm>
          <a:off x="6941820" y="1224915"/>
          <a:ext cx="5003165" cy="5016500"/>
        </p:xfrm>
        <a:graphic>
          <a:graphicData uri="http://schemas.openxmlformats.org/drawingml/2006/table">
            <a:tbl>
              <a:tblPr/>
              <a:tblGrid>
                <a:gridCol w="1336675"/>
                <a:gridCol w="916305"/>
                <a:gridCol w="916940"/>
                <a:gridCol w="916305"/>
                <a:gridCol w="916940"/>
              </a:tblGrid>
              <a:tr h="1003300">
                <a:tc>
                  <a:txBody>
                    <a:bodyPr/>
                    <a:p>
                      <a:pPr algn="ctr"/>
                      <a:r>
                        <a:rPr lang="en-US" altLang="zh-CN" sz="1800" b="1"/>
                        <a:t>Algorithm</a:t>
                      </a:r>
                      <a:endParaRPr lang="en-US" altLang="zh-CN"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/>
                        <a:t>Output Size</a:t>
                      </a:r>
                      <a:endParaRPr lang="en-US" altLang="zh-CN"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/>
                        <a:t>Speed</a:t>
                      </a:r>
                      <a:endParaRPr lang="en-US" altLang="zh-CN"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/>
                        <a:t>Security Today</a:t>
                      </a:r>
                      <a:endParaRPr lang="en-US" altLang="zh-CN"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/>
                        <a:t>Suitable For</a:t>
                      </a:r>
                      <a:endParaRPr lang="en-US" altLang="zh-CN"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03300">
                <a:tc>
                  <a:txBody>
                    <a:bodyPr/>
                    <a:p>
                      <a:pPr algn="ctr"/>
                      <a:r>
                        <a:rPr lang="en-US" altLang="zh-CN" sz="1800" b="1"/>
                        <a:t>MD5</a:t>
                      </a:r>
                      <a:endParaRPr lang="en-US" altLang="zh-CN"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128-bit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Very fast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Broken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Checksums only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8655">
                <a:tc>
                  <a:txBody>
                    <a:bodyPr/>
                    <a:p>
                      <a:pPr algn="ctr"/>
                      <a:r>
                        <a:rPr lang="en-US" altLang="zh-CN" sz="1800" b="1"/>
                        <a:t>SHA-1</a:t>
                      </a:r>
                      <a:endParaRPr lang="en-US" altLang="zh-CN"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160-bit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Very fast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Broken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Legacy only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41245">
                <a:tc>
                  <a:txBody>
                    <a:bodyPr/>
                    <a:p>
                      <a:pPr algn="ctr"/>
                      <a:r>
                        <a:rPr lang="en-US" altLang="zh-CN" sz="1800" b="1"/>
                        <a:t>SHA-256</a:t>
                      </a:r>
                      <a:endParaRPr lang="en-US" altLang="zh-CN"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256-bit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Fast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Secure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Signatures, blockchains, integrity checks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7478" y="76835"/>
            <a:ext cx="29622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Code:</a:t>
            </a:r>
            <a:endParaRPr lang="en-US" altLang="zh-CN" sz="6000" b="1" dirty="0">
              <a:solidFill>
                <a:schemeClr val="bg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  <p:pic>
        <p:nvPicPr>
          <p:cNvPr id="3" name="Picture 2" descr="Screenshot 2025-11-23 at 4.19.09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815" y="1314450"/>
            <a:ext cx="9588500" cy="42291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300345" y="334359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 b="1">
                <a:solidFill>
                  <a:schemeClr val="bg1"/>
                </a:solidFill>
              </a:rPr>
              <a:t>Does this password match the given bcrypt hash?</a:t>
            </a:r>
            <a:endParaRPr lang="en-US" altLang="zh-CN" sz="1600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005705" y="422052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chemeClr val="bg1"/>
                </a:solidFill>
              </a:rPr>
              <a:t>Sometimes a hash may be invalid or corrupted.</a:t>
            </a:r>
            <a:endParaRPr lang="en-US" altLang="zh-CN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bcrypt.checkpw() will raise a ValueError, so the except avoids crashing the program.</a:t>
            </a:r>
            <a:endParaRPr lang="en-US" altLang="zh-CN" sz="1600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7478" y="76835"/>
            <a:ext cx="29622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0"/>
              </a:rPr>
              <a:t>Code:</a:t>
            </a:r>
            <a:endParaRPr lang="en-US" altLang="zh-CN" sz="6000" b="1" dirty="0">
              <a:solidFill>
                <a:schemeClr val="bg1"/>
              </a:solidFill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  <p:pic>
        <p:nvPicPr>
          <p:cNvPr id="4" name="Picture 3" descr="Screenshot 2025-11-23 at 4.21.12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05" y="1091565"/>
            <a:ext cx="9715500" cy="26797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38430" y="4116070"/>
            <a:ext cx="11300460" cy="2327275"/>
          </a:xfrm>
          <a:prstGeom prst="rect">
            <a:avLst/>
          </a:prstGeom>
        </p:spPr>
        <p:txBody>
          <a:bodyPr>
            <a:noAutofit/>
          </a:bodyPr>
          <a:p>
            <a:pPr indent="457200"/>
            <a:r>
              <a:rPr lang="en-US" altLang="zh-CN" sz="2400"/>
              <a:t>pwd.encode('utf-8') -  converts “qwerty” - bytes</a:t>
            </a:r>
            <a:endParaRPr lang="en-US" altLang="zh-CN" sz="2400"/>
          </a:p>
          <a:p>
            <a:pPr indent="457200">
              <a:buNone/>
            </a:pPr>
            <a:endParaRPr lang="en-US" altLang="zh-CN" sz="2400"/>
          </a:p>
          <a:p>
            <a:pPr indent="457200">
              <a:buNone/>
            </a:pPr>
            <a:r>
              <a:rPr lang="en-US" altLang="zh-CN" sz="2400"/>
              <a:t>hashlib.sha256(...) - generates a SHA-256 hash object from those bytes</a:t>
            </a:r>
            <a:endParaRPr lang="en-US" altLang="zh-CN" sz="2400"/>
          </a:p>
          <a:p>
            <a:pPr indent="457200">
              <a:buNone/>
            </a:pPr>
            <a:endParaRPr lang="en-US" altLang="zh-CN" sz="2400"/>
          </a:p>
          <a:p>
            <a:pPr indent="457200">
              <a:buNone/>
            </a:pPr>
            <a:r>
              <a:rPr lang="en-US" altLang="zh-CN" sz="2400"/>
              <a:t>hexdigest() - converts hash bytes → readable hex string</a:t>
            </a:r>
            <a:endParaRPr lang="en-US" altLang="zh-CN" sz="24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4135"/>
            <a:ext cx="12240000" cy="6885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64160" y="531495"/>
            <a:ext cx="11663680" cy="6048000"/>
          </a:xfrm>
          <a:prstGeom prst="rect">
            <a:avLst/>
          </a:prstGeom>
          <a:solidFill>
            <a:schemeClr val="bg1"/>
          </a:solidFill>
          <a:ln>
            <a:solidFill>
              <a:srgbClr val="8EAC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3252000" y="236855"/>
            <a:ext cx="5688000" cy="648000"/>
          </a:xfrm>
          <a:prstGeom prst="roundRect">
            <a:avLst/>
          </a:prstGeom>
          <a:gradFill>
            <a:gsLst>
              <a:gs pos="0">
                <a:srgbClr val="4A6C78"/>
              </a:gs>
              <a:gs pos="100000">
                <a:srgbClr val="8EACB7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88703" y="342265"/>
            <a:ext cx="5014595" cy="49148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157CE9"/>
                    </a:gs>
                    <a:gs pos="100000">
                      <a:srgbClr val="73B2F7"/>
                    </a:gs>
                  </a:gsLst>
                  <a:lin ang="0" scaled="0"/>
                </a:gradFill>
              </a14:hiddenFill>
            </a:ext>
          </a:extLst>
        </p:spPr>
        <p:txBody>
          <a:bodyPr wrap="square" rtlCol="0">
            <a:spAutoFit/>
          </a:bodyPr>
          <a:p>
            <a:pPr algn="ctr"/>
            <a:r>
              <a:rPr lang="en-US" altLang="zh-CN" sz="2600" b="1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Arial" panose="020B0604020202090204" pitchFamily="34" charset="0"/>
              </a:rPr>
              <a:t>Result</a:t>
            </a:r>
            <a:endParaRPr lang="en-US" altLang="zh-CN" sz="2600" b="1" dirty="0">
              <a:solidFill>
                <a:schemeClr val="bg1"/>
              </a:solidFill>
              <a:effectLst/>
              <a:latin typeface="Arial" panose="020B0604020202090204" pitchFamily="34" charset="0"/>
              <a:ea typeface="Arial" panose="020B0604020202090204" pitchFamily="34" charset="0"/>
            </a:endParaRPr>
          </a:p>
        </p:txBody>
      </p:sp>
      <p:pic>
        <p:nvPicPr>
          <p:cNvPr id="5" name="Picture 4" descr="Screenshot 2025-11-23 at 4.54.07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" y="1779905"/>
            <a:ext cx="11404600" cy="11176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15315" y="3134995"/>
            <a:ext cx="9083040" cy="64706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ts val="1800"/>
              </a:lnSpc>
            </a:pPr>
            <a:r>
              <a:rPr lang="en-US" altLang="zh-CN" sz="1600" b="0">
                <a:solidFill>
                  <a:srgbClr val="CE9178"/>
                </a:solidFill>
                <a:latin typeface="Menlo" panose="020B0609030804020204"/>
                <a:ea typeface="Menlo" panose="020B0609030804020204"/>
              </a:rPr>
              <a:t>--- $2b$12$D60gK28j.aqTZTiSS0cp0O.K6gcNNc.y37Nvz7K6Eeo9MO1jWr9Je</a:t>
            </a:r>
            <a:endParaRPr lang="en-US" altLang="zh-CN" sz="1600" b="0">
              <a:solidFill>
                <a:srgbClr val="CE9178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lang="en-US" altLang="zh-CN" sz="1600" b="0">
                <a:solidFill>
                  <a:srgbClr val="CE9178"/>
                </a:solidFill>
                <a:latin typeface="Menlo" panose="020B0609030804020204"/>
                <a:ea typeface="Menlo" panose="020B0609030804020204"/>
              </a:rPr>
              <a:t>--- 65e84be33532fb784c48129675f9eff3a682b27168c0ea744b2cf58ee02337c5</a:t>
            </a:r>
            <a:endParaRPr lang="en-US" altLang="zh-CN" sz="1600" b="0">
              <a:solidFill>
                <a:srgbClr val="CE917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5965825" y="2440940"/>
            <a:ext cx="5785485" cy="27622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5892800" y="2141220"/>
            <a:ext cx="5785485" cy="27622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未标题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661285" y="2333625"/>
            <a:ext cx="72828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9600">
                <a:solidFill>
                  <a:schemeClr val="bg1"/>
                </a:solidFill>
              </a:rPr>
              <a:t>Thank you!</a:t>
            </a:r>
            <a:endParaRPr lang="en-US" altLang="en-US" sz="960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UNIT_ISCONTENTSTITLE" val="0"/>
  <p:tag name="KSO_WM_UNIT_PRESET_TEXT" val="在此输入您的封面副标题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TEXT_PART_ID" val="1-b"/>
  <p:tag name="KSO_WM_UNIT_TEXT_PART_ID_V2" val="d-1-1"/>
  <p:tag name="ORIWIDTHHEIGHT" val="224.5,75.55"/>
</p:tagLst>
</file>

<file path=ppt/tags/tag65.xml><?xml version="1.0" encoding="utf-8"?>
<p:tagLst xmlns:p="http://schemas.openxmlformats.org/presentationml/2006/main">
  <p:tag name="KSO_WM_UNIT_ISCONTENTSTITLE" val="0"/>
  <p:tag name="KSO_WM_UNIT_PRESET_TEXT" val="在此输入您的封面副标题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7.xml><?xml version="1.0" encoding="utf-8"?>
<p:tagLst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9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0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1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4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1201</Words>
  <Application>WPS Presentation</Application>
  <PresentationFormat>宽屏</PresentationFormat>
  <Paragraphs>87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Microsoft YaHei</vt:lpstr>
      <vt:lpstr>Arial Black</vt:lpstr>
      <vt:lpstr>Open Sans</vt:lpstr>
      <vt:lpstr>苹方-简</vt:lpstr>
      <vt:lpstr>Arial Bold</vt:lpstr>
      <vt:lpstr>Microsoft YaHei</vt:lpstr>
      <vt:lpstr>汉仪旗黑</vt:lpstr>
      <vt:lpstr>Arial Unicode MS</vt:lpstr>
      <vt:lpstr>SimSun</vt:lpstr>
      <vt:lpstr>宋体-简</vt:lpstr>
      <vt:lpstr>Apple Color Emoji</vt:lpstr>
      <vt:lpstr>Menlo</vt:lpstr>
      <vt:lpstr>Office Theme</vt:lpstr>
      <vt:lpstr>Assignment-1</vt:lpstr>
      <vt:lpstr>Question 1: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</dc:creator>
  <cp:lastModifiedBy>mclight</cp:lastModifiedBy>
  <cp:revision>37</cp:revision>
  <dcterms:created xsi:type="dcterms:W3CDTF">2025-11-23T07:58:46Z</dcterms:created>
  <dcterms:modified xsi:type="dcterms:W3CDTF">2025-11-23T07:58:46Z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1033-12.1.23152.23152</vt:lpwstr>
  </property>
  <property fmtid="{D5CDD505-2E9C-101B-9397-08002B2CF9AE}" pid="3" name="ICV">
    <vt:lpwstr>2A78B6FDE6D24C49EB7721699691AED6_43</vt:lpwstr>
  </property>
</Properties>
</file>