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7" r:id="rId3"/>
    <p:sldId id="263" r:id="rId5"/>
    <p:sldId id="290" r:id="rId6"/>
    <p:sldId id="267" r:id="rId7"/>
    <p:sldId id="268" r:id="rId8"/>
    <p:sldId id="270" r:id="rId9"/>
    <p:sldId id="291" r:id="rId10"/>
    <p:sldId id="271" r:id="rId11"/>
    <p:sldId id="292" r:id="rId12"/>
    <p:sldId id="294" r:id="rId13"/>
    <p:sldId id="275" r:id="rId14"/>
    <p:sldId id="283" r:id="rId15"/>
    <p:sldId id="262" r:id="rId1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41C"/>
    <a:srgbClr val="353F48"/>
    <a:srgbClr val="3C86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8"/>
    <p:restoredTop sz="94660"/>
  </p:normalViewPr>
  <p:slideViewPr>
    <p:cSldViewPr snapToGrid="0" showGuides="1">
      <p:cViewPr>
        <p:scale>
          <a:sx n="75" d="100"/>
          <a:sy n="75" d="100"/>
        </p:scale>
        <p:origin x="1914" y="822"/>
      </p:cViewPr>
      <p:guideLst>
        <p:guide orient="horz" pos="2212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itchFamily="2" charset="-122"/>
              <a:ea typeface="等线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itchFamily="2" charset="-122"/>
              <a:ea typeface="等线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itchFamily="2" charset="-122"/>
              <a:ea typeface="等线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A2C11944-3ECB-407E-810D-F111F4DFAC7E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itchFamily="2" charset="-122"/>
              <a:ea typeface="等线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129216A-D554-40A2-B0E0-08D4F1AAE73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If you`ve ever tried to build a web application in Java, you know it can be complicated — too many configuration files and setup steps. Spring Boot solves that by making it super simple to start and run applications</a:t>
            </a:r>
            <a:endParaRPr lang="en-US" altLang="en-US"/>
          </a:p>
          <a:p>
            <a:r>
              <a:rPr lang="en-US" altLang="en-US">
                <a:sym typeface="+mn-ea"/>
              </a:rPr>
              <a:t>In one word:</a:t>
            </a:r>
            <a:endParaRPr lang="en-US" altLang="en-US"/>
          </a:p>
          <a:p>
            <a:r>
              <a:rPr lang="en-US" altLang="en-US">
                <a:sym typeface="+mn-ea"/>
              </a:rPr>
              <a:t>Spring Boot helps developers create production-ready applications in minutes instead of days.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It saves time and reduces errors.</a:t>
            </a:r>
            <a:br>
              <a:rPr lang="en-US" altLang="en-US"/>
            </a:br>
            <a:r>
              <a:rPr lang="en-US" altLang="en-US"/>
              <a:t>With less code comes time efficiency and reduction of errors.</a:t>
            </a:r>
            <a:endParaRPr lang="en-US" altLang="en-US"/>
          </a:p>
          <a:p>
            <a:r>
              <a:rPr lang="en-US" altLang="en-US"/>
              <a:t>Spring Boot automatically configures your app based on what it finds in your code. It has something called Auto-Configuration.</a:t>
            </a:r>
            <a:endParaRPr lang="en-US" altLang="en-US"/>
          </a:p>
          <a:p>
            <a:r>
              <a:rPr lang="en-US" altLang="en-US"/>
              <a:t>If it sees you added a web dependency, it automatically starts an embedded web server (like Tomcat).</a:t>
            </a:r>
            <a:endParaRPr lang="en-US" altLang="en-US"/>
          </a:p>
          <a:p>
            <a:r>
              <a:rPr lang="en-US" altLang="en-US"/>
              <a:t>If you add a database dependency, it automatically connects to it.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Core idea: You focus on what your app does, not how to configure it.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This small code creates a complete web server. When someone visits the website, it sends back the message ‘Hello, Spring Boot!’ all with just a few lines. Normally, you’d need hundreds of lines to do this, but Spring Boot makes it automatic.</a:t>
            </a: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That’s why Spring Boot is used by companies like Netflix, Amazon, and Google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等腰三角形 11"/>
          <p:cNvSpPr/>
          <p:nvPr/>
        </p:nvSpPr>
        <p:spPr>
          <a:xfrm>
            <a:off x="0" y="3189288"/>
            <a:ext cx="5148263" cy="3668713"/>
          </a:xfrm>
          <a:custGeom>
            <a:avLst/>
            <a:gdLst>
              <a:gd name="connsiteX0" fmla="*/ 0 w 5735459"/>
              <a:gd name="connsiteY0" fmla="*/ 3657600 h 3657600"/>
              <a:gd name="connsiteX1" fmla="*/ 2867730 w 5735459"/>
              <a:gd name="connsiteY1" fmla="*/ 0 h 3657600"/>
              <a:gd name="connsiteX2" fmla="*/ 5735459 w 5735459"/>
              <a:gd name="connsiteY2" fmla="*/ 3657600 h 3657600"/>
              <a:gd name="connsiteX3" fmla="*/ 0 w 5735459"/>
              <a:gd name="connsiteY3" fmla="*/ 3657600 h 3657600"/>
              <a:gd name="connsiteX0-1" fmla="*/ 0 w 5151259"/>
              <a:gd name="connsiteY0-2" fmla="*/ 3657600 h 3670300"/>
              <a:gd name="connsiteX1-3" fmla="*/ 2867730 w 5151259"/>
              <a:gd name="connsiteY1-4" fmla="*/ 0 h 3670300"/>
              <a:gd name="connsiteX2-5" fmla="*/ 5151259 w 5151259"/>
              <a:gd name="connsiteY2-6" fmla="*/ 3670300 h 3670300"/>
              <a:gd name="connsiteX3-7" fmla="*/ 0 w 5151259"/>
              <a:gd name="connsiteY3-8" fmla="*/ 3657600 h 367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51259" h="3670300">
                <a:moveTo>
                  <a:pt x="0" y="3657600"/>
                </a:moveTo>
                <a:lnTo>
                  <a:pt x="2867730" y="0"/>
                </a:lnTo>
                <a:lnTo>
                  <a:pt x="5151259" y="3670300"/>
                </a:lnTo>
                <a:lnTo>
                  <a:pt x="0" y="3657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9" name="文本框 6"/>
          <p:cNvSpPr txBox="1"/>
          <p:nvPr/>
        </p:nvSpPr>
        <p:spPr>
          <a:xfrm>
            <a:off x="5070475" y="2744788"/>
            <a:ext cx="6454775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4800" b="1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rPr>
              <a:t>Spring Boot Framework</a:t>
            </a:r>
            <a:endParaRPr lang="en-US" altLang="en-US" sz="4800" b="1" dirty="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4100" name="文本框 10"/>
          <p:cNvSpPr txBox="1"/>
          <p:nvPr/>
        </p:nvSpPr>
        <p:spPr>
          <a:xfrm>
            <a:off x="5148580" y="6329045"/>
            <a:ext cx="66440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rPr>
              <a:t>Student: Shukirillaev Mukhammadsodik	ID: 202438379</a:t>
            </a:r>
            <a:endParaRPr lang="en-US" altLang="zh-CN" dirty="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5" name="直角三角形 4"/>
          <p:cNvSpPr/>
          <p:nvPr/>
        </p:nvSpPr>
        <p:spPr>
          <a:xfrm rot="5400000">
            <a:off x="-736600" y="736600"/>
            <a:ext cx="6858000" cy="5384800"/>
          </a:xfrm>
          <a:prstGeom prst="rtTriangle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等腰三角形 2"/>
          <p:cNvSpPr/>
          <p:nvPr/>
        </p:nvSpPr>
        <p:spPr>
          <a:xfrm>
            <a:off x="0" y="3575050"/>
            <a:ext cx="5148263" cy="3282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Screenshot 2025-10-15 at 5.22.1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5397500"/>
            <a:ext cx="2882900" cy="146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直角三角形 10"/>
          <p:cNvSpPr/>
          <p:nvPr/>
        </p:nvSpPr>
        <p:spPr>
          <a:xfrm rot="5400000">
            <a:off x="-385762" y="385763"/>
            <a:ext cx="3589338" cy="2817813"/>
          </a:xfrm>
          <a:prstGeom prst="rtTriangle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122" name="组合 82"/>
          <p:cNvGrpSpPr/>
          <p:nvPr/>
        </p:nvGrpSpPr>
        <p:grpSpPr>
          <a:xfrm>
            <a:off x="3960178" y="1992630"/>
            <a:ext cx="260350" cy="357188"/>
            <a:chOff x="4218255" y="2644947"/>
            <a:chExt cx="179475" cy="246054"/>
          </a:xfrm>
        </p:grpSpPr>
        <p:sp>
          <p:nvSpPr>
            <p:cNvPr id="13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4253275" y="2685410"/>
              <a:ext cx="109436" cy="1038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grpSp>
        <p:nvGrpSpPr>
          <p:cNvPr id="5125" name="组合 99"/>
          <p:cNvGrpSpPr/>
          <p:nvPr/>
        </p:nvGrpSpPr>
        <p:grpSpPr>
          <a:xfrm>
            <a:off x="4393248" y="1855786"/>
            <a:ext cx="4057650" cy="2411096"/>
            <a:chOff x="6693091" y="2232654"/>
            <a:chExt cx="4057650" cy="2410720"/>
          </a:xfrm>
        </p:grpSpPr>
        <p:grpSp>
          <p:nvGrpSpPr>
            <p:cNvPr id="5126" name="组合 83"/>
            <p:cNvGrpSpPr/>
            <p:nvPr/>
          </p:nvGrpSpPr>
          <p:grpSpPr>
            <a:xfrm>
              <a:off x="6693091" y="2232654"/>
              <a:ext cx="4057650" cy="706645"/>
              <a:chOff x="6380050" y="1638861"/>
              <a:chExt cx="4057650" cy="706645"/>
            </a:xfrm>
          </p:grpSpPr>
          <p:sp>
            <p:nvSpPr>
              <p:cNvPr id="29" name="文本框 128"/>
              <p:cNvSpPr txBox="1">
                <a:spLocks noChangeArrowheads="1"/>
              </p:cNvSpPr>
              <p:nvPr/>
            </p:nvSpPr>
            <p:spPr bwMode="auto">
              <a:xfrm>
                <a:off x="7848487" y="1638861"/>
                <a:ext cx="2589213" cy="706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What is Spring Boot?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30" name="文本框 129"/>
              <p:cNvSpPr txBox="1">
                <a:spLocks noChangeArrowheads="1"/>
              </p:cNvSpPr>
              <p:nvPr/>
            </p:nvSpPr>
            <p:spPr bwMode="auto">
              <a:xfrm>
                <a:off x="6380050" y="1742292"/>
                <a:ext cx="1597025" cy="460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en-US" sz="2400" b="1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sym typeface="+mn-ea"/>
                  </a:rPr>
                  <a:t>Part 01</a:t>
                </a:r>
                <a:endPara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</p:grpSp>
        <p:grpSp>
          <p:nvGrpSpPr>
            <p:cNvPr id="5130" name="组合 87"/>
            <p:cNvGrpSpPr/>
            <p:nvPr/>
          </p:nvGrpSpPr>
          <p:grpSpPr>
            <a:xfrm>
              <a:off x="6693091" y="3025515"/>
              <a:ext cx="4057650" cy="511698"/>
              <a:chOff x="6380050" y="2443518"/>
              <a:chExt cx="4057650" cy="511698"/>
            </a:xfrm>
          </p:grpSpPr>
          <p:sp>
            <p:nvSpPr>
              <p:cNvPr id="26" name="文本框 127"/>
              <p:cNvSpPr txBox="1">
                <a:spLocks noChangeArrowheads="1"/>
              </p:cNvSpPr>
              <p:nvPr/>
            </p:nvSpPr>
            <p:spPr bwMode="auto">
              <a:xfrm>
                <a:off x="7848487" y="2556498"/>
                <a:ext cx="2589213" cy="398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Why do we need it?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27" name="文本框 130"/>
              <p:cNvSpPr txBox="1">
                <a:spLocks noChangeArrowheads="1"/>
              </p:cNvSpPr>
              <p:nvPr/>
            </p:nvSpPr>
            <p:spPr bwMode="auto">
              <a:xfrm>
                <a:off x="6380050" y="2443518"/>
                <a:ext cx="1597025" cy="460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Part 02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</p:grpSp>
        <p:grpSp>
          <p:nvGrpSpPr>
            <p:cNvPr id="5134" name="组合 91"/>
            <p:cNvGrpSpPr/>
            <p:nvPr/>
          </p:nvGrpSpPr>
          <p:grpSpPr>
            <a:xfrm>
              <a:off x="6693091" y="3598644"/>
              <a:ext cx="4057650" cy="460303"/>
              <a:chOff x="6380050" y="3030030"/>
              <a:chExt cx="4057650" cy="460303"/>
            </a:xfrm>
          </p:grpSpPr>
          <p:sp>
            <p:nvSpPr>
              <p:cNvPr id="23" name="文本框 126"/>
              <p:cNvSpPr txBox="1">
                <a:spLocks noChangeArrowheads="1"/>
              </p:cNvSpPr>
              <p:nvPr/>
            </p:nvSpPr>
            <p:spPr bwMode="auto">
              <a:xfrm>
                <a:off x="7848487" y="3030030"/>
                <a:ext cx="2589213" cy="398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How does it work?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24" name="文本框 131"/>
              <p:cNvSpPr txBox="1">
                <a:spLocks noChangeArrowheads="1"/>
              </p:cNvSpPr>
              <p:nvPr/>
            </p:nvSpPr>
            <p:spPr bwMode="auto">
              <a:xfrm>
                <a:off x="6380050" y="3030030"/>
                <a:ext cx="1597025" cy="460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Part 03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</p:grpSp>
        <p:grpSp>
          <p:nvGrpSpPr>
            <p:cNvPr id="5138" name="组合 95"/>
            <p:cNvGrpSpPr/>
            <p:nvPr/>
          </p:nvGrpSpPr>
          <p:grpSpPr>
            <a:xfrm>
              <a:off x="6693091" y="4181483"/>
              <a:ext cx="4057650" cy="461891"/>
              <a:chOff x="6380050" y="3624664"/>
              <a:chExt cx="4057650" cy="461891"/>
            </a:xfrm>
          </p:grpSpPr>
          <p:sp>
            <p:nvSpPr>
              <p:cNvPr id="20" name="文本框 125"/>
              <p:cNvSpPr txBox="1">
                <a:spLocks noChangeArrowheads="1"/>
              </p:cNvSpPr>
              <p:nvPr/>
            </p:nvSpPr>
            <p:spPr bwMode="auto">
              <a:xfrm>
                <a:off x="7848487" y="3647301"/>
                <a:ext cx="2589213" cy="398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Key features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21" name="文本框 132"/>
              <p:cNvSpPr txBox="1">
                <a:spLocks noChangeArrowheads="1"/>
              </p:cNvSpPr>
              <p:nvPr/>
            </p:nvSpPr>
            <p:spPr bwMode="auto">
              <a:xfrm>
                <a:off x="6380050" y="3624664"/>
                <a:ext cx="1597025" cy="4618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  <a:ea typeface="SimSun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Microsoft YaHei" pitchFamily="34" charset="-122"/>
                    <a:ea typeface="Microsoft YaHei" pitchFamily="34" charset="-122"/>
                    <a:cs typeface="+mn-cs"/>
                    <a:sym typeface="+mn-ea"/>
                  </a:rPr>
                  <a:t>Part 04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+mn-cs"/>
                  <a:sym typeface="+mn-ea"/>
                </a:endParaRPr>
              </a:p>
            </p:txBody>
          </p:sp>
        </p:grpSp>
      </p:grpSp>
      <p:grpSp>
        <p:nvGrpSpPr>
          <p:cNvPr id="5142" name="组合 100"/>
          <p:cNvGrpSpPr/>
          <p:nvPr/>
        </p:nvGrpSpPr>
        <p:grpSpPr>
          <a:xfrm>
            <a:off x="3936048" y="2659698"/>
            <a:ext cx="260350" cy="357187"/>
            <a:chOff x="4218255" y="2644947"/>
            <a:chExt cx="179475" cy="246054"/>
          </a:xfrm>
        </p:grpSpPr>
        <p:sp>
          <p:nvSpPr>
            <p:cNvPr id="33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34" name="Oval 27"/>
            <p:cNvSpPr>
              <a:spLocks noChangeArrowheads="1"/>
            </p:cNvSpPr>
            <p:nvPr/>
          </p:nvSpPr>
          <p:spPr bwMode="auto">
            <a:xfrm>
              <a:off x="4253275" y="2685409"/>
              <a:ext cx="109436" cy="1038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grpSp>
        <p:nvGrpSpPr>
          <p:cNvPr id="5145" name="组合 103"/>
          <p:cNvGrpSpPr/>
          <p:nvPr/>
        </p:nvGrpSpPr>
        <p:grpSpPr>
          <a:xfrm>
            <a:off x="3936048" y="3268028"/>
            <a:ext cx="260350" cy="357187"/>
            <a:chOff x="4218255" y="2644947"/>
            <a:chExt cx="179475" cy="246054"/>
          </a:xfrm>
        </p:grpSpPr>
        <p:sp>
          <p:nvSpPr>
            <p:cNvPr id="36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37" name="Oval 27"/>
            <p:cNvSpPr>
              <a:spLocks noChangeArrowheads="1"/>
            </p:cNvSpPr>
            <p:nvPr/>
          </p:nvSpPr>
          <p:spPr bwMode="auto">
            <a:xfrm>
              <a:off x="4253275" y="2685409"/>
              <a:ext cx="109436" cy="1038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grpSp>
        <p:nvGrpSpPr>
          <p:cNvPr id="5148" name="组合 106"/>
          <p:cNvGrpSpPr/>
          <p:nvPr/>
        </p:nvGrpSpPr>
        <p:grpSpPr>
          <a:xfrm>
            <a:off x="3936048" y="3847783"/>
            <a:ext cx="260350" cy="357187"/>
            <a:chOff x="4218255" y="2644947"/>
            <a:chExt cx="179475" cy="246054"/>
          </a:xfrm>
        </p:grpSpPr>
        <p:sp>
          <p:nvSpPr>
            <p:cNvPr id="39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auto">
            <a:xfrm>
              <a:off x="4253275" y="2685409"/>
              <a:ext cx="109436" cy="1038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sp>
        <p:nvSpPr>
          <p:cNvPr id="45" name="任意多边形 44"/>
          <p:cNvSpPr/>
          <p:nvPr/>
        </p:nvSpPr>
        <p:spPr>
          <a:xfrm rot="656905">
            <a:off x="-250825" y="242888"/>
            <a:ext cx="3402013" cy="2433638"/>
          </a:xfrm>
          <a:custGeom>
            <a:avLst/>
            <a:gdLst>
              <a:gd name="connsiteX0" fmla="*/ 0 w 3402522"/>
              <a:gd name="connsiteY0" fmla="*/ 58806 h 2432918"/>
              <a:gd name="connsiteX1" fmla="*/ 303992 w 3402522"/>
              <a:gd name="connsiteY1" fmla="*/ 0 h 2432918"/>
              <a:gd name="connsiteX2" fmla="*/ 3402522 w 3402522"/>
              <a:gd name="connsiteY2" fmla="*/ 2432918 h 2432918"/>
              <a:gd name="connsiteX3" fmla="*/ 459263 w 3402522"/>
              <a:gd name="connsiteY3" fmla="*/ 2432918 h 2432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2522" h="2432918">
                <a:moveTo>
                  <a:pt x="0" y="58806"/>
                </a:moveTo>
                <a:lnTo>
                  <a:pt x="303992" y="0"/>
                </a:lnTo>
                <a:lnTo>
                  <a:pt x="3402522" y="2432918"/>
                </a:lnTo>
                <a:lnTo>
                  <a:pt x="459263" y="2432918"/>
                </a:lnTo>
                <a:close/>
              </a:path>
            </a:pathLst>
          </a:custGeom>
          <a:solidFill>
            <a:srgbClr val="353F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" name="任意多边形 49"/>
          <p:cNvSpPr/>
          <p:nvPr/>
        </p:nvSpPr>
        <p:spPr>
          <a:xfrm rot="6414501">
            <a:off x="9388475" y="3976688"/>
            <a:ext cx="4437063" cy="2138363"/>
          </a:xfrm>
          <a:custGeom>
            <a:avLst/>
            <a:gdLst>
              <a:gd name="connsiteX0" fmla="*/ 0 w 4437562"/>
              <a:gd name="connsiteY0" fmla="*/ 2139505 h 2139505"/>
              <a:gd name="connsiteX1" fmla="*/ 0 w 4437562"/>
              <a:gd name="connsiteY1" fmla="*/ 1132918 h 2139505"/>
              <a:gd name="connsiteX2" fmla="*/ 3726919 w 4437562"/>
              <a:gd name="connsiteY2" fmla="*/ 0 h 2139505"/>
              <a:gd name="connsiteX3" fmla="*/ 3806086 w 4437562"/>
              <a:gd name="connsiteY3" fmla="*/ 62160 h 2139505"/>
              <a:gd name="connsiteX4" fmla="*/ 4437562 w 4437562"/>
              <a:gd name="connsiteY4" fmla="*/ 2139505 h 213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562" h="2139505">
                <a:moveTo>
                  <a:pt x="0" y="2139505"/>
                </a:moveTo>
                <a:lnTo>
                  <a:pt x="0" y="1132918"/>
                </a:lnTo>
                <a:lnTo>
                  <a:pt x="3726919" y="0"/>
                </a:lnTo>
                <a:lnTo>
                  <a:pt x="3806086" y="62160"/>
                </a:lnTo>
                <a:lnTo>
                  <a:pt x="4437562" y="2139505"/>
                </a:lnTo>
                <a:close/>
              </a:path>
            </a:pathLst>
          </a:cu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文本框 125"/>
          <p:cNvSpPr txBox="1">
            <a:spLocks noChangeArrowheads="1"/>
          </p:cNvSpPr>
          <p:nvPr/>
        </p:nvSpPr>
        <p:spPr bwMode="auto">
          <a:xfrm>
            <a:off x="5861685" y="4403090"/>
            <a:ext cx="2589213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Simple example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2" name="文本框 132"/>
          <p:cNvSpPr txBox="1">
            <a:spLocks noChangeArrowheads="1"/>
          </p:cNvSpPr>
          <p:nvPr/>
        </p:nvSpPr>
        <p:spPr bwMode="auto">
          <a:xfrm>
            <a:off x="4393248" y="4403090"/>
            <a:ext cx="1597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Part 05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5" name="文本框 125"/>
          <p:cNvSpPr txBox="1">
            <a:spLocks noChangeArrowheads="1"/>
          </p:cNvSpPr>
          <p:nvPr/>
        </p:nvSpPr>
        <p:spPr bwMode="auto">
          <a:xfrm>
            <a:off x="5861685" y="4961890"/>
            <a:ext cx="2589213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Conclusion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8" name="文本框 132"/>
          <p:cNvSpPr txBox="1">
            <a:spLocks noChangeArrowheads="1"/>
          </p:cNvSpPr>
          <p:nvPr/>
        </p:nvSpPr>
        <p:spPr bwMode="auto">
          <a:xfrm>
            <a:off x="4393248" y="4961890"/>
            <a:ext cx="1597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Part 06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grpSp>
        <p:nvGrpSpPr>
          <p:cNvPr id="41" name="组合 106"/>
          <p:cNvGrpSpPr/>
          <p:nvPr/>
        </p:nvGrpSpPr>
        <p:grpSpPr>
          <a:xfrm>
            <a:off x="3936048" y="4415473"/>
            <a:ext cx="260350" cy="357187"/>
            <a:chOff x="4218255" y="2644947"/>
            <a:chExt cx="179475" cy="246054"/>
          </a:xfrm>
        </p:grpSpPr>
        <p:sp>
          <p:nvSpPr>
            <p:cNvPr id="42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43" name="Oval 27"/>
            <p:cNvSpPr>
              <a:spLocks noChangeArrowheads="1"/>
            </p:cNvSpPr>
            <p:nvPr/>
          </p:nvSpPr>
          <p:spPr bwMode="auto">
            <a:xfrm>
              <a:off x="4253275" y="2685409"/>
              <a:ext cx="109436" cy="1038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grpSp>
        <p:nvGrpSpPr>
          <p:cNvPr id="44" name="组合 106"/>
          <p:cNvGrpSpPr/>
          <p:nvPr/>
        </p:nvGrpSpPr>
        <p:grpSpPr>
          <a:xfrm>
            <a:off x="3936048" y="4969193"/>
            <a:ext cx="260350" cy="357187"/>
            <a:chOff x="4218255" y="2644947"/>
            <a:chExt cx="179475" cy="246054"/>
          </a:xfrm>
        </p:grpSpPr>
        <p:sp>
          <p:nvSpPr>
            <p:cNvPr id="46" name="Freeform 26"/>
            <p:cNvSpPr/>
            <p:nvPr/>
          </p:nvSpPr>
          <p:spPr bwMode="auto">
            <a:xfrm>
              <a:off x="4218255" y="2644947"/>
              <a:ext cx="179475" cy="246054"/>
            </a:xfrm>
            <a:custGeom>
              <a:avLst/>
              <a:gdLst>
                <a:gd name="T0" fmla="*/ 89738 w 26"/>
                <a:gd name="T1" fmla="*/ 0 h 36"/>
                <a:gd name="T2" fmla="*/ 0 w 26"/>
                <a:gd name="T3" fmla="*/ 88853 h 36"/>
                <a:gd name="T4" fmla="*/ 20709 w 26"/>
                <a:gd name="T5" fmla="*/ 143532 h 36"/>
                <a:gd name="T6" fmla="*/ 89738 w 26"/>
                <a:gd name="T7" fmla="*/ 246054 h 36"/>
                <a:gd name="T8" fmla="*/ 158766 w 26"/>
                <a:gd name="T9" fmla="*/ 143532 h 36"/>
                <a:gd name="T10" fmla="*/ 179475 w 26"/>
                <a:gd name="T11" fmla="*/ 88853 h 36"/>
                <a:gd name="T12" fmla="*/ 89738 w 2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1" y="19"/>
                    <a:pt x="3" y="2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23" y="21"/>
                  </a:cubicBezTo>
                  <a:cubicBezTo>
                    <a:pt x="25" y="19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等线" pitchFamily="2" charset="-122"/>
                <a:ea typeface="等线" pitchFamily="2" charset="-122"/>
                <a:cs typeface="+mn-cs"/>
              </a:endParaRPr>
            </a:p>
          </p:txBody>
        </p:sp>
        <p:sp>
          <p:nvSpPr>
            <p:cNvPr id="47" name="Oval 27"/>
            <p:cNvSpPr>
              <a:spLocks noChangeArrowheads="1"/>
            </p:cNvSpPr>
            <p:nvPr/>
          </p:nvSpPr>
          <p:spPr bwMode="auto">
            <a:xfrm>
              <a:off x="4253275" y="2685409"/>
              <a:ext cx="109436" cy="1038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SimSun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+mn-cs"/>
              </a:endParaRPr>
            </a:p>
          </p:txBody>
        </p:sp>
      </p:grpSp>
      <p:pic>
        <p:nvPicPr>
          <p:cNvPr id="49" name="Picture 48" descr="Screenshot 2025-10-15 at 5.22.1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120" y="195580"/>
            <a:ext cx="2882900" cy="1460500"/>
          </a:xfrm>
          <a:prstGeom prst="rect">
            <a:avLst/>
          </a:prstGeom>
        </p:spPr>
      </p:pic>
      <p:pic>
        <p:nvPicPr>
          <p:cNvPr id="51" name="Picture 50" descr="Screenshot 2025-10-15 at 5.23.0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" y="3589655"/>
            <a:ext cx="3335655" cy="2901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10"/>
          <p:cNvSpPr/>
          <p:nvPr/>
        </p:nvSpPr>
        <p:spPr>
          <a:xfrm rot="5588898">
            <a:off x="3851275" y="6000750"/>
            <a:ext cx="604520" cy="560070"/>
          </a:xfrm>
          <a:custGeom>
            <a:avLst/>
            <a:gdLst>
              <a:gd name="connsiteX0" fmla="*/ 0 w 269920"/>
              <a:gd name="connsiteY0" fmla="*/ 409575 h 409575"/>
              <a:gd name="connsiteX1" fmla="*/ 0 w 269920"/>
              <a:gd name="connsiteY1" fmla="*/ 0 h 409575"/>
              <a:gd name="connsiteX2" fmla="*/ 261445 w 269920"/>
              <a:gd name="connsiteY2" fmla="*/ 255503 h 409575"/>
              <a:gd name="connsiteX3" fmla="*/ 269920 w 269920"/>
              <a:gd name="connsiteY3" fmla="*/ 40957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20" h="409575">
                <a:moveTo>
                  <a:pt x="0" y="409575"/>
                </a:moveTo>
                <a:lnTo>
                  <a:pt x="0" y="0"/>
                </a:lnTo>
                <a:lnTo>
                  <a:pt x="261445" y="255503"/>
                </a:lnTo>
                <a:lnTo>
                  <a:pt x="269920" y="40957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5588898">
            <a:off x="3994150" y="4538663"/>
            <a:ext cx="269875" cy="409575"/>
          </a:xfrm>
          <a:custGeom>
            <a:avLst/>
            <a:gdLst>
              <a:gd name="connsiteX0" fmla="*/ 0 w 269920"/>
              <a:gd name="connsiteY0" fmla="*/ 409575 h 409575"/>
              <a:gd name="connsiteX1" fmla="*/ 0 w 269920"/>
              <a:gd name="connsiteY1" fmla="*/ 0 h 409575"/>
              <a:gd name="connsiteX2" fmla="*/ 261445 w 269920"/>
              <a:gd name="connsiteY2" fmla="*/ 255503 h 409575"/>
              <a:gd name="connsiteX3" fmla="*/ 269920 w 269920"/>
              <a:gd name="connsiteY3" fmla="*/ 40957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20" h="409575">
                <a:moveTo>
                  <a:pt x="0" y="409575"/>
                </a:moveTo>
                <a:lnTo>
                  <a:pt x="0" y="0"/>
                </a:lnTo>
                <a:lnTo>
                  <a:pt x="261445" y="255503"/>
                </a:lnTo>
                <a:lnTo>
                  <a:pt x="269920" y="40957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3133725" y="1495425"/>
            <a:ext cx="419100" cy="409575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905000"/>
            <a:ext cx="12192000" cy="4191000"/>
          </a:xfrm>
          <a:prstGeom prst="rect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0125" y="1485900"/>
            <a:ext cx="3076575" cy="5088255"/>
          </a:xfrm>
          <a:custGeom>
            <a:avLst/>
            <a:gdLst>
              <a:gd name="connsiteX0" fmla="*/ 0 w 3076575"/>
              <a:gd name="connsiteY0" fmla="*/ 0 h 3381375"/>
              <a:gd name="connsiteX1" fmla="*/ 3076575 w 3076575"/>
              <a:gd name="connsiteY1" fmla="*/ 0 h 3381375"/>
              <a:gd name="connsiteX2" fmla="*/ 3076575 w 3076575"/>
              <a:gd name="connsiteY2" fmla="*/ 3381375 h 3381375"/>
              <a:gd name="connsiteX3" fmla="*/ 0 w 3076575"/>
              <a:gd name="connsiteY3" fmla="*/ 3381375 h 3381375"/>
              <a:gd name="connsiteX4" fmla="*/ 0 w 3076575"/>
              <a:gd name="connsiteY4" fmla="*/ 0 h 3381375"/>
              <a:gd name="connsiteX0-1" fmla="*/ 0 w 3076575"/>
              <a:gd name="connsiteY0-2" fmla="*/ 0 h 3381375"/>
              <a:gd name="connsiteX1-3" fmla="*/ 2143125 w 3076575"/>
              <a:gd name="connsiteY1-4" fmla="*/ 9525 h 3381375"/>
              <a:gd name="connsiteX2-5" fmla="*/ 3076575 w 3076575"/>
              <a:gd name="connsiteY2-6" fmla="*/ 3381375 h 3381375"/>
              <a:gd name="connsiteX3-7" fmla="*/ 0 w 3076575"/>
              <a:gd name="connsiteY3-8" fmla="*/ 3381375 h 3381375"/>
              <a:gd name="connsiteX4-9" fmla="*/ 0 w 3076575"/>
              <a:gd name="connsiteY4-10" fmla="*/ 0 h 33813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76575" h="3381375">
                <a:moveTo>
                  <a:pt x="0" y="0"/>
                </a:moveTo>
                <a:lnTo>
                  <a:pt x="2143125" y="9525"/>
                </a:lnTo>
                <a:lnTo>
                  <a:pt x="3076575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solidFill>
            <a:srgbClr val="353F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9" name="文本框 128"/>
          <p:cNvSpPr txBox="1"/>
          <p:nvPr/>
        </p:nvSpPr>
        <p:spPr>
          <a:xfrm>
            <a:off x="4340860" y="2857500"/>
            <a:ext cx="699008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4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Introduction: What is Spring Boot?</a:t>
            </a:r>
            <a:endParaRPr lang="en-US" altLang="en-US" sz="4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38299" y="2540127"/>
            <a:ext cx="1066799" cy="1425318"/>
            <a:chOff x="6034088" y="4592639"/>
            <a:chExt cx="193675" cy="258763"/>
          </a:xfrm>
          <a:solidFill>
            <a:schemeClr val="bg1"/>
          </a:solidFill>
        </p:grpSpPr>
        <p:sp>
          <p:nvSpPr>
            <p:cNvPr id="12" name="Freeform 347"/>
            <p:cNvSpPr>
              <a:spLocks noEditPoints="1"/>
            </p:cNvSpPr>
            <p:nvPr/>
          </p:nvSpPr>
          <p:spPr bwMode="auto">
            <a:xfrm>
              <a:off x="6034088" y="4592639"/>
              <a:ext cx="193675" cy="258763"/>
            </a:xfrm>
            <a:custGeom>
              <a:avLst/>
              <a:gdLst>
                <a:gd name="T0" fmla="*/ 191 w 214"/>
                <a:gd name="T1" fmla="*/ 20 h 289"/>
                <a:gd name="T2" fmla="*/ 178 w 214"/>
                <a:gd name="T3" fmla="*/ 20 h 289"/>
                <a:gd name="T4" fmla="*/ 178 w 214"/>
                <a:gd name="T5" fmla="*/ 11 h 289"/>
                <a:gd name="T6" fmla="*/ 167 w 214"/>
                <a:gd name="T7" fmla="*/ 0 h 289"/>
                <a:gd name="T8" fmla="*/ 155 w 214"/>
                <a:gd name="T9" fmla="*/ 11 h 289"/>
                <a:gd name="T10" fmla="*/ 155 w 214"/>
                <a:gd name="T11" fmla="*/ 20 h 289"/>
                <a:gd name="T12" fmla="*/ 118 w 214"/>
                <a:gd name="T13" fmla="*/ 20 h 289"/>
                <a:gd name="T14" fmla="*/ 118 w 214"/>
                <a:gd name="T15" fmla="*/ 11 h 289"/>
                <a:gd name="T16" fmla="*/ 107 w 214"/>
                <a:gd name="T17" fmla="*/ 0 h 289"/>
                <a:gd name="T18" fmla="*/ 96 w 214"/>
                <a:gd name="T19" fmla="*/ 11 h 289"/>
                <a:gd name="T20" fmla="*/ 96 w 214"/>
                <a:gd name="T21" fmla="*/ 20 h 289"/>
                <a:gd name="T22" fmla="*/ 59 w 214"/>
                <a:gd name="T23" fmla="*/ 20 h 289"/>
                <a:gd name="T24" fmla="*/ 59 w 214"/>
                <a:gd name="T25" fmla="*/ 11 h 289"/>
                <a:gd name="T26" fmla="*/ 48 w 214"/>
                <a:gd name="T27" fmla="*/ 0 h 289"/>
                <a:gd name="T28" fmla="*/ 36 w 214"/>
                <a:gd name="T29" fmla="*/ 11 h 289"/>
                <a:gd name="T30" fmla="*/ 36 w 214"/>
                <a:gd name="T31" fmla="*/ 20 h 289"/>
                <a:gd name="T32" fmla="*/ 24 w 214"/>
                <a:gd name="T33" fmla="*/ 20 h 289"/>
                <a:gd name="T34" fmla="*/ 0 w 214"/>
                <a:gd name="T35" fmla="*/ 43 h 289"/>
                <a:gd name="T36" fmla="*/ 0 w 214"/>
                <a:gd name="T37" fmla="*/ 266 h 289"/>
                <a:gd name="T38" fmla="*/ 24 w 214"/>
                <a:gd name="T39" fmla="*/ 289 h 289"/>
                <a:gd name="T40" fmla="*/ 191 w 214"/>
                <a:gd name="T41" fmla="*/ 289 h 289"/>
                <a:gd name="T42" fmla="*/ 214 w 214"/>
                <a:gd name="T43" fmla="*/ 266 h 289"/>
                <a:gd name="T44" fmla="*/ 214 w 214"/>
                <a:gd name="T45" fmla="*/ 43 h 289"/>
                <a:gd name="T46" fmla="*/ 191 w 214"/>
                <a:gd name="T47" fmla="*/ 20 h 289"/>
                <a:gd name="T48" fmla="*/ 191 w 214"/>
                <a:gd name="T49" fmla="*/ 264 h 289"/>
                <a:gd name="T50" fmla="*/ 23 w 214"/>
                <a:gd name="T51" fmla="*/ 264 h 289"/>
                <a:gd name="T52" fmla="*/ 23 w 214"/>
                <a:gd name="T53" fmla="*/ 45 h 289"/>
                <a:gd name="T54" fmla="*/ 36 w 214"/>
                <a:gd name="T55" fmla="*/ 45 h 289"/>
                <a:gd name="T56" fmla="*/ 36 w 214"/>
                <a:gd name="T57" fmla="*/ 52 h 289"/>
                <a:gd name="T58" fmla="*/ 48 w 214"/>
                <a:gd name="T59" fmla="*/ 63 h 289"/>
                <a:gd name="T60" fmla="*/ 59 w 214"/>
                <a:gd name="T61" fmla="*/ 52 h 289"/>
                <a:gd name="T62" fmla="*/ 59 w 214"/>
                <a:gd name="T63" fmla="*/ 45 h 289"/>
                <a:gd name="T64" fmla="*/ 96 w 214"/>
                <a:gd name="T65" fmla="*/ 45 h 289"/>
                <a:gd name="T66" fmla="*/ 96 w 214"/>
                <a:gd name="T67" fmla="*/ 52 h 289"/>
                <a:gd name="T68" fmla="*/ 107 w 214"/>
                <a:gd name="T69" fmla="*/ 63 h 289"/>
                <a:gd name="T70" fmla="*/ 118 w 214"/>
                <a:gd name="T71" fmla="*/ 52 h 289"/>
                <a:gd name="T72" fmla="*/ 118 w 214"/>
                <a:gd name="T73" fmla="*/ 45 h 289"/>
                <a:gd name="T74" fmla="*/ 155 w 214"/>
                <a:gd name="T75" fmla="*/ 45 h 289"/>
                <a:gd name="T76" fmla="*/ 155 w 214"/>
                <a:gd name="T77" fmla="*/ 52 h 289"/>
                <a:gd name="T78" fmla="*/ 167 w 214"/>
                <a:gd name="T79" fmla="*/ 63 h 289"/>
                <a:gd name="T80" fmla="*/ 178 w 214"/>
                <a:gd name="T81" fmla="*/ 52 h 289"/>
                <a:gd name="T82" fmla="*/ 178 w 214"/>
                <a:gd name="T83" fmla="*/ 45 h 289"/>
                <a:gd name="T84" fmla="*/ 191 w 214"/>
                <a:gd name="T85" fmla="*/ 45 h 289"/>
                <a:gd name="T86" fmla="*/ 191 w 214"/>
                <a:gd name="T87" fmla="*/ 264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" h="289">
                  <a:moveTo>
                    <a:pt x="191" y="20"/>
                  </a:moveTo>
                  <a:cubicBezTo>
                    <a:pt x="178" y="20"/>
                    <a:pt x="178" y="20"/>
                    <a:pt x="178" y="20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5"/>
                    <a:pt x="173" y="0"/>
                    <a:pt x="167" y="0"/>
                  </a:cubicBezTo>
                  <a:cubicBezTo>
                    <a:pt x="160" y="0"/>
                    <a:pt x="155" y="5"/>
                    <a:pt x="155" y="11"/>
                  </a:cubicBezTo>
                  <a:cubicBezTo>
                    <a:pt x="155" y="20"/>
                    <a:pt x="155" y="20"/>
                    <a:pt x="155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11"/>
                    <a:pt x="118" y="11"/>
                    <a:pt x="118" y="11"/>
                  </a:cubicBezTo>
                  <a:cubicBezTo>
                    <a:pt x="118" y="5"/>
                    <a:pt x="113" y="0"/>
                    <a:pt x="107" y="0"/>
                  </a:cubicBezTo>
                  <a:cubicBezTo>
                    <a:pt x="101" y="0"/>
                    <a:pt x="96" y="5"/>
                    <a:pt x="96" y="11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9" y="5"/>
                    <a:pt x="54" y="0"/>
                    <a:pt x="48" y="0"/>
                  </a:cubicBezTo>
                  <a:cubicBezTo>
                    <a:pt x="41" y="0"/>
                    <a:pt x="36" y="5"/>
                    <a:pt x="36" y="1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11" y="20"/>
                    <a:pt x="0" y="30"/>
                    <a:pt x="0" y="43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78"/>
                    <a:pt x="11" y="289"/>
                    <a:pt x="24" y="289"/>
                  </a:cubicBezTo>
                  <a:cubicBezTo>
                    <a:pt x="191" y="289"/>
                    <a:pt x="191" y="289"/>
                    <a:pt x="191" y="289"/>
                  </a:cubicBezTo>
                  <a:cubicBezTo>
                    <a:pt x="204" y="289"/>
                    <a:pt x="214" y="278"/>
                    <a:pt x="214" y="266"/>
                  </a:cubicBezTo>
                  <a:cubicBezTo>
                    <a:pt x="214" y="43"/>
                    <a:pt x="214" y="43"/>
                    <a:pt x="214" y="43"/>
                  </a:cubicBezTo>
                  <a:cubicBezTo>
                    <a:pt x="214" y="30"/>
                    <a:pt x="204" y="20"/>
                    <a:pt x="191" y="20"/>
                  </a:cubicBezTo>
                  <a:close/>
                  <a:moveTo>
                    <a:pt x="191" y="264"/>
                  </a:moveTo>
                  <a:cubicBezTo>
                    <a:pt x="23" y="264"/>
                    <a:pt x="23" y="264"/>
                    <a:pt x="23" y="264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8"/>
                    <a:pt x="41" y="63"/>
                    <a:pt x="48" y="63"/>
                  </a:cubicBezTo>
                  <a:cubicBezTo>
                    <a:pt x="54" y="63"/>
                    <a:pt x="59" y="58"/>
                    <a:pt x="59" y="5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8"/>
                    <a:pt x="101" y="63"/>
                    <a:pt x="107" y="63"/>
                  </a:cubicBezTo>
                  <a:cubicBezTo>
                    <a:pt x="113" y="63"/>
                    <a:pt x="118" y="58"/>
                    <a:pt x="118" y="52"/>
                  </a:cubicBezTo>
                  <a:cubicBezTo>
                    <a:pt x="118" y="45"/>
                    <a:pt x="118" y="45"/>
                    <a:pt x="118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5" y="58"/>
                    <a:pt x="160" y="63"/>
                    <a:pt x="167" y="63"/>
                  </a:cubicBezTo>
                  <a:cubicBezTo>
                    <a:pt x="173" y="63"/>
                    <a:pt x="178" y="58"/>
                    <a:pt x="178" y="52"/>
                  </a:cubicBezTo>
                  <a:cubicBezTo>
                    <a:pt x="178" y="45"/>
                    <a:pt x="178" y="45"/>
                    <a:pt x="178" y="45"/>
                  </a:cubicBezTo>
                  <a:cubicBezTo>
                    <a:pt x="191" y="45"/>
                    <a:pt x="191" y="45"/>
                    <a:pt x="191" y="45"/>
                  </a:cubicBezTo>
                  <a:lnTo>
                    <a:pt x="191" y="2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348"/>
            <p:cNvSpPr>
              <a:spLocks noChangeArrowheads="1"/>
            </p:cNvSpPr>
            <p:nvPr/>
          </p:nvSpPr>
          <p:spPr bwMode="auto">
            <a:xfrm>
              <a:off x="6076951" y="4675189"/>
              <a:ext cx="107950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349"/>
            <p:cNvSpPr>
              <a:spLocks noChangeArrowheads="1"/>
            </p:cNvSpPr>
            <p:nvPr/>
          </p:nvSpPr>
          <p:spPr bwMode="auto">
            <a:xfrm>
              <a:off x="6076951" y="4711701"/>
              <a:ext cx="107950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350"/>
            <p:cNvSpPr>
              <a:spLocks noChangeArrowheads="1"/>
            </p:cNvSpPr>
            <p:nvPr/>
          </p:nvSpPr>
          <p:spPr bwMode="auto">
            <a:xfrm>
              <a:off x="6076951" y="4748214"/>
              <a:ext cx="107950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351"/>
            <p:cNvSpPr>
              <a:spLocks noChangeArrowheads="1"/>
            </p:cNvSpPr>
            <p:nvPr/>
          </p:nvSpPr>
          <p:spPr bwMode="auto">
            <a:xfrm>
              <a:off x="6076951" y="4784726"/>
              <a:ext cx="107950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9" name="图片 7"/>
          <p:cNvPicPr>
            <a:picLocks noChangeAspect="1"/>
          </p:cNvPicPr>
          <p:nvPr/>
        </p:nvPicPr>
        <p:blipFill>
          <a:blip r:embed="rId1"/>
          <a:srcRect r="51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170" name="组合 9"/>
          <p:cNvGrpSpPr/>
          <p:nvPr/>
        </p:nvGrpSpPr>
        <p:grpSpPr>
          <a:xfrm>
            <a:off x="0" y="653733"/>
            <a:ext cx="12192635" cy="5585142"/>
            <a:chOff x="1" y="655986"/>
            <a:chExt cx="12192634" cy="5582255"/>
          </a:xfrm>
        </p:grpSpPr>
        <p:grpSp>
          <p:nvGrpSpPr>
            <p:cNvPr id="7171" name="组合 10"/>
            <p:cNvGrpSpPr/>
            <p:nvPr/>
          </p:nvGrpSpPr>
          <p:grpSpPr>
            <a:xfrm>
              <a:off x="1" y="655986"/>
              <a:ext cx="12192634" cy="5582255"/>
              <a:chOff x="1" y="655986"/>
              <a:chExt cx="12192634" cy="558225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" y="655986"/>
                <a:ext cx="12192634" cy="5225887"/>
              </a:xfrm>
              <a:prstGeom prst="rect">
                <a:avLst/>
              </a:prstGeom>
              <a:solidFill>
                <a:srgbClr val="353F48">
                  <a:alpha val="9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599363" y="5882825"/>
                <a:ext cx="4592637" cy="355416"/>
              </a:xfrm>
              <a:prstGeom prst="rect">
                <a:avLst/>
              </a:prstGeom>
              <a:solidFill>
                <a:srgbClr val="353F48">
                  <a:alpha val="6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直角三角形 14"/>
              <p:cNvSpPr/>
              <p:nvPr/>
            </p:nvSpPr>
            <p:spPr>
              <a:xfrm rot="5400000">
                <a:off x="7655652" y="5826536"/>
                <a:ext cx="355416" cy="466725"/>
              </a:xfrm>
              <a:prstGeom prst="rtTriangl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175" name="矩形 11"/>
            <p:cNvSpPr/>
            <p:nvPr/>
          </p:nvSpPr>
          <p:spPr>
            <a:xfrm>
              <a:off x="417831" y="1006960"/>
              <a:ext cx="5697855" cy="45239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noAutofit/>
            </a:bodyPr>
            <a:p>
              <a:pPr indent="457200" algn="l"/>
              <a:r>
                <a:rPr lang="en-US" altLang="en-US" sz="28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Spring Boot</a:t>
              </a:r>
              <a:r>
                <a:rPr lang="en-US" altLang="en-US" sz="2800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 is a framework used to build Java applications easily and quickly.</a:t>
              </a:r>
              <a:endParaRPr lang="en-US" altLang="en-US" sz="28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  <a:p>
              <a:pPr indent="457200" algn="l"/>
              <a:endParaRPr lang="en-US" altLang="en-US" sz="28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  <a:p>
              <a:pPr indent="457200" algn="l"/>
              <a:r>
                <a:rPr lang="en-US" altLang="en-US" sz="2800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It`s built on top of the Spring Framework, which is one of the most popular frameworks for enterprise-level Java development.</a:t>
              </a:r>
              <a:endParaRPr lang="en-US" altLang="en-US" sz="28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endParaRPr>
            </a:p>
          </p:txBody>
        </p:sp>
      </p:grpSp>
      <p:pic>
        <p:nvPicPr>
          <p:cNvPr id="4" name="Picture 3" descr="Screenshot 2025-10-15 at 5.24.30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905" y="897255"/>
            <a:ext cx="4267200" cy="4343400"/>
          </a:xfrm>
          <a:prstGeom prst="rect">
            <a:avLst/>
          </a:prstGeom>
        </p:spPr>
      </p:pic>
      <p:pic>
        <p:nvPicPr>
          <p:cNvPr id="5" name="Picture 4" descr="Screenshot 2025-10-15 at 5.24.56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050" y="3615055"/>
            <a:ext cx="2980690" cy="2159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718050" y="1317625"/>
            <a:ext cx="7473950" cy="3232150"/>
          </a:xfrm>
          <a:prstGeom prst="rect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2" y="4549138"/>
            <a:ext cx="12192001" cy="71120"/>
            <a:chOff x="-1" y="4561840"/>
            <a:chExt cx="10485124" cy="101600"/>
          </a:xfrm>
          <a:solidFill>
            <a:srgbClr val="353F48"/>
          </a:solidFill>
        </p:grpSpPr>
        <p:sp>
          <p:nvSpPr>
            <p:cNvPr id="12" name="矩形 11"/>
            <p:cNvSpPr/>
            <p:nvPr/>
          </p:nvSpPr>
          <p:spPr>
            <a:xfrm>
              <a:off x="-1" y="4561840"/>
              <a:ext cx="2621281" cy="10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621280" y="4561840"/>
              <a:ext cx="2621281" cy="10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242561" y="4561840"/>
              <a:ext cx="2621281" cy="10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863842" y="4561840"/>
              <a:ext cx="2621281" cy="10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197" name="矩形 15"/>
          <p:cNvSpPr/>
          <p:nvPr/>
        </p:nvSpPr>
        <p:spPr>
          <a:xfrm>
            <a:off x="5027930" y="2218690"/>
            <a:ext cx="6007100" cy="17735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l"/>
            <a:r>
              <a:rPr lang="en-US" altLang="en-US" sz="4400" b="1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rPr>
              <a:t>Why do we need it?</a:t>
            </a:r>
            <a:endParaRPr lang="en-US" altLang="en-US" sz="4400" b="1" dirty="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" name="Picture 1" descr="Screenshot 2025-10-15 at 5.27.2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610" y="2908935"/>
            <a:ext cx="3022600" cy="2438400"/>
          </a:xfrm>
          <a:prstGeom prst="rect">
            <a:avLst/>
          </a:prstGeom>
        </p:spPr>
      </p:pic>
      <p:pic>
        <p:nvPicPr>
          <p:cNvPr id="49" name="Picture 48" descr="Screenshot 2025-10-15 at 5.22.1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925195"/>
            <a:ext cx="3915410" cy="1983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1" name="组合 5"/>
          <p:cNvGrpSpPr/>
          <p:nvPr/>
        </p:nvGrpSpPr>
        <p:grpSpPr>
          <a:xfrm>
            <a:off x="247650" y="196850"/>
            <a:ext cx="417513" cy="355600"/>
            <a:chOff x="705193" y="4082415"/>
            <a:chExt cx="666407" cy="568960"/>
          </a:xfrm>
        </p:grpSpPr>
        <p:sp>
          <p:nvSpPr>
            <p:cNvPr id="4" name="直角三角形 3"/>
            <p:cNvSpPr/>
            <p:nvPr/>
          </p:nvSpPr>
          <p:spPr>
            <a:xfrm>
              <a:off x="760938" y="4082415"/>
              <a:ext cx="610662" cy="568960"/>
            </a:xfrm>
            <a:prstGeom prst="rtTriangle">
              <a:avLst/>
            </a:prstGeom>
            <a:solidFill>
              <a:srgbClr val="F89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直角三角形 4"/>
            <p:cNvSpPr/>
            <p:nvPr/>
          </p:nvSpPr>
          <p:spPr>
            <a:xfrm rot="19329383">
              <a:off x="705193" y="4125596"/>
              <a:ext cx="532111" cy="406400"/>
            </a:xfrm>
            <a:prstGeom prst="rtTriangle">
              <a:avLst/>
            </a:prstGeom>
            <a:solidFill>
              <a:srgbClr val="353F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244" name="文本框 6"/>
          <p:cNvSpPr txBox="1"/>
          <p:nvPr/>
        </p:nvSpPr>
        <p:spPr>
          <a:xfrm>
            <a:off x="744855" y="225425"/>
            <a:ext cx="49745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3200" b="1" dirty="0">
                <a:solidFill>
                  <a:srgbClr val="262626"/>
                </a:solidFill>
                <a:latin typeface="Microsoft YaHei" pitchFamily="34" charset="-122"/>
                <a:ea typeface="Microsoft YaHei" pitchFamily="34" charset="-122"/>
              </a:rPr>
              <a:t>Why do we need it?</a:t>
            </a:r>
            <a:endParaRPr lang="en-US" altLang="en-US" sz="3200" b="1" dirty="0">
              <a:solidFill>
                <a:srgbClr val="262626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grpSp>
        <p:nvGrpSpPr>
          <p:cNvPr id="10245" name="组合 7"/>
          <p:cNvGrpSpPr/>
          <p:nvPr/>
        </p:nvGrpSpPr>
        <p:grpSpPr>
          <a:xfrm>
            <a:off x="4162425" y="2049463"/>
            <a:ext cx="1522413" cy="1790700"/>
            <a:chOff x="4162255" y="2049081"/>
            <a:chExt cx="1523085" cy="1791782"/>
          </a:xfrm>
        </p:grpSpPr>
        <p:sp>
          <p:nvSpPr>
            <p:cNvPr id="9" name="椭圆 37"/>
            <p:cNvSpPr/>
            <p:nvPr/>
          </p:nvSpPr>
          <p:spPr>
            <a:xfrm>
              <a:off x="4162255" y="2049081"/>
              <a:ext cx="1523085" cy="1791782"/>
            </a:xfrm>
            <a:custGeom>
              <a:avLst/>
              <a:gdLst/>
              <a:ahLst/>
              <a:cxnLst/>
              <a:rect l="l" t="t" r="r" b="b"/>
              <a:pathLst>
                <a:path w="1224056" h="1440000">
                  <a:moveTo>
                    <a:pt x="720000" y="0"/>
                  </a:moveTo>
                  <a:cubicBezTo>
                    <a:pt x="916472" y="0"/>
                    <a:pt x="1094563" y="78694"/>
                    <a:pt x="1224056" y="206708"/>
                  </a:cubicBezTo>
                  <a:cubicBezTo>
                    <a:pt x="1090618" y="336923"/>
                    <a:pt x="1008112" y="518827"/>
                    <a:pt x="1008112" y="720000"/>
                  </a:cubicBezTo>
                  <a:cubicBezTo>
                    <a:pt x="1008112" y="921174"/>
                    <a:pt x="1090618" y="1103077"/>
                    <a:pt x="1224056" y="1233293"/>
                  </a:cubicBezTo>
                  <a:cubicBezTo>
                    <a:pt x="1094563" y="1361306"/>
                    <a:pt x="916472" y="1440000"/>
                    <a:pt x="720000" y="1440000"/>
                  </a:cubicBezTo>
                  <a:cubicBezTo>
                    <a:pt x="322355" y="1440000"/>
                    <a:pt x="0" y="1117645"/>
                    <a:pt x="0" y="720000"/>
                  </a:cubicBez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solidFill>
              <a:srgbClr val="F8941C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SimSun" pitchFamily="2" charset="-122"/>
                <a:cs typeface="+mn-cs"/>
              </a:endParaRPr>
            </a:p>
          </p:txBody>
        </p:sp>
        <p:sp>
          <p:nvSpPr>
            <p:cNvPr id="10" name="TextBox 55"/>
            <p:cNvSpPr txBox="1"/>
            <p:nvPr/>
          </p:nvSpPr>
          <p:spPr>
            <a:xfrm>
              <a:off x="4673656" y="2555799"/>
              <a:ext cx="500284" cy="7068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  <a:sym typeface="+mn-ea"/>
                </a:rPr>
                <a:t>1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Arial Unicode MS" panose="020B0604020202020204" pitchFamily="34" charset="-122"/>
                <a:sym typeface="+mn-ea"/>
              </a:endParaRPr>
            </a:p>
          </p:txBody>
        </p:sp>
      </p:grpSp>
      <p:grpSp>
        <p:nvGrpSpPr>
          <p:cNvPr id="10248" name="组合 10"/>
          <p:cNvGrpSpPr/>
          <p:nvPr/>
        </p:nvGrpSpPr>
        <p:grpSpPr>
          <a:xfrm>
            <a:off x="5719763" y="2019300"/>
            <a:ext cx="1790700" cy="1565275"/>
            <a:chOff x="5719229" y="2019949"/>
            <a:chExt cx="1791784" cy="1564555"/>
          </a:xfrm>
        </p:grpSpPr>
        <p:sp>
          <p:nvSpPr>
            <p:cNvPr id="12" name="椭圆 39"/>
            <p:cNvSpPr/>
            <p:nvPr/>
          </p:nvSpPr>
          <p:spPr>
            <a:xfrm>
              <a:off x="5719229" y="2019949"/>
              <a:ext cx="1791784" cy="1564555"/>
            </a:xfrm>
            <a:custGeom>
              <a:avLst/>
              <a:gdLst/>
              <a:ahLst/>
              <a:cxnLst/>
              <a:rect l="l" t="t" r="r" b="b"/>
              <a:pathLst>
                <a:path w="1440000" h="1257385">
                  <a:moveTo>
                    <a:pt x="720000" y="0"/>
                  </a:moveTo>
                  <a:cubicBezTo>
                    <a:pt x="1117645" y="0"/>
                    <a:pt x="1440000" y="322355"/>
                    <a:pt x="1440000" y="720000"/>
                  </a:cubicBezTo>
                  <a:cubicBezTo>
                    <a:pt x="1440000" y="917842"/>
                    <a:pt x="1360205" y="1097046"/>
                    <a:pt x="1230860" y="1227004"/>
                  </a:cubicBezTo>
                  <a:cubicBezTo>
                    <a:pt x="1105781" y="1112548"/>
                    <a:pt x="938852" y="1044389"/>
                    <a:pt x="756004" y="1044389"/>
                  </a:cubicBezTo>
                  <a:cubicBezTo>
                    <a:pt x="556201" y="1044389"/>
                    <a:pt x="375406" y="1125775"/>
                    <a:pt x="245144" y="1257385"/>
                  </a:cubicBezTo>
                  <a:cubicBezTo>
                    <a:pt x="94059" y="1127625"/>
                    <a:pt x="0" y="934797"/>
                    <a:pt x="0" y="720000"/>
                  </a:cubicBez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solidFill>
              <a:srgbClr val="353F48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SimSun" pitchFamily="2" charset="-122"/>
                <a:cs typeface="+mn-cs"/>
              </a:endParaRPr>
            </a:p>
          </p:txBody>
        </p:sp>
        <p:sp>
          <p:nvSpPr>
            <p:cNvPr id="13" name="TextBox 73"/>
            <p:cNvSpPr txBox="1"/>
            <p:nvPr/>
          </p:nvSpPr>
          <p:spPr>
            <a:xfrm>
              <a:off x="6356201" y="2554691"/>
              <a:ext cx="500366" cy="7076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  <a:sym typeface="+mn-ea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Arial Unicode MS" panose="020B0604020202020204" pitchFamily="34" charset="-122"/>
                <a:sym typeface="+mn-ea"/>
              </a:endParaRPr>
            </a:p>
          </p:txBody>
        </p:sp>
      </p:grpSp>
      <p:grpSp>
        <p:nvGrpSpPr>
          <p:cNvPr id="10251" name="组合 13"/>
          <p:cNvGrpSpPr/>
          <p:nvPr/>
        </p:nvGrpSpPr>
        <p:grpSpPr>
          <a:xfrm>
            <a:off x="5980113" y="3570288"/>
            <a:ext cx="1524000" cy="1792287"/>
            <a:chOff x="5980372" y="3570325"/>
            <a:chExt cx="1523085" cy="1791782"/>
          </a:xfrm>
        </p:grpSpPr>
        <p:sp>
          <p:nvSpPr>
            <p:cNvPr id="15" name="椭圆 44"/>
            <p:cNvSpPr/>
            <p:nvPr/>
          </p:nvSpPr>
          <p:spPr>
            <a:xfrm>
              <a:off x="5980372" y="3570325"/>
              <a:ext cx="1523085" cy="1791782"/>
            </a:xfrm>
            <a:custGeom>
              <a:avLst/>
              <a:gdLst/>
              <a:ahLst/>
              <a:cxnLst/>
              <a:rect l="l" t="t" r="r" b="b"/>
              <a:pathLst>
                <a:path w="1224056" h="1440000">
                  <a:moveTo>
                    <a:pt x="504056" y="0"/>
                  </a:moveTo>
                  <a:cubicBezTo>
                    <a:pt x="901701" y="0"/>
                    <a:pt x="1224056" y="322355"/>
                    <a:pt x="1224056" y="720000"/>
                  </a:cubicBezTo>
                  <a:cubicBezTo>
                    <a:pt x="1224056" y="1117645"/>
                    <a:pt x="901701" y="1440000"/>
                    <a:pt x="504056" y="1440000"/>
                  </a:cubicBezTo>
                  <a:cubicBezTo>
                    <a:pt x="307585" y="1440000"/>
                    <a:pt x="129493" y="1361306"/>
                    <a:pt x="0" y="1233293"/>
                  </a:cubicBezTo>
                  <a:cubicBezTo>
                    <a:pt x="133438" y="1103077"/>
                    <a:pt x="215944" y="921174"/>
                    <a:pt x="215944" y="720000"/>
                  </a:cubicBezTo>
                  <a:cubicBezTo>
                    <a:pt x="215944" y="518827"/>
                    <a:pt x="133438" y="336923"/>
                    <a:pt x="0" y="206708"/>
                  </a:cubicBezTo>
                  <a:cubicBezTo>
                    <a:pt x="129493" y="78694"/>
                    <a:pt x="307585" y="0"/>
                    <a:pt x="504056" y="0"/>
                  </a:cubicBezTo>
                  <a:close/>
                </a:path>
              </a:pathLst>
            </a:custGeom>
            <a:solidFill>
              <a:srgbClr val="F8941C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SimSun" pitchFamily="2" charset="-122"/>
                <a:cs typeface="+mn-cs"/>
              </a:endParaRPr>
            </a:p>
          </p:txBody>
        </p:sp>
        <p:sp>
          <p:nvSpPr>
            <p:cNvPr id="16" name="TextBox 74"/>
            <p:cNvSpPr txBox="1"/>
            <p:nvPr/>
          </p:nvSpPr>
          <p:spPr>
            <a:xfrm>
              <a:off x="6438884" y="4321000"/>
              <a:ext cx="499763" cy="7078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  <a:sym typeface="+mn-ea"/>
                </a:rPr>
                <a:t>4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Arial Unicode MS" panose="020B0604020202020204" pitchFamily="34" charset="-122"/>
                <a:sym typeface="+mn-ea"/>
              </a:endParaRPr>
            </a:p>
          </p:txBody>
        </p:sp>
      </p:grpSp>
      <p:grpSp>
        <p:nvGrpSpPr>
          <p:cNvPr id="10254" name="组合 16"/>
          <p:cNvGrpSpPr/>
          <p:nvPr/>
        </p:nvGrpSpPr>
        <p:grpSpPr>
          <a:xfrm>
            <a:off x="4141788" y="3863975"/>
            <a:ext cx="1790700" cy="1524000"/>
            <a:chOff x="4141235" y="3864128"/>
            <a:chExt cx="1791784" cy="1523254"/>
          </a:xfrm>
        </p:grpSpPr>
        <p:sp>
          <p:nvSpPr>
            <p:cNvPr id="18" name="椭圆 47"/>
            <p:cNvSpPr/>
            <p:nvPr/>
          </p:nvSpPr>
          <p:spPr>
            <a:xfrm>
              <a:off x="4141235" y="3864128"/>
              <a:ext cx="1791784" cy="1523254"/>
            </a:xfrm>
            <a:custGeom>
              <a:avLst/>
              <a:gdLst/>
              <a:ahLst/>
              <a:cxnLst/>
              <a:rect l="l" t="t" r="r" b="b"/>
              <a:pathLst>
                <a:path w="1440000" h="1224192">
                  <a:moveTo>
                    <a:pt x="206820" y="0"/>
                  </a:moveTo>
                  <a:cubicBezTo>
                    <a:pt x="337038" y="133353"/>
                    <a:pt x="518890" y="215807"/>
                    <a:pt x="720000" y="215807"/>
                  </a:cubicBezTo>
                  <a:cubicBezTo>
                    <a:pt x="921110" y="215807"/>
                    <a:pt x="1102962" y="133353"/>
                    <a:pt x="1233180" y="0"/>
                  </a:cubicBezTo>
                  <a:cubicBezTo>
                    <a:pt x="1361255" y="129514"/>
                    <a:pt x="1440000" y="307657"/>
                    <a:pt x="1440000" y="504192"/>
                  </a:cubicBezTo>
                  <a:cubicBezTo>
                    <a:pt x="1440000" y="901837"/>
                    <a:pt x="1117645" y="1224192"/>
                    <a:pt x="720000" y="1224192"/>
                  </a:cubicBezTo>
                  <a:cubicBezTo>
                    <a:pt x="322355" y="1224192"/>
                    <a:pt x="0" y="901837"/>
                    <a:pt x="0" y="504192"/>
                  </a:cubicBezTo>
                  <a:cubicBezTo>
                    <a:pt x="0" y="307657"/>
                    <a:pt x="78745" y="129514"/>
                    <a:pt x="206820" y="0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75"/>
            <p:cNvSpPr txBox="1"/>
            <p:nvPr/>
          </p:nvSpPr>
          <p:spPr>
            <a:xfrm>
              <a:off x="4759146" y="4321104"/>
              <a:ext cx="500366" cy="7076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itchFamily="34" charset="-122"/>
                  <a:ea typeface="Microsoft YaHei" pitchFamily="34" charset="-122"/>
                  <a:cs typeface="Arial Unicode MS" panose="020B0604020202020204" pitchFamily="34" charset="-122"/>
                  <a:sym typeface="+mn-ea"/>
                </a:rPr>
                <a:t>3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Arial Unicode MS" panose="020B0604020202020204" pitchFamily="34" charset="-122"/>
                <a:sym typeface="+mn-ea"/>
              </a:endParaRPr>
            </a:p>
          </p:txBody>
        </p:sp>
      </p:grpSp>
      <p:cxnSp>
        <p:nvCxnSpPr>
          <p:cNvPr id="10257" name="直接连接符 19"/>
          <p:cNvCxnSpPr/>
          <p:nvPr/>
        </p:nvCxnSpPr>
        <p:spPr>
          <a:xfrm>
            <a:off x="3965575" y="1968500"/>
            <a:ext cx="0" cy="1546225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8" name="直接连接符 20"/>
          <p:cNvCxnSpPr/>
          <p:nvPr/>
        </p:nvCxnSpPr>
        <p:spPr>
          <a:xfrm>
            <a:off x="3965575" y="3876675"/>
            <a:ext cx="0" cy="1597025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9" name="直接连接符 21"/>
          <p:cNvCxnSpPr/>
          <p:nvPr/>
        </p:nvCxnSpPr>
        <p:spPr>
          <a:xfrm>
            <a:off x="7781925" y="3824288"/>
            <a:ext cx="0" cy="1598612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0" name="直接连接符 22"/>
          <p:cNvCxnSpPr/>
          <p:nvPr/>
        </p:nvCxnSpPr>
        <p:spPr>
          <a:xfrm>
            <a:off x="7781925" y="1916113"/>
            <a:ext cx="0" cy="1598612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1" name="直接连接符 23"/>
          <p:cNvCxnSpPr/>
          <p:nvPr/>
        </p:nvCxnSpPr>
        <p:spPr>
          <a:xfrm>
            <a:off x="7832725" y="3670300"/>
            <a:ext cx="3763963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2" name="直接连接符 24"/>
          <p:cNvCxnSpPr/>
          <p:nvPr/>
        </p:nvCxnSpPr>
        <p:spPr>
          <a:xfrm flipH="1">
            <a:off x="201613" y="3670300"/>
            <a:ext cx="3660775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矩形 27"/>
          <p:cNvSpPr/>
          <p:nvPr/>
        </p:nvSpPr>
        <p:spPr>
          <a:xfrm>
            <a:off x="337185" y="1874520"/>
            <a:ext cx="3529965" cy="16402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Before Spring Boot, developers had to write a lot of configuration code. You needed to set up web servers, dependencies, databases, and security manually.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7185" y="3856990"/>
            <a:ext cx="3347720" cy="16224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Without Spring Boot: you write 50 lines just to connect to a database.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951470" y="1871345"/>
            <a:ext cx="3661410" cy="15659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Spring Boot removes all of that it gives you a ready-made structure.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951470" y="3903345"/>
            <a:ext cx="3645535" cy="1511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With Spring Boot: it connects automatically using one line in a </a:t>
            </a:r>
            <a:r>
              <a:rPr kumimoji="0" lang="en-US" altLang="en-US" sz="200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application.properties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 file.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7185" y="6122670"/>
            <a:ext cx="11411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It’s especially helpful for students and professionals who want to build something that just works — fast.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任意多边形 10"/>
          <p:cNvSpPr/>
          <p:nvPr/>
        </p:nvSpPr>
        <p:spPr>
          <a:xfrm rot="5588898">
            <a:off x="3994150" y="4538663"/>
            <a:ext cx="269875" cy="409575"/>
          </a:xfrm>
          <a:custGeom>
            <a:avLst/>
            <a:gdLst>
              <a:gd name="connsiteX0" fmla="*/ 0 w 269920"/>
              <a:gd name="connsiteY0" fmla="*/ 409575 h 409575"/>
              <a:gd name="connsiteX1" fmla="*/ 0 w 269920"/>
              <a:gd name="connsiteY1" fmla="*/ 0 h 409575"/>
              <a:gd name="connsiteX2" fmla="*/ 261445 w 269920"/>
              <a:gd name="connsiteY2" fmla="*/ 255503 h 409575"/>
              <a:gd name="connsiteX3" fmla="*/ 269920 w 269920"/>
              <a:gd name="connsiteY3" fmla="*/ 40957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20" h="409575">
                <a:moveTo>
                  <a:pt x="0" y="409575"/>
                </a:moveTo>
                <a:lnTo>
                  <a:pt x="0" y="0"/>
                </a:lnTo>
                <a:lnTo>
                  <a:pt x="261445" y="255503"/>
                </a:lnTo>
                <a:lnTo>
                  <a:pt x="269920" y="40957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3133725" y="1495425"/>
            <a:ext cx="419100" cy="409575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905000"/>
            <a:ext cx="12192000" cy="2714625"/>
          </a:xfrm>
          <a:prstGeom prst="rect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0125" y="1485900"/>
            <a:ext cx="3076575" cy="3381375"/>
          </a:xfrm>
          <a:custGeom>
            <a:avLst/>
            <a:gdLst>
              <a:gd name="connsiteX0" fmla="*/ 0 w 3076575"/>
              <a:gd name="connsiteY0" fmla="*/ 0 h 3381375"/>
              <a:gd name="connsiteX1" fmla="*/ 3076575 w 3076575"/>
              <a:gd name="connsiteY1" fmla="*/ 0 h 3381375"/>
              <a:gd name="connsiteX2" fmla="*/ 3076575 w 3076575"/>
              <a:gd name="connsiteY2" fmla="*/ 3381375 h 3381375"/>
              <a:gd name="connsiteX3" fmla="*/ 0 w 3076575"/>
              <a:gd name="connsiteY3" fmla="*/ 3381375 h 3381375"/>
              <a:gd name="connsiteX4" fmla="*/ 0 w 3076575"/>
              <a:gd name="connsiteY4" fmla="*/ 0 h 3381375"/>
              <a:gd name="connsiteX0-1" fmla="*/ 0 w 3076575"/>
              <a:gd name="connsiteY0-2" fmla="*/ 0 h 3381375"/>
              <a:gd name="connsiteX1-3" fmla="*/ 2143125 w 3076575"/>
              <a:gd name="connsiteY1-4" fmla="*/ 9525 h 3381375"/>
              <a:gd name="connsiteX2-5" fmla="*/ 3076575 w 3076575"/>
              <a:gd name="connsiteY2-6" fmla="*/ 3381375 h 3381375"/>
              <a:gd name="connsiteX3-7" fmla="*/ 0 w 3076575"/>
              <a:gd name="connsiteY3-8" fmla="*/ 3381375 h 3381375"/>
              <a:gd name="connsiteX4-9" fmla="*/ 0 w 3076575"/>
              <a:gd name="connsiteY4-10" fmla="*/ 0 h 33813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76575" h="3381375">
                <a:moveTo>
                  <a:pt x="0" y="0"/>
                </a:moveTo>
                <a:lnTo>
                  <a:pt x="2143125" y="9525"/>
                </a:lnTo>
                <a:lnTo>
                  <a:pt x="3076575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solidFill>
            <a:srgbClr val="353F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66875" y="2554515"/>
            <a:ext cx="1181097" cy="1415585"/>
            <a:chOff x="838201" y="5629276"/>
            <a:chExt cx="215900" cy="258763"/>
          </a:xfrm>
          <a:solidFill>
            <a:schemeClr val="bg1"/>
          </a:solidFill>
        </p:grpSpPr>
        <p:sp>
          <p:nvSpPr>
            <p:cNvPr id="13" name="Freeform 381"/>
            <p:cNvSpPr>
              <a:spLocks noEditPoints="1"/>
            </p:cNvSpPr>
            <p:nvPr/>
          </p:nvSpPr>
          <p:spPr bwMode="auto">
            <a:xfrm>
              <a:off x="838201" y="5629276"/>
              <a:ext cx="215900" cy="258763"/>
            </a:xfrm>
            <a:custGeom>
              <a:avLst/>
              <a:gdLst>
                <a:gd name="T0" fmla="*/ 241 w 241"/>
                <a:gd name="T1" fmla="*/ 30 h 288"/>
                <a:gd name="T2" fmla="*/ 129 w 241"/>
                <a:gd name="T3" fmla="*/ 30 h 288"/>
                <a:gd name="T4" fmla="*/ 129 w 241"/>
                <a:gd name="T5" fmla="*/ 10 h 288"/>
                <a:gd name="T6" fmla="*/ 119 w 241"/>
                <a:gd name="T7" fmla="*/ 0 h 288"/>
                <a:gd name="T8" fmla="*/ 109 w 241"/>
                <a:gd name="T9" fmla="*/ 10 h 288"/>
                <a:gd name="T10" fmla="*/ 109 w 241"/>
                <a:gd name="T11" fmla="*/ 30 h 288"/>
                <a:gd name="T12" fmla="*/ 0 w 241"/>
                <a:gd name="T13" fmla="*/ 30 h 288"/>
                <a:gd name="T14" fmla="*/ 0 w 241"/>
                <a:gd name="T15" fmla="*/ 196 h 288"/>
                <a:gd name="T16" fmla="*/ 75 w 241"/>
                <a:gd name="T17" fmla="*/ 196 h 288"/>
                <a:gd name="T18" fmla="*/ 45 w 241"/>
                <a:gd name="T19" fmla="*/ 272 h 288"/>
                <a:gd name="T20" fmla="*/ 52 w 241"/>
                <a:gd name="T21" fmla="*/ 288 h 288"/>
                <a:gd name="T22" fmla="*/ 56 w 241"/>
                <a:gd name="T23" fmla="*/ 288 h 288"/>
                <a:gd name="T24" fmla="*/ 67 w 241"/>
                <a:gd name="T25" fmla="*/ 281 h 288"/>
                <a:gd name="T26" fmla="*/ 100 w 241"/>
                <a:gd name="T27" fmla="*/ 196 h 288"/>
                <a:gd name="T28" fmla="*/ 138 w 241"/>
                <a:gd name="T29" fmla="*/ 196 h 288"/>
                <a:gd name="T30" fmla="*/ 171 w 241"/>
                <a:gd name="T31" fmla="*/ 281 h 288"/>
                <a:gd name="T32" fmla="*/ 182 w 241"/>
                <a:gd name="T33" fmla="*/ 288 h 288"/>
                <a:gd name="T34" fmla="*/ 186 w 241"/>
                <a:gd name="T35" fmla="*/ 288 h 288"/>
                <a:gd name="T36" fmla="*/ 193 w 241"/>
                <a:gd name="T37" fmla="*/ 272 h 288"/>
                <a:gd name="T38" fmla="*/ 164 w 241"/>
                <a:gd name="T39" fmla="*/ 196 h 288"/>
                <a:gd name="T40" fmla="*/ 241 w 241"/>
                <a:gd name="T41" fmla="*/ 196 h 288"/>
                <a:gd name="T42" fmla="*/ 241 w 241"/>
                <a:gd name="T43" fmla="*/ 30 h 288"/>
                <a:gd name="T44" fmla="*/ 218 w 241"/>
                <a:gd name="T45" fmla="*/ 172 h 288"/>
                <a:gd name="T46" fmla="*/ 23 w 241"/>
                <a:gd name="T47" fmla="*/ 172 h 288"/>
                <a:gd name="T48" fmla="*/ 23 w 241"/>
                <a:gd name="T49" fmla="*/ 53 h 288"/>
                <a:gd name="T50" fmla="*/ 218 w 241"/>
                <a:gd name="T51" fmla="*/ 53 h 288"/>
                <a:gd name="T52" fmla="*/ 218 w 241"/>
                <a:gd name="T53" fmla="*/ 17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1" h="288">
                  <a:moveTo>
                    <a:pt x="241" y="30"/>
                  </a:moveTo>
                  <a:cubicBezTo>
                    <a:pt x="129" y="30"/>
                    <a:pt x="129" y="30"/>
                    <a:pt x="129" y="30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9" y="5"/>
                    <a:pt x="125" y="0"/>
                    <a:pt x="119" y="0"/>
                  </a:cubicBezTo>
                  <a:cubicBezTo>
                    <a:pt x="114" y="0"/>
                    <a:pt x="109" y="5"/>
                    <a:pt x="109" y="10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75" y="196"/>
                    <a:pt x="75" y="196"/>
                    <a:pt x="75" y="196"/>
                  </a:cubicBezTo>
                  <a:cubicBezTo>
                    <a:pt x="45" y="272"/>
                    <a:pt x="45" y="272"/>
                    <a:pt x="45" y="272"/>
                  </a:cubicBezTo>
                  <a:cubicBezTo>
                    <a:pt x="43" y="278"/>
                    <a:pt x="46" y="285"/>
                    <a:pt x="52" y="288"/>
                  </a:cubicBezTo>
                  <a:cubicBezTo>
                    <a:pt x="53" y="288"/>
                    <a:pt x="55" y="288"/>
                    <a:pt x="56" y="288"/>
                  </a:cubicBezTo>
                  <a:cubicBezTo>
                    <a:pt x="61" y="288"/>
                    <a:pt x="65" y="286"/>
                    <a:pt x="67" y="281"/>
                  </a:cubicBezTo>
                  <a:cubicBezTo>
                    <a:pt x="100" y="196"/>
                    <a:pt x="100" y="196"/>
                    <a:pt x="100" y="196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71" y="281"/>
                    <a:pt x="171" y="281"/>
                    <a:pt x="171" y="281"/>
                  </a:cubicBezTo>
                  <a:cubicBezTo>
                    <a:pt x="173" y="286"/>
                    <a:pt x="177" y="288"/>
                    <a:pt x="182" y="288"/>
                  </a:cubicBezTo>
                  <a:cubicBezTo>
                    <a:pt x="184" y="288"/>
                    <a:pt x="185" y="288"/>
                    <a:pt x="186" y="288"/>
                  </a:cubicBezTo>
                  <a:cubicBezTo>
                    <a:pt x="193" y="285"/>
                    <a:pt x="196" y="278"/>
                    <a:pt x="193" y="272"/>
                  </a:cubicBezTo>
                  <a:cubicBezTo>
                    <a:pt x="164" y="196"/>
                    <a:pt x="164" y="196"/>
                    <a:pt x="164" y="196"/>
                  </a:cubicBezTo>
                  <a:cubicBezTo>
                    <a:pt x="241" y="196"/>
                    <a:pt x="241" y="196"/>
                    <a:pt x="241" y="196"/>
                  </a:cubicBezTo>
                  <a:lnTo>
                    <a:pt x="241" y="30"/>
                  </a:lnTo>
                  <a:close/>
                  <a:moveTo>
                    <a:pt x="218" y="172"/>
                  </a:moveTo>
                  <a:cubicBezTo>
                    <a:pt x="23" y="172"/>
                    <a:pt x="23" y="172"/>
                    <a:pt x="23" y="172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8" y="53"/>
                    <a:pt x="218" y="53"/>
                    <a:pt x="218" y="53"/>
                  </a:cubicBezTo>
                  <a:lnTo>
                    <a:pt x="218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382"/>
            <p:cNvSpPr/>
            <p:nvPr/>
          </p:nvSpPr>
          <p:spPr bwMode="auto">
            <a:xfrm>
              <a:off x="873126" y="5694364"/>
              <a:ext cx="142875" cy="74613"/>
            </a:xfrm>
            <a:custGeom>
              <a:avLst/>
              <a:gdLst>
                <a:gd name="T0" fmla="*/ 5 w 90"/>
                <a:gd name="T1" fmla="*/ 47 h 47"/>
                <a:gd name="T2" fmla="*/ 36 w 90"/>
                <a:gd name="T3" fmla="*/ 26 h 47"/>
                <a:gd name="T4" fmla="*/ 43 w 90"/>
                <a:gd name="T5" fmla="*/ 37 h 47"/>
                <a:gd name="T6" fmla="*/ 76 w 90"/>
                <a:gd name="T7" fmla="*/ 15 h 47"/>
                <a:gd name="T8" fmla="*/ 81 w 90"/>
                <a:gd name="T9" fmla="*/ 21 h 47"/>
                <a:gd name="T10" fmla="*/ 90 w 90"/>
                <a:gd name="T11" fmla="*/ 0 h 47"/>
                <a:gd name="T12" fmla="*/ 67 w 90"/>
                <a:gd name="T13" fmla="*/ 1 h 47"/>
                <a:gd name="T14" fmla="*/ 72 w 90"/>
                <a:gd name="T15" fmla="*/ 7 h 47"/>
                <a:gd name="T16" fmla="*/ 46 w 90"/>
                <a:gd name="T17" fmla="*/ 25 h 47"/>
                <a:gd name="T18" fmla="*/ 38 w 90"/>
                <a:gd name="T19" fmla="*/ 14 h 47"/>
                <a:gd name="T20" fmla="*/ 0 w 90"/>
                <a:gd name="T21" fmla="*/ 39 h 47"/>
                <a:gd name="T22" fmla="*/ 5 w 90"/>
                <a:gd name="T23" fmla="*/ 47 h 47"/>
                <a:gd name="T24" fmla="*/ 5 w 90"/>
                <a:gd name="T2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47">
                  <a:moveTo>
                    <a:pt x="5" y="47"/>
                  </a:moveTo>
                  <a:lnTo>
                    <a:pt x="36" y="26"/>
                  </a:lnTo>
                  <a:lnTo>
                    <a:pt x="43" y="37"/>
                  </a:lnTo>
                  <a:lnTo>
                    <a:pt x="76" y="15"/>
                  </a:lnTo>
                  <a:lnTo>
                    <a:pt x="81" y="21"/>
                  </a:lnTo>
                  <a:lnTo>
                    <a:pt x="90" y="0"/>
                  </a:lnTo>
                  <a:lnTo>
                    <a:pt x="67" y="1"/>
                  </a:lnTo>
                  <a:lnTo>
                    <a:pt x="72" y="7"/>
                  </a:lnTo>
                  <a:lnTo>
                    <a:pt x="46" y="25"/>
                  </a:lnTo>
                  <a:lnTo>
                    <a:pt x="38" y="14"/>
                  </a:lnTo>
                  <a:lnTo>
                    <a:pt x="0" y="39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271" name="文本框 128"/>
          <p:cNvSpPr txBox="1"/>
          <p:nvPr/>
        </p:nvSpPr>
        <p:spPr>
          <a:xfrm>
            <a:off x="4572000" y="2554605"/>
            <a:ext cx="6255385" cy="14154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r>
              <a:rPr lang="en-US" altLang="en-US" sz="4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Key Features</a:t>
            </a:r>
            <a:endParaRPr lang="en-US" altLang="en-US" sz="4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49" name="Picture 48" descr="Screenshot 2025-10-15 at 5.22.1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787265"/>
            <a:ext cx="3915410" cy="1983740"/>
          </a:xfrm>
          <a:prstGeom prst="rect">
            <a:avLst/>
          </a:prstGeom>
        </p:spPr>
      </p:pic>
      <p:pic>
        <p:nvPicPr>
          <p:cNvPr id="4" name="Picture 3" descr="Screenshot 2025-10-15 at 5.40.38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280920"/>
            <a:ext cx="1847850" cy="1962785"/>
          </a:xfrm>
          <a:prstGeom prst="rect">
            <a:avLst/>
          </a:prstGeom>
        </p:spPr>
      </p:pic>
      <p:pic>
        <p:nvPicPr>
          <p:cNvPr id="5" name="Picture 4" descr="Screenshot 2025-10-15 at 5.24.56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050" y="2182495"/>
            <a:ext cx="2980690" cy="2159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六边形 7"/>
          <p:cNvSpPr/>
          <p:nvPr/>
        </p:nvSpPr>
        <p:spPr>
          <a:xfrm rot="5400000">
            <a:off x="4361656" y="4879499"/>
            <a:ext cx="1787525" cy="1541463"/>
          </a:xfrm>
          <a:prstGeom prst="hexagon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任意多边形 8"/>
          <p:cNvSpPr/>
          <p:nvPr/>
        </p:nvSpPr>
        <p:spPr>
          <a:xfrm rot="5400000">
            <a:off x="3717131" y="-392906"/>
            <a:ext cx="2360613" cy="3146425"/>
          </a:xfrm>
          <a:custGeom>
            <a:avLst/>
            <a:gdLst>
              <a:gd name="connsiteX0" fmla="*/ 0 w 2361069"/>
              <a:gd name="connsiteY0" fmla="*/ 3147643 h 3147643"/>
              <a:gd name="connsiteX1" fmla="*/ 0 w 2361069"/>
              <a:gd name="connsiteY1" fmla="*/ 0 h 3147643"/>
              <a:gd name="connsiteX2" fmla="*/ 1574158 w 2361069"/>
              <a:gd name="connsiteY2" fmla="*/ 0 h 3147643"/>
              <a:gd name="connsiteX3" fmla="*/ 2361069 w 2361069"/>
              <a:gd name="connsiteY3" fmla="*/ 1573822 h 3147643"/>
              <a:gd name="connsiteX4" fmla="*/ 1574158 w 2361069"/>
              <a:gd name="connsiteY4" fmla="*/ 3147643 h 314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1069" h="3147643">
                <a:moveTo>
                  <a:pt x="0" y="3147643"/>
                </a:moveTo>
                <a:lnTo>
                  <a:pt x="0" y="0"/>
                </a:lnTo>
                <a:lnTo>
                  <a:pt x="1574158" y="0"/>
                </a:lnTo>
                <a:lnTo>
                  <a:pt x="2361069" y="1573822"/>
                </a:lnTo>
                <a:lnTo>
                  <a:pt x="1574158" y="3147643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六边形 9"/>
          <p:cNvSpPr/>
          <p:nvPr/>
        </p:nvSpPr>
        <p:spPr>
          <a:xfrm rot="5400000">
            <a:off x="1199356" y="1370806"/>
            <a:ext cx="1100138" cy="949325"/>
          </a:xfrm>
          <a:prstGeom prst="hexagon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5400000">
            <a:off x="-575469" y="3912394"/>
            <a:ext cx="1909763" cy="758825"/>
          </a:xfrm>
          <a:custGeom>
            <a:avLst/>
            <a:gdLst>
              <a:gd name="connsiteX0" fmla="*/ 0 w 1909197"/>
              <a:gd name="connsiteY0" fmla="*/ 758978 h 758978"/>
              <a:gd name="connsiteX1" fmla="*/ 379489 w 1909197"/>
              <a:gd name="connsiteY1" fmla="*/ 0 h 758978"/>
              <a:gd name="connsiteX2" fmla="*/ 1529708 w 1909197"/>
              <a:gd name="connsiteY2" fmla="*/ 0 h 758978"/>
              <a:gd name="connsiteX3" fmla="*/ 1909197 w 1909197"/>
              <a:gd name="connsiteY3" fmla="*/ 758978 h 75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197" h="758978">
                <a:moveTo>
                  <a:pt x="0" y="758978"/>
                </a:moveTo>
                <a:lnTo>
                  <a:pt x="379489" y="0"/>
                </a:lnTo>
                <a:lnTo>
                  <a:pt x="1529708" y="0"/>
                </a:lnTo>
                <a:lnTo>
                  <a:pt x="1909197" y="758978"/>
                </a:lnTo>
                <a:close/>
              </a:path>
            </a:pathLst>
          </a:cu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 11"/>
          <p:cNvSpPr/>
          <p:nvPr/>
        </p:nvSpPr>
        <p:spPr>
          <a:xfrm rot="5400000">
            <a:off x="-330200" y="3446463"/>
            <a:ext cx="790575" cy="130175"/>
          </a:xfrm>
          <a:custGeom>
            <a:avLst/>
            <a:gdLst>
              <a:gd name="connsiteX0" fmla="*/ 0 w 790155"/>
              <a:gd name="connsiteY0" fmla="*/ 130000 h 130000"/>
              <a:gd name="connsiteX1" fmla="*/ 65000 w 790155"/>
              <a:gd name="connsiteY1" fmla="*/ 0 h 130000"/>
              <a:gd name="connsiteX2" fmla="*/ 725155 w 790155"/>
              <a:gd name="connsiteY2" fmla="*/ 0 h 130000"/>
              <a:gd name="connsiteX3" fmla="*/ 790155 w 790155"/>
              <a:gd name="connsiteY3" fmla="*/ 130000 h 13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0155" h="130000">
                <a:moveTo>
                  <a:pt x="0" y="130000"/>
                </a:moveTo>
                <a:lnTo>
                  <a:pt x="65000" y="0"/>
                </a:lnTo>
                <a:lnTo>
                  <a:pt x="725155" y="0"/>
                </a:lnTo>
                <a:lnTo>
                  <a:pt x="790155" y="1300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六边形 12"/>
          <p:cNvSpPr/>
          <p:nvPr/>
        </p:nvSpPr>
        <p:spPr>
          <a:xfrm rot="5400000">
            <a:off x="4914900" y="2239963"/>
            <a:ext cx="1116013" cy="963613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六边形 14"/>
          <p:cNvSpPr/>
          <p:nvPr/>
        </p:nvSpPr>
        <p:spPr>
          <a:xfrm rot="5400000">
            <a:off x="5451475" y="3278188"/>
            <a:ext cx="539750" cy="466725"/>
          </a:xfrm>
          <a:prstGeom prst="hexagon">
            <a:avLst/>
          </a:prstGeom>
          <a:solidFill>
            <a:schemeClr val="bg1">
              <a:lumMod val="65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六边形 15"/>
          <p:cNvSpPr/>
          <p:nvPr/>
        </p:nvSpPr>
        <p:spPr>
          <a:xfrm rot="5400000">
            <a:off x="6077744" y="3258344"/>
            <a:ext cx="269875" cy="233363"/>
          </a:xfrm>
          <a:prstGeom prst="hexagon">
            <a:avLst/>
          </a:prstGeom>
          <a:solidFill>
            <a:srgbClr val="F8941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8" name="矩形 16"/>
          <p:cNvSpPr/>
          <p:nvPr/>
        </p:nvSpPr>
        <p:spPr>
          <a:xfrm>
            <a:off x="6645275" y="788670"/>
            <a:ext cx="5203825" cy="57556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1. Auto-configuration: Automatically sets up things for you.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2. Embedded servers: You don’t need to install Tomcat or Jetty separately.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3. Standalone applications: Run your app with one command: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4. Spring Boot Starter dependencies: Pre-packaged sets of dependencies.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Example: spring-boot-starter-web = everything you need for a web app.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/>
            <a:r>
              <a:rPr lang="en-US" altLang="en-US" sz="1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5.Actuator: Monitors and manages your app (health, performance, etc.).</a:t>
            </a:r>
            <a:endParaRPr lang="en-US" altLang="en-US" sz="16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45275" y="339090"/>
            <a:ext cx="33909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Microsoft YaHei" pitchFamily="34" charset="-122"/>
                <a:ea typeface="Microsoft YaHei" pitchFamily="34" charset="-122"/>
                <a:cs typeface="+mn-cs"/>
                <a:sym typeface="+mn-ea"/>
              </a:rPr>
              <a:t>Embedded Servers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Microsoft YaHei" pitchFamily="34" charset="-122"/>
              <a:ea typeface="Microsoft YaHei" pitchFamily="34" charset="-122"/>
              <a:cs typeface="+mn-cs"/>
              <a:sym typeface="+mn-ea"/>
            </a:endParaRPr>
          </a:p>
        </p:txBody>
      </p:sp>
      <p:pic>
        <p:nvPicPr>
          <p:cNvPr id="3" name="Picture 2" descr="Screenshot 2025-10-15 at 5.37.51 PM"/>
          <p:cNvPicPr>
            <a:picLocks noChangeAspect="1"/>
          </p:cNvPicPr>
          <p:nvPr/>
        </p:nvPicPr>
        <p:blipFill>
          <a:blip r:embed="rId1"/>
          <a:srcRect b="21120"/>
          <a:stretch>
            <a:fillRect/>
          </a:stretch>
        </p:blipFill>
        <p:spPr>
          <a:xfrm>
            <a:off x="7038340" y="2885440"/>
            <a:ext cx="2336800" cy="1252220"/>
          </a:xfrm>
          <a:prstGeom prst="rect">
            <a:avLst/>
          </a:prstGeom>
        </p:spPr>
      </p:pic>
      <p:pic>
        <p:nvPicPr>
          <p:cNvPr id="4" name="Picture 3" descr="Screenshot 2025-10-15 at 5.42.38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2589530"/>
            <a:ext cx="3048000" cy="2463800"/>
          </a:xfrm>
          <a:prstGeom prst="rect">
            <a:avLst/>
          </a:prstGeom>
        </p:spPr>
      </p:pic>
      <p:pic>
        <p:nvPicPr>
          <p:cNvPr id="5" name="Picture 4" descr="Screenshot 2025-10-15 at 5.44.12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5247005"/>
            <a:ext cx="3302000" cy="838200"/>
          </a:xfrm>
          <a:prstGeom prst="rect">
            <a:avLst/>
          </a:prstGeom>
        </p:spPr>
      </p:pic>
      <p:pic>
        <p:nvPicPr>
          <p:cNvPr id="51" name="Picture 50" descr="Screenshot 2025-10-15 at 5.23.06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80" y="0"/>
            <a:ext cx="2054860" cy="1787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任意多边形 10"/>
          <p:cNvSpPr/>
          <p:nvPr/>
        </p:nvSpPr>
        <p:spPr>
          <a:xfrm rot="5588898">
            <a:off x="3994150" y="4538663"/>
            <a:ext cx="269875" cy="409575"/>
          </a:xfrm>
          <a:custGeom>
            <a:avLst/>
            <a:gdLst>
              <a:gd name="connsiteX0" fmla="*/ 0 w 269920"/>
              <a:gd name="connsiteY0" fmla="*/ 409575 h 409575"/>
              <a:gd name="connsiteX1" fmla="*/ 0 w 269920"/>
              <a:gd name="connsiteY1" fmla="*/ 0 h 409575"/>
              <a:gd name="connsiteX2" fmla="*/ 261445 w 269920"/>
              <a:gd name="connsiteY2" fmla="*/ 255503 h 409575"/>
              <a:gd name="connsiteX3" fmla="*/ 269920 w 269920"/>
              <a:gd name="connsiteY3" fmla="*/ 40957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20" h="409575">
                <a:moveTo>
                  <a:pt x="0" y="409575"/>
                </a:moveTo>
                <a:lnTo>
                  <a:pt x="0" y="0"/>
                </a:lnTo>
                <a:lnTo>
                  <a:pt x="261445" y="255503"/>
                </a:lnTo>
                <a:lnTo>
                  <a:pt x="269920" y="40957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3133725" y="1495425"/>
            <a:ext cx="419100" cy="409575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905000"/>
            <a:ext cx="12192000" cy="2714625"/>
          </a:xfrm>
          <a:prstGeom prst="rect">
            <a:avLst/>
          </a:prstGeom>
          <a:solidFill>
            <a:srgbClr val="F8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0125" y="1485900"/>
            <a:ext cx="3076575" cy="3381375"/>
          </a:xfrm>
          <a:custGeom>
            <a:avLst/>
            <a:gdLst>
              <a:gd name="connsiteX0" fmla="*/ 0 w 3076575"/>
              <a:gd name="connsiteY0" fmla="*/ 0 h 3381375"/>
              <a:gd name="connsiteX1" fmla="*/ 3076575 w 3076575"/>
              <a:gd name="connsiteY1" fmla="*/ 0 h 3381375"/>
              <a:gd name="connsiteX2" fmla="*/ 3076575 w 3076575"/>
              <a:gd name="connsiteY2" fmla="*/ 3381375 h 3381375"/>
              <a:gd name="connsiteX3" fmla="*/ 0 w 3076575"/>
              <a:gd name="connsiteY3" fmla="*/ 3381375 h 3381375"/>
              <a:gd name="connsiteX4" fmla="*/ 0 w 3076575"/>
              <a:gd name="connsiteY4" fmla="*/ 0 h 3381375"/>
              <a:gd name="connsiteX0-1" fmla="*/ 0 w 3076575"/>
              <a:gd name="connsiteY0-2" fmla="*/ 0 h 3381375"/>
              <a:gd name="connsiteX1-3" fmla="*/ 2143125 w 3076575"/>
              <a:gd name="connsiteY1-4" fmla="*/ 9525 h 3381375"/>
              <a:gd name="connsiteX2-5" fmla="*/ 3076575 w 3076575"/>
              <a:gd name="connsiteY2-6" fmla="*/ 3381375 h 3381375"/>
              <a:gd name="connsiteX3-7" fmla="*/ 0 w 3076575"/>
              <a:gd name="connsiteY3-8" fmla="*/ 3381375 h 3381375"/>
              <a:gd name="connsiteX4-9" fmla="*/ 0 w 3076575"/>
              <a:gd name="connsiteY4-10" fmla="*/ 0 h 33813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76575" h="3381375">
                <a:moveTo>
                  <a:pt x="0" y="0"/>
                </a:moveTo>
                <a:lnTo>
                  <a:pt x="2143125" y="9525"/>
                </a:lnTo>
                <a:lnTo>
                  <a:pt x="3076575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solidFill>
            <a:srgbClr val="353F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38851" y="2566191"/>
            <a:ext cx="1144050" cy="1220780"/>
            <a:chOff x="9909176" y="2032000"/>
            <a:chExt cx="260350" cy="277813"/>
          </a:xfrm>
          <a:solidFill>
            <a:schemeClr val="bg1"/>
          </a:solidFill>
        </p:grpSpPr>
        <p:sp>
          <p:nvSpPr>
            <p:cNvPr id="13" name="Freeform 472"/>
            <p:cNvSpPr/>
            <p:nvPr/>
          </p:nvSpPr>
          <p:spPr bwMode="auto">
            <a:xfrm>
              <a:off x="9909176" y="2192338"/>
              <a:ext cx="260350" cy="117475"/>
            </a:xfrm>
            <a:custGeom>
              <a:avLst/>
              <a:gdLst>
                <a:gd name="T0" fmla="*/ 263 w 271"/>
                <a:gd name="T1" fmla="*/ 34 h 122"/>
                <a:gd name="T2" fmla="*/ 213 w 271"/>
                <a:gd name="T3" fmla="*/ 6 h 122"/>
                <a:gd name="T4" fmla="*/ 191 w 271"/>
                <a:gd name="T5" fmla="*/ 1 h 122"/>
                <a:gd name="T6" fmla="*/ 183 w 271"/>
                <a:gd name="T7" fmla="*/ 19 h 122"/>
                <a:gd name="T8" fmla="*/ 205 w 271"/>
                <a:gd name="T9" fmla="*/ 27 h 122"/>
                <a:gd name="T10" fmla="*/ 224 w 271"/>
                <a:gd name="T11" fmla="*/ 41 h 122"/>
                <a:gd name="T12" fmla="*/ 228 w 271"/>
                <a:gd name="T13" fmla="*/ 51 h 122"/>
                <a:gd name="T14" fmla="*/ 219 w 271"/>
                <a:gd name="T15" fmla="*/ 60 h 122"/>
                <a:gd name="T16" fmla="*/ 162 w 271"/>
                <a:gd name="T17" fmla="*/ 78 h 122"/>
                <a:gd name="T18" fmla="*/ 98 w 271"/>
                <a:gd name="T19" fmla="*/ 76 h 122"/>
                <a:gd name="T20" fmla="*/ 68 w 271"/>
                <a:gd name="T21" fmla="*/ 68 h 122"/>
                <a:gd name="T22" fmla="*/ 45 w 271"/>
                <a:gd name="T23" fmla="*/ 53 h 122"/>
                <a:gd name="T24" fmla="*/ 42 w 271"/>
                <a:gd name="T25" fmla="*/ 47 h 122"/>
                <a:gd name="T26" fmla="*/ 43 w 271"/>
                <a:gd name="T27" fmla="*/ 43 h 122"/>
                <a:gd name="T28" fmla="*/ 52 w 271"/>
                <a:gd name="T29" fmla="*/ 34 h 122"/>
                <a:gd name="T30" fmla="*/ 87 w 271"/>
                <a:gd name="T31" fmla="*/ 19 h 122"/>
                <a:gd name="T32" fmla="*/ 79 w 271"/>
                <a:gd name="T33" fmla="*/ 0 h 122"/>
                <a:gd name="T34" fmla="*/ 21 w 271"/>
                <a:gd name="T35" fmla="*/ 20 h 122"/>
                <a:gd name="T36" fmla="*/ 2 w 271"/>
                <a:gd name="T37" fmla="*/ 40 h 122"/>
                <a:gd name="T38" fmla="*/ 0 w 271"/>
                <a:gd name="T39" fmla="*/ 52 h 122"/>
                <a:gd name="T40" fmla="*/ 3 w 271"/>
                <a:gd name="T41" fmla="*/ 68 h 122"/>
                <a:gd name="T42" fmla="*/ 40 w 271"/>
                <a:gd name="T43" fmla="*/ 104 h 122"/>
                <a:gd name="T44" fmla="*/ 149 w 271"/>
                <a:gd name="T45" fmla="*/ 121 h 122"/>
                <a:gd name="T46" fmla="*/ 246 w 271"/>
                <a:gd name="T47" fmla="*/ 96 h 122"/>
                <a:gd name="T48" fmla="*/ 268 w 271"/>
                <a:gd name="T49" fmla="*/ 65 h 122"/>
                <a:gd name="T50" fmla="*/ 270 w 271"/>
                <a:gd name="T51" fmla="*/ 54 h 122"/>
                <a:gd name="T52" fmla="*/ 263 w 271"/>
                <a:gd name="T53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1" h="122">
                  <a:moveTo>
                    <a:pt x="263" y="34"/>
                  </a:moveTo>
                  <a:cubicBezTo>
                    <a:pt x="251" y="19"/>
                    <a:pt x="231" y="11"/>
                    <a:pt x="213" y="6"/>
                  </a:cubicBezTo>
                  <a:cubicBezTo>
                    <a:pt x="206" y="4"/>
                    <a:pt x="198" y="2"/>
                    <a:pt x="191" y="1"/>
                  </a:cubicBezTo>
                  <a:cubicBezTo>
                    <a:pt x="188" y="7"/>
                    <a:pt x="185" y="13"/>
                    <a:pt x="183" y="19"/>
                  </a:cubicBezTo>
                  <a:cubicBezTo>
                    <a:pt x="190" y="21"/>
                    <a:pt x="198" y="23"/>
                    <a:pt x="205" y="27"/>
                  </a:cubicBezTo>
                  <a:cubicBezTo>
                    <a:pt x="212" y="30"/>
                    <a:pt x="219" y="35"/>
                    <a:pt x="224" y="41"/>
                  </a:cubicBezTo>
                  <a:cubicBezTo>
                    <a:pt x="226" y="43"/>
                    <a:pt x="230" y="48"/>
                    <a:pt x="228" y="51"/>
                  </a:cubicBezTo>
                  <a:cubicBezTo>
                    <a:pt x="226" y="55"/>
                    <a:pt x="222" y="58"/>
                    <a:pt x="219" y="60"/>
                  </a:cubicBezTo>
                  <a:cubicBezTo>
                    <a:pt x="203" y="72"/>
                    <a:pt x="181" y="76"/>
                    <a:pt x="162" y="78"/>
                  </a:cubicBezTo>
                  <a:cubicBezTo>
                    <a:pt x="141" y="81"/>
                    <a:pt x="119" y="80"/>
                    <a:pt x="98" y="76"/>
                  </a:cubicBezTo>
                  <a:cubicBezTo>
                    <a:pt x="88" y="75"/>
                    <a:pt x="77" y="72"/>
                    <a:pt x="68" y="68"/>
                  </a:cubicBezTo>
                  <a:cubicBezTo>
                    <a:pt x="59" y="65"/>
                    <a:pt x="50" y="60"/>
                    <a:pt x="45" y="53"/>
                  </a:cubicBezTo>
                  <a:cubicBezTo>
                    <a:pt x="43" y="51"/>
                    <a:pt x="41" y="49"/>
                    <a:pt x="42" y="47"/>
                  </a:cubicBezTo>
                  <a:cubicBezTo>
                    <a:pt x="42" y="45"/>
                    <a:pt x="42" y="44"/>
                    <a:pt x="43" y="43"/>
                  </a:cubicBezTo>
                  <a:cubicBezTo>
                    <a:pt x="45" y="39"/>
                    <a:pt x="48" y="36"/>
                    <a:pt x="52" y="34"/>
                  </a:cubicBezTo>
                  <a:cubicBezTo>
                    <a:pt x="62" y="26"/>
                    <a:pt x="74" y="21"/>
                    <a:pt x="87" y="19"/>
                  </a:cubicBezTo>
                  <a:cubicBezTo>
                    <a:pt x="84" y="13"/>
                    <a:pt x="82" y="7"/>
                    <a:pt x="79" y="0"/>
                  </a:cubicBezTo>
                  <a:cubicBezTo>
                    <a:pt x="59" y="4"/>
                    <a:pt x="39" y="9"/>
                    <a:pt x="21" y="20"/>
                  </a:cubicBezTo>
                  <a:cubicBezTo>
                    <a:pt x="14" y="25"/>
                    <a:pt x="6" y="31"/>
                    <a:pt x="2" y="40"/>
                  </a:cubicBezTo>
                  <a:cubicBezTo>
                    <a:pt x="0" y="44"/>
                    <a:pt x="0" y="48"/>
                    <a:pt x="0" y="52"/>
                  </a:cubicBezTo>
                  <a:cubicBezTo>
                    <a:pt x="1" y="58"/>
                    <a:pt x="1" y="63"/>
                    <a:pt x="3" y="68"/>
                  </a:cubicBezTo>
                  <a:cubicBezTo>
                    <a:pt x="8" y="84"/>
                    <a:pt x="26" y="97"/>
                    <a:pt x="40" y="104"/>
                  </a:cubicBezTo>
                  <a:cubicBezTo>
                    <a:pt x="74" y="118"/>
                    <a:pt x="113" y="122"/>
                    <a:pt x="149" y="121"/>
                  </a:cubicBezTo>
                  <a:cubicBezTo>
                    <a:pt x="182" y="119"/>
                    <a:pt x="218" y="114"/>
                    <a:pt x="246" y="96"/>
                  </a:cubicBezTo>
                  <a:cubicBezTo>
                    <a:pt x="256" y="90"/>
                    <a:pt x="266" y="77"/>
                    <a:pt x="268" y="65"/>
                  </a:cubicBezTo>
                  <a:cubicBezTo>
                    <a:pt x="269" y="61"/>
                    <a:pt x="269" y="58"/>
                    <a:pt x="270" y="54"/>
                  </a:cubicBezTo>
                  <a:cubicBezTo>
                    <a:pt x="271" y="47"/>
                    <a:pt x="268" y="40"/>
                    <a:pt x="263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473"/>
            <p:cNvSpPr/>
            <p:nvPr/>
          </p:nvSpPr>
          <p:spPr bwMode="auto">
            <a:xfrm>
              <a:off x="10156826" y="2219325"/>
              <a:ext cx="9525" cy="12700"/>
            </a:xfrm>
            <a:custGeom>
              <a:avLst/>
              <a:gdLst>
                <a:gd name="T0" fmla="*/ 5 w 11"/>
                <a:gd name="T1" fmla="*/ 6 h 13"/>
                <a:gd name="T2" fmla="*/ 5 w 11"/>
                <a:gd name="T3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" h="13">
                  <a:moveTo>
                    <a:pt x="5" y="6"/>
                  </a:moveTo>
                  <a:cubicBezTo>
                    <a:pt x="11" y="13"/>
                    <a:pt x="0" y="0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474"/>
            <p:cNvSpPr>
              <a:spLocks noEditPoints="1"/>
            </p:cNvSpPr>
            <p:nvPr/>
          </p:nvSpPr>
          <p:spPr bwMode="auto">
            <a:xfrm>
              <a:off x="9977438" y="2032000"/>
              <a:ext cx="122238" cy="220662"/>
            </a:xfrm>
            <a:custGeom>
              <a:avLst/>
              <a:gdLst>
                <a:gd name="T0" fmla="*/ 64 w 128"/>
                <a:gd name="T1" fmla="*/ 231 h 231"/>
                <a:gd name="T2" fmla="*/ 128 w 128"/>
                <a:gd name="T3" fmla="*/ 63 h 231"/>
                <a:gd name="T4" fmla="*/ 65 w 128"/>
                <a:gd name="T5" fmla="*/ 0 h 231"/>
                <a:gd name="T6" fmla="*/ 64 w 128"/>
                <a:gd name="T7" fmla="*/ 0 h 231"/>
                <a:gd name="T8" fmla="*/ 64 w 128"/>
                <a:gd name="T9" fmla="*/ 0 h 231"/>
                <a:gd name="T10" fmla="*/ 64 w 128"/>
                <a:gd name="T11" fmla="*/ 0 h 231"/>
                <a:gd name="T12" fmla="*/ 63 w 128"/>
                <a:gd name="T13" fmla="*/ 0 h 231"/>
                <a:gd name="T14" fmla="*/ 0 w 128"/>
                <a:gd name="T15" fmla="*/ 63 h 231"/>
                <a:gd name="T16" fmla="*/ 64 w 128"/>
                <a:gd name="T17" fmla="*/ 231 h 231"/>
                <a:gd name="T18" fmla="*/ 64 w 128"/>
                <a:gd name="T19" fmla="*/ 29 h 231"/>
                <a:gd name="T20" fmla="*/ 93 w 128"/>
                <a:gd name="T21" fmla="*/ 58 h 231"/>
                <a:gd name="T22" fmla="*/ 64 w 128"/>
                <a:gd name="T23" fmla="*/ 86 h 231"/>
                <a:gd name="T24" fmla="*/ 35 w 128"/>
                <a:gd name="T25" fmla="*/ 58 h 231"/>
                <a:gd name="T26" fmla="*/ 64 w 128"/>
                <a:gd name="T27" fmla="*/ 29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231">
                  <a:moveTo>
                    <a:pt x="64" y="231"/>
                  </a:moveTo>
                  <a:cubicBezTo>
                    <a:pt x="64" y="231"/>
                    <a:pt x="128" y="97"/>
                    <a:pt x="128" y="63"/>
                  </a:cubicBezTo>
                  <a:cubicBezTo>
                    <a:pt x="128" y="29"/>
                    <a:pt x="100" y="0"/>
                    <a:pt x="65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3" y="0"/>
                    <a:pt x="63" y="0"/>
                  </a:cubicBezTo>
                  <a:cubicBezTo>
                    <a:pt x="28" y="0"/>
                    <a:pt x="0" y="29"/>
                    <a:pt x="0" y="63"/>
                  </a:cubicBezTo>
                  <a:cubicBezTo>
                    <a:pt x="0" y="98"/>
                    <a:pt x="64" y="231"/>
                    <a:pt x="64" y="231"/>
                  </a:cubicBezTo>
                  <a:close/>
                  <a:moveTo>
                    <a:pt x="64" y="29"/>
                  </a:moveTo>
                  <a:cubicBezTo>
                    <a:pt x="80" y="29"/>
                    <a:pt x="93" y="42"/>
                    <a:pt x="93" y="58"/>
                  </a:cubicBezTo>
                  <a:cubicBezTo>
                    <a:pt x="93" y="74"/>
                    <a:pt x="80" y="86"/>
                    <a:pt x="64" y="86"/>
                  </a:cubicBezTo>
                  <a:cubicBezTo>
                    <a:pt x="48" y="86"/>
                    <a:pt x="35" y="74"/>
                    <a:pt x="35" y="58"/>
                  </a:cubicBezTo>
                  <a:cubicBezTo>
                    <a:pt x="35" y="42"/>
                    <a:pt x="48" y="29"/>
                    <a:pt x="6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391" name="文本框 128"/>
          <p:cNvSpPr txBox="1"/>
          <p:nvPr/>
        </p:nvSpPr>
        <p:spPr>
          <a:xfrm>
            <a:off x="5589588" y="2403475"/>
            <a:ext cx="4803775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4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Demo &amp; Conclusion</a:t>
            </a:r>
            <a:endParaRPr lang="en-US" altLang="zh-CN" sz="4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4142740" cy="1111885"/>
          </a:xfrm>
        </p:spPr>
        <p:txBody>
          <a:bodyPr/>
          <a:p>
            <a:pPr algn="l"/>
            <a:r>
              <a:rPr lang="en-US" altLang="en-US" sz="2000"/>
              <a:t>	This line defines where this class is stored, like an address for my code.</a:t>
            </a:r>
            <a:endParaRPr lang="en-US" altLang="en-US" sz="2000"/>
          </a:p>
        </p:txBody>
      </p:sp>
      <p:pic>
        <p:nvPicPr>
          <p:cNvPr id="4" name="Picture 3" descr="Screenshot 2025-10-16 at 5.23.5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740" y="365125"/>
            <a:ext cx="7852410" cy="606171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0" y="1477010"/>
            <a:ext cx="4142740" cy="11118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2000"/>
              <a:t>These are imports, they bring in tools from Spring Boot that we’ll use.</a:t>
            </a:r>
            <a:endParaRPr lang="en-US" altLang="en-US" sz="2000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791960" y="2391410"/>
            <a:ext cx="4552315" cy="8801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1800">
                <a:solidFill>
                  <a:schemeClr val="bg1"/>
                </a:solidFill>
              </a:rPr>
              <a:t>tells Java this is a Spring Boot app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5849620" y="2660015"/>
            <a:ext cx="4552315" cy="8801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1800">
                <a:solidFill>
                  <a:schemeClr val="bg1"/>
                </a:solidFill>
              </a:rPr>
              <a:t>allows us to handle web requests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6527165" y="4588510"/>
            <a:ext cx="4891405" cy="8801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r"/>
            <a:r>
              <a:rPr lang="en-US" altLang="en-US" sz="1800">
                <a:solidFill>
                  <a:schemeClr val="bg1"/>
                </a:solidFill>
              </a:rPr>
              <a:t>defines what happens when someone visits a URL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91440" y="2642235"/>
            <a:ext cx="4142740" cy="11118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2000"/>
              <a:t>This marks the starting point of our Spring Boot program and also tells it that this class will handle web requests.</a:t>
            </a:r>
            <a:endParaRPr lang="en-US" altLang="en-US" sz="2000"/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5080" y="3753485"/>
            <a:ext cx="4142740" cy="11118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2000"/>
              <a:t>With just one line, this starts a full web server, no setup needed.</a:t>
            </a:r>
            <a:endParaRPr lang="en-US" altLang="en-US" sz="2000"/>
          </a:p>
        </p:txBody>
      </p:sp>
      <p:sp>
        <p:nvSpPr>
          <p:cNvPr id="12" name="Title 1"/>
          <p:cNvSpPr>
            <a:spLocks noGrp="1"/>
          </p:cNvSpPr>
          <p:nvPr/>
        </p:nvSpPr>
        <p:spPr>
          <a:xfrm>
            <a:off x="0" y="4826635"/>
            <a:ext cx="4142740" cy="11118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itchFamily="2" charset="-122"/>
                <a:ea typeface="等线 Light" pitchFamily="2" charset="-122"/>
              </a:defRPr>
            </a:lvl9pPr>
          </a:lstStyle>
          <a:p>
            <a:pPr indent="457200" algn="l"/>
            <a:r>
              <a:rPr lang="en-US" altLang="en-US" sz="2000"/>
              <a:t>This is the controller part (Home Page)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09" name="组合 5"/>
          <p:cNvGrpSpPr/>
          <p:nvPr/>
        </p:nvGrpSpPr>
        <p:grpSpPr>
          <a:xfrm>
            <a:off x="247650" y="196850"/>
            <a:ext cx="417513" cy="355600"/>
            <a:chOff x="705193" y="4082415"/>
            <a:chExt cx="666407" cy="568960"/>
          </a:xfrm>
        </p:grpSpPr>
        <p:sp>
          <p:nvSpPr>
            <p:cNvPr id="4" name="直角三角形 3"/>
            <p:cNvSpPr/>
            <p:nvPr/>
          </p:nvSpPr>
          <p:spPr>
            <a:xfrm>
              <a:off x="760938" y="4082415"/>
              <a:ext cx="610662" cy="568960"/>
            </a:xfrm>
            <a:prstGeom prst="rtTriangle">
              <a:avLst/>
            </a:prstGeom>
            <a:solidFill>
              <a:srgbClr val="F89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直角三角形 4"/>
            <p:cNvSpPr/>
            <p:nvPr/>
          </p:nvSpPr>
          <p:spPr>
            <a:xfrm rot="19329383">
              <a:off x="705193" y="4125596"/>
              <a:ext cx="532111" cy="406400"/>
            </a:xfrm>
            <a:prstGeom prst="rtTriangle">
              <a:avLst/>
            </a:prstGeom>
            <a:solidFill>
              <a:srgbClr val="353F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412" name="组合 7"/>
          <p:cNvGrpSpPr/>
          <p:nvPr/>
        </p:nvGrpSpPr>
        <p:grpSpPr>
          <a:xfrm>
            <a:off x="4021138" y="1830388"/>
            <a:ext cx="3903662" cy="4352925"/>
            <a:chOff x="5602512" y="692718"/>
            <a:chExt cx="4527616" cy="5047681"/>
          </a:xfrm>
        </p:grpSpPr>
        <p:sp>
          <p:nvSpPr>
            <p:cNvPr id="9" name="直角三角形 3"/>
            <p:cNvSpPr/>
            <p:nvPr/>
          </p:nvSpPr>
          <p:spPr>
            <a:xfrm flipH="1">
              <a:off x="5602512" y="1305729"/>
              <a:ext cx="1900163" cy="2236664"/>
            </a:xfrm>
            <a:custGeom>
              <a:avLst/>
              <a:gdLst>
                <a:gd name="connsiteX0" fmla="*/ 0 w 985074"/>
                <a:gd name="connsiteY0" fmla="*/ 2264227 h 2264227"/>
                <a:gd name="connsiteX1" fmla="*/ 0 w 985074"/>
                <a:gd name="connsiteY1" fmla="*/ 0 h 2264227"/>
                <a:gd name="connsiteX2" fmla="*/ 985074 w 985074"/>
                <a:gd name="connsiteY2" fmla="*/ 2264227 h 2264227"/>
                <a:gd name="connsiteX3" fmla="*/ 0 w 985074"/>
                <a:gd name="connsiteY3" fmla="*/ 2264227 h 2264227"/>
                <a:gd name="connsiteX0-1" fmla="*/ 870857 w 1855931"/>
                <a:gd name="connsiteY0-2" fmla="*/ 2235198 h 2235198"/>
                <a:gd name="connsiteX1-3" fmla="*/ 0 w 1855931"/>
                <a:gd name="connsiteY1-4" fmla="*/ 0 h 2235198"/>
                <a:gd name="connsiteX2-5" fmla="*/ 1855931 w 1855931"/>
                <a:gd name="connsiteY2-6" fmla="*/ 2235198 h 2235198"/>
                <a:gd name="connsiteX3-7" fmla="*/ 870857 w 1855931"/>
                <a:gd name="connsiteY3-8" fmla="*/ 2235198 h 2235198"/>
                <a:gd name="connsiteX0-9" fmla="*/ 870857 w 1855931"/>
                <a:gd name="connsiteY0-10" fmla="*/ 2235198 h 2235198"/>
                <a:gd name="connsiteX1-11" fmla="*/ 0 w 1855931"/>
                <a:gd name="connsiteY1-12" fmla="*/ 0 h 2235198"/>
                <a:gd name="connsiteX2-13" fmla="*/ 1855931 w 1855931"/>
                <a:gd name="connsiteY2-14" fmla="*/ 2235198 h 2235198"/>
                <a:gd name="connsiteX3-15" fmla="*/ 870857 w 1855931"/>
                <a:gd name="connsiteY3-16" fmla="*/ 2235198 h 2235198"/>
                <a:gd name="connsiteX0-17" fmla="*/ 870857 w 1855931"/>
                <a:gd name="connsiteY0-18" fmla="*/ 2235198 h 2235198"/>
                <a:gd name="connsiteX1-19" fmla="*/ 0 w 1855931"/>
                <a:gd name="connsiteY1-20" fmla="*/ 0 h 2235198"/>
                <a:gd name="connsiteX2-21" fmla="*/ 1855931 w 1855931"/>
                <a:gd name="connsiteY2-22" fmla="*/ 2235198 h 2235198"/>
                <a:gd name="connsiteX3-23" fmla="*/ 870857 w 1855931"/>
                <a:gd name="connsiteY3-24" fmla="*/ 2235198 h 2235198"/>
                <a:gd name="connsiteX0-25" fmla="*/ 870857 w 1855931"/>
                <a:gd name="connsiteY0-26" fmla="*/ 2235198 h 2235198"/>
                <a:gd name="connsiteX1-27" fmla="*/ 0 w 1855931"/>
                <a:gd name="connsiteY1-28" fmla="*/ 0 h 2235198"/>
                <a:gd name="connsiteX2-29" fmla="*/ 1855931 w 1855931"/>
                <a:gd name="connsiteY2-30" fmla="*/ 2235198 h 2235198"/>
                <a:gd name="connsiteX3-31" fmla="*/ 870857 w 1855931"/>
                <a:gd name="connsiteY3-32" fmla="*/ 2235198 h 2235198"/>
                <a:gd name="connsiteX0-33" fmla="*/ 870857 w 1855931"/>
                <a:gd name="connsiteY0-34" fmla="*/ 2235198 h 2235198"/>
                <a:gd name="connsiteX1-35" fmla="*/ 0 w 1855931"/>
                <a:gd name="connsiteY1-36" fmla="*/ 0 h 2235198"/>
                <a:gd name="connsiteX2-37" fmla="*/ 1855931 w 1855931"/>
                <a:gd name="connsiteY2-38" fmla="*/ 2235198 h 2235198"/>
                <a:gd name="connsiteX3-39" fmla="*/ 870857 w 1855931"/>
                <a:gd name="connsiteY3-40" fmla="*/ 2235198 h 2235198"/>
                <a:gd name="connsiteX0-41" fmla="*/ 870857 w 1855931"/>
                <a:gd name="connsiteY0-42" fmla="*/ 2235198 h 2235198"/>
                <a:gd name="connsiteX1-43" fmla="*/ 0 w 1855931"/>
                <a:gd name="connsiteY1-44" fmla="*/ 0 h 2235198"/>
                <a:gd name="connsiteX2-45" fmla="*/ 1855931 w 1855931"/>
                <a:gd name="connsiteY2-46" fmla="*/ 2235198 h 2235198"/>
                <a:gd name="connsiteX3-47" fmla="*/ 870857 w 1855931"/>
                <a:gd name="connsiteY3-48" fmla="*/ 2235198 h 2235198"/>
                <a:gd name="connsiteX0-49" fmla="*/ 870857 w 1855931"/>
                <a:gd name="connsiteY0-50" fmla="*/ 2235198 h 2235198"/>
                <a:gd name="connsiteX1-51" fmla="*/ 0 w 1855931"/>
                <a:gd name="connsiteY1-52" fmla="*/ 0 h 2235198"/>
                <a:gd name="connsiteX2-53" fmla="*/ 1855931 w 1855931"/>
                <a:gd name="connsiteY2-54" fmla="*/ 2235198 h 2235198"/>
                <a:gd name="connsiteX3-55" fmla="*/ 870857 w 1855931"/>
                <a:gd name="connsiteY3-56" fmla="*/ 2235198 h 2235198"/>
                <a:gd name="connsiteX0-57" fmla="*/ 870857 w 1855931"/>
                <a:gd name="connsiteY0-58" fmla="*/ 2235198 h 2235198"/>
                <a:gd name="connsiteX1-59" fmla="*/ 0 w 1855931"/>
                <a:gd name="connsiteY1-60" fmla="*/ 0 h 2235198"/>
                <a:gd name="connsiteX2-61" fmla="*/ 1855931 w 1855931"/>
                <a:gd name="connsiteY2-62" fmla="*/ 2235198 h 2235198"/>
                <a:gd name="connsiteX3-63" fmla="*/ 870857 w 1855931"/>
                <a:gd name="connsiteY3-64" fmla="*/ 2235198 h 2235198"/>
                <a:gd name="connsiteX0-65" fmla="*/ 914399 w 1899473"/>
                <a:gd name="connsiteY0-66" fmla="*/ 2235198 h 2235198"/>
                <a:gd name="connsiteX1-67" fmla="*/ 0 w 1899473"/>
                <a:gd name="connsiteY1-68" fmla="*/ 0 h 2235198"/>
                <a:gd name="connsiteX2-69" fmla="*/ 1899473 w 1899473"/>
                <a:gd name="connsiteY2-70" fmla="*/ 2235198 h 2235198"/>
                <a:gd name="connsiteX3-71" fmla="*/ 914399 w 1899473"/>
                <a:gd name="connsiteY3-72" fmla="*/ 2235198 h 22351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99473" h="2235198">
                  <a:moveTo>
                    <a:pt x="914399" y="2235198"/>
                  </a:moveTo>
                  <a:cubicBezTo>
                    <a:pt x="957942" y="1025675"/>
                    <a:pt x="551543" y="599923"/>
                    <a:pt x="0" y="0"/>
                  </a:cubicBezTo>
                  <a:cubicBezTo>
                    <a:pt x="429958" y="62894"/>
                    <a:pt x="1716258" y="459618"/>
                    <a:pt x="1899473" y="2235198"/>
                  </a:cubicBezTo>
                  <a:cubicBezTo>
                    <a:pt x="1440486" y="1959427"/>
                    <a:pt x="1242757" y="1988455"/>
                    <a:pt x="914399" y="2235198"/>
                  </a:cubicBezTo>
                  <a:close/>
                </a:path>
              </a:pathLst>
            </a:custGeom>
            <a:solidFill>
              <a:srgbClr val="F89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flipH="1">
              <a:off x="6782748" y="1278116"/>
              <a:ext cx="985066" cy="2264277"/>
            </a:xfrm>
            <a:custGeom>
              <a:avLst/>
              <a:gdLst>
                <a:gd name="connsiteX0" fmla="*/ 0 w 985074"/>
                <a:gd name="connsiteY0" fmla="*/ 2264227 h 2264227"/>
                <a:gd name="connsiteX1" fmla="*/ 0 w 985074"/>
                <a:gd name="connsiteY1" fmla="*/ 0 h 2264227"/>
                <a:gd name="connsiteX2" fmla="*/ 985074 w 985074"/>
                <a:gd name="connsiteY2" fmla="*/ 2264227 h 2264227"/>
                <a:gd name="connsiteX3" fmla="*/ 0 w 985074"/>
                <a:gd name="connsiteY3" fmla="*/ 2264227 h 2264227"/>
                <a:gd name="connsiteX0-1" fmla="*/ 0 w 985074"/>
                <a:gd name="connsiteY0-2" fmla="*/ 2264227 h 2264227"/>
                <a:gd name="connsiteX1-3" fmla="*/ 0 w 985074"/>
                <a:gd name="connsiteY1-4" fmla="*/ 0 h 2264227"/>
                <a:gd name="connsiteX2-5" fmla="*/ 985074 w 985074"/>
                <a:gd name="connsiteY2-6" fmla="*/ 2264227 h 2264227"/>
                <a:gd name="connsiteX3-7" fmla="*/ 0 w 985074"/>
                <a:gd name="connsiteY3-8" fmla="*/ 2264227 h 2264227"/>
                <a:gd name="connsiteX0-9" fmla="*/ 0 w 986319"/>
                <a:gd name="connsiteY0-10" fmla="*/ 2264227 h 2264227"/>
                <a:gd name="connsiteX1-11" fmla="*/ 0 w 986319"/>
                <a:gd name="connsiteY1-12" fmla="*/ 0 h 2264227"/>
                <a:gd name="connsiteX2-13" fmla="*/ 985074 w 986319"/>
                <a:gd name="connsiteY2-14" fmla="*/ 2264227 h 2264227"/>
                <a:gd name="connsiteX3-15" fmla="*/ 0 w 986319"/>
                <a:gd name="connsiteY3-16" fmla="*/ 2264227 h 2264227"/>
                <a:gd name="connsiteX0-17" fmla="*/ 0 w 986753"/>
                <a:gd name="connsiteY0-18" fmla="*/ 2264227 h 2264227"/>
                <a:gd name="connsiteX1-19" fmla="*/ 0 w 986753"/>
                <a:gd name="connsiteY1-20" fmla="*/ 0 h 2264227"/>
                <a:gd name="connsiteX2-21" fmla="*/ 985074 w 986753"/>
                <a:gd name="connsiteY2-22" fmla="*/ 2264227 h 2264227"/>
                <a:gd name="connsiteX3-23" fmla="*/ 0 w 986753"/>
                <a:gd name="connsiteY3-24" fmla="*/ 2264227 h 2264227"/>
                <a:gd name="connsiteX0-25" fmla="*/ 0 w 986753"/>
                <a:gd name="connsiteY0-26" fmla="*/ 2264227 h 2264227"/>
                <a:gd name="connsiteX1-27" fmla="*/ 0 w 986753"/>
                <a:gd name="connsiteY1-28" fmla="*/ 0 h 2264227"/>
                <a:gd name="connsiteX2-29" fmla="*/ 985074 w 986753"/>
                <a:gd name="connsiteY2-30" fmla="*/ 2264227 h 2264227"/>
                <a:gd name="connsiteX3-31" fmla="*/ 0 w 986753"/>
                <a:gd name="connsiteY3-32" fmla="*/ 2264227 h 2264227"/>
                <a:gd name="connsiteX0-33" fmla="*/ 0 w 986753"/>
                <a:gd name="connsiteY0-34" fmla="*/ 2264227 h 2264227"/>
                <a:gd name="connsiteX1-35" fmla="*/ 0 w 986753"/>
                <a:gd name="connsiteY1-36" fmla="*/ 0 h 2264227"/>
                <a:gd name="connsiteX2-37" fmla="*/ 985074 w 986753"/>
                <a:gd name="connsiteY2-38" fmla="*/ 2264227 h 2264227"/>
                <a:gd name="connsiteX3-39" fmla="*/ 0 w 986753"/>
                <a:gd name="connsiteY3-40" fmla="*/ 2264227 h 22642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986753" h="2264227">
                  <a:moveTo>
                    <a:pt x="0" y="2264227"/>
                  </a:moveTo>
                  <a:lnTo>
                    <a:pt x="0" y="0"/>
                  </a:lnTo>
                  <a:cubicBezTo>
                    <a:pt x="517044" y="406399"/>
                    <a:pt x="1019573" y="914399"/>
                    <a:pt x="985074" y="2264227"/>
                  </a:cubicBezTo>
                  <a:cubicBezTo>
                    <a:pt x="540602" y="1915884"/>
                    <a:pt x="328358" y="2017484"/>
                    <a:pt x="0" y="2264227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直角三角形 9"/>
            <p:cNvSpPr/>
            <p:nvPr/>
          </p:nvSpPr>
          <p:spPr>
            <a:xfrm>
              <a:off x="7964826" y="1278116"/>
              <a:ext cx="985066" cy="2264277"/>
            </a:xfrm>
            <a:custGeom>
              <a:avLst/>
              <a:gdLst>
                <a:gd name="connsiteX0" fmla="*/ 0 w 985074"/>
                <a:gd name="connsiteY0" fmla="*/ 2264227 h 2264227"/>
                <a:gd name="connsiteX1" fmla="*/ 0 w 985074"/>
                <a:gd name="connsiteY1" fmla="*/ 0 h 2264227"/>
                <a:gd name="connsiteX2" fmla="*/ 985074 w 985074"/>
                <a:gd name="connsiteY2" fmla="*/ 2264227 h 2264227"/>
                <a:gd name="connsiteX3" fmla="*/ 0 w 985074"/>
                <a:gd name="connsiteY3" fmla="*/ 2264227 h 2264227"/>
                <a:gd name="connsiteX0-1" fmla="*/ 0 w 985074"/>
                <a:gd name="connsiteY0-2" fmla="*/ 2264227 h 2264227"/>
                <a:gd name="connsiteX1-3" fmla="*/ 0 w 985074"/>
                <a:gd name="connsiteY1-4" fmla="*/ 0 h 2264227"/>
                <a:gd name="connsiteX2-5" fmla="*/ 985074 w 985074"/>
                <a:gd name="connsiteY2-6" fmla="*/ 2264227 h 2264227"/>
                <a:gd name="connsiteX3-7" fmla="*/ 0 w 985074"/>
                <a:gd name="connsiteY3-8" fmla="*/ 2264227 h 2264227"/>
                <a:gd name="connsiteX0-9" fmla="*/ 0 w 986319"/>
                <a:gd name="connsiteY0-10" fmla="*/ 2264227 h 2264227"/>
                <a:gd name="connsiteX1-11" fmla="*/ 0 w 986319"/>
                <a:gd name="connsiteY1-12" fmla="*/ 0 h 2264227"/>
                <a:gd name="connsiteX2-13" fmla="*/ 985074 w 986319"/>
                <a:gd name="connsiteY2-14" fmla="*/ 2264227 h 2264227"/>
                <a:gd name="connsiteX3-15" fmla="*/ 0 w 986319"/>
                <a:gd name="connsiteY3-16" fmla="*/ 2264227 h 2264227"/>
                <a:gd name="connsiteX0-17" fmla="*/ 0 w 986753"/>
                <a:gd name="connsiteY0-18" fmla="*/ 2264227 h 2264227"/>
                <a:gd name="connsiteX1-19" fmla="*/ 0 w 986753"/>
                <a:gd name="connsiteY1-20" fmla="*/ 0 h 2264227"/>
                <a:gd name="connsiteX2-21" fmla="*/ 985074 w 986753"/>
                <a:gd name="connsiteY2-22" fmla="*/ 2264227 h 2264227"/>
                <a:gd name="connsiteX3-23" fmla="*/ 0 w 986753"/>
                <a:gd name="connsiteY3-24" fmla="*/ 2264227 h 2264227"/>
                <a:gd name="connsiteX0-25" fmla="*/ 0 w 986753"/>
                <a:gd name="connsiteY0-26" fmla="*/ 2264227 h 2264227"/>
                <a:gd name="connsiteX1-27" fmla="*/ 0 w 986753"/>
                <a:gd name="connsiteY1-28" fmla="*/ 0 h 2264227"/>
                <a:gd name="connsiteX2-29" fmla="*/ 985074 w 986753"/>
                <a:gd name="connsiteY2-30" fmla="*/ 2264227 h 2264227"/>
                <a:gd name="connsiteX3-31" fmla="*/ 0 w 986753"/>
                <a:gd name="connsiteY3-32" fmla="*/ 2264227 h 2264227"/>
                <a:gd name="connsiteX0-33" fmla="*/ 0 w 986753"/>
                <a:gd name="connsiteY0-34" fmla="*/ 2264227 h 2264227"/>
                <a:gd name="connsiteX1-35" fmla="*/ 0 w 986753"/>
                <a:gd name="connsiteY1-36" fmla="*/ 0 h 2264227"/>
                <a:gd name="connsiteX2-37" fmla="*/ 985074 w 986753"/>
                <a:gd name="connsiteY2-38" fmla="*/ 2264227 h 2264227"/>
                <a:gd name="connsiteX3-39" fmla="*/ 0 w 986753"/>
                <a:gd name="connsiteY3-40" fmla="*/ 2264227 h 22642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986753" h="2264227">
                  <a:moveTo>
                    <a:pt x="0" y="2264227"/>
                  </a:moveTo>
                  <a:lnTo>
                    <a:pt x="0" y="0"/>
                  </a:lnTo>
                  <a:cubicBezTo>
                    <a:pt x="517044" y="406399"/>
                    <a:pt x="1019573" y="914399"/>
                    <a:pt x="985074" y="2264227"/>
                  </a:cubicBezTo>
                  <a:cubicBezTo>
                    <a:pt x="540602" y="1915884"/>
                    <a:pt x="328358" y="2017484"/>
                    <a:pt x="0" y="2264227"/>
                  </a:cubicBezTo>
                  <a:close/>
                </a:path>
              </a:pathLst>
            </a:custGeom>
            <a:solidFill>
              <a:srgbClr val="F89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直角三角形 3"/>
            <p:cNvSpPr/>
            <p:nvPr/>
          </p:nvSpPr>
          <p:spPr>
            <a:xfrm>
              <a:off x="8165522" y="1291002"/>
              <a:ext cx="1964606" cy="2236664"/>
            </a:xfrm>
            <a:custGeom>
              <a:avLst/>
              <a:gdLst>
                <a:gd name="connsiteX0" fmla="*/ 0 w 985074"/>
                <a:gd name="connsiteY0" fmla="*/ 2264227 h 2264227"/>
                <a:gd name="connsiteX1" fmla="*/ 0 w 985074"/>
                <a:gd name="connsiteY1" fmla="*/ 0 h 2264227"/>
                <a:gd name="connsiteX2" fmla="*/ 985074 w 985074"/>
                <a:gd name="connsiteY2" fmla="*/ 2264227 h 2264227"/>
                <a:gd name="connsiteX3" fmla="*/ 0 w 985074"/>
                <a:gd name="connsiteY3" fmla="*/ 2264227 h 2264227"/>
                <a:gd name="connsiteX0-1" fmla="*/ 870857 w 1855931"/>
                <a:gd name="connsiteY0-2" fmla="*/ 2235198 h 2235198"/>
                <a:gd name="connsiteX1-3" fmla="*/ 0 w 1855931"/>
                <a:gd name="connsiteY1-4" fmla="*/ 0 h 2235198"/>
                <a:gd name="connsiteX2-5" fmla="*/ 1855931 w 1855931"/>
                <a:gd name="connsiteY2-6" fmla="*/ 2235198 h 2235198"/>
                <a:gd name="connsiteX3-7" fmla="*/ 870857 w 1855931"/>
                <a:gd name="connsiteY3-8" fmla="*/ 2235198 h 2235198"/>
                <a:gd name="connsiteX0-9" fmla="*/ 870857 w 1855931"/>
                <a:gd name="connsiteY0-10" fmla="*/ 2235198 h 2235198"/>
                <a:gd name="connsiteX1-11" fmla="*/ 0 w 1855931"/>
                <a:gd name="connsiteY1-12" fmla="*/ 0 h 2235198"/>
                <a:gd name="connsiteX2-13" fmla="*/ 1855931 w 1855931"/>
                <a:gd name="connsiteY2-14" fmla="*/ 2235198 h 2235198"/>
                <a:gd name="connsiteX3-15" fmla="*/ 870857 w 1855931"/>
                <a:gd name="connsiteY3-16" fmla="*/ 2235198 h 2235198"/>
                <a:gd name="connsiteX0-17" fmla="*/ 870857 w 1855931"/>
                <a:gd name="connsiteY0-18" fmla="*/ 2235198 h 2235198"/>
                <a:gd name="connsiteX1-19" fmla="*/ 0 w 1855931"/>
                <a:gd name="connsiteY1-20" fmla="*/ 0 h 2235198"/>
                <a:gd name="connsiteX2-21" fmla="*/ 1855931 w 1855931"/>
                <a:gd name="connsiteY2-22" fmla="*/ 2235198 h 2235198"/>
                <a:gd name="connsiteX3-23" fmla="*/ 870857 w 1855931"/>
                <a:gd name="connsiteY3-24" fmla="*/ 2235198 h 2235198"/>
                <a:gd name="connsiteX0-25" fmla="*/ 870857 w 1855931"/>
                <a:gd name="connsiteY0-26" fmla="*/ 2235198 h 2235198"/>
                <a:gd name="connsiteX1-27" fmla="*/ 0 w 1855931"/>
                <a:gd name="connsiteY1-28" fmla="*/ 0 h 2235198"/>
                <a:gd name="connsiteX2-29" fmla="*/ 1855931 w 1855931"/>
                <a:gd name="connsiteY2-30" fmla="*/ 2235198 h 2235198"/>
                <a:gd name="connsiteX3-31" fmla="*/ 870857 w 1855931"/>
                <a:gd name="connsiteY3-32" fmla="*/ 2235198 h 2235198"/>
                <a:gd name="connsiteX0-33" fmla="*/ 870857 w 1855931"/>
                <a:gd name="connsiteY0-34" fmla="*/ 2235198 h 2235198"/>
                <a:gd name="connsiteX1-35" fmla="*/ 0 w 1855931"/>
                <a:gd name="connsiteY1-36" fmla="*/ 0 h 2235198"/>
                <a:gd name="connsiteX2-37" fmla="*/ 1855931 w 1855931"/>
                <a:gd name="connsiteY2-38" fmla="*/ 2235198 h 2235198"/>
                <a:gd name="connsiteX3-39" fmla="*/ 870857 w 1855931"/>
                <a:gd name="connsiteY3-40" fmla="*/ 2235198 h 2235198"/>
                <a:gd name="connsiteX0-41" fmla="*/ 870857 w 1855931"/>
                <a:gd name="connsiteY0-42" fmla="*/ 2235198 h 2235198"/>
                <a:gd name="connsiteX1-43" fmla="*/ 0 w 1855931"/>
                <a:gd name="connsiteY1-44" fmla="*/ 0 h 2235198"/>
                <a:gd name="connsiteX2-45" fmla="*/ 1855931 w 1855931"/>
                <a:gd name="connsiteY2-46" fmla="*/ 2235198 h 2235198"/>
                <a:gd name="connsiteX3-47" fmla="*/ 870857 w 1855931"/>
                <a:gd name="connsiteY3-48" fmla="*/ 2235198 h 2235198"/>
                <a:gd name="connsiteX0-49" fmla="*/ 870857 w 1855931"/>
                <a:gd name="connsiteY0-50" fmla="*/ 2235198 h 2235198"/>
                <a:gd name="connsiteX1-51" fmla="*/ 0 w 1855931"/>
                <a:gd name="connsiteY1-52" fmla="*/ 0 h 2235198"/>
                <a:gd name="connsiteX2-53" fmla="*/ 1855931 w 1855931"/>
                <a:gd name="connsiteY2-54" fmla="*/ 2235198 h 2235198"/>
                <a:gd name="connsiteX3-55" fmla="*/ 870857 w 1855931"/>
                <a:gd name="connsiteY3-56" fmla="*/ 2235198 h 2235198"/>
                <a:gd name="connsiteX0-57" fmla="*/ 870857 w 1855931"/>
                <a:gd name="connsiteY0-58" fmla="*/ 2235198 h 2235198"/>
                <a:gd name="connsiteX1-59" fmla="*/ 0 w 1855931"/>
                <a:gd name="connsiteY1-60" fmla="*/ 0 h 2235198"/>
                <a:gd name="connsiteX2-61" fmla="*/ 1855931 w 1855931"/>
                <a:gd name="connsiteY2-62" fmla="*/ 2235198 h 2235198"/>
                <a:gd name="connsiteX3-63" fmla="*/ 870857 w 1855931"/>
                <a:gd name="connsiteY3-64" fmla="*/ 2235198 h 2235198"/>
                <a:gd name="connsiteX0-65" fmla="*/ 914399 w 1899473"/>
                <a:gd name="connsiteY0-66" fmla="*/ 2235198 h 2235198"/>
                <a:gd name="connsiteX1-67" fmla="*/ 0 w 1899473"/>
                <a:gd name="connsiteY1-68" fmla="*/ 0 h 2235198"/>
                <a:gd name="connsiteX2-69" fmla="*/ 1899473 w 1899473"/>
                <a:gd name="connsiteY2-70" fmla="*/ 2235198 h 2235198"/>
                <a:gd name="connsiteX3-71" fmla="*/ 914399 w 1899473"/>
                <a:gd name="connsiteY3-72" fmla="*/ 2235198 h 22351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99473" h="2235198">
                  <a:moveTo>
                    <a:pt x="914399" y="2235198"/>
                  </a:moveTo>
                  <a:cubicBezTo>
                    <a:pt x="957942" y="1025675"/>
                    <a:pt x="551543" y="599923"/>
                    <a:pt x="0" y="0"/>
                  </a:cubicBezTo>
                  <a:cubicBezTo>
                    <a:pt x="429958" y="62894"/>
                    <a:pt x="1716258" y="459618"/>
                    <a:pt x="1899473" y="2235198"/>
                  </a:cubicBezTo>
                  <a:cubicBezTo>
                    <a:pt x="1440486" y="1959427"/>
                    <a:pt x="1242757" y="1988455"/>
                    <a:pt x="914399" y="2235198"/>
                  </a:cubicBezTo>
                  <a:close/>
                </a:path>
              </a:pathLst>
            </a:custGeom>
            <a:solidFill>
              <a:srgbClr val="353F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767814" y="692718"/>
              <a:ext cx="99427" cy="4105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418" name="组合 13"/>
            <p:cNvGrpSpPr/>
            <p:nvPr/>
          </p:nvGrpSpPr>
          <p:grpSpPr>
            <a:xfrm>
              <a:off x="7817729" y="3773715"/>
              <a:ext cx="769256" cy="1966684"/>
              <a:chOff x="7768713" y="4296229"/>
              <a:chExt cx="769256" cy="1966684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7768511" y="4296858"/>
                <a:ext cx="97587" cy="161076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空心弧 15"/>
              <p:cNvSpPr/>
              <p:nvPr/>
            </p:nvSpPr>
            <p:spPr>
              <a:xfrm rot="10800000">
                <a:off x="7768511" y="5493427"/>
                <a:ext cx="769640" cy="769486"/>
              </a:xfrm>
              <a:prstGeom prst="blockArc">
                <a:avLst>
                  <a:gd name="adj1" fmla="val 10800000"/>
                  <a:gd name="adj2" fmla="val 21421567"/>
                  <a:gd name="adj3" fmla="val 1363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421" name="组合 16"/>
          <p:cNvGrpSpPr/>
          <p:nvPr/>
        </p:nvGrpSpPr>
        <p:grpSpPr>
          <a:xfrm>
            <a:off x="4057650" y="2184400"/>
            <a:ext cx="654050" cy="574675"/>
            <a:chOff x="3875314" y="2536918"/>
            <a:chExt cx="653143" cy="750940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4528457" y="2536918"/>
              <a:ext cx="0" cy="750940"/>
            </a:xfrm>
            <a:prstGeom prst="line">
              <a:avLst/>
            </a:prstGeom>
            <a:ln>
              <a:solidFill>
                <a:srgbClr val="353F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>
              <a:off x="3875314" y="2536918"/>
              <a:ext cx="653143" cy="0"/>
            </a:xfrm>
            <a:prstGeom prst="straightConnector1">
              <a:avLst/>
            </a:prstGeom>
            <a:ln>
              <a:solidFill>
                <a:srgbClr val="353F4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30" name="组合 25"/>
          <p:cNvGrpSpPr/>
          <p:nvPr/>
        </p:nvGrpSpPr>
        <p:grpSpPr>
          <a:xfrm flipH="1">
            <a:off x="6400800" y="4250055"/>
            <a:ext cx="1693545" cy="645795"/>
            <a:chOff x="3875314" y="2536918"/>
            <a:chExt cx="653143" cy="750940"/>
          </a:xfrm>
        </p:grpSpPr>
        <p:cxnSp>
          <p:nvCxnSpPr>
            <p:cNvPr id="27" name="直接连接符 26"/>
            <p:cNvCxnSpPr/>
            <p:nvPr/>
          </p:nvCxnSpPr>
          <p:spPr>
            <a:xfrm flipV="1">
              <a:off x="4528457" y="2536918"/>
              <a:ext cx="0" cy="750940"/>
            </a:xfrm>
            <a:prstGeom prst="line">
              <a:avLst/>
            </a:prstGeom>
            <a:ln>
              <a:solidFill>
                <a:srgbClr val="353F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3875314" y="3276788"/>
              <a:ext cx="653143" cy="0"/>
            </a:xfrm>
            <a:prstGeom prst="straightConnector1">
              <a:avLst/>
            </a:prstGeom>
            <a:ln>
              <a:solidFill>
                <a:srgbClr val="353F4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34" name="矩形 29"/>
          <p:cNvSpPr/>
          <p:nvPr/>
        </p:nvSpPr>
        <p:spPr>
          <a:xfrm>
            <a:off x="379730" y="1931670"/>
            <a:ext cx="3642360" cy="23564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indent="457200" algn="l"/>
            <a:r>
              <a:rPr lang="en-US" altLang="en-US" sz="18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Spring Boot makes Java development faster, easier, and more enjoyable.</a:t>
            </a:r>
            <a:endParaRPr lang="en-US" altLang="en-US" sz="18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 indent="457200" algn="l"/>
            <a:r>
              <a:rPr lang="en-US" altLang="en-US" sz="18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It removes configuration headaches and allows developers to focus on building features instead of setting up the environment.</a:t>
            </a:r>
            <a:endParaRPr lang="en-US" altLang="en-US" sz="18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7440" name="矩形 35"/>
          <p:cNvSpPr/>
          <p:nvPr/>
        </p:nvSpPr>
        <p:spPr>
          <a:xfrm>
            <a:off x="8221345" y="3127375"/>
            <a:ext cx="3642995" cy="30562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indent="457200" algn="l"/>
            <a:r>
              <a:rPr lang="en-US" altLang="en-US" sz="4000" baseline="-250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That’s why today, most modern Java applications use Spring Boot from small startups to large companies.</a:t>
            </a:r>
            <a:endParaRPr lang="en-US" altLang="en-US" sz="4000" baseline="-250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7445" name="文本框 1"/>
          <p:cNvSpPr txBox="1"/>
          <p:nvPr/>
        </p:nvSpPr>
        <p:spPr>
          <a:xfrm>
            <a:off x="744855" y="225425"/>
            <a:ext cx="676402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b="1" dirty="0">
                <a:solidFill>
                  <a:srgbClr val="262626"/>
                </a:solidFill>
                <a:latin typeface="Microsoft YaHei" pitchFamily="34" charset="-122"/>
                <a:ea typeface="Microsoft YaHei" pitchFamily="34" charset="-122"/>
              </a:rPr>
              <a:t>Conclusion</a:t>
            </a:r>
            <a:endParaRPr lang="en-US" altLang="zh-CN" sz="3600" b="1" dirty="0">
              <a:solidFill>
                <a:srgbClr val="262626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238" y="949325"/>
            <a:ext cx="4068762" cy="2457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2" name="图片 36"/>
          <p:cNvPicPr>
            <a:picLocks noChangeAspect="1"/>
          </p:cNvPicPr>
          <p:nvPr/>
        </p:nvPicPr>
        <p:blipFill>
          <a:blip r:embed="rId2"/>
          <a:srcRect t="106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03" name="组合 42"/>
          <p:cNvGrpSpPr/>
          <p:nvPr/>
        </p:nvGrpSpPr>
        <p:grpSpPr>
          <a:xfrm>
            <a:off x="1443038" y="1652588"/>
            <a:ext cx="3506787" cy="3508375"/>
            <a:chOff x="1294435" y="833378"/>
            <a:chExt cx="3507129" cy="3507129"/>
          </a:xfrm>
        </p:grpSpPr>
        <p:sp>
          <p:nvSpPr>
            <p:cNvPr id="44" name="椭圆 43"/>
            <p:cNvSpPr/>
            <p:nvPr/>
          </p:nvSpPr>
          <p:spPr>
            <a:xfrm>
              <a:off x="1294435" y="833378"/>
              <a:ext cx="3507129" cy="3507129"/>
            </a:xfrm>
            <a:prstGeom prst="ellipse">
              <a:avLst/>
            </a:prstGeom>
            <a:solidFill>
              <a:schemeClr val="tx1">
                <a:lumMod val="95000"/>
                <a:lumOff val="5000"/>
                <a:alpha val="43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SimSun" pitchFamily="2" charset="-122"/>
                <a:cs typeface="+mn-cs"/>
              </a:endParaRPr>
            </a:p>
          </p:txBody>
        </p:sp>
        <p:sp>
          <p:nvSpPr>
            <p:cNvPr id="25605" name="矩形 44"/>
            <p:cNvSpPr/>
            <p:nvPr/>
          </p:nvSpPr>
          <p:spPr>
            <a:xfrm>
              <a:off x="1715425" y="2492037"/>
              <a:ext cx="2665148" cy="7369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1400" dirty="0">
                  <a:solidFill>
                    <a:srgbClr val="FFFFFF"/>
                  </a:solidFill>
                  <a:latin typeface="Microsoft YaHei" pitchFamily="34" charset="-122"/>
                  <a:ea typeface="Microsoft YaHei" pitchFamily="34" charset="-122"/>
                </a:rPr>
                <a:t>Add your words here, according to your need to draw the text box size</a:t>
              </a:r>
              <a:endParaRPr lang="zh-CN" altLang="en-US" sz="1400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  <p:sp>
          <p:nvSpPr>
            <p:cNvPr id="25606" name="矩形 45"/>
            <p:cNvSpPr/>
            <p:nvPr/>
          </p:nvSpPr>
          <p:spPr>
            <a:xfrm>
              <a:off x="1933361" y="1920465"/>
              <a:ext cx="2229387" cy="4602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Microsoft YaHei" pitchFamily="34" charset="-122"/>
                  <a:ea typeface="Microsoft YaHei" pitchFamily="34" charset="-122"/>
                </a:rPr>
                <a:t>Add title</a:t>
              </a:r>
              <a:endParaRPr lang="zh-CN" altLang="en-US" sz="2400" b="1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文本框 6"/>
          <p:cNvSpPr txBox="1"/>
          <p:nvPr/>
        </p:nvSpPr>
        <p:spPr>
          <a:xfrm>
            <a:off x="1223963" y="2473325"/>
            <a:ext cx="6035675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7200" b="1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rPr>
              <a:t>THANK YOU</a:t>
            </a:r>
            <a:endParaRPr lang="zh-CN" altLang="en-US" sz="7200" b="1" dirty="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6627" name="文本框 10"/>
          <p:cNvSpPr txBox="1"/>
          <p:nvPr/>
        </p:nvSpPr>
        <p:spPr>
          <a:xfrm>
            <a:off x="1223963" y="3636963"/>
            <a:ext cx="5614987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/>
            <a:r>
              <a:rPr lang="en-US" altLang="zh-CN" dirty="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</a:rPr>
              <a:t>THE PROFESSIONAL POWERPOINT TEMPLATE</a:t>
            </a:r>
            <a:endParaRPr lang="zh-CN" altLang="en-US" dirty="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grpSp>
        <p:nvGrpSpPr>
          <p:cNvPr id="26628" name="组合 1"/>
          <p:cNvGrpSpPr/>
          <p:nvPr/>
        </p:nvGrpSpPr>
        <p:grpSpPr>
          <a:xfrm flipH="1">
            <a:off x="6807200" y="0"/>
            <a:ext cx="5384800" cy="6858000"/>
            <a:chOff x="0" y="0"/>
            <a:chExt cx="5384800" cy="6858000"/>
          </a:xfrm>
        </p:grpSpPr>
        <p:sp>
          <p:nvSpPr>
            <p:cNvPr id="12" name="等腰三角形 11"/>
            <p:cNvSpPr/>
            <p:nvPr/>
          </p:nvSpPr>
          <p:spPr>
            <a:xfrm>
              <a:off x="0" y="3189288"/>
              <a:ext cx="5148262" cy="3668712"/>
            </a:xfrm>
            <a:custGeom>
              <a:avLst/>
              <a:gdLst>
                <a:gd name="connsiteX0" fmla="*/ 0 w 5735459"/>
                <a:gd name="connsiteY0" fmla="*/ 3657600 h 3657600"/>
                <a:gd name="connsiteX1" fmla="*/ 2867730 w 5735459"/>
                <a:gd name="connsiteY1" fmla="*/ 0 h 3657600"/>
                <a:gd name="connsiteX2" fmla="*/ 5735459 w 5735459"/>
                <a:gd name="connsiteY2" fmla="*/ 3657600 h 3657600"/>
                <a:gd name="connsiteX3" fmla="*/ 0 w 5735459"/>
                <a:gd name="connsiteY3" fmla="*/ 3657600 h 3657600"/>
                <a:gd name="connsiteX0-1" fmla="*/ 0 w 5151259"/>
                <a:gd name="connsiteY0-2" fmla="*/ 3657600 h 3670300"/>
                <a:gd name="connsiteX1-3" fmla="*/ 2867730 w 5151259"/>
                <a:gd name="connsiteY1-4" fmla="*/ 0 h 3670300"/>
                <a:gd name="connsiteX2-5" fmla="*/ 5151259 w 5151259"/>
                <a:gd name="connsiteY2-6" fmla="*/ 3670300 h 3670300"/>
                <a:gd name="connsiteX3-7" fmla="*/ 0 w 5151259"/>
                <a:gd name="connsiteY3-8" fmla="*/ 3657600 h 36703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151259" h="3670300">
                  <a:moveTo>
                    <a:pt x="0" y="3657600"/>
                  </a:moveTo>
                  <a:lnTo>
                    <a:pt x="2867730" y="0"/>
                  </a:lnTo>
                  <a:lnTo>
                    <a:pt x="5151259" y="36703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直角三角形 4"/>
            <p:cNvSpPr/>
            <p:nvPr/>
          </p:nvSpPr>
          <p:spPr>
            <a:xfrm rot="5400000">
              <a:off x="-736600" y="736600"/>
              <a:ext cx="6858000" cy="5384800"/>
            </a:xfrm>
            <a:prstGeom prst="rtTriangle">
              <a:avLst/>
            </a:prstGeom>
            <a:solidFill>
              <a:srgbClr val="F89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等腰三角形 2"/>
            <p:cNvSpPr/>
            <p:nvPr/>
          </p:nvSpPr>
          <p:spPr>
            <a:xfrm>
              <a:off x="0" y="3575050"/>
              <a:ext cx="5148262" cy="328295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2331</Words>
  <Application>WPS Writer</Application>
  <PresentationFormat/>
  <Paragraphs>109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等线</vt:lpstr>
      <vt:lpstr>苹方-简</vt:lpstr>
      <vt:lpstr>等线 Light</vt:lpstr>
      <vt:lpstr>Microsoft YaHei</vt:lpstr>
      <vt:lpstr>汉仪旗黑</vt:lpstr>
      <vt:lpstr>Calibri</vt:lpstr>
      <vt:lpstr>Helvetica Neue</vt:lpstr>
      <vt:lpstr>宋体-简</vt:lpstr>
      <vt:lpstr>Calibri</vt:lpstr>
      <vt:lpstr>Arial Unicode MS</vt:lpstr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	This line defines where this class is stored, like an address for my code.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Muhammadsodiq Shukurillayev</cp:lastModifiedBy>
  <cp:revision>83</cp:revision>
  <dcterms:created xsi:type="dcterms:W3CDTF">2025-10-16T08:47:32Z</dcterms:created>
  <dcterms:modified xsi:type="dcterms:W3CDTF">2025-10-16T08:47:32Z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8BDDB13B2C27E7CEA355EF68A848BE7C_41</vt:lpwstr>
  </property>
</Properties>
</file>