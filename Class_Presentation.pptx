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
  </p:notesMasterIdLst>
  <p:handoutMasterIdLst>
    <p:handoutMasterId r:id="rId22"/>
  </p:handoutMasterIdLst>
  <p:sldIdLst>
    <p:sldId id="257" r:id="rId3"/>
    <p:sldId id="263" r:id="rId5"/>
    <p:sldId id="290" r:id="rId6"/>
    <p:sldId id="267" r:id="rId7"/>
    <p:sldId id="268" r:id="rId8"/>
    <p:sldId id="270" r:id="rId9"/>
    <p:sldId id="291" r:id="rId10"/>
    <p:sldId id="271" r:id="rId11"/>
    <p:sldId id="292" r:id="rId12"/>
    <p:sldId id="295" r:id="rId13"/>
    <p:sldId id="297" r:id="rId14"/>
    <p:sldId id="283" r:id="rId15"/>
    <p:sldId id="296" r:id="rId16"/>
    <p:sldId id="294" r:id="rId17"/>
    <p:sldId id="299" r:id="rId18"/>
    <p:sldId id="298" r:id="rId19"/>
    <p:sldId id="275" r:id="rId20"/>
    <p:sldId id="262" r:id="rId21"/>
  </p:sldIdLst>
  <p:sldSz cx="12192000" cy="6858000"/>
  <p:notesSz cx="6858000" cy="9144000"/>
  <p:defaultTextStyle>
    <a:defPPr>
      <a:defRPr lang="zh-CN"/>
    </a:defPPr>
    <a:lvl1pPr marL="0" lvl="0"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1pPr>
    <a:lvl2pPr marL="457200" lvl="1"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2pPr>
    <a:lvl3pPr marL="914400" lvl="2"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3pPr>
    <a:lvl4pPr marL="1371600" lvl="3"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4pPr>
    <a:lvl5pPr marL="1828800" lvl="4"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5pPr>
    <a:lvl6pPr marL="2286000" lvl="5"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6pPr>
    <a:lvl7pPr marL="2743200" lvl="6"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7pPr>
    <a:lvl8pPr marL="3200400" lvl="7"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8pPr>
    <a:lvl9pPr marL="3657600" lvl="8" indent="0" algn="l" defTabSz="914400" rtl="0" eaLnBrk="1" fontAlgn="base" latinLnBrk="0" hangingPunct="1">
      <a:lnSpc>
        <a:spcPct val="100000"/>
      </a:lnSpc>
      <a:spcBef>
        <a:spcPct val="0"/>
      </a:spcBef>
      <a:spcAft>
        <a:spcPct val="0"/>
      </a:spcAft>
      <a:buFont typeface="Arial" panose="020B0604020202090204" pitchFamily="34" charset="0"/>
      <a:buNone/>
      <a:defRPr b="0" i="0" u="none" kern="1200" baseline="0">
        <a:solidFill>
          <a:schemeClr val="tx1"/>
        </a:solidFill>
        <a:latin typeface="等线" pitchFamily="2" charset="-122"/>
        <a:ea typeface="等线" pitchFamily="2" charset="-122"/>
        <a:cs typeface="+mn-cs"/>
      </a:defRPr>
    </a:lvl9pPr>
  </p:defaultTextStyle>
  <p:extLst>
    <p:ext uri="{EFAFB233-063F-42B5-8137-9DF3F51BA10A}">
      <p15:sldGuideLst xmlns:p15="http://schemas.microsoft.com/office/powerpoint/2012/main">
        <p15:guide id="1" orient="horz" pos="2212" userDrawn="1">
          <p15:clr>
            <a:srgbClr val="A4A3A4"/>
          </p15:clr>
        </p15:guide>
        <p15:guide id="2" pos="286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8941C"/>
    <a:srgbClr val="353F48"/>
    <a:srgbClr val="3C86C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showOutlineIcons="0">
    <p:restoredLeft sz="15598"/>
    <p:restoredTop sz="94660"/>
  </p:normalViewPr>
  <p:slideViewPr>
    <p:cSldViewPr snapToGrid="0" showGuides="1">
      <p:cViewPr>
        <p:scale>
          <a:sx n="75" d="100"/>
          <a:sy n="75" d="100"/>
        </p:scale>
        <p:origin x="1914" y="822"/>
      </p:cViewPr>
      <p:guideLst>
        <p:guide orient="horz" pos="2212"/>
        <p:guide pos="2860"/>
      </p:guideLst>
    </p:cSldViewPr>
  </p:slideViewPr>
  <p:notesTextViewPr>
    <p:cViewPr>
      <p:scale>
        <a:sx n="1" d="1"/>
        <a:sy n="1" d="1"/>
      </p:scale>
      <p:origin x="0" y="0"/>
    </p:cViewPr>
  </p:notesTextViewPr>
  <p:sorterViewPr showFormatting="0">
    <p:cViewPr varScale="1">
      <p:scale>
        <a:sx n="100" d="100"/>
        <a:sy n="100" d="100"/>
      </p:scale>
      <p:origin x="0" y="0"/>
    </p:cViewPr>
  </p:sorter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5" Type="http://schemas.openxmlformats.org/officeDocument/2006/relationships/tableStyles" Target="tableStyles.xml"/><Relationship Id="rId24" Type="http://schemas.openxmlformats.org/officeDocument/2006/relationships/viewProps" Target="viewProps.xml"/><Relationship Id="rId23" Type="http://schemas.openxmlformats.org/officeDocument/2006/relationships/presProps" Target="presProps.xml"/><Relationship Id="rId22" Type="http://schemas.openxmlformats.org/officeDocument/2006/relationships/handoutMaster" Target="handoutMasters/handoutMaster1.xml"/><Relationship Id="rId21" Type="http://schemas.openxmlformats.org/officeDocument/2006/relationships/slide" Target="slides/slide18.xml"/><Relationship Id="rId20" Type="http://schemas.openxmlformats.org/officeDocument/2006/relationships/slide" Target="slides/slide17.xml"/><Relationship Id="rId2" Type="http://schemas.openxmlformats.org/officeDocument/2006/relationships/theme" Target="theme/theme1.xml"/><Relationship Id="rId19" Type="http://schemas.openxmlformats.org/officeDocument/2006/relationships/slide" Target="slides/slide16.xml"/><Relationship Id="rId18" Type="http://schemas.openxmlformats.org/officeDocument/2006/relationships/slide" Target="slides/slide15.xml"/><Relationship Id="rId17" Type="http://schemas.openxmlformats.org/officeDocument/2006/relationships/slide" Target="slides/slide14.xml"/><Relationship Id="rId16" Type="http://schemas.openxmlformats.org/officeDocument/2006/relationships/slide" Target="slides/slide13.xml"/><Relationship Id="rId15" Type="http://schemas.openxmlformats.org/officeDocument/2006/relationships/slide" Target="slides/slide12.xml"/><Relationship Id="rId14" Type="http://schemas.openxmlformats.org/officeDocument/2006/relationships/slide" Target="slides/slide11.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noProof="1"/>
            </a:lvl1pPr>
          </a:lstStyle>
          <a:p>
            <a:pPr marL="0" marR="0" lvl="0" indent="0" algn="l"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3" name="日期占位符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noProof="1" smtClean="0"/>
            </a:lvl1pPr>
          </a:lstStyle>
          <a:p>
            <a:pPr marL="0" marR="0" lvl="0" indent="0" algn="r"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4" name="页脚占位符 3"/>
          <p:cNvSpPr>
            <a:spLocks noGrp="1"/>
          </p:cNvSpPr>
          <p:nvPr>
            <p:ph type="ftr" sz="quarter" idx="2"/>
          </p:nvPr>
        </p:nvSpPr>
        <p:spPr>
          <a:xfrm>
            <a:off x="0" y="8685213"/>
            <a:ext cx="2971800" cy="458788"/>
          </a:xfrm>
          <a:prstGeom prst="rect">
            <a:avLst/>
          </a:prstGeom>
        </p:spPr>
        <p:txBody>
          <a:bodyPr vert="horz" lIns="91440" tIns="45720" rIns="91440" bIns="45720" rtlCol="0" anchor="b"/>
          <a:lstStyle>
            <a:lvl1pPr algn="l">
              <a:defRPr sz="1200" noProof="1"/>
            </a:lvl1pPr>
          </a:lstStyle>
          <a:p>
            <a:pPr marL="0" marR="0" lvl="0" indent="0" algn="l" defTabSz="914400" rtl="0" eaLnBrk="1" fontAlgn="base" latinLnBrk="0" hangingPunct="1">
              <a:lnSpc>
                <a:spcPct val="100000"/>
              </a:lnSpc>
              <a:spcBef>
                <a:spcPct val="0"/>
              </a:spcBef>
              <a:spcAft>
                <a:spcPct val="0"/>
              </a:spcAft>
              <a:buClrTx/>
              <a:buSzTx/>
              <a:buFont typeface="Arial" panose="020B0604020202090204" pitchFamily="34" charset="0"/>
              <a:buNone/>
              <a:defRPr/>
            </a:pPr>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
        <p:nvSpPr>
          <p:cNvPr id="5" name="灯片编号占位符 4"/>
          <p:cNvSpPr>
            <a:spLocks noGrp="1"/>
          </p:cNvSpPr>
          <p:nvPr>
            <p:ph type="sldNum" sz="quarter" idx="3"/>
          </p:nvPr>
        </p:nvSpPr>
        <p:spPr>
          <a:xfrm>
            <a:off x="3884613" y="8685213"/>
            <a:ext cx="2971800" cy="458788"/>
          </a:xfrm>
          <a:prstGeom prst="rect">
            <a:avLst/>
          </a:prstGeom>
        </p:spPr>
        <p:txBody>
          <a:bodyPr vert="horz" lIns="91440" tIns="45720" rIns="91440" bIns="45720" rtlCol="0" anchor="b"/>
          <a:lstStyle>
            <a:lvl1pPr algn="r">
              <a:defRPr sz="1200" noProof="1" smtClean="0"/>
            </a:lvl1pPr>
          </a:lstStyle>
          <a:p>
            <a:pPr marL="0" marR="0" lvl="0" indent="0" algn="r" defTabSz="914400" rtl="0" eaLnBrk="1" fontAlgn="base" latinLnBrk="0" hangingPunct="1">
              <a:lnSpc>
                <a:spcPct val="100000"/>
              </a:lnSpc>
              <a:spcBef>
                <a:spcPct val="0"/>
              </a:spcBef>
              <a:spcAft>
                <a:spcPct val="0"/>
              </a:spcAft>
              <a:buClrTx/>
              <a:buSzTx/>
              <a:buFont typeface="Arial" panose="020B0604020202090204" pitchFamily="34" charset="0"/>
              <a:buNone/>
              <a:defRPr/>
            </a:pPr>
            <a:fld id="{A2C11944-3ECB-407E-810D-F111F4DFAC7E}" type="slidenum">
              <a:rPr kumimoji="0" lang="zh-CN" altLang="en-US" sz="1200" b="0" i="0" u="none" strike="noStrike" kern="1200" cap="none" spc="0" normalizeH="0" baseline="0" noProof="1" smtClean="0">
                <a:ln>
                  <a:noFill/>
                </a:ln>
                <a:solidFill>
                  <a:schemeClr val="tx1"/>
                </a:solidFill>
                <a:effectLst/>
                <a:uLnTx/>
                <a:uFillTx/>
                <a:latin typeface="等线" pitchFamily="2" charset="-122"/>
                <a:ea typeface="等线" pitchFamily="2" charset="-122"/>
                <a:cs typeface="+mn-cs"/>
              </a:rPr>
            </a:fld>
            <a:endParaRPr kumimoji="0" lang="zh-CN" altLang="en-US" sz="1200" b="0" i="0" u="none" strike="noStrike" kern="1200" cap="none" spc="0" normalizeH="0" baseline="0" noProof="1">
              <a:ln>
                <a:noFill/>
              </a:ln>
              <a:solidFill>
                <a:schemeClr val="tx1"/>
              </a:solidFill>
              <a:effectLst/>
              <a:uLnTx/>
              <a:uFillTx/>
              <a:latin typeface="等线" pitchFamily="2" charset="-122"/>
              <a:ea typeface="等线" pitchFamily="2" charset="-122"/>
              <a:cs typeface="+mn-cs"/>
            </a:endParaRPr>
          </a:p>
        </p:txBody>
      </p:sp>
    </p:spTree>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fontAlgn="auto">
              <a:spcBef>
                <a:spcPts val="0"/>
              </a:spcBef>
              <a:spcAft>
                <a:spcPts val="0"/>
              </a:spcAft>
              <a:buFontTx/>
              <a:buNone/>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fontAlgn="auto">
              <a:spcBef>
                <a:spcPts val="0"/>
              </a:spcBef>
              <a:spcAft>
                <a:spcPts val="0"/>
              </a:spcAft>
              <a:buFontTx/>
              <a:buNone/>
              <a:defRPr sz="120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marL="0" marR="0" lvl="0"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Click to edit Master text style</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457200" marR="0" lvl="1"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Second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914400" marR="0" lvl="2"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Third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1371600" marR="0" lvl="3"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Fourth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a:p>
            <a:pPr marL="1828800" marR="0" lvl="4" indent="0" algn="l" defTabSz="914400" rtl="0" eaLnBrk="1" fontAlgn="base" latinLnBrk="0" hangingPunct="1">
              <a:lnSpc>
                <a:spcPct val="100000"/>
              </a:lnSpc>
              <a:spcBef>
                <a:spcPct val="0"/>
              </a:spcBef>
              <a:spcAft>
                <a:spcPct val="0"/>
              </a:spcAft>
              <a:buClrTx/>
              <a:buSzTx/>
              <a:buFontTx/>
              <a:buNone/>
              <a:defRPr/>
            </a:pPr>
            <a:r>
              <a:rPr kumimoji="0" lang="zh-CN" altLang="en-US" sz="1200" b="0" i="0" u="none" strike="noStrike" kern="1200" cap="none" spc="0" normalizeH="0" baseline="0" noProof="0">
                <a:ln>
                  <a:noFill/>
                </a:ln>
                <a:solidFill>
                  <a:schemeClr val="tx1"/>
                </a:solidFill>
                <a:effectLst/>
                <a:uLnTx/>
                <a:uFillTx/>
                <a:latin typeface="+mn-lt"/>
                <a:ea typeface="+mn-ea"/>
                <a:cs typeface="+mn-cs"/>
                <a:sym typeface="+mn-ea"/>
              </a:rPr>
              <a:t>Fifth level</a:t>
            </a: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6" name="页脚占位符 5"/>
          <p:cNvSpPr>
            <a:spLocks noGrp="1"/>
          </p:cNvSpPr>
          <p:nvPr>
            <p:ph type="ftr" sz="quarter" idx="4"/>
          </p:nvPr>
        </p:nvSpPr>
        <p:spPr>
          <a:xfrm>
            <a:off x="0" y="8685213"/>
            <a:ext cx="2971800" cy="458788"/>
          </a:xfrm>
          <a:prstGeom prst="rect">
            <a:avLst/>
          </a:prstGeom>
        </p:spPr>
        <p:txBody>
          <a:bodyPr vert="horz" lIns="91440" tIns="45720" rIns="91440" bIns="45720" rtlCol="0" anchor="b"/>
          <a:lstStyle>
            <a:lvl1pPr algn="l" fontAlgn="auto">
              <a:spcBef>
                <a:spcPts val="0"/>
              </a:spcBef>
              <a:spcAft>
                <a:spcPts val="0"/>
              </a:spcAft>
              <a:buFontTx/>
              <a:buNone/>
              <a:defRPr sz="1200">
                <a:latin typeface="+mn-lt"/>
                <a:ea typeface="+mn-ea"/>
              </a:defRPr>
            </a:lvl1p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
        <p:nvSpPr>
          <p:cNvPr id="7" name="灯片编号占位符 6"/>
          <p:cNvSpPr>
            <a:spLocks noGrp="1"/>
          </p:cNvSpPr>
          <p:nvPr>
            <p:ph type="sldNum" sz="quarter" idx="5"/>
          </p:nvPr>
        </p:nvSpPr>
        <p:spPr>
          <a:xfrm>
            <a:off x="3884613" y="8685213"/>
            <a:ext cx="2971800" cy="458788"/>
          </a:xfrm>
          <a:prstGeom prst="rect">
            <a:avLst/>
          </a:prstGeom>
        </p:spPr>
        <p:txBody>
          <a:bodyPr vert="horz" lIns="91440" tIns="45720" rIns="91440" bIns="45720" rtlCol="0" anchor="b"/>
          <a:lstStyle>
            <a:lvl1pPr algn="r" fontAlgn="auto">
              <a:spcBef>
                <a:spcPts val="0"/>
              </a:spcBef>
              <a:spcAft>
                <a:spcPts val="0"/>
              </a:spcAft>
              <a:buFontTx/>
              <a:buNone/>
              <a:defRPr sz="1200" smtClean="0">
                <a:latin typeface="+mn-lt"/>
                <a:ea typeface="+mn-ea"/>
              </a:defRPr>
            </a:lvl1pPr>
          </a:lstStyle>
          <a:p>
            <a:pPr marL="0" marR="0" lvl="0" indent="0" algn="r" defTabSz="914400" rtl="0" eaLnBrk="1" fontAlgn="auto" latinLnBrk="0" hangingPunct="1">
              <a:lnSpc>
                <a:spcPct val="100000"/>
              </a:lnSpc>
              <a:spcBef>
                <a:spcPts val="0"/>
              </a:spcBef>
              <a:spcAft>
                <a:spcPts val="0"/>
              </a:spcAft>
              <a:buClrTx/>
              <a:buSzTx/>
              <a:buFontTx/>
              <a:buNone/>
              <a:defRPr/>
            </a:pPr>
            <a:fld id="{7129216A-D554-40A2-B0E0-08D4F1AAE730}" type="slidenum">
              <a:rPr kumimoji="0" lang="zh-CN" altLang="en-US" sz="1200" b="0" i="0" u="none" strike="noStrike" kern="1200" cap="none" spc="0" normalizeH="0" baseline="0" noProof="0">
                <a:ln>
                  <a:noFill/>
                </a:ln>
                <a:solidFill>
                  <a:schemeClr val="tx1"/>
                </a:solidFill>
                <a:effectLst/>
                <a:uLnTx/>
                <a:uFillTx/>
                <a:latin typeface="+mn-lt"/>
                <a:ea typeface="+mn-ea"/>
                <a:cs typeface="+mn-cs"/>
              </a:rPr>
            </a:fld>
            <a:endParaRPr kumimoji="0" lang="zh-CN" altLang="en-US" sz="1200" b="0" i="0" u="none" strike="noStrike" kern="1200" cap="none" spc="0" normalizeH="0" baseline="0" noProof="0">
              <a:ln>
                <a:noFill/>
              </a:ln>
              <a:solidFill>
                <a:schemeClr val="tx1"/>
              </a:solidFill>
              <a:effectLst/>
              <a:uLnTx/>
              <a:uFillTx/>
              <a:latin typeface="+mn-lt"/>
              <a:ea typeface="+mn-ea"/>
              <a:cs typeface="+mn-cs"/>
            </a:endParaRPr>
          </a:p>
        </p:txBody>
      </p:sp>
    </p:spTree>
  </p:cSld>
  <p:clrMap bg1="lt1" tx1="dk1" bg2="lt2" tx2="dk2" accent1="accent1" accent2="accent2" accent3="accent3" accent4="accent4" accent5="accent5" accent6="accent6" hlink="hlink" folHlink="folHlink"/>
  <p:hf sldNum="0" hdr="0" ftr="0" dt="0"/>
  <p:notesStyle>
    <a:lvl1pPr algn="l" rtl="0" fontAlgn="base">
      <a:spcBef>
        <a:spcPct val="0"/>
      </a:spcBef>
      <a:spcAft>
        <a:spcPct val="0"/>
      </a:spcAft>
      <a:defRPr sz="1200" kern="1200">
        <a:solidFill>
          <a:schemeClr val="tx1"/>
        </a:solidFill>
        <a:latin typeface="+mn-lt"/>
        <a:ea typeface="+mn-ea"/>
        <a:cs typeface="+mn-cs"/>
      </a:defRPr>
    </a:lvl1pPr>
    <a:lvl2pPr marL="457200" algn="l" rtl="0" fontAlgn="base">
      <a:spcBef>
        <a:spcPct val="0"/>
      </a:spcBef>
      <a:spcAft>
        <a:spcPct val="0"/>
      </a:spcAft>
      <a:defRPr sz="1200" kern="1200">
        <a:solidFill>
          <a:schemeClr val="tx1"/>
        </a:solidFill>
        <a:latin typeface="+mn-lt"/>
        <a:ea typeface="+mn-ea"/>
        <a:cs typeface="+mn-cs"/>
      </a:defRPr>
    </a:lvl2pPr>
    <a:lvl3pPr marL="914400" algn="l" rtl="0" fontAlgn="base">
      <a:spcBef>
        <a:spcPct val="0"/>
      </a:spcBef>
      <a:spcAft>
        <a:spcPct val="0"/>
      </a:spcAft>
      <a:defRPr sz="1200" kern="1200">
        <a:solidFill>
          <a:schemeClr val="tx1"/>
        </a:solidFill>
        <a:latin typeface="+mn-lt"/>
        <a:ea typeface="+mn-ea"/>
        <a:cs typeface="+mn-cs"/>
      </a:defRPr>
    </a:lvl3pPr>
    <a:lvl4pPr marL="1371600" algn="l" rtl="0" fontAlgn="base">
      <a:spcBef>
        <a:spcPct val="0"/>
      </a:spcBef>
      <a:spcAft>
        <a:spcPct val="0"/>
      </a:spcAft>
      <a:defRPr sz="1200" kern="1200">
        <a:solidFill>
          <a:schemeClr val="tx1"/>
        </a:solidFill>
        <a:latin typeface="+mn-lt"/>
        <a:ea typeface="+mn-ea"/>
        <a:cs typeface="+mn-cs"/>
      </a:defRPr>
    </a:lvl4pPr>
    <a:lvl5pPr marL="1828800" algn="l" rtl="0" fontAlgn="base">
      <a:spcBef>
        <a:spcPct val="0"/>
      </a:spcBef>
      <a:spcAft>
        <a:spcPct val="0"/>
      </a:spcAft>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sym typeface="+mn-ea"/>
              </a:rPr>
              <a:t>If you`ve ever tried to build a web application in Java, you know it can be complicated too many configuration files and setup steps. Spring Boot solves that by making it super simple to start and run applications</a:t>
            </a:r>
            <a:endParaRPr lang="en-US" altLang="en-US"/>
          </a:p>
          <a:p>
            <a:r>
              <a:rPr lang="en-US" altLang="en-US">
                <a:sym typeface="+mn-ea"/>
              </a:rPr>
              <a:t>In one word:</a:t>
            </a:r>
            <a:endParaRPr lang="en-US" altLang="en-US"/>
          </a:p>
          <a:p>
            <a:r>
              <a:rPr lang="en-US" altLang="en-US">
                <a:sym typeface="+mn-ea"/>
              </a:rPr>
              <a:t>Spring Boot helps developers create production-ready applications in minutes instead of days.</a:t>
            </a:r>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It saves time and reduces errors.</a:t>
            </a:r>
            <a:br>
              <a:rPr lang="en-US" altLang="en-US"/>
            </a:br>
            <a:r>
              <a:rPr lang="en-US" altLang="en-US"/>
              <a:t>With less code comes time efficiency and reduction of errors.</a:t>
            </a:r>
            <a:endParaRPr lang="en-US" altLang="en-US"/>
          </a:p>
          <a:p>
            <a:r>
              <a:rPr lang="en-US" altLang="en-US"/>
              <a:t>Spring Boot automatically configures your app based on what it finds in your code. It has something called Auto-Configuration.</a:t>
            </a:r>
            <a:endParaRPr lang="en-US" altLang="en-US"/>
          </a:p>
          <a:p>
            <a:r>
              <a:rPr lang="en-US" altLang="en-US"/>
              <a:t>If it sees you added a web dependency, it automatically starts an embedded web server (like Tomcat).</a:t>
            </a:r>
            <a:endParaRPr lang="en-US" altLang="en-US"/>
          </a:p>
          <a:p>
            <a:r>
              <a:rPr lang="en-US" altLang="en-US"/>
              <a:t>If you add a database dependency, it automatically connects to it.</a:t>
            </a:r>
            <a:endParaRPr lang="en-US" altLang="en-US"/>
          </a:p>
          <a:p>
            <a:endParaRPr lang="en-US" altLang="en-US"/>
          </a:p>
          <a:p>
            <a:r>
              <a:rPr lang="en-US" altLang="en-US"/>
              <a:t>Core idea: You focus on what your app does, not how to configure it.</a:t>
            </a:r>
            <a:endParaRPr lang="en-US"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t>As you can see it simple and straightforward.</a:t>
            </a:r>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t>As you can see it simple and straightforward.</a:t>
            </a:r>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And now let’s break down the lines here</a:t>
            </a:r>
            <a:endParaRPr lang="en-US" altLang="en-US"/>
          </a:p>
          <a:p>
            <a:r>
              <a:rPr lang="en-US" altLang="en-US"/>
              <a:t>This small code creates a complete web server. When someone visits the website, it sends back the message ‘Hello, Spring Boot!’ all with just a few lines. Normally, you’d need hundreds of lines to do this, but Spring Boot makes it automatic.</a:t>
            </a:r>
            <a:endParaRPr lang="en-US"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Slide Image Placeholder 1"/>
          <p:cNvSpPr>
            <a:spLocks noGrp="1"/>
          </p:cNvSpPr>
          <p:nvPr>
            <p:ph type="sldImg" idx="2"/>
          </p:nvPr>
        </p:nvSpPr>
        <p:spPr/>
      </p:sp>
      <p:sp>
        <p:nvSpPr>
          <p:cNvPr id="3" name="Text Placeholder 2"/>
          <p:cNvSpPr>
            <a:spLocks noGrp="1"/>
          </p:cNvSpPr>
          <p:nvPr>
            <p:ph type="body" idx="3"/>
          </p:nvPr>
        </p:nvSpPr>
        <p:spPr/>
        <p:txBody>
          <a:bodyPr/>
          <a:p>
            <a:r>
              <a:rPr lang="en-US" altLang="en-US"/>
              <a:t>Spring Boot is used by companies like Netflix, Amazon, and Google</a:t>
            </a:r>
            <a:endParaRPr lang="en-US"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p:cNvSpPr>
            <a:spLocks noGrp="1"/>
          </p:cNvSpPr>
          <p:nvPr>
            <p:ph type="title"/>
          </p:nvPr>
        </p:nvSpPr>
        <p:spPr/>
        <p:txBody>
          <a:bodyPr/>
          <a:lstStyle/>
          <a:p>
            <a:pPr fontAlgn="base"/>
            <a:r>
              <a:rPr lang="zh-CN" altLang="en-US" strike="noStrike" noProof="1"/>
              <a:t>Click to edit Master title style</a:t>
            </a:r>
            <a:endParaRPr lang="zh-CN" altLang="en-US" strike="noStrike" noProof="1"/>
          </a:p>
        </p:txBody>
      </p:sp>
      <p:sp>
        <p:nvSpPr>
          <p:cNvPr id="3" name="内容占位符 2"/>
          <p:cNvSpPr>
            <a:spLocks noGrp="1"/>
          </p:cNvSpPr>
          <p:nvPr>
            <p:ph idx="1" hasCustomPrompt="1"/>
          </p:nvPr>
        </p:nvSpPr>
        <p:spPr/>
        <p:txBody>
          <a:bodyPr/>
          <a:lstStyle/>
          <a:p>
            <a:pPr lvl="0" fontAlgn="base"/>
            <a:r>
              <a:rPr lang="zh-CN" altLang="en-US" strike="noStrike" noProof="1"/>
              <a:t>编辑母版文本样式</a:t>
            </a:r>
            <a:endParaRPr lang="zh-CN" altLang="en-US" strike="noStrike" noProof="1"/>
          </a:p>
          <a:p>
            <a:pPr lvl="1" fontAlgn="base"/>
            <a:r>
              <a:rPr lang="zh-CN" altLang="en-US" strike="noStrike" noProof="1"/>
              <a:t>第二级</a:t>
            </a:r>
            <a:endParaRPr lang="zh-CN" altLang="en-US" strike="noStrike" noProof="1"/>
          </a:p>
          <a:p>
            <a:pPr lvl="2" fontAlgn="base"/>
            <a:r>
              <a:rPr lang="zh-CN" altLang="en-US" strike="noStrike" noProof="1"/>
              <a:t>第三级</a:t>
            </a:r>
            <a:endParaRPr lang="zh-CN" altLang="en-US" strike="noStrike" noProof="1"/>
          </a:p>
          <a:p>
            <a:pPr lvl="3" fontAlgn="base"/>
            <a:r>
              <a:rPr lang="zh-CN" altLang="en-US" strike="noStrike" noProof="1"/>
              <a:t>第四级</a:t>
            </a:r>
            <a:endParaRPr lang="zh-CN" altLang="en-US" strike="noStrike" noProof="1"/>
          </a:p>
          <a:p>
            <a:pPr lvl="4" fontAlgn="base"/>
            <a:r>
              <a:rPr lang="zh-CN" altLang="en-US" strike="noStrike" noProof="1"/>
              <a:t>第五级</a:t>
            </a:r>
            <a:endParaRPr lang="zh-CN" altLang="en-US" strike="noStrike" noProof="1"/>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p:sp>
        <p:nvSpPr>
          <p:cNvPr id="1026" name="标题占位符 1"/>
          <p:cNvSpPr>
            <a:spLocks noGrp="1"/>
          </p:cNvSpPr>
          <p:nvPr>
            <p:ph type="title"/>
          </p:nvPr>
        </p:nvSpPr>
        <p:spPr>
          <a:xfrm>
            <a:off x="838200" y="365125"/>
            <a:ext cx="10515600" cy="1325563"/>
          </a:xfrm>
          <a:prstGeom prst="rect">
            <a:avLst/>
          </a:prstGeom>
          <a:noFill/>
          <a:ln w="9525">
            <a:noFill/>
          </a:ln>
        </p:spPr>
        <p:txBody>
          <a:bodyPr anchor="ctr" anchorCtr="0"/>
          <a:p>
            <a:pPr lvl="0"/>
            <a:r>
              <a:rPr lang="zh-CN" altLang="en-US" dirty="0"/>
              <a:t>Click to edit Master title style</a:t>
            </a:r>
            <a:endParaRPr lang="zh-CN" altLang="en-US" dirty="0"/>
          </a:p>
        </p:txBody>
      </p:sp>
      <p:sp>
        <p:nvSpPr>
          <p:cNvPr id="1027" name="文本占位符 2"/>
          <p:cNvSpPr>
            <a:spLocks noGrp="1"/>
          </p:cNvSpPr>
          <p:nvPr>
            <p:ph type="body"/>
          </p:nvPr>
        </p:nvSpPr>
        <p:spPr>
          <a:xfrm>
            <a:off x="838200" y="1825625"/>
            <a:ext cx="10515600" cy="4351338"/>
          </a:xfrm>
          <a:prstGeom prst="rect">
            <a:avLst/>
          </a:prstGeom>
          <a:noFill/>
          <a:ln w="9525">
            <a:noFill/>
          </a:ln>
        </p:spPr>
        <p:txBody>
          <a:bodyPr anchor="t" anchorCtr="0"/>
          <a:p>
            <a:pPr lvl="0"/>
            <a:r>
              <a:rPr lang="zh-CN" altLang="en-US" dirty="0"/>
              <a:t>Click to edit Master </a:t>
            </a:r>
            <a:r>
              <a:rPr lang="zh-CN" altLang="zh-CN" dirty="0"/>
              <a:t>text</a:t>
            </a:r>
            <a:r>
              <a:rPr lang="zh-CN" altLang="en-US" dirty="0"/>
              <a:t> style</a:t>
            </a:r>
            <a:endParaRPr lang="zh-CN" altLang="en-US" dirty="0"/>
          </a:p>
          <a:p>
            <a:pPr lvl="1"/>
            <a:r>
              <a:rPr lang="zh-CN" altLang="en-US" dirty="0"/>
              <a:t>Second level</a:t>
            </a:r>
            <a:endParaRPr lang="zh-CN" altLang="en-US" dirty="0"/>
          </a:p>
          <a:p>
            <a:pPr lvl="2"/>
            <a:r>
              <a:rPr lang="zh-CN" altLang="en-US" dirty="0"/>
              <a:t>Third level</a:t>
            </a:r>
            <a:endParaRPr lang="zh-CN" altLang="en-US" dirty="0"/>
          </a:p>
          <a:p>
            <a:pPr lvl="3"/>
            <a:r>
              <a:rPr lang="zh-CN" altLang="en-US" dirty="0"/>
              <a:t>Fourth level</a:t>
            </a:r>
            <a:endParaRPr lang="zh-CN" altLang="en-US" dirty="0"/>
          </a:p>
          <a:p>
            <a:pPr lvl="4"/>
            <a:r>
              <a:rPr lang="zh-CN" altLang="en-US" dirty="0"/>
              <a:t>Fifth level</a:t>
            </a:r>
            <a:endParaRPr lang="zh-CN" altLang="en-US" dirty="0"/>
          </a:p>
        </p:txBody>
      </p:sp>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p:titleStyle>
    <p:body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2.xml.rels><?xml version="1.0" encoding="UTF-8" standalone="yes"?>
<Relationships xmlns="http://schemas.openxmlformats.org/package/2006/relationships"><Relationship Id="rId4" Type="http://schemas.openxmlformats.org/officeDocument/2006/relationships/notesSlide" Target="../notesSlides/notesSlide2.xml"/><Relationship Id="rId3" Type="http://schemas.openxmlformats.org/officeDocument/2006/relationships/slideLayout" Target="../slideLayouts/slideLayout1.xml"/><Relationship Id="rId2" Type="http://schemas.openxmlformats.org/officeDocument/2006/relationships/image" Target="../media/image2.png"/><Relationship Id="rId1" Type="http://schemas.openxmlformats.org/officeDocument/2006/relationships/image" Target="../media/image1.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5" Type="http://schemas.openxmlformats.org/officeDocument/2006/relationships/notesSlide" Target="../notesSlides/notesSlide4.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image" Target="../media/image3.png"/></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1.xml"/><Relationship Id="rId2" Type="http://schemas.openxmlformats.org/officeDocument/2006/relationships/image" Target="../media/image1.png"/><Relationship Id="rId1" Type="http://schemas.openxmlformats.org/officeDocument/2006/relationships/image" Target="../media/image6.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5" Type="http://schemas.openxmlformats.org/officeDocument/2006/relationships/notesSlide" Target="../notesSlides/notesSlide6.xml"/><Relationship Id="rId4" Type="http://schemas.openxmlformats.org/officeDocument/2006/relationships/slideLayout" Target="../slideLayouts/slideLayout1.xml"/><Relationship Id="rId3" Type="http://schemas.openxmlformats.org/officeDocument/2006/relationships/image" Target="../media/image5.png"/><Relationship Id="rId2" Type="http://schemas.openxmlformats.org/officeDocument/2006/relationships/image" Target="../media/image7.png"/><Relationship Id="rId1" Type="http://schemas.openxmlformats.org/officeDocument/2006/relationships/image" Target="../media/image1.png"/></Relationships>
</file>

<file path=ppt/slides/_rels/slide8.xml.rels><?xml version="1.0" encoding="UTF-8" standalone="yes"?>
<Relationships xmlns="http://schemas.openxmlformats.org/package/2006/relationships"><Relationship Id="rId6" Type="http://schemas.openxmlformats.org/officeDocument/2006/relationships/notesSlide" Target="../notesSlides/notesSlide7.xml"/><Relationship Id="rId5" Type="http://schemas.openxmlformats.org/officeDocument/2006/relationships/slideLayout" Target="../slideLayouts/slideLayout1.xml"/><Relationship Id="rId4" Type="http://schemas.openxmlformats.org/officeDocument/2006/relationships/image" Target="../media/image2.png"/><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1.png"/></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1.xml"/><Relationship Id="rId1" Type="http://schemas.openxmlformats.org/officeDocument/2006/relationships/image" Target="../media/image12.png"/></Relationships>
</file>

<file path=ppt/slides/_rels/slide12.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3.png"/></Relationships>
</file>

<file path=ppt/slides/_rels/slide13.xml.rels><?xml version="1.0" encoding="UTF-8" standalone="yes"?>
<Relationships xmlns="http://schemas.openxmlformats.org/package/2006/relationships"><Relationship Id="rId4" Type="http://schemas.openxmlformats.org/officeDocument/2006/relationships/notesSlide" Target="../notesSlides/notesSlide9.xml"/><Relationship Id="rId3" Type="http://schemas.openxmlformats.org/officeDocument/2006/relationships/slideLayout" Target="../slideLayouts/slideLayout1.xml"/><Relationship Id="rId2" Type="http://schemas.openxmlformats.org/officeDocument/2006/relationships/image" Target="../media/image15.png"/><Relationship Id="rId1" Type="http://schemas.openxmlformats.org/officeDocument/2006/relationships/image" Target="../media/image14.png"/></Relationships>
</file>

<file path=ppt/slides/_rels/slide14.xml.rels><?xml version="1.0" encoding="UTF-8" standalone="yes"?>
<Relationships xmlns="http://schemas.openxmlformats.org/package/2006/relationships"><Relationship Id="rId4" Type="http://schemas.openxmlformats.org/officeDocument/2006/relationships/notesSlide" Target="../notesSlides/notesSlide10.xml"/><Relationship Id="rId3" Type="http://schemas.openxmlformats.org/officeDocument/2006/relationships/slideLayout" Target="../slideLayouts/slideLayout1.xml"/><Relationship Id="rId2" Type="http://schemas.openxmlformats.org/officeDocument/2006/relationships/image" Target="../media/image17.png"/><Relationship Id="rId1"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18.png"/></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353F48"/>
        </a:solidFill>
        <a:effectLst/>
      </p:bgPr>
    </p:bg>
    <p:spTree>
      <p:nvGrpSpPr>
        <p:cNvPr id="1" name=""/>
        <p:cNvGrpSpPr/>
        <p:nvPr/>
      </p:nvGrpSpPr>
      <p:grpSpPr/>
      <p:sp>
        <p:nvSpPr>
          <p:cNvPr id="12" name="等腰三角形 11"/>
          <p:cNvSpPr/>
          <p:nvPr/>
        </p:nvSpPr>
        <p:spPr>
          <a:xfrm>
            <a:off x="0" y="3189288"/>
            <a:ext cx="5148263" cy="3668713"/>
          </a:xfrm>
          <a:custGeom>
            <a:avLst/>
            <a:gdLst>
              <a:gd name="connsiteX0" fmla="*/ 0 w 5735459"/>
              <a:gd name="connsiteY0" fmla="*/ 3657600 h 3657600"/>
              <a:gd name="connsiteX1" fmla="*/ 2867730 w 5735459"/>
              <a:gd name="connsiteY1" fmla="*/ 0 h 3657600"/>
              <a:gd name="connsiteX2" fmla="*/ 5735459 w 5735459"/>
              <a:gd name="connsiteY2" fmla="*/ 3657600 h 3657600"/>
              <a:gd name="connsiteX3" fmla="*/ 0 w 5735459"/>
              <a:gd name="connsiteY3" fmla="*/ 3657600 h 3657600"/>
              <a:gd name="connsiteX0-1" fmla="*/ 0 w 5151259"/>
              <a:gd name="connsiteY0-2" fmla="*/ 3657600 h 3670300"/>
              <a:gd name="connsiteX1-3" fmla="*/ 2867730 w 5151259"/>
              <a:gd name="connsiteY1-4" fmla="*/ 0 h 3670300"/>
              <a:gd name="connsiteX2-5" fmla="*/ 5151259 w 5151259"/>
              <a:gd name="connsiteY2-6" fmla="*/ 3670300 h 3670300"/>
              <a:gd name="connsiteX3-7" fmla="*/ 0 w 5151259"/>
              <a:gd name="connsiteY3-8" fmla="*/ 3657600 h 3670300"/>
            </a:gdLst>
            <a:ahLst/>
            <a:cxnLst>
              <a:cxn ang="0">
                <a:pos x="connsiteX0-1" y="connsiteY0-2"/>
              </a:cxn>
              <a:cxn ang="0">
                <a:pos x="connsiteX1-3" y="connsiteY1-4"/>
              </a:cxn>
              <a:cxn ang="0">
                <a:pos x="connsiteX2-5" y="connsiteY2-6"/>
              </a:cxn>
              <a:cxn ang="0">
                <a:pos x="connsiteX3-7" y="connsiteY3-8"/>
              </a:cxn>
            </a:cxnLst>
            <a:rect l="l" t="t" r="r" b="b"/>
            <a:pathLst>
              <a:path w="5151259" h="3670300">
                <a:moveTo>
                  <a:pt x="0" y="3657600"/>
                </a:moveTo>
                <a:lnTo>
                  <a:pt x="2867730" y="0"/>
                </a:lnTo>
                <a:lnTo>
                  <a:pt x="5151259" y="3670300"/>
                </a:lnTo>
                <a:lnTo>
                  <a:pt x="0" y="365760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4099" name="文本框 6"/>
          <p:cNvSpPr txBox="1"/>
          <p:nvPr/>
        </p:nvSpPr>
        <p:spPr>
          <a:xfrm>
            <a:off x="5070475" y="2744788"/>
            <a:ext cx="6454775" cy="1568450"/>
          </a:xfrm>
          <a:prstGeom prst="rect">
            <a:avLst/>
          </a:prstGeom>
          <a:noFill/>
          <a:ln w="9525">
            <a:noFill/>
          </a:ln>
        </p:spPr>
        <p:txBody>
          <a:bodyPr anchor="t" anchorCtr="0">
            <a:spAutoFit/>
          </a:bodyPr>
          <a:p>
            <a:r>
              <a:rPr lang="en-US" altLang="en-US" sz="4800" b="1" dirty="0">
                <a:solidFill>
                  <a:srgbClr val="FFFFFF"/>
                </a:solidFill>
                <a:latin typeface="Microsoft YaHei" pitchFamily="34" charset="-122"/>
                <a:ea typeface="Microsoft YaHei" pitchFamily="34" charset="-122"/>
              </a:rPr>
              <a:t>Spring Boot Framework</a:t>
            </a:r>
            <a:endParaRPr lang="en-US" altLang="en-US" sz="4800" b="1" dirty="0">
              <a:solidFill>
                <a:srgbClr val="FFFFFF"/>
              </a:solidFill>
              <a:latin typeface="Microsoft YaHei" pitchFamily="34" charset="-122"/>
              <a:ea typeface="Microsoft YaHei" pitchFamily="34" charset="-122"/>
            </a:endParaRPr>
          </a:p>
        </p:txBody>
      </p:sp>
      <p:sp>
        <p:nvSpPr>
          <p:cNvPr id="4100" name="文本框 10"/>
          <p:cNvSpPr txBox="1"/>
          <p:nvPr/>
        </p:nvSpPr>
        <p:spPr>
          <a:xfrm>
            <a:off x="5148580" y="6329045"/>
            <a:ext cx="6644005" cy="368300"/>
          </a:xfrm>
          <a:prstGeom prst="rect">
            <a:avLst/>
          </a:prstGeom>
          <a:noFill/>
          <a:ln w="9525">
            <a:noFill/>
          </a:ln>
        </p:spPr>
        <p:txBody>
          <a:bodyPr wrap="square" anchor="t" anchorCtr="0">
            <a:spAutoFit/>
          </a:bodyPr>
          <a:p>
            <a:pPr algn="l"/>
            <a:r>
              <a:rPr lang="en-US" altLang="zh-CN" dirty="0">
                <a:solidFill>
                  <a:srgbClr val="FFFFFF"/>
                </a:solidFill>
                <a:latin typeface="Microsoft YaHei" pitchFamily="34" charset="-122"/>
                <a:ea typeface="Microsoft YaHei" pitchFamily="34" charset="-122"/>
              </a:rPr>
              <a:t>Student: Shukirillaev Mukhammadsodik	ID: 202438379</a:t>
            </a:r>
            <a:endParaRPr lang="en-US" altLang="zh-CN" dirty="0">
              <a:solidFill>
                <a:srgbClr val="FFFFFF"/>
              </a:solidFill>
              <a:latin typeface="Microsoft YaHei" pitchFamily="34" charset="-122"/>
              <a:ea typeface="Microsoft YaHei" pitchFamily="34" charset="-122"/>
            </a:endParaRPr>
          </a:p>
        </p:txBody>
      </p:sp>
      <p:sp>
        <p:nvSpPr>
          <p:cNvPr id="5" name="直角三角形 4"/>
          <p:cNvSpPr/>
          <p:nvPr/>
        </p:nvSpPr>
        <p:spPr>
          <a:xfrm rot="5400000">
            <a:off x="-736600" y="736600"/>
            <a:ext cx="6858000" cy="538480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3" name="等腰三角形 2"/>
          <p:cNvSpPr/>
          <p:nvPr/>
        </p:nvSpPr>
        <p:spPr>
          <a:xfrm>
            <a:off x="0" y="3575050"/>
            <a:ext cx="5148263" cy="328295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pic>
        <p:nvPicPr>
          <p:cNvPr id="2" name="Picture 1" descr="Screenshot 2025-10-15 at 5.22.16 PM"/>
          <p:cNvPicPr>
            <a:picLocks noChangeAspect="1"/>
          </p:cNvPicPr>
          <p:nvPr/>
        </p:nvPicPr>
        <p:blipFill>
          <a:blip r:embed="rId1"/>
          <a:stretch>
            <a:fillRect/>
          </a:stretch>
        </p:blipFill>
        <p:spPr>
          <a:xfrm>
            <a:off x="1132840" y="5397500"/>
            <a:ext cx="2882900" cy="1460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直角三角形 10"/>
          <p:cNvSpPr/>
          <p:nvPr/>
        </p:nvSpPr>
        <p:spPr>
          <a:xfrm rot="5400000">
            <a:off x="-385762" y="385763"/>
            <a:ext cx="3589338" cy="2817813"/>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5122" name="组合 82"/>
          <p:cNvGrpSpPr/>
          <p:nvPr/>
        </p:nvGrpSpPr>
        <p:grpSpPr>
          <a:xfrm>
            <a:off x="3960178" y="1992630"/>
            <a:ext cx="260350" cy="357188"/>
            <a:chOff x="4218255" y="2644947"/>
            <a:chExt cx="179475" cy="246054"/>
          </a:xfrm>
        </p:grpSpPr>
        <p:sp>
          <p:nvSpPr>
            <p:cNvPr id="13"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14" name="Oval 27"/>
            <p:cNvSpPr>
              <a:spLocks noChangeArrowheads="1"/>
            </p:cNvSpPr>
            <p:nvPr/>
          </p:nvSpPr>
          <p:spPr bwMode="auto">
            <a:xfrm>
              <a:off x="4253275" y="2685410"/>
              <a:ext cx="109436" cy="103889"/>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25" name="组合 99"/>
          <p:cNvGrpSpPr/>
          <p:nvPr/>
        </p:nvGrpSpPr>
        <p:grpSpPr>
          <a:xfrm>
            <a:off x="4393248" y="1855786"/>
            <a:ext cx="4057650" cy="2411096"/>
            <a:chOff x="6693091" y="2232654"/>
            <a:chExt cx="4057650" cy="2410720"/>
          </a:xfrm>
        </p:grpSpPr>
        <p:grpSp>
          <p:nvGrpSpPr>
            <p:cNvPr id="5126" name="组合 83"/>
            <p:cNvGrpSpPr/>
            <p:nvPr/>
          </p:nvGrpSpPr>
          <p:grpSpPr>
            <a:xfrm>
              <a:off x="6693091" y="2232654"/>
              <a:ext cx="4057650" cy="706645"/>
              <a:chOff x="6380050" y="1638861"/>
              <a:chExt cx="4057650" cy="706645"/>
            </a:xfrm>
          </p:grpSpPr>
          <p:sp>
            <p:nvSpPr>
              <p:cNvPr id="29" name="文本框 128"/>
              <p:cNvSpPr txBox="1">
                <a:spLocks noChangeArrowheads="1"/>
              </p:cNvSpPr>
              <p:nvPr/>
            </p:nvSpPr>
            <p:spPr bwMode="auto">
              <a:xfrm>
                <a:off x="7848487" y="1638861"/>
                <a:ext cx="2589213" cy="70664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What is Spring Boot?</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0" name="文本框 129"/>
              <p:cNvSpPr txBox="1">
                <a:spLocks noChangeArrowheads="1"/>
              </p:cNvSpPr>
              <p:nvPr/>
            </p:nvSpPr>
            <p:spPr bwMode="auto">
              <a:xfrm>
                <a:off x="6380050" y="1742292"/>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lang="en-US" altLang="en-US" sz="2400" b="1" noProof="0" dirty="0">
                    <a:ln>
                      <a:noFill/>
                    </a:ln>
                    <a:solidFill>
                      <a:schemeClr val="tx1">
                        <a:lumMod val="85000"/>
                        <a:lumOff val="15000"/>
                      </a:schemeClr>
                    </a:solidFill>
                    <a:effectLst/>
                    <a:uLnTx/>
                    <a:uFillTx/>
                    <a:latin typeface="Microsoft YaHei" pitchFamily="34" charset="-122"/>
                    <a:ea typeface="Microsoft YaHei" pitchFamily="34" charset="-122"/>
                    <a:sym typeface="+mn-ea"/>
                  </a:rPr>
                  <a:t>Part 01</a:t>
                </a:r>
                <a:endParaRPr kumimoji="0" lang="en-US" altLang="en-US"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0" name="组合 87"/>
            <p:cNvGrpSpPr/>
            <p:nvPr/>
          </p:nvGrpSpPr>
          <p:grpSpPr>
            <a:xfrm>
              <a:off x="6693091" y="3025515"/>
              <a:ext cx="4057650" cy="511698"/>
              <a:chOff x="6380050" y="2443518"/>
              <a:chExt cx="4057650" cy="511698"/>
            </a:xfrm>
          </p:grpSpPr>
          <p:sp>
            <p:nvSpPr>
              <p:cNvPr id="26" name="文本框 127"/>
              <p:cNvSpPr txBox="1">
                <a:spLocks noChangeArrowheads="1"/>
              </p:cNvSpPr>
              <p:nvPr/>
            </p:nvSpPr>
            <p:spPr bwMode="auto">
              <a:xfrm>
                <a:off x="7848487" y="2556498"/>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Why do we need it?</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7" name="文本框 130"/>
              <p:cNvSpPr txBox="1">
                <a:spLocks noChangeArrowheads="1"/>
              </p:cNvSpPr>
              <p:nvPr/>
            </p:nvSpPr>
            <p:spPr bwMode="auto">
              <a:xfrm>
                <a:off x="6380050" y="2443518"/>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02</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4" name="组合 91"/>
            <p:cNvGrpSpPr/>
            <p:nvPr/>
          </p:nvGrpSpPr>
          <p:grpSpPr>
            <a:xfrm>
              <a:off x="6693091" y="3598644"/>
              <a:ext cx="4057650" cy="460303"/>
              <a:chOff x="6380050" y="3030030"/>
              <a:chExt cx="4057650" cy="460303"/>
            </a:xfrm>
          </p:grpSpPr>
          <p:sp>
            <p:nvSpPr>
              <p:cNvPr id="23" name="文本框 126"/>
              <p:cNvSpPr txBox="1">
                <a:spLocks noChangeArrowheads="1"/>
              </p:cNvSpPr>
              <p:nvPr/>
            </p:nvSpPr>
            <p:spPr bwMode="auto">
              <a:xfrm>
                <a:off x="7848487" y="3030030"/>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How does it work?</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4" name="文本框 131"/>
              <p:cNvSpPr txBox="1">
                <a:spLocks noChangeArrowheads="1"/>
              </p:cNvSpPr>
              <p:nvPr/>
            </p:nvSpPr>
            <p:spPr bwMode="auto">
              <a:xfrm>
                <a:off x="6380050" y="3030030"/>
                <a:ext cx="1597025" cy="46030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03</a:t>
                </a:r>
                <a:endPar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nvGrpSpPr>
            <p:cNvPr id="5138" name="组合 95"/>
            <p:cNvGrpSpPr/>
            <p:nvPr/>
          </p:nvGrpSpPr>
          <p:grpSpPr>
            <a:xfrm>
              <a:off x="6693091" y="4181483"/>
              <a:ext cx="4057650" cy="461891"/>
              <a:chOff x="6380050" y="3624664"/>
              <a:chExt cx="4057650" cy="461891"/>
            </a:xfrm>
          </p:grpSpPr>
          <p:sp>
            <p:nvSpPr>
              <p:cNvPr id="20" name="文本框 125"/>
              <p:cNvSpPr txBox="1">
                <a:spLocks noChangeArrowheads="1"/>
              </p:cNvSpPr>
              <p:nvPr/>
            </p:nvSpPr>
            <p:spPr bwMode="auto">
              <a:xfrm>
                <a:off x="7848487" y="3647301"/>
                <a:ext cx="2589213" cy="3987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Key features</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21" name="文本框 132"/>
              <p:cNvSpPr txBox="1">
                <a:spLocks noChangeArrowheads="1"/>
              </p:cNvSpPr>
              <p:nvPr/>
            </p:nvSpPr>
            <p:spPr bwMode="auto">
              <a:xfrm>
                <a:off x="6380050" y="3624664"/>
                <a:ext cx="1597025" cy="4618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04</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grpSp>
      <p:grpSp>
        <p:nvGrpSpPr>
          <p:cNvPr id="5142" name="组合 100"/>
          <p:cNvGrpSpPr/>
          <p:nvPr/>
        </p:nvGrpSpPr>
        <p:grpSpPr>
          <a:xfrm>
            <a:off x="3936048" y="2659698"/>
            <a:ext cx="260350" cy="357187"/>
            <a:chOff x="4218255" y="2644947"/>
            <a:chExt cx="179475" cy="246054"/>
          </a:xfrm>
        </p:grpSpPr>
        <p:sp>
          <p:nvSpPr>
            <p:cNvPr id="33"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34"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45" name="组合 103"/>
          <p:cNvGrpSpPr/>
          <p:nvPr/>
        </p:nvGrpSpPr>
        <p:grpSpPr>
          <a:xfrm>
            <a:off x="3936048" y="3268028"/>
            <a:ext cx="260350" cy="357187"/>
            <a:chOff x="4218255" y="2644947"/>
            <a:chExt cx="179475" cy="246054"/>
          </a:xfrm>
        </p:grpSpPr>
        <p:sp>
          <p:nvSpPr>
            <p:cNvPr id="36"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37"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5148" name="组合 106"/>
          <p:cNvGrpSpPr/>
          <p:nvPr/>
        </p:nvGrpSpPr>
        <p:grpSpPr>
          <a:xfrm>
            <a:off x="3936048" y="3847783"/>
            <a:ext cx="260350" cy="357187"/>
            <a:chOff x="4218255" y="2644947"/>
            <a:chExt cx="179475" cy="246054"/>
          </a:xfrm>
        </p:grpSpPr>
        <p:sp>
          <p:nvSpPr>
            <p:cNvPr id="39"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0"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sp>
        <p:nvSpPr>
          <p:cNvPr id="45" name="任意多边形 44"/>
          <p:cNvSpPr/>
          <p:nvPr/>
        </p:nvSpPr>
        <p:spPr>
          <a:xfrm rot="656905">
            <a:off x="-250825" y="242888"/>
            <a:ext cx="3402013" cy="2433638"/>
          </a:xfrm>
          <a:custGeom>
            <a:avLst/>
            <a:gdLst>
              <a:gd name="connsiteX0" fmla="*/ 0 w 3402522"/>
              <a:gd name="connsiteY0" fmla="*/ 58806 h 2432918"/>
              <a:gd name="connsiteX1" fmla="*/ 303992 w 3402522"/>
              <a:gd name="connsiteY1" fmla="*/ 0 h 2432918"/>
              <a:gd name="connsiteX2" fmla="*/ 3402522 w 3402522"/>
              <a:gd name="connsiteY2" fmla="*/ 2432918 h 2432918"/>
              <a:gd name="connsiteX3" fmla="*/ 459263 w 3402522"/>
              <a:gd name="connsiteY3" fmla="*/ 2432918 h 2432918"/>
            </a:gdLst>
            <a:ahLst/>
            <a:cxnLst>
              <a:cxn ang="0">
                <a:pos x="connsiteX0" y="connsiteY0"/>
              </a:cxn>
              <a:cxn ang="0">
                <a:pos x="connsiteX1" y="connsiteY1"/>
              </a:cxn>
              <a:cxn ang="0">
                <a:pos x="connsiteX2" y="connsiteY2"/>
              </a:cxn>
              <a:cxn ang="0">
                <a:pos x="connsiteX3" y="connsiteY3"/>
              </a:cxn>
            </a:cxnLst>
            <a:rect l="l" t="t" r="r" b="b"/>
            <a:pathLst>
              <a:path w="3402522" h="2432918">
                <a:moveTo>
                  <a:pt x="0" y="58806"/>
                </a:moveTo>
                <a:lnTo>
                  <a:pt x="303992" y="0"/>
                </a:lnTo>
                <a:lnTo>
                  <a:pt x="3402522" y="2432918"/>
                </a:lnTo>
                <a:lnTo>
                  <a:pt x="459263" y="2432918"/>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50" name="任意多边形 49"/>
          <p:cNvSpPr/>
          <p:nvPr/>
        </p:nvSpPr>
        <p:spPr>
          <a:xfrm rot="6414501">
            <a:off x="9388475" y="3976688"/>
            <a:ext cx="4437063" cy="2138363"/>
          </a:xfrm>
          <a:custGeom>
            <a:avLst/>
            <a:gdLst>
              <a:gd name="connsiteX0" fmla="*/ 0 w 4437562"/>
              <a:gd name="connsiteY0" fmla="*/ 2139505 h 2139505"/>
              <a:gd name="connsiteX1" fmla="*/ 0 w 4437562"/>
              <a:gd name="connsiteY1" fmla="*/ 1132918 h 2139505"/>
              <a:gd name="connsiteX2" fmla="*/ 3726919 w 4437562"/>
              <a:gd name="connsiteY2" fmla="*/ 0 h 2139505"/>
              <a:gd name="connsiteX3" fmla="*/ 3806086 w 4437562"/>
              <a:gd name="connsiteY3" fmla="*/ 62160 h 2139505"/>
              <a:gd name="connsiteX4" fmla="*/ 4437562 w 4437562"/>
              <a:gd name="connsiteY4" fmla="*/ 2139505 h 213950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437562" h="2139505">
                <a:moveTo>
                  <a:pt x="0" y="2139505"/>
                </a:moveTo>
                <a:lnTo>
                  <a:pt x="0" y="1132918"/>
                </a:lnTo>
                <a:lnTo>
                  <a:pt x="3726919" y="0"/>
                </a:lnTo>
                <a:lnTo>
                  <a:pt x="3806086" y="62160"/>
                </a:lnTo>
                <a:lnTo>
                  <a:pt x="4437562" y="2139505"/>
                </a:ln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9" name="文本框 125"/>
          <p:cNvSpPr txBox="1">
            <a:spLocks noChangeArrowheads="1"/>
          </p:cNvSpPr>
          <p:nvPr/>
        </p:nvSpPr>
        <p:spPr bwMode="auto">
          <a:xfrm>
            <a:off x="5861685" y="4403090"/>
            <a:ext cx="2589213"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Simple example</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2" name="文本框 132"/>
          <p:cNvSpPr txBox="1">
            <a:spLocks noChangeArrowheads="1"/>
          </p:cNvSpPr>
          <p:nvPr/>
        </p:nvSpPr>
        <p:spPr bwMode="auto">
          <a:xfrm>
            <a:off x="4393248" y="4403090"/>
            <a:ext cx="15970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05</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5" name="文本框 125"/>
          <p:cNvSpPr txBox="1">
            <a:spLocks noChangeArrowheads="1"/>
          </p:cNvSpPr>
          <p:nvPr/>
        </p:nvSpPr>
        <p:spPr bwMode="auto">
          <a:xfrm>
            <a:off x="5861685" y="4961890"/>
            <a:ext cx="2589213" cy="39878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Conclusion</a:t>
            </a:r>
            <a:endParaRPr kumimoji="0" lang="en-US" altLang="en-US" sz="20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sp>
        <p:nvSpPr>
          <p:cNvPr id="38" name="文本框 132"/>
          <p:cNvSpPr txBox="1">
            <a:spLocks noChangeArrowheads="1"/>
          </p:cNvSpPr>
          <p:nvPr/>
        </p:nvSpPr>
        <p:spPr bwMode="auto">
          <a:xfrm>
            <a:off x="4393248" y="4961890"/>
            <a:ext cx="15970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lnSpc>
                <a:spcPct val="90000"/>
              </a:lnSpc>
              <a:spcBef>
                <a:spcPts val="1000"/>
              </a:spcBef>
              <a:buFont typeface="Arial" panose="020B0604020202090204" pitchFamily="34" charset="0"/>
              <a:buChar char="•"/>
              <a:defRPr sz="2800">
                <a:solidFill>
                  <a:schemeClr val="tx1"/>
                </a:solidFill>
                <a:latin typeface="Calibri" pitchFamily="34" charset="0"/>
                <a:ea typeface="SimSun" pitchFamily="2" charset="-122"/>
              </a:defRPr>
            </a:lvl1pPr>
            <a:lvl2pPr marL="742950" indent="-285750">
              <a:lnSpc>
                <a:spcPct val="90000"/>
              </a:lnSpc>
              <a:spcBef>
                <a:spcPts val="500"/>
              </a:spcBef>
              <a:buFont typeface="Arial" panose="020B0604020202090204" pitchFamily="34" charset="0"/>
              <a:buChar char="•"/>
              <a:defRPr sz="2400">
                <a:solidFill>
                  <a:schemeClr val="tx1"/>
                </a:solidFill>
                <a:latin typeface="Calibri" pitchFamily="34" charset="0"/>
                <a:ea typeface="SimSun" pitchFamily="2" charset="-122"/>
              </a:defRPr>
            </a:lvl2pPr>
            <a:lvl3pPr marL="1143000" indent="-228600">
              <a:lnSpc>
                <a:spcPct val="90000"/>
              </a:lnSpc>
              <a:spcBef>
                <a:spcPts val="500"/>
              </a:spcBef>
              <a:buFont typeface="Arial" panose="020B0604020202090204" pitchFamily="34" charset="0"/>
              <a:buChar char="•"/>
              <a:defRPr sz="2000">
                <a:solidFill>
                  <a:schemeClr val="tx1"/>
                </a:solidFill>
                <a:latin typeface="Calibri" pitchFamily="34" charset="0"/>
                <a:ea typeface="SimSun" pitchFamily="2" charset="-122"/>
              </a:defRPr>
            </a:lvl3pPr>
            <a:lvl4pPr marL="16002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4pPr>
            <a:lvl5pPr marL="2057400" indent="-228600">
              <a:lnSpc>
                <a:spcPct val="90000"/>
              </a:lnSpc>
              <a:spcBef>
                <a:spcPts val="500"/>
              </a:spcBef>
              <a:buFont typeface="Arial" panose="020B0604020202090204" pitchFamily="34" charset="0"/>
              <a:buChar char="•"/>
              <a:defRPr>
                <a:solidFill>
                  <a:schemeClr val="tx1"/>
                </a:solidFill>
                <a:latin typeface="Calibri" pitchFamily="34" charset="0"/>
                <a:ea typeface="SimSun" pitchFamily="2" charset="-122"/>
              </a:defRPr>
            </a:lvl5pPr>
            <a:lvl6pPr marL="25146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6pPr>
            <a:lvl7pPr marL="29718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7pPr>
            <a:lvl8pPr marL="34290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8pPr>
            <a:lvl9pPr marL="3886200" indent="-228600" fontAlgn="base">
              <a:lnSpc>
                <a:spcPct val="90000"/>
              </a:lnSpc>
              <a:spcBef>
                <a:spcPts val="500"/>
              </a:spcBef>
              <a:spcAft>
                <a:spcPct val="0"/>
              </a:spcAft>
              <a:buFont typeface="Arial" panose="020B0604020202090204" pitchFamily="34" charset="0"/>
              <a:buChar char="•"/>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r>
              <a:rPr kumimoji="0" lang="en-US" altLang="zh-CN" sz="2400" b="1" i="0" u="none" strike="noStrike" kern="1200" cap="none" spc="0" normalizeH="0" baseline="0" noProof="0" dirty="0">
                <a:ln>
                  <a:noFill/>
                </a:ln>
                <a:solidFill>
                  <a:schemeClr val="tx1">
                    <a:lumMod val="85000"/>
                    <a:lumOff val="15000"/>
                  </a:schemeClr>
                </a:solidFill>
                <a:effectLst/>
                <a:uLnTx/>
                <a:uFillTx/>
                <a:latin typeface="Microsoft YaHei" pitchFamily="34" charset="-122"/>
                <a:ea typeface="Microsoft YaHei" pitchFamily="34" charset="-122"/>
                <a:cs typeface="+mn-cs"/>
                <a:sym typeface="+mn-ea"/>
              </a:rPr>
              <a:t>Part 06</a:t>
            </a:r>
            <a:endParaRPr kumimoji="0" lang="zh-CN" altLang="en-US" sz="2400" b="1" i="0" u="none" strike="noStrike" kern="1200" cap="none" spc="0" normalizeH="0" baseline="0" noProof="0">
              <a:ln>
                <a:noFill/>
              </a:ln>
              <a:solidFill>
                <a:schemeClr val="tx1">
                  <a:lumMod val="85000"/>
                  <a:lumOff val="15000"/>
                </a:schemeClr>
              </a:solidFill>
              <a:effectLst/>
              <a:uLnTx/>
              <a:uFillTx/>
              <a:latin typeface="Microsoft YaHei" pitchFamily="34" charset="-122"/>
              <a:ea typeface="Microsoft YaHei" pitchFamily="34" charset="-122"/>
              <a:cs typeface="+mn-cs"/>
              <a:sym typeface="+mn-ea"/>
            </a:endParaRPr>
          </a:p>
        </p:txBody>
      </p:sp>
      <p:grpSp>
        <p:nvGrpSpPr>
          <p:cNvPr id="41" name="组合 106"/>
          <p:cNvGrpSpPr/>
          <p:nvPr/>
        </p:nvGrpSpPr>
        <p:grpSpPr>
          <a:xfrm>
            <a:off x="3936048" y="4415473"/>
            <a:ext cx="260350" cy="357187"/>
            <a:chOff x="4218255" y="2644947"/>
            <a:chExt cx="179475" cy="246054"/>
          </a:xfrm>
        </p:grpSpPr>
        <p:sp>
          <p:nvSpPr>
            <p:cNvPr id="42"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3"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grpSp>
        <p:nvGrpSpPr>
          <p:cNvPr id="44" name="组合 106"/>
          <p:cNvGrpSpPr/>
          <p:nvPr/>
        </p:nvGrpSpPr>
        <p:grpSpPr>
          <a:xfrm>
            <a:off x="3936048" y="4969193"/>
            <a:ext cx="260350" cy="357187"/>
            <a:chOff x="4218255" y="2644947"/>
            <a:chExt cx="179475" cy="246054"/>
          </a:xfrm>
        </p:grpSpPr>
        <p:sp>
          <p:nvSpPr>
            <p:cNvPr id="46" name="Freeform 26"/>
            <p:cNvSpPr/>
            <p:nvPr/>
          </p:nvSpPr>
          <p:spPr bwMode="auto">
            <a:xfrm>
              <a:off x="4218255" y="2644947"/>
              <a:ext cx="179475" cy="246054"/>
            </a:xfrm>
            <a:custGeom>
              <a:avLst/>
              <a:gdLst>
                <a:gd name="T0" fmla="*/ 89738 w 26"/>
                <a:gd name="T1" fmla="*/ 0 h 36"/>
                <a:gd name="T2" fmla="*/ 0 w 26"/>
                <a:gd name="T3" fmla="*/ 88853 h 36"/>
                <a:gd name="T4" fmla="*/ 20709 w 26"/>
                <a:gd name="T5" fmla="*/ 143532 h 36"/>
                <a:gd name="T6" fmla="*/ 89738 w 26"/>
                <a:gd name="T7" fmla="*/ 246054 h 36"/>
                <a:gd name="T8" fmla="*/ 158766 w 26"/>
                <a:gd name="T9" fmla="*/ 143532 h 36"/>
                <a:gd name="T10" fmla="*/ 179475 w 26"/>
                <a:gd name="T11" fmla="*/ 88853 h 36"/>
                <a:gd name="T12" fmla="*/ 89738 w 26"/>
                <a:gd name="T13" fmla="*/ 0 h 36"/>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6" h="36">
                  <a:moveTo>
                    <a:pt x="13" y="0"/>
                  </a:moveTo>
                  <a:cubicBezTo>
                    <a:pt x="6" y="0"/>
                    <a:pt x="0" y="6"/>
                    <a:pt x="0" y="13"/>
                  </a:cubicBezTo>
                  <a:cubicBezTo>
                    <a:pt x="0" y="16"/>
                    <a:pt x="1" y="19"/>
                    <a:pt x="3" y="21"/>
                  </a:cubicBezTo>
                  <a:cubicBezTo>
                    <a:pt x="13" y="36"/>
                    <a:pt x="13" y="36"/>
                    <a:pt x="13" y="36"/>
                  </a:cubicBezTo>
                  <a:cubicBezTo>
                    <a:pt x="13" y="36"/>
                    <a:pt x="13" y="36"/>
                    <a:pt x="23" y="21"/>
                  </a:cubicBezTo>
                  <a:cubicBezTo>
                    <a:pt x="25" y="19"/>
                    <a:pt x="26" y="16"/>
                    <a:pt x="26" y="13"/>
                  </a:cubicBezTo>
                  <a:cubicBezTo>
                    <a:pt x="26" y="6"/>
                    <a:pt x="20" y="0"/>
                    <a:pt x="13" y="0"/>
                  </a:cubicBezTo>
                  <a:close/>
                </a:path>
              </a:pathLst>
            </a:custGeom>
            <a:solidFill>
              <a:srgbClr val="353F48"/>
            </a:solid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0" fontAlgn="base" latinLnBrk="0" hangingPunct="0">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等线" pitchFamily="2" charset="-122"/>
                <a:ea typeface="等线" pitchFamily="2" charset="-122"/>
                <a:cs typeface="+mn-cs"/>
              </a:endParaRPr>
            </a:p>
          </p:txBody>
        </p:sp>
        <p:sp>
          <p:nvSpPr>
            <p:cNvPr id="47" name="Oval 27"/>
            <p:cNvSpPr>
              <a:spLocks noChangeArrowheads="1"/>
            </p:cNvSpPr>
            <p:nvPr/>
          </p:nvSpPr>
          <p:spPr bwMode="auto">
            <a:xfrm>
              <a:off x="4253275" y="2685409"/>
              <a:ext cx="109436" cy="103890"/>
            </a:xfrm>
            <a:prstGeom prst="ellipse">
              <a:avLst/>
            </a:prstGeom>
            <a:solidFill>
              <a:srgbClr val="FFFFFF"/>
            </a:solidFill>
            <a:ln>
              <a:noFill/>
            </a:ln>
            <a:extLst>
              <a:ext uri="{91240B29-F687-4F45-9708-019B960494DF}">
                <a14:hiddenLine xmlns:a14="http://schemas.microsoft.com/office/drawing/2010/main" w="9525">
                  <a:solidFill>
                    <a:srgbClr val="000000"/>
                  </a:solidFill>
                  <a:round/>
                </a14:hiddenLine>
              </a:ext>
            </a:extLst>
          </p:spPr>
          <p:txBody>
            <a:bodyPr/>
            <a:lstStyle>
              <a:lvl1pPr>
                <a:defRPr>
                  <a:solidFill>
                    <a:schemeClr val="tx1"/>
                  </a:solidFill>
                  <a:latin typeface="Calibri" pitchFamily="34" charset="0"/>
                  <a:ea typeface="SimSun" pitchFamily="2" charset="-122"/>
                </a:defRPr>
              </a:lvl1pPr>
              <a:lvl2pPr marL="742950" indent="-285750">
                <a:defRPr>
                  <a:solidFill>
                    <a:schemeClr val="tx1"/>
                  </a:solidFill>
                  <a:latin typeface="Calibri" pitchFamily="34" charset="0"/>
                  <a:ea typeface="SimSun" pitchFamily="2" charset="-122"/>
                </a:defRPr>
              </a:lvl2pPr>
              <a:lvl3pPr marL="1143000" indent="-228600">
                <a:defRPr>
                  <a:solidFill>
                    <a:schemeClr val="tx1"/>
                  </a:solidFill>
                  <a:latin typeface="Calibri" pitchFamily="34" charset="0"/>
                  <a:ea typeface="SimSun" pitchFamily="2" charset="-122"/>
                </a:defRPr>
              </a:lvl3pPr>
              <a:lvl4pPr marL="1600200" indent="-228600">
                <a:defRPr>
                  <a:solidFill>
                    <a:schemeClr val="tx1"/>
                  </a:solidFill>
                  <a:latin typeface="Calibri" pitchFamily="34" charset="0"/>
                  <a:ea typeface="SimSun" pitchFamily="2" charset="-122"/>
                </a:defRPr>
              </a:lvl4pPr>
              <a:lvl5pPr marL="2057400" indent="-228600">
                <a:defRPr>
                  <a:solidFill>
                    <a:schemeClr val="tx1"/>
                  </a:solidFill>
                  <a:latin typeface="Calibri" pitchFamily="34" charset="0"/>
                  <a:ea typeface="SimSun" pitchFamily="2" charset="-122"/>
                </a:defRPr>
              </a:lvl5pPr>
              <a:lvl6pPr marL="2514600" indent="-228600" fontAlgn="base">
                <a:spcBef>
                  <a:spcPct val="0"/>
                </a:spcBef>
                <a:spcAft>
                  <a:spcPct val="0"/>
                </a:spcAft>
                <a:defRPr>
                  <a:solidFill>
                    <a:schemeClr val="tx1"/>
                  </a:solidFill>
                  <a:latin typeface="Calibri" pitchFamily="34" charset="0"/>
                  <a:ea typeface="SimSun" pitchFamily="2" charset="-122"/>
                </a:defRPr>
              </a:lvl6pPr>
              <a:lvl7pPr marL="2971800" indent="-228600" fontAlgn="base">
                <a:spcBef>
                  <a:spcPct val="0"/>
                </a:spcBef>
                <a:spcAft>
                  <a:spcPct val="0"/>
                </a:spcAft>
                <a:defRPr>
                  <a:solidFill>
                    <a:schemeClr val="tx1"/>
                  </a:solidFill>
                  <a:latin typeface="Calibri" pitchFamily="34" charset="0"/>
                  <a:ea typeface="SimSun" pitchFamily="2" charset="-122"/>
                </a:defRPr>
              </a:lvl7pPr>
              <a:lvl8pPr marL="3429000" indent="-228600" fontAlgn="base">
                <a:spcBef>
                  <a:spcPct val="0"/>
                </a:spcBef>
                <a:spcAft>
                  <a:spcPct val="0"/>
                </a:spcAft>
                <a:defRPr>
                  <a:solidFill>
                    <a:schemeClr val="tx1"/>
                  </a:solidFill>
                  <a:latin typeface="Calibri" pitchFamily="34" charset="0"/>
                  <a:ea typeface="SimSun" pitchFamily="2" charset="-122"/>
                </a:defRPr>
              </a:lvl8pPr>
              <a:lvl9pPr marL="3886200" indent="-228600" fontAlgn="base">
                <a:spcBef>
                  <a:spcPct val="0"/>
                </a:spcBef>
                <a:spcAft>
                  <a:spcPct val="0"/>
                </a:spcAft>
                <a:defRPr>
                  <a:solidFill>
                    <a:schemeClr val="tx1"/>
                  </a:solidFill>
                  <a:latin typeface="Calibri" pitchFamily="34" charset="0"/>
                  <a:ea typeface="SimSun" pitchFamily="2" charset="-122"/>
                </a:defRPr>
              </a:lvl9pPr>
            </a:lstStyle>
            <a:p>
              <a:pPr marL="0" marR="0" lvl="0" indent="0" algn="l" defTabSz="914400" rtl="0" eaLnBrk="1" fontAlgn="base" latinLnBrk="0" hangingPunct="1">
                <a:lnSpc>
                  <a:spcPct val="100000"/>
                </a:lnSpc>
                <a:spcBef>
                  <a:spcPct val="0"/>
                </a:spcBef>
                <a:spcAft>
                  <a:spcPct val="0"/>
                </a:spcAft>
                <a:buClrTx/>
                <a:buSzTx/>
                <a:buFontTx/>
                <a:buNone/>
                <a:defRPr/>
              </a:pPr>
              <a:endParaRPr kumimoji="0" lang="zh-CN" altLang="en-US" sz="1800" b="0" i="0" u="none" strike="noStrike" kern="1200" cap="none" spc="0" normalizeH="0" baseline="0" noProof="0">
                <a:ln>
                  <a:noFill/>
                </a:ln>
                <a:solidFill>
                  <a:schemeClr val="tx1">
                    <a:lumMod val="85000"/>
                    <a:lumOff val="15000"/>
                  </a:schemeClr>
                </a:solidFill>
                <a:effectLst/>
                <a:uLnTx/>
                <a:uFillTx/>
                <a:latin typeface="Calibri" pitchFamily="34" charset="0"/>
                <a:ea typeface="SimSun" pitchFamily="2" charset="-122"/>
                <a:cs typeface="+mn-cs"/>
              </a:endParaRPr>
            </a:p>
          </p:txBody>
        </p:sp>
      </p:grpSp>
      <p:pic>
        <p:nvPicPr>
          <p:cNvPr id="49" name="Picture 48" descr="Screenshot 2025-10-15 at 5.22.16 PM"/>
          <p:cNvPicPr>
            <a:picLocks noChangeAspect="1"/>
          </p:cNvPicPr>
          <p:nvPr/>
        </p:nvPicPr>
        <p:blipFill>
          <a:blip r:embed="rId1"/>
          <a:stretch>
            <a:fillRect/>
          </a:stretch>
        </p:blipFill>
        <p:spPr>
          <a:xfrm>
            <a:off x="7056120" y="195580"/>
            <a:ext cx="2882900" cy="1460500"/>
          </a:xfrm>
          <a:prstGeom prst="rect">
            <a:avLst/>
          </a:prstGeom>
        </p:spPr>
      </p:pic>
      <p:pic>
        <p:nvPicPr>
          <p:cNvPr id="51" name="Picture 50" descr="Screenshot 2025-10-15 at 5.23.06 PM"/>
          <p:cNvPicPr>
            <a:picLocks noChangeAspect="1"/>
          </p:cNvPicPr>
          <p:nvPr/>
        </p:nvPicPr>
        <p:blipFill>
          <a:blip r:embed="rId2"/>
          <a:stretch>
            <a:fillRect/>
          </a:stretch>
        </p:blipFill>
        <p:spPr>
          <a:xfrm>
            <a:off x="304165" y="3589655"/>
            <a:ext cx="3335655" cy="2901315"/>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4" name="任意多边形 10"/>
          <p:cNvSpPr/>
          <p:nvPr/>
        </p:nvSpPr>
        <p:spPr>
          <a:xfrm rot="5588898">
            <a:off x="3851275" y="6000750"/>
            <a:ext cx="604520" cy="560070"/>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4191000"/>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508825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6149" name="文本框 128"/>
          <p:cNvSpPr txBox="1"/>
          <p:nvPr/>
        </p:nvSpPr>
        <p:spPr>
          <a:xfrm>
            <a:off x="4340860" y="2857500"/>
            <a:ext cx="6990080" cy="1568450"/>
          </a:xfrm>
          <a:prstGeom prst="rect">
            <a:avLst/>
          </a:prstGeom>
          <a:noFill/>
          <a:ln w="9525">
            <a:noFill/>
          </a:ln>
        </p:spPr>
        <p:txBody>
          <a:bodyPr wrap="square" anchor="t" anchorCtr="0">
            <a:spAutoFit/>
          </a:bodyPr>
          <a:p>
            <a:r>
              <a:rPr lang="en-US" altLang="en-US" sz="4800" b="1" dirty="0">
                <a:solidFill>
                  <a:schemeClr val="bg1"/>
                </a:solidFill>
                <a:latin typeface="Microsoft YaHei" pitchFamily="34" charset="-122"/>
                <a:ea typeface="Microsoft YaHei" pitchFamily="34" charset="-122"/>
              </a:rPr>
              <a:t>Introduction: What is Spring Boot?</a:t>
            </a:r>
            <a:endParaRPr lang="en-US" altLang="en-US" sz="4800" b="1" dirty="0">
              <a:solidFill>
                <a:schemeClr val="bg1"/>
              </a:solidFill>
              <a:latin typeface="Microsoft YaHei" pitchFamily="34" charset="-122"/>
              <a:ea typeface="Microsoft YaHei" pitchFamily="34" charset="-122"/>
            </a:endParaRPr>
          </a:p>
        </p:txBody>
      </p:sp>
      <p:grpSp>
        <p:nvGrpSpPr>
          <p:cNvPr id="5" name="组合 4"/>
          <p:cNvGrpSpPr/>
          <p:nvPr/>
        </p:nvGrpSpPr>
        <p:grpSpPr>
          <a:xfrm>
            <a:off x="1638299" y="2540127"/>
            <a:ext cx="1066799" cy="1425318"/>
            <a:chOff x="6034088" y="4592639"/>
            <a:chExt cx="193675" cy="258763"/>
          </a:xfrm>
          <a:solidFill>
            <a:schemeClr val="bg1"/>
          </a:solidFill>
        </p:grpSpPr>
        <p:sp>
          <p:nvSpPr>
            <p:cNvPr id="12" name="Freeform 347"/>
            <p:cNvSpPr>
              <a:spLocks noEditPoints="1"/>
            </p:cNvSpPr>
            <p:nvPr/>
          </p:nvSpPr>
          <p:spPr bwMode="auto">
            <a:xfrm>
              <a:off x="6034088" y="4592639"/>
              <a:ext cx="193675" cy="258763"/>
            </a:xfrm>
            <a:custGeom>
              <a:avLst/>
              <a:gdLst>
                <a:gd name="T0" fmla="*/ 191 w 214"/>
                <a:gd name="T1" fmla="*/ 20 h 289"/>
                <a:gd name="T2" fmla="*/ 178 w 214"/>
                <a:gd name="T3" fmla="*/ 20 h 289"/>
                <a:gd name="T4" fmla="*/ 178 w 214"/>
                <a:gd name="T5" fmla="*/ 11 h 289"/>
                <a:gd name="T6" fmla="*/ 167 w 214"/>
                <a:gd name="T7" fmla="*/ 0 h 289"/>
                <a:gd name="T8" fmla="*/ 155 w 214"/>
                <a:gd name="T9" fmla="*/ 11 h 289"/>
                <a:gd name="T10" fmla="*/ 155 w 214"/>
                <a:gd name="T11" fmla="*/ 20 h 289"/>
                <a:gd name="T12" fmla="*/ 118 w 214"/>
                <a:gd name="T13" fmla="*/ 20 h 289"/>
                <a:gd name="T14" fmla="*/ 118 w 214"/>
                <a:gd name="T15" fmla="*/ 11 h 289"/>
                <a:gd name="T16" fmla="*/ 107 w 214"/>
                <a:gd name="T17" fmla="*/ 0 h 289"/>
                <a:gd name="T18" fmla="*/ 96 w 214"/>
                <a:gd name="T19" fmla="*/ 11 h 289"/>
                <a:gd name="T20" fmla="*/ 96 w 214"/>
                <a:gd name="T21" fmla="*/ 20 h 289"/>
                <a:gd name="T22" fmla="*/ 59 w 214"/>
                <a:gd name="T23" fmla="*/ 20 h 289"/>
                <a:gd name="T24" fmla="*/ 59 w 214"/>
                <a:gd name="T25" fmla="*/ 11 h 289"/>
                <a:gd name="T26" fmla="*/ 48 w 214"/>
                <a:gd name="T27" fmla="*/ 0 h 289"/>
                <a:gd name="T28" fmla="*/ 36 w 214"/>
                <a:gd name="T29" fmla="*/ 11 h 289"/>
                <a:gd name="T30" fmla="*/ 36 w 214"/>
                <a:gd name="T31" fmla="*/ 20 h 289"/>
                <a:gd name="T32" fmla="*/ 24 w 214"/>
                <a:gd name="T33" fmla="*/ 20 h 289"/>
                <a:gd name="T34" fmla="*/ 0 w 214"/>
                <a:gd name="T35" fmla="*/ 43 h 289"/>
                <a:gd name="T36" fmla="*/ 0 w 214"/>
                <a:gd name="T37" fmla="*/ 266 h 289"/>
                <a:gd name="T38" fmla="*/ 24 w 214"/>
                <a:gd name="T39" fmla="*/ 289 h 289"/>
                <a:gd name="T40" fmla="*/ 191 w 214"/>
                <a:gd name="T41" fmla="*/ 289 h 289"/>
                <a:gd name="T42" fmla="*/ 214 w 214"/>
                <a:gd name="T43" fmla="*/ 266 h 289"/>
                <a:gd name="T44" fmla="*/ 214 w 214"/>
                <a:gd name="T45" fmla="*/ 43 h 289"/>
                <a:gd name="T46" fmla="*/ 191 w 214"/>
                <a:gd name="T47" fmla="*/ 20 h 289"/>
                <a:gd name="T48" fmla="*/ 191 w 214"/>
                <a:gd name="T49" fmla="*/ 264 h 289"/>
                <a:gd name="T50" fmla="*/ 23 w 214"/>
                <a:gd name="T51" fmla="*/ 264 h 289"/>
                <a:gd name="T52" fmla="*/ 23 w 214"/>
                <a:gd name="T53" fmla="*/ 45 h 289"/>
                <a:gd name="T54" fmla="*/ 36 w 214"/>
                <a:gd name="T55" fmla="*/ 45 h 289"/>
                <a:gd name="T56" fmla="*/ 36 w 214"/>
                <a:gd name="T57" fmla="*/ 52 h 289"/>
                <a:gd name="T58" fmla="*/ 48 w 214"/>
                <a:gd name="T59" fmla="*/ 63 h 289"/>
                <a:gd name="T60" fmla="*/ 59 w 214"/>
                <a:gd name="T61" fmla="*/ 52 h 289"/>
                <a:gd name="T62" fmla="*/ 59 w 214"/>
                <a:gd name="T63" fmla="*/ 45 h 289"/>
                <a:gd name="T64" fmla="*/ 96 w 214"/>
                <a:gd name="T65" fmla="*/ 45 h 289"/>
                <a:gd name="T66" fmla="*/ 96 w 214"/>
                <a:gd name="T67" fmla="*/ 52 h 289"/>
                <a:gd name="T68" fmla="*/ 107 w 214"/>
                <a:gd name="T69" fmla="*/ 63 h 289"/>
                <a:gd name="T70" fmla="*/ 118 w 214"/>
                <a:gd name="T71" fmla="*/ 52 h 289"/>
                <a:gd name="T72" fmla="*/ 118 w 214"/>
                <a:gd name="T73" fmla="*/ 45 h 289"/>
                <a:gd name="T74" fmla="*/ 155 w 214"/>
                <a:gd name="T75" fmla="*/ 45 h 289"/>
                <a:gd name="T76" fmla="*/ 155 w 214"/>
                <a:gd name="T77" fmla="*/ 52 h 289"/>
                <a:gd name="T78" fmla="*/ 167 w 214"/>
                <a:gd name="T79" fmla="*/ 63 h 289"/>
                <a:gd name="T80" fmla="*/ 178 w 214"/>
                <a:gd name="T81" fmla="*/ 52 h 289"/>
                <a:gd name="T82" fmla="*/ 178 w 214"/>
                <a:gd name="T83" fmla="*/ 45 h 289"/>
                <a:gd name="T84" fmla="*/ 191 w 214"/>
                <a:gd name="T85" fmla="*/ 45 h 289"/>
                <a:gd name="T86" fmla="*/ 191 w 214"/>
                <a:gd name="T87" fmla="*/ 264 h 28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214" h="289">
                  <a:moveTo>
                    <a:pt x="191" y="20"/>
                  </a:moveTo>
                  <a:cubicBezTo>
                    <a:pt x="178" y="20"/>
                    <a:pt x="178" y="20"/>
                    <a:pt x="178" y="20"/>
                  </a:cubicBezTo>
                  <a:cubicBezTo>
                    <a:pt x="178" y="11"/>
                    <a:pt x="178" y="11"/>
                    <a:pt x="178" y="11"/>
                  </a:cubicBezTo>
                  <a:cubicBezTo>
                    <a:pt x="178" y="5"/>
                    <a:pt x="173" y="0"/>
                    <a:pt x="167" y="0"/>
                  </a:cubicBezTo>
                  <a:cubicBezTo>
                    <a:pt x="160" y="0"/>
                    <a:pt x="155" y="5"/>
                    <a:pt x="155" y="11"/>
                  </a:cubicBezTo>
                  <a:cubicBezTo>
                    <a:pt x="155" y="20"/>
                    <a:pt x="155" y="20"/>
                    <a:pt x="155" y="20"/>
                  </a:cubicBezTo>
                  <a:cubicBezTo>
                    <a:pt x="118" y="20"/>
                    <a:pt x="118" y="20"/>
                    <a:pt x="118" y="20"/>
                  </a:cubicBezTo>
                  <a:cubicBezTo>
                    <a:pt x="118" y="11"/>
                    <a:pt x="118" y="11"/>
                    <a:pt x="118" y="11"/>
                  </a:cubicBezTo>
                  <a:cubicBezTo>
                    <a:pt x="118" y="5"/>
                    <a:pt x="113" y="0"/>
                    <a:pt x="107" y="0"/>
                  </a:cubicBezTo>
                  <a:cubicBezTo>
                    <a:pt x="101" y="0"/>
                    <a:pt x="96" y="5"/>
                    <a:pt x="96" y="11"/>
                  </a:cubicBezTo>
                  <a:cubicBezTo>
                    <a:pt x="96" y="20"/>
                    <a:pt x="96" y="20"/>
                    <a:pt x="96" y="20"/>
                  </a:cubicBezTo>
                  <a:cubicBezTo>
                    <a:pt x="59" y="20"/>
                    <a:pt x="59" y="20"/>
                    <a:pt x="59" y="20"/>
                  </a:cubicBezTo>
                  <a:cubicBezTo>
                    <a:pt x="59" y="11"/>
                    <a:pt x="59" y="11"/>
                    <a:pt x="59" y="11"/>
                  </a:cubicBezTo>
                  <a:cubicBezTo>
                    <a:pt x="59" y="5"/>
                    <a:pt x="54" y="0"/>
                    <a:pt x="48" y="0"/>
                  </a:cubicBezTo>
                  <a:cubicBezTo>
                    <a:pt x="41" y="0"/>
                    <a:pt x="36" y="5"/>
                    <a:pt x="36" y="11"/>
                  </a:cubicBezTo>
                  <a:cubicBezTo>
                    <a:pt x="36" y="20"/>
                    <a:pt x="36" y="20"/>
                    <a:pt x="36" y="20"/>
                  </a:cubicBezTo>
                  <a:cubicBezTo>
                    <a:pt x="24" y="20"/>
                    <a:pt x="24" y="20"/>
                    <a:pt x="24" y="20"/>
                  </a:cubicBezTo>
                  <a:cubicBezTo>
                    <a:pt x="11" y="20"/>
                    <a:pt x="0" y="30"/>
                    <a:pt x="0" y="43"/>
                  </a:cubicBezTo>
                  <a:cubicBezTo>
                    <a:pt x="0" y="266"/>
                    <a:pt x="0" y="266"/>
                    <a:pt x="0" y="266"/>
                  </a:cubicBezTo>
                  <a:cubicBezTo>
                    <a:pt x="0" y="278"/>
                    <a:pt x="11" y="289"/>
                    <a:pt x="24" y="289"/>
                  </a:cubicBezTo>
                  <a:cubicBezTo>
                    <a:pt x="191" y="289"/>
                    <a:pt x="191" y="289"/>
                    <a:pt x="191" y="289"/>
                  </a:cubicBezTo>
                  <a:cubicBezTo>
                    <a:pt x="204" y="289"/>
                    <a:pt x="214" y="278"/>
                    <a:pt x="214" y="266"/>
                  </a:cubicBezTo>
                  <a:cubicBezTo>
                    <a:pt x="214" y="43"/>
                    <a:pt x="214" y="43"/>
                    <a:pt x="214" y="43"/>
                  </a:cubicBezTo>
                  <a:cubicBezTo>
                    <a:pt x="214" y="30"/>
                    <a:pt x="204" y="20"/>
                    <a:pt x="191" y="20"/>
                  </a:cubicBezTo>
                  <a:close/>
                  <a:moveTo>
                    <a:pt x="191" y="264"/>
                  </a:moveTo>
                  <a:cubicBezTo>
                    <a:pt x="23" y="264"/>
                    <a:pt x="23" y="264"/>
                    <a:pt x="23" y="264"/>
                  </a:cubicBezTo>
                  <a:cubicBezTo>
                    <a:pt x="23" y="45"/>
                    <a:pt x="23" y="45"/>
                    <a:pt x="23" y="45"/>
                  </a:cubicBezTo>
                  <a:cubicBezTo>
                    <a:pt x="36" y="45"/>
                    <a:pt x="36" y="45"/>
                    <a:pt x="36" y="45"/>
                  </a:cubicBezTo>
                  <a:cubicBezTo>
                    <a:pt x="36" y="52"/>
                    <a:pt x="36" y="52"/>
                    <a:pt x="36" y="52"/>
                  </a:cubicBezTo>
                  <a:cubicBezTo>
                    <a:pt x="36" y="58"/>
                    <a:pt x="41" y="63"/>
                    <a:pt x="48" y="63"/>
                  </a:cubicBezTo>
                  <a:cubicBezTo>
                    <a:pt x="54" y="63"/>
                    <a:pt x="59" y="58"/>
                    <a:pt x="59" y="52"/>
                  </a:cubicBezTo>
                  <a:cubicBezTo>
                    <a:pt x="59" y="45"/>
                    <a:pt x="59" y="45"/>
                    <a:pt x="59" y="45"/>
                  </a:cubicBezTo>
                  <a:cubicBezTo>
                    <a:pt x="96" y="45"/>
                    <a:pt x="96" y="45"/>
                    <a:pt x="96" y="45"/>
                  </a:cubicBezTo>
                  <a:cubicBezTo>
                    <a:pt x="96" y="52"/>
                    <a:pt x="96" y="52"/>
                    <a:pt x="96" y="52"/>
                  </a:cubicBezTo>
                  <a:cubicBezTo>
                    <a:pt x="96" y="58"/>
                    <a:pt x="101" y="63"/>
                    <a:pt x="107" y="63"/>
                  </a:cubicBezTo>
                  <a:cubicBezTo>
                    <a:pt x="113" y="63"/>
                    <a:pt x="118" y="58"/>
                    <a:pt x="118" y="52"/>
                  </a:cubicBezTo>
                  <a:cubicBezTo>
                    <a:pt x="118" y="45"/>
                    <a:pt x="118" y="45"/>
                    <a:pt x="118" y="45"/>
                  </a:cubicBezTo>
                  <a:cubicBezTo>
                    <a:pt x="155" y="45"/>
                    <a:pt x="155" y="45"/>
                    <a:pt x="155" y="45"/>
                  </a:cubicBezTo>
                  <a:cubicBezTo>
                    <a:pt x="155" y="52"/>
                    <a:pt x="155" y="52"/>
                    <a:pt x="155" y="52"/>
                  </a:cubicBezTo>
                  <a:cubicBezTo>
                    <a:pt x="155" y="58"/>
                    <a:pt x="160" y="63"/>
                    <a:pt x="167" y="63"/>
                  </a:cubicBezTo>
                  <a:cubicBezTo>
                    <a:pt x="173" y="63"/>
                    <a:pt x="178" y="58"/>
                    <a:pt x="178" y="52"/>
                  </a:cubicBezTo>
                  <a:cubicBezTo>
                    <a:pt x="178" y="45"/>
                    <a:pt x="178" y="45"/>
                    <a:pt x="178" y="45"/>
                  </a:cubicBezTo>
                  <a:cubicBezTo>
                    <a:pt x="191" y="45"/>
                    <a:pt x="191" y="45"/>
                    <a:pt x="191" y="45"/>
                  </a:cubicBezTo>
                  <a:lnTo>
                    <a:pt x="191" y="264"/>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3" name="Rectangle 348"/>
            <p:cNvSpPr>
              <a:spLocks noChangeArrowheads="1"/>
            </p:cNvSpPr>
            <p:nvPr/>
          </p:nvSpPr>
          <p:spPr bwMode="auto">
            <a:xfrm>
              <a:off x="6076951" y="4675189"/>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Rectangle 349"/>
            <p:cNvSpPr>
              <a:spLocks noChangeArrowheads="1"/>
            </p:cNvSpPr>
            <p:nvPr/>
          </p:nvSpPr>
          <p:spPr bwMode="auto">
            <a:xfrm>
              <a:off x="6076951" y="4711701"/>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Rectangle 350"/>
            <p:cNvSpPr>
              <a:spLocks noChangeArrowheads="1"/>
            </p:cNvSpPr>
            <p:nvPr/>
          </p:nvSpPr>
          <p:spPr bwMode="auto">
            <a:xfrm>
              <a:off x="6076951" y="4748214"/>
              <a:ext cx="107950" cy="142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6" name="Rectangle 351"/>
            <p:cNvSpPr>
              <a:spLocks noChangeArrowheads="1"/>
            </p:cNvSpPr>
            <p:nvPr/>
          </p:nvSpPr>
          <p:spPr bwMode="auto">
            <a:xfrm>
              <a:off x="6076951" y="4784726"/>
              <a:ext cx="107950" cy="15875"/>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7169" name="图片 7"/>
          <p:cNvPicPr>
            <a:picLocks noChangeAspect="1"/>
          </p:cNvPicPr>
          <p:nvPr/>
        </p:nvPicPr>
        <p:blipFill>
          <a:blip r:embed="rId1"/>
          <a:srcRect r="5199"/>
          <a:stretch>
            <a:fillRect/>
          </a:stretch>
        </p:blipFill>
        <p:spPr>
          <a:xfrm>
            <a:off x="0" y="0"/>
            <a:ext cx="12192000" cy="6858000"/>
          </a:xfrm>
          <a:prstGeom prst="rect">
            <a:avLst/>
          </a:prstGeom>
          <a:noFill/>
          <a:ln w="9525">
            <a:noFill/>
          </a:ln>
        </p:spPr>
      </p:pic>
      <p:grpSp>
        <p:nvGrpSpPr>
          <p:cNvPr id="7170" name="组合 9"/>
          <p:cNvGrpSpPr/>
          <p:nvPr/>
        </p:nvGrpSpPr>
        <p:grpSpPr>
          <a:xfrm>
            <a:off x="0" y="653733"/>
            <a:ext cx="12192635" cy="5585142"/>
            <a:chOff x="1" y="655986"/>
            <a:chExt cx="12192634" cy="5582255"/>
          </a:xfrm>
        </p:grpSpPr>
        <p:grpSp>
          <p:nvGrpSpPr>
            <p:cNvPr id="7171" name="组合 10"/>
            <p:cNvGrpSpPr/>
            <p:nvPr/>
          </p:nvGrpSpPr>
          <p:grpSpPr>
            <a:xfrm>
              <a:off x="1" y="655986"/>
              <a:ext cx="12192634" cy="5582255"/>
              <a:chOff x="1" y="655986"/>
              <a:chExt cx="12192634" cy="5582255"/>
            </a:xfrm>
          </p:grpSpPr>
          <p:sp>
            <p:nvSpPr>
              <p:cNvPr id="13" name="矩形 12"/>
              <p:cNvSpPr/>
              <p:nvPr/>
            </p:nvSpPr>
            <p:spPr>
              <a:xfrm>
                <a:off x="1" y="655986"/>
                <a:ext cx="12192634" cy="5225887"/>
              </a:xfrm>
              <a:prstGeom prst="rect">
                <a:avLst/>
              </a:prstGeom>
              <a:solidFill>
                <a:srgbClr val="353F48">
                  <a:alpha val="9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4" name="矩形 13"/>
              <p:cNvSpPr/>
              <p:nvPr/>
            </p:nvSpPr>
            <p:spPr>
              <a:xfrm>
                <a:off x="7599363" y="5882825"/>
                <a:ext cx="4592637" cy="355416"/>
              </a:xfrm>
              <a:prstGeom prst="rect">
                <a:avLst/>
              </a:prstGeom>
              <a:solidFill>
                <a:srgbClr val="353F48">
                  <a:alpha val="62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直角三角形 14"/>
              <p:cNvSpPr/>
              <p:nvPr/>
            </p:nvSpPr>
            <p:spPr>
              <a:xfrm rot="5400000">
                <a:off x="7655652" y="5826536"/>
                <a:ext cx="355416" cy="46672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sp>
          <p:nvSpPr>
            <p:cNvPr id="7175" name="矩形 11"/>
            <p:cNvSpPr/>
            <p:nvPr/>
          </p:nvSpPr>
          <p:spPr>
            <a:xfrm>
              <a:off x="417831" y="1006960"/>
              <a:ext cx="5697855" cy="4523940"/>
            </a:xfrm>
            <a:prstGeom prst="rect">
              <a:avLst/>
            </a:prstGeom>
            <a:noFill/>
            <a:ln w="9525">
              <a:noFill/>
            </a:ln>
          </p:spPr>
          <p:txBody>
            <a:bodyPr anchor="t" anchorCtr="0">
              <a:noAutofit/>
            </a:bodyPr>
            <a:p>
              <a:pPr indent="457200" algn="l"/>
              <a:r>
                <a:rPr lang="en-US" altLang="en-US" sz="2800" b="1" dirty="0">
                  <a:solidFill>
                    <a:schemeClr val="bg1"/>
                  </a:solidFill>
                  <a:latin typeface="Microsoft YaHei" pitchFamily="34" charset="-122"/>
                  <a:ea typeface="Microsoft YaHei" pitchFamily="34" charset="-122"/>
                  <a:sym typeface="+mn-ea"/>
                </a:rPr>
                <a:t>Spring Boot</a:t>
              </a:r>
              <a:r>
                <a:rPr lang="en-US" altLang="en-US" sz="2800" dirty="0">
                  <a:solidFill>
                    <a:schemeClr val="bg1"/>
                  </a:solidFill>
                  <a:latin typeface="Microsoft YaHei" pitchFamily="34" charset="-122"/>
                  <a:ea typeface="Microsoft YaHei" pitchFamily="34" charset="-122"/>
                  <a:sym typeface="+mn-ea"/>
                </a:rPr>
                <a:t> is a framework used to build Java applications easily and quickly.</a:t>
              </a:r>
              <a:endParaRPr lang="en-US" altLang="en-US" sz="2800" dirty="0">
                <a:solidFill>
                  <a:schemeClr val="bg1"/>
                </a:solidFill>
                <a:latin typeface="Microsoft YaHei" pitchFamily="34" charset="-122"/>
                <a:ea typeface="Microsoft YaHei" pitchFamily="34" charset="-122"/>
              </a:endParaRPr>
            </a:p>
            <a:p>
              <a:pPr indent="457200" algn="l"/>
              <a:endParaRPr lang="en-US" altLang="en-US" sz="2800" dirty="0">
                <a:solidFill>
                  <a:schemeClr val="bg1"/>
                </a:solidFill>
                <a:latin typeface="Microsoft YaHei" pitchFamily="34" charset="-122"/>
                <a:ea typeface="Microsoft YaHei" pitchFamily="34" charset="-122"/>
              </a:endParaRPr>
            </a:p>
            <a:p>
              <a:pPr indent="457200" algn="l"/>
              <a:r>
                <a:rPr lang="en-US" altLang="en-US" sz="2800" dirty="0">
                  <a:solidFill>
                    <a:schemeClr val="bg1"/>
                  </a:solidFill>
                  <a:latin typeface="Microsoft YaHei" pitchFamily="34" charset="-122"/>
                  <a:ea typeface="Microsoft YaHei" pitchFamily="34" charset="-122"/>
                  <a:sym typeface="+mn-ea"/>
                </a:rPr>
                <a:t>It`s built on top of the Spring Framework, which is one of the most popular frameworks for enterprise-level Java development.</a:t>
              </a:r>
              <a:endParaRPr lang="en-US" altLang="en-US" sz="2800" dirty="0">
                <a:solidFill>
                  <a:schemeClr val="bg1"/>
                </a:solidFill>
                <a:latin typeface="Microsoft YaHei" pitchFamily="34" charset="-122"/>
                <a:ea typeface="Microsoft YaHei" pitchFamily="34" charset="-122"/>
                <a:sym typeface="+mn-ea"/>
              </a:endParaRPr>
            </a:p>
          </p:txBody>
        </p:sp>
      </p:grpSp>
      <p:pic>
        <p:nvPicPr>
          <p:cNvPr id="4" name="Picture 3" descr="Screenshot 2025-10-15 at 5.24.30 PM"/>
          <p:cNvPicPr>
            <a:picLocks noChangeAspect="1"/>
          </p:cNvPicPr>
          <p:nvPr/>
        </p:nvPicPr>
        <p:blipFill>
          <a:blip r:embed="rId2"/>
          <a:stretch>
            <a:fillRect/>
          </a:stretch>
        </p:blipFill>
        <p:spPr>
          <a:xfrm>
            <a:off x="6478905" y="897255"/>
            <a:ext cx="4267200" cy="4343400"/>
          </a:xfrm>
          <a:prstGeom prst="rect">
            <a:avLst/>
          </a:prstGeom>
        </p:spPr>
      </p:pic>
      <p:pic>
        <p:nvPicPr>
          <p:cNvPr id="5" name="Picture 4" descr="Screenshot 2025-10-15 at 5.24.56 PM"/>
          <p:cNvPicPr>
            <a:picLocks noChangeAspect="1"/>
          </p:cNvPicPr>
          <p:nvPr/>
        </p:nvPicPr>
        <p:blipFill>
          <a:blip r:embed="rId3"/>
          <a:stretch>
            <a:fillRect/>
          </a:stretch>
        </p:blipFill>
        <p:spPr>
          <a:xfrm>
            <a:off x="8909050" y="3615055"/>
            <a:ext cx="2980690" cy="2159635"/>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9" name="矩形 8"/>
          <p:cNvSpPr/>
          <p:nvPr/>
        </p:nvSpPr>
        <p:spPr>
          <a:xfrm>
            <a:off x="4718050" y="1317625"/>
            <a:ext cx="7473950" cy="3232150"/>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1" name="组合 10"/>
          <p:cNvGrpSpPr/>
          <p:nvPr/>
        </p:nvGrpSpPr>
        <p:grpSpPr>
          <a:xfrm>
            <a:off x="-2" y="4549138"/>
            <a:ext cx="12192001" cy="71120"/>
            <a:chOff x="-1" y="4561840"/>
            <a:chExt cx="10485124" cy="101600"/>
          </a:xfrm>
          <a:solidFill>
            <a:srgbClr val="353F48"/>
          </a:solidFill>
        </p:grpSpPr>
        <p:sp>
          <p:nvSpPr>
            <p:cNvPr id="12" name="矩形 11"/>
            <p:cNvSpPr/>
            <p:nvPr/>
          </p:nvSpPr>
          <p:spPr>
            <a:xfrm>
              <a:off x="-1"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矩形 12"/>
            <p:cNvSpPr/>
            <p:nvPr/>
          </p:nvSpPr>
          <p:spPr>
            <a:xfrm>
              <a:off x="2621280"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4" name="矩形 13"/>
            <p:cNvSpPr/>
            <p:nvPr/>
          </p:nvSpPr>
          <p:spPr>
            <a:xfrm>
              <a:off x="5242561"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矩形 14"/>
            <p:cNvSpPr/>
            <p:nvPr/>
          </p:nvSpPr>
          <p:spPr>
            <a:xfrm>
              <a:off x="7863842" y="4561840"/>
              <a:ext cx="2621281" cy="101600"/>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sp>
        <p:nvSpPr>
          <p:cNvPr id="8197" name="矩形 15"/>
          <p:cNvSpPr/>
          <p:nvPr/>
        </p:nvSpPr>
        <p:spPr>
          <a:xfrm>
            <a:off x="5027930" y="2218690"/>
            <a:ext cx="6007100" cy="1773555"/>
          </a:xfrm>
          <a:prstGeom prst="rect">
            <a:avLst/>
          </a:prstGeom>
          <a:noFill/>
          <a:ln w="9525">
            <a:noFill/>
          </a:ln>
        </p:spPr>
        <p:txBody>
          <a:bodyPr wrap="none" anchor="t" anchorCtr="0">
            <a:noAutofit/>
          </a:bodyPr>
          <a:p>
            <a:pPr algn="l"/>
            <a:r>
              <a:rPr lang="en-US" altLang="en-US" sz="4400" b="1" dirty="0">
                <a:solidFill>
                  <a:srgbClr val="FFFFFF"/>
                </a:solidFill>
                <a:latin typeface="Microsoft YaHei" pitchFamily="34" charset="-122"/>
                <a:ea typeface="Microsoft YaHei" pitchFamily="34" charset="-122"/>
              </a:rPr>
              <a:t>Why do we need it?</a:t>
            </a:r>
            <a:endParaRPr lang="en-US" altLang="en-US" sz="4400" b="1" dirty="0">
              <a:solidFill>
                <a:srgbClr val="FFFFFF"/>
              </a:solidFill>
              <a:latin typeface="Microsoft YaHei" pitchFamily="34" charset="-122"/>
              <a:ea typeface="Microsoft YaHei" pitchFamily="34" charset="-122"/>
            </a:endParaRPr>
          </a:p>
        </p:txBody>
      </p:sp>
      <p:pic>
        <p:nvPicPr>
          <p:cNvPr id="2" name="Picture 1" descr="Screenshot 2025-10-15 at 5.27.21 PM"/>
          <p:cNvPicPr>
            <a:picLocks noChangeAspect="1"/>
          </p:cNvPicPr>
          <p:nvPr/>
        </p:nvPicPr>
        <p:blipFill>
          <a:blip r:embed="rId1"/>
          <a:stretch>
            <a:fillRect/>
          </a:stretch>
        </p:blipFill>
        <p:spPr>
          <a:xfrm>
            <a:off x="1070610" y="2908935"/>
            <a:ext cx="3022600" cy="2438400"/>
          </a:xfrm>
          <a:prstGeom prst="rect">
            <a:avLst/>
          </a:prstGeom>
        </p:spPr>
      </p:pic>
      <p:pic>
        <p:nvPicPr>
          <p:cNvPr id="49" name="Picture 48" descr="Screenshot 2025-10-15 at 5.22.16 PM"/>
          <p:cNvPicPr>
            <a:picLocks noChangeAspect="1"/>
          </p:cNvPicPr>
          <p:nvPr/>
        </p:nvPicPr>
        <p:blipFill>
          <a:blip r:embed="rId2"/>
          <a:stretch>
            <a:fillRect/>
          </a:stretch>
        </p:blipFill>
        <p:spPr>
          <a:xfrm>
            <a:off x="396240" y="925195"/>
            <a:ext cx="3915410" cy="198374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0241" name="组合 5"/>
          <p:cNvGrpSpPr/>
          <p:nvPr/>
        </p:nvGrpSpPr>
        <p:grpSpPr>
          <a:xfrm>
            <a:off x="247650" y="196850"/>
            <a:ext cx="417513" cy="355600"/>
            <a:chOff x="705193" y="4082415"/>
            <a:chExt cx="666407" cy="568960"/>
          </a:xfrm>
        </p:grpSpPr>
        <p:sp>
          <p:nvSpPr>
            <p:cNvPr id="4" name="直角三角形 3"/>
            <p:cNvSpPr/>
            <p:nvPr/>
          </p:nvSpPr>
          <p:spPr>
            <a:xfrm>
              <a:off x="760938" y="4082415"/>
              <a:ext cx="610662" cy="56896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19329383">
              <a:off x="705193" y="4125596"/>
              <a:ext cx="532111" cy="406400"/>
            </a:xfrm>
            <a:prstGeom prst="rtTriangle">
              <a:avLst/>
            </a:pr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
        <p:nvSpPr>
          <p:cNvPr id="10244" name="文本框 6"/>
          <p:cNvSpPr txBox="1"/>
          <p:nvPr/>
        </p:nvSpPr>
        <p:spPr>
          <a:xfrm>
            <a:off x="744855" y="225425"/>
            <a:ext cx="4974590" cy="583565"/>
          </a:xfrm>
          <a:prstGeom prst="rect">
            <a:avLst/>
          </a:prstGeom>
          <a:noFill/>
          <a:ln w="9525">
            <a:noFill/>
          </a:ln>
        </p:spPr>
        <p:txBody>
          <a:bodyPr wrap="square" anchor="t" anchorCtr="0">
            <a:spAutoFit/>
          </a:bodyPr>
          <a:p>
            <a:r>
              <a:rPr lang="en-US" altLang="en-US" sz="3200" b="1" dirty="0">
                <a:solidFill>
                  <a:srgbClr val="262626"/>
                </a:solidFill>
                <a:latin typeface="Microsoft YaHei" pitchFamily="34" charset="-122"/>
                <a:ea typeface="Microsoft YaHei" pitchFamily="34" charset="-122"/>
              </a:rPr>
              <a:t>Why do we need it?</a:t>
            </a:r>
            <a:endParaRPr lang="en-US" altLang="en-US" sz="3200" b="1" dirty="0">
              <a:solidFill>
                <a:srgbClr val="262626"/>
              </a:solidFill>
              <a:latin typeface="Microsoft YaHei" pitchFamily="34" charset="-122"/>
              <a:ea typeface="Microsoft YaHei" pitchFamily="34" charset="-122"/>
            </a:endParaRPr>
          </a:p>
        </p:txBody>
      </p:sp>
      <p:grpSp>
        <p:nvGrpSpPr>
          <p:cNvPr id="10245" name="组合 7"/>
          <p:cNvGrpSpPr/>
          <p:nvPr/>
        </p:nvGrpSpPr>
        <p:grpSpPr>
          <a:xfrm>
            <a:off x="4162425" y="2049463"/>
            <a:ext cx="1522413" cy="1790700"/>
            <a:chOff x="4162255" y="2049081"/>
            <a:chExt cx="1523085" cy="1791782"/>
          </a:xfrm>
        </p:grpSpPr>
        <p:sp>
          <p:nvSpPr>
            <p:cNvPr id="9" name="椭圆 37"/>
            <p:cNvSpPr/>
            <p:nvPr/>
          </p:nvSpPr>
          <p:spPr>
            <a:xfrm>
              <a:off x="4162255" y="2049081"/>
              <a:ext cx="1523085" cy="1791782"/>
            </a:xfrm>
            <a:custGeom>
              <a:avLst/>
              <a:gdLst/>
              <a:ahLst/>
              <a:cxnLst/>
              <a:rect l="l" t="t" r="r" b="b"/>
              <a:pathLst>
                <a:path w="1224056" h="1440000">
                  <a:moveTo>
                    <a:pt x="720000" y="0"/>
                  </a:moveTo>
                  <a:cubicBezTo>
                    <a:pt x="916472" y="0"/>
                    <a:pt x="1094563" y="78694"/>
                    <a:pt x="1224056" y="206708"/>
                  </a:cubicBezTo>
                  <a:cubicBezTo>
                    <a:pt x="1090618" y="336923"/>
                    <a:pt x="1008112" y="518827"/>
                    <a:pt x="1008112" y="720000"/>
                  </a:cubicBezTo>
                  <a:cubicBezTo>
                    <a:pt x="1008112" y="921174"/>
                    <a:pt x="1090618" y="1103077"/>
                    <a:pt x="1224056" y="1233293"/>
                  </a:cubicBezTo>
                  <a:cubicBezTo>
                    <a:pt x="1094563" y="1361306"/>
                    <a:pt x="916472" y="1440000"/>
                    <a:pt x="720000" y="1440000"/>
                  </a:cubicBezTo>
                  <a:cubicBezTo>
                    <a:pt x="322355" y="1440000"/>
                    <a:pt x="0" y="1117645"/>
                    <a:pt x="0" y="720000"/>
                  </a:cubicBezTo>
                  <a:cubicBezTo>
                    <a:pt x="0" y="322355"/>
                    <a:pt x="322355" y="0"/>
                    <a:pt x="720000" y="0"/>
                  </a:cubicBezTo>
                  <a:close/>
                </a:path>
              </a:pathLst>
            </a:custGeom>
            <a:solidFill>
              <a:srgbClr val="F8941C"/>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0" name="TextBox 55"/>
            <p:cNvSpPr txBox="1"/>
            <p:nvPr/>
          </p:nvSpPr>
          <p:spPr>
            <a:xfrm>
              <a:off x="4673656" y="2555799"/>
              <a:ext cx="500284" cy="706865"/>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1</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48" name="组合 10"/>
          <p:cNvGrpSpPr/>
          <p:nvPr/>
        </p:nvGrpSpPr>
        <p:grpSpPr>
          <a:xfrm>
            <a:off x="5719763" y="2019300"/>
            <a:ext cx="1790700" cy="1565275"/>
            <a:chOff x="5719229" y="2019949"/>
            <a:chExt cx="1791784" cy="1564555"/>
          </a:xfrm>
        </p:grpSpPr>
        <p:sp>
          <p:nvSpPr>
            <p:cNvPr id="12" name="椭圆 39"/>
            <p:cNvSpPr/>
            <p:nvPr/>
          </p:nvSpPr>
          <p:spPr>
            <a:xfrm>
              <a:off x="5719229" y="2019949"/>
              <a:ext cx="1791784" cy="1564555"/>
            </a:xfrm>
            <a:custGeom>
              <a:avLst/>
              <a:gdLst/>
              <a:ahLst/>
              <a:cxnLst/>
              <a:rect l="l" t="t" r="r" b="b"/>
              <a:pathLst>
                <a:path w="1440000" h="1257385">
                  <a:moveTo>
                    <a:pt x="720000" y="0"/>
                  </a:moveTo>
                  <a:cubicBezTo>
                    <a:pt x="1117645" y="0"/>
                    <a:pt x="1440000" y="322355"/>
                    <a:pt x="1440000" y="720000"/>
                  </a:cubicBezTo>
                  <a:cubicBezTo>
                    <a:pt x="1440000" y="917842"/>
                    <a:pt x="1360205" y="1097046"/>
                    <a:pt x="1230860" y="1227004"/>
                  </a:cubicBezTo>
                  <a:cubicBezTo>
                    <a:pt x="1105781" y="1112548"/>
                    <a:pt x="938852" y="1044389"/>
                    <a:pt x="756004" y="1044389"/>
                  </a:cubicBezTo>
                  <a:cubicBezTo>
                    <a:pt x="556201" y="1044389"/>
                    <a:pt x="375406" y="1125775"/>
                    <a:pt x="245144" y="1257385"/>
                  </a:cubicBezTo>
                  <a:cubicBezTo>
                    <a:pt x="94059" y="1127625"/>
                    <a:pt x="0" y="934797"/>
                    <a:pt x="0" y="720000"/>
                  </a:cubicBezTo>
                  <a:cubicBezTo>
                    <a:pt x="0" y="322355"/>
                    <a:pt x="322355" y="0"/>
                    <a:pt x="720000" y="0"/>
                  </a:cubicBezTo>
                  <a:close/>
                </a:path>
              </a:pathLst>
            </a:custGeom>
            <a:solidFill>
              <a:srgbClr val="353F48"/>
            </a:solidFill>
            <a:ln w="9525" cap="flat" cmpd="sng" algn="ctr">
              <a:noFill/>
              <a:prstDash val="solid"/>
            </a:ln>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3" name="TextBox 73"/>
            <p:cNvSpPr txBox="1"/>
            <p:nvPr/>
          </p:nvSpPr>
          <p:spPr>
            <a:xfrm>
              <a:off x="6356201" y="2554691"/>
              <a:ext cx="500366" cy="707699"/>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2</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51" name="组合 13"/>
          <p:cNvGrpSpPr/>
          <p:nvPr/>
        </p:nvGrpSpPr>
        <p:grpSpPr>
          <a:xfrm>
            <a:off x="5980113" y="3570288"/>
            <a:ext cx="1524000" cy="1792287"/>
            <a:chOff x="5980372" y="3570325"/>
            <a:chExt cx="1523085" cy="1791782"/>
          </a:xfrm>
        </p:grpSpPr>
        <p:sp>
          <p:nvSpPr>
            <p:cNvPr id="15" name="椭圆 44"/>
            <p:cNvSpPr/>
            <p:nvPr/>
          </p:nvSpPr>
          <p:spPr>
            <a:xfrm>
              <a:off x="5980372" y="3570325"/>
              <a:ext cx="1523085" cy="1791782"/>
            </a:xfrm>
            <a:custGeom>
              <a:avLst/>
              <a:gdLst/>
              <a:ahLst/>
              <a:cxnLst/>
              <a:rect l="l" t="t" r="r" b="b"/>
              <a:pathLst>
                <a:path w="1224056" h="1440000">
                  <a:moveTo>
                    <a:pt x="504056" y="0"/>
                  </a:moveTo>
                  <a:cubicBezTo>
                    <a:pt x="901701" y="0"/>
                    <a:pt x="1224056" y="322355"/>
                    <a:pt x="1224056" y="720000"/>
                  </a:cubicBezTo>
                  <a:cubicBezTo>
                    <a:pt x="1224056" y="1117645"/>
                    <a:pt x="901701" y="1440000"/>
                    <a:pt x="504056" y="1440000"/>
                  </a:cubicBezTo>
                  <a:cubicBezTo>
                    <a:pt x="307585" y="1440000"/>
                    <a:pt x="129493" y="1361306"/>
                    <a:pt x="0" y="1233293"/>
                  </a:cubicBezTo>
                  <a:cubicBezTo>
                    <a:pt x="133438" y="1103077"/>
                    <a:pt x="215944" y="921174"/>
                    <a:pt x="215944" y="720000"/>
                  </a:cubicBezTo>
                  <a:cubicBezTo>
                    <a:pt x="215944" y="518827"/>
                    <a:pt x="133438" y="336923"/>
                    <a:pt x="0" y="206708"/>
                  </a:cubicBezTo>
                  <a:cubicBezTo>
                    <a:pt x="129493" y="78694"/>
                    <a:pt x="307585" y="0"/>
                    <a:pt x="504056" y="0"/>
                  </a:cubicBezTo>
                  <a:close/>
                </a:path>
              </a:pathLst>
            </a:custGeom>
            <a:solidFill>
              <a:srgbClr val="F8941C"/>
            </a:solidFill>
            <a:ln w="9525" cap="flat" cmpd="sng" algn="ctr">
              <a:noFill/>
              <a:prstDash val="solid"/>
            </a:ln>
            <a:effectLst>
              <a:outerShdw blurRad="40000" dist="23000" dir="5400000" rotWithShape="0">
                <a:srgbClr val="000000">
                  <a:alpha val="35000"/>
                </a:srgbClr>
              </a:outerShdw>
            </a:effectLst>
          </p:spPr>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white"/>
                </a:solidFill>
                <a:effectLst/>
                <a:uLnTx/>
                <a:uFillTx/>
                <a:latin typeface="Calibri"/>
                <a:ea typeface="SimSun" pitchFamily="2" charset="-122"/>
                <a:cs typeface="+mn-cs"/>
              </a:endParaRPr>
            </a:p>
          </p:txBody>
        </p:sp>
        <p:sp>
          <p:nvSpPr>
            <p:cNvPr id="16" name="TextBox 74"/>
            <p:cNvSpPr txBox="1"/>
            <p:nvPr/>
          </p:nvSpPr>
          <p:spPr>
            <a:xfrm>
              <a:off x="6438884" y="4321000"/>
              <a:ext cx="499763" cy="707826"/>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4</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grpSp>
        <p:nvGrpSpPr>
          <p:cNvPr id="10254" name="组合 16"/>
          <p:cNvGrpSpPr/>
          <p:nvPr/>
        </p:nvGrpSpPr>
        <p:grpSpPr>
          <a:xfrm>
            <a:off x="4141788" y="3863975"/>
            <a:ext cx="1790700" cy="1524000"/>
            <a:chOff x="4141235" y="3864128"/>
            <a:chExt cx="1791784" cy="1523254"/>
          </a:xfrm>
        </p:grpSpPr>
        <p:sp>
          <p:nvSpPr>
            <p:cNvPr id="18" name="椭圆 47"/>
            <p:cNvSpPr/>
            <p:nvPr/>
          </p:nvSpPr>
          <p:spPr>
            <a:xfrm>
              <a:off x="4141235" y="3864128"/>
              <a:ext cx="1791784" cy="1523254"/>
            </a:xfrm>
            <a:custGeom>
              <a:avLst/>
              <a:gdLst/>
              <a:ahLst/>
              <a:cxnLst/>
              <a:rect l="l" t="t" r="r" b="b"/>
              <a:pathLst>
                <a:path w="1440000" h="1224192">
                  <a:moveTo>
                    <a:pt x="206820" y="0"/>
                  </a:moveTo>
                  <a:cubicBezTo>
                    <a:pt x="337038" y="133353"/>
                    <a:pt x="518890" y="215807"/>
                    <a:pt x="720000" y="215807"/>
                  </a:cubicBezTo>
                  <a:cubicBezTo>
                    <a:pt x="921110" y="215807"/>
                    <a:pt x="1102962" y="133353"/>
                    <a:pt x="1233180" y="0"/>
                  </a:cubicBezTo>
                  <a:cubicBezTo>
                    <a:pt x="1361255" y="129514"/>
                    <a:pt x="1440000" y="307657"/>
                    <a:pt x="1440000" y="504192"/>
                  </a:cubicBezTo>
                  <a:cubicBezTo>
                    <a:pt x="1440000" y="901837"/>
                    <a:pt x="1117645" y="1224192"/>
                    <a:pt x="720000" y="1224192"/>
                  </a:cubicBezTo>
                  <a:cubicBezTo>
                    <a:pt x="322355" y="1224192"/>
                    <a:pt x="0" y="901837"/>
                    <a:pt x="0" y="504192"/>
                  </a:cubicBezTo>
                  <a:cubicBezTo>
                    <a:pt x="0" y="307657"/>
                    <a:pt x="78745" y="129514"/>
                    <a:pt x="206820" y="0"/>
                  </a:cubicBezTo>
                  <a:close/>
                </a:path>
              </a:pathLst>
            </a:custGeom>
            <a:solidFill>
              <a:srgbClr val="353F48"/>
            </a:solidFill>
            <a:ln>
              <a:noFill/>
            </a:ln>
            <a:effectLst/>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0" cap="none" spc="0" normalizeH="0" baseline="0" noProof="0">
                <a:ln>
                  <a:noFill/>
                </a:ln>
                <a:solidFill>
                  <a:prstClr val="black"/>
                </a:solidFill>
                <a:effectLst/>
                <a:uLnTx/>
                <a:uFillTx/>
                <a:latin typeface="+mn-lt"/>
                <a:ea typeface="+mn-ea"/>
                <a:cs typeface="+mn-cs"/>
              </a:endParaRPr>
            </a:p>
          </p:txBody>
        </p:sp>
        <p:sp>
          <p:nvSpPr>
            <p:cNvPr id="19" name="TextBox 75"/>
            <p:cNvSpPr txBox="1"/>
            <p:nvPr/>
          </p:nvSpPr>
          <p:spPr>
            <a:xfrm>
              <a:off x="4759146" y="4321104"/>
              <a:ext cx="500366" cy="707678"/>
            </a:xfrm>
            <a:prstGeom prst="rect">
              <a:avLst/>
            </a:prstGeom>
            <a:noFill/>
          </p:spPr>
          <p:txBody>
            <a:bodyPr wrap="none">
              <a:spAutoFit/>
            </a:bodyPr>
            <a:lstStyle>
              <a:defPPr>
                <a:defRPr lang="zh-CN"/>
              </a:defPPr>
              <a:lvl1pPr>
                <a:defRPr sz="3200">
                  <a:latin typeface="Microsoft YaHei" pitchFamily="34" charset="-122"/>
                  <a:ea typeface="Microsoft YaHei" pitchFamily="34" charset="-122"/>
                  <a:cs typeface="Arial Unicode MS" panose="020B0604020202020204" pitchFamily="34" charset="-122"/>
                </a:defRPr>
              </a:lvl1p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rPr>
                <a:t>3</a:t>
              </a:r>
              <a:endParaRPr kumimoji="0" lang="zh-CN" altLang="en-US" sz="4000" b="1" i="0" u="none" strike="noStrike" kern="0" cap="none" spc="0" normalizeH="0" baseline="0" noProof="0" dirty="0">
                <a:ln>
                  <a:noFill/>
                </a:ln>
                <a:solidFill>
                  <a:schemeClr val="bg1"/>
                </a:solidFill>
                <a:effectLst/>
                <a:uLnTx/>
                <a:uFillTx/>
                <a:latin typeface="Microsoft YaHei" pitchFamily="34" charset="-122"/>
                <a:ea typeface="Microsoft YaHei" pitchFamily="34" charset="-122"/>
                <a:cs typeface="Arial Unicode MS" panose="020B0604020202020204" pitchFamily="34" charset="-122"/>
                <a:sym typeface="+mn-ea"/>
              </a:endParaRPr>
            </a:p>
          </p:txBody>
        </p:sp>
      </p:grpSp>
      <p:cxnSp>
        <p:nvCxnSpPr>
          <p:cNvPr id="10257" name="直接连接符 19"/>
          <p:cNvCxnSpPr/>
          <p:nvPr/>
        </p:nvCxnSpPr>
        <p:spPr>
          <a:xfrm>
            <a:off x="3965575" y="1968500"/>
            <a:ext cx="0" cy="1546225"/>
          </a:xfrm>
          <a:prstGeom prst="line">
            <a:avLst/>
          </a:prstGeom>
          <a:ln w="9525" cap="flat" cmpd="sng">
            <a:solidFill>
              <a:srgbClr val="7F7F7F"/>
            </a:solidFill>
            <a:prstDash val="solid"/>
            <a:round/>
            <a:headEnd type="none" w="med" len="med"/>
            <a:tailEnd type="none" w="med" len="med"/>
          </a:ln>
        </p:spPr>
      </p:cxnSp>
      <p:cxnSp>
        <p:nvCxnSpPr>
          <p:cNvPr id="10258" name="直接连接符 20"/>
          <p:cNvCxnSpPr/>
          <p:nvPr/>
        </p:nvCxnSpPr>
        <p:spPr>
          <a:xfrm>
            <a:off x="3965575" y="3876675"/>
            <a:ext cx="0" cy="1597025"/>
          </a:xfrm>
          <a:prstGeom prst="line">
            <a:avLst/>
          </a:prstGeom>
          <a:ln w="9525" cap="flat" cmpd="sng">
            <a:solidFill>
              <a:srgbClr val="7F7F7F"/>
            </a:solidFill>
            <a:prstDash val="solid"/>
            <a:round/>
            <a:headEnd type="none" w="med" len="med"/>
            <a:tailEnd type="none" w="med" len="med"/>
          </a:ln>
        </p:spPr>
      </p:cxnSp>
      <p:cxnSp>
        <p:nvCxnSpPr>
          <p:cNvPr id="10259" name="直接连接符 21"/>
          <p:cNvCxnSpPr/>
          <p:nvPr/>
        </p:nvCxnSpPr>
        <p:spPr>
          <a:xfrm>
            <a:off x="7781925" y="3824288"/>
            <a:ext cx="0" cy="1598612"/>
          </a:xfrm>
          <a:prstGeom prst="line">
            <a:avLst/>
          </a:prstGeom>
          <a:ln w="9525" cap="flat" cmpd="sng">
            <a:solidFill>
              <a:srgbClr val="7F7F7F"/>
            </a:solidFill>
            <a:prstDash val="solid"/>
            <a:round/>
            <a:headEnd type="none" w="med" len="med"/>
            <a:tailEnd type="none" w="med" len="med"/>
          </a:ln>
        </p:spPr>
      </p:cxnSp>
      <p:cxnSp>
        <p:nvCxnSpPr>
          <p:cNvPr id="10260" name="直接连接符 22"/>
          <p:cNvCxnSpPr/>
          <p:nvPr/>
        </p:nvCxnSpPr>
        <p:spPr>
          <a:xfrm>
            <a:off x="7781925" y="1916113"/>
            <a:ext cx="0" cy="1598612"/>
          </a:xfrm>
          <a:prstGeom prst="line">
            <a:avLst/>
          </a:prstGeom>
          <a:ln w="9525" cap="flat" cmpd="sng">
            <a:solidFill>
              <a:srgbClr val="7F7F7F"/>
            </a:solidFill>
            <a:prstDash val="solid"/>
            <a:round/>
            <a:headEnd type="none" w="med" len="med"/>
            <a:tailEnd type="none" w="med" len="med"/>
          </a:ln>
        </p:spPr>
      </p:cxnSp>
      <p:cxnSp>
        <p:nvCxnSpPr>
          <p:cNvPr id="10261" name="直接连接符 23"/>
          <p:cNvCxnSpPr/>
          <p:nvPr/>
        </p:nvCxnSpPr>
        <p:spPr>
          <a:xfrm>
            <a:off x="7832725" y="3670300"/>
            <a:ext cx="3763963" cy="0"/>
          </a:xfrm>
          <a:prstGeom prst="line">
            <a:avLst/>
          </a:prstGeom>
          <a:ln w="9525" cap="flat" cmpd="sng">
            <a:solidFill>
              <a:srgbClr val="7F7F7F"/>
            </a:solidFill>
            <a:prstDash val="solid"/>
            <a:round/>
            <a:headEnd type="none" w="med" len="med"/>
            <a:tailEnd type="none" w="med" len="med"/>
          </a:ln>
        </p:spPr>
      </p:cxnSp>
      <p:cxnSp>
        <p:nvCxnSpPr>
          <p:cNvPr id="10262" name="直接连接符 24"/>
          <p:cNvCxnSpPr/>
          <p:nvPr/>
        </p:nvCxnSpPr>
        <p:spPr>
          <a:xfrm flipH="1">
            <a:off x="201613" y="3670300"/>
            <a:ext cx="3660775" cy="0"/>
          </a:xfrm>
          <a:prstGeom prst="line">
            <a:avLst/>
          </a:prstGeom>
          <a:ln w="9525" cap="flat" cmpd="sng">
            <a:solidFill>
              <a:srgbClr val="7F7F7F"/>
            </a:solidFill>
            <a:prstDash val="solid"/>
            <a:round/>
            <a:headEnd type="none" w="med" len="med"/>
            <a:tailEnd type="none" w="med" len="med"/>
          </a:ln>
        </p:spPr>
      </p:cxnSp>
      <p:sp>
        <p:nvSpPr>
          <p:cNvPr id="28" name="矩形 27"/>
          <p:cNvSpPr/>
          <p:nvPr/>
        </p:nvSpPr>
        <p:spPr>
          <a:xfrm>
            <a:off x="337185" y="1874520"/>
            <a:ext cx="3529965" cy="1640205"/>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Before Spring Boot, developers had to write a lot of configuration code. You needed to set up web servers, dependencies, databases, and security manually.</a:t>
            </a:r>
            <a:endPar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1" name="矩形 30"/>
          <p:cNvSpPr/>
          <p:nvPr/>
        </p:nvSpPr>
        <p:spPr>
          <a:xfrm>
            <a:off x="337185" y="3856990"/>
            <a:ext cx="3347720" cy="1622425"/>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Without Spring Boot: you write 50 lines just to connect to a database.</a:t>
            </a:r>
            <a:endParaRPr kumimoji="0" lang="en-US" altLang="en-US" sz="18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4" name="矩形 33"/>
          <p:cNvSpPr/>
          <p:nvPr/>
        </p:nvSpPr>
        <p:spPr>
          <a:xfrm>
            <a:off x="7951470" y="1871345"/>
            <a:ext cx="3661410" cy="1565910"/>
          </a:xfrm>
          <a:prstGeom prst="rect">
            <a:avLst/>
          </a:prstGeom>
        </p:spPr>
        <p:txBody>
          <a:bodyPr>
            <a:noAutofit/>
          </a:bodyPr>
          <a:lstStyle/>
          <a:p>
            <a:pPr marL="0" marR="0" lvl="0" indent="457200" algn="l" defTabSz="914400" rtl="0" eaLnBrk="1" fontAlgn="auto" latinLnBrk="0" hangingPunct="1">
              <a:lnSpc>
                <a:spcPct val="100000"/>
              </a:lnSpc>
              <a:spcBef>
                <a:spcPts val="0"/>
              </a:spcBef>
              <a:spcAft>
                <a:spcPts val="0"/>
              </a:spcAft>
              <a:buClrTx/>
              <a:buSzTx/>
              <a:buFontTx/>
              <a:buNone/>
              <a:defRPr/>
            </a:pPr>
            <a:r>
              <a:rPr kumimoji="0" lang="en-US" altLang="en-US" sz="24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Spring Boot removes all of that it gives you a ready-made structure.</a:t>
            </a:r>
            <a:endParaRPr kumimoji="0" lang="en-US" altLang="en-US" sz="24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37" name="矩形 36"/>
          <p:cNvSpPr/>
          <p:nvPr/>
        </p:nvSpPr>
        <p:spPr>
          <a:xfrm>
            <a:off x="7951470" y="3903345"/>
            <a:ext cx="3645535" cy="1511300"/>
          </a:xfrm>
          <a:prstGeom prst="rect">
            <a:avLst/>
          </a:prstGeom>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With Spring Boot: it connects automatically using one line in a </a:t>
            </a:r>
            <a:r>
              <a:rPr kumimoji="0" lang="en-US" altLang="en-US" sz="2000" i="1" u="sng"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application.properties</a:t>
            </a:r>
            <a:r>
              <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rPr>
              <a:t> file.</a:t>
            </a:r>
            <a:endParaRPr kumimoji="0" lang="en-US" altLang="en-US" sz="2000" b="0" i="0" u="none" strike="noStrike" kern="1200" cap="none" spc="0" normalizeH="0" baseline="0" noProof="0" dirty="0">
              <a:ln>
                <a:noFill/>
              </a:ln>
              <a:solidFill>
                <a:prstClr val="black"/>
              </a:solidFill>
              <a:effectLst/>
              <a:uLnTx/>
              <a:uFillTx/>
              <a:latin typeface="Microsoft YaHei" pitchFamily="34" charset="-122"/>
              <a:ea typeface="Microsoft YaHei" pitchFamily="34" charset="-122"/>
              <a:cs typeface="+mn-cs"/>
              <a:sym typeface="+mn-ea"/>
            </a:endParaRPr>
          </a:p>
        </p:txBody>
      </p:sp>
      <p:sp>
        <p:nvSpPr>
          <p:cNvPr id="2" name="Text Box 1"/>
          <p:cNvSpPr txBox="1"/>
          <p:nvPr/>
        </p:nvSpPr>
        <p:spPr>
          <a:xfrm>
            <a:off x="337185" y="6122670"/>
            <a:ext cx="11411585" cy="368300"/>
          </a:xfrm>
          <a:prstGeom prst="rect">
            <a:avLst/>
          </a:prstGeom>
          <a:noFill/>
        </p:spPr>
        <p:txBody>
          <a:bodyPr wrap="square" rtlCol="0">
            <a:spAutoFit/>
          </a:bodyPr>
          <a:p>
            <a:r>
              <a:rPr lang="en-US" altLang="en-US"/>
              <a:t>It’s especially helpful for students and professionals who want to build something that just works ‘fast’.</a:t>
            </a:r>
            <a:endParaRPr lang="en-US"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666875" y="2554515"/>
            <a:ext cx="1181097" cy="1415585"/>
            <a:chOff x="838201" y="5629276"/>
            <a:chExt cx="215900" cy="258763"/>
          </a:xfrm>
          <a:solidFill>
            <a:schemeClr val="bg1"/>
          </a:solidFill>
        </p:grpSpPr>
        <p:sp>
          <p:nvSpPr>
            <p:cNvPr id="13" name="Freeform 381"/>
            <p:cNvSpPr>
              <a:spLocks noEditPoints="1"/>
            </p:cNvSpPr>
            <p:nvPr/>
          </p:nvSpPr>
          <p:spPr bwMode="auto">
            <a:xfrm>
              <a:off x="838201" y="5629276"/>
              <a:ext cx="215900" cy="258763"/>
            </a:xfrm>
            <a:custGeom>
              <a:avLst/>
              <a:gdLst>
                <a:gd name="T0" fmla="*/ 241 w 241"/>
                <a:gd name="T1" fmla="*/ 30 h 288"/>
                <a:gd name="T2" fmla="*/ 129 w 241"/>
                <a:gd name="T3" fmla="*/ 30 h 288"/>
                <a:gd name="T4" fmla="*/ 129 w 241"/>
                <a:gd name="T5" fmla="*/ 10 h 288"/>
                <a:gd name="T6" fmla="*/ 119 w 241"/>
                <a:gd name="T7" fmla="*/ 0 h 288"/>
                <a:gd name="T8" fmla="*/ 109 w 241"/>
                <a:gd name="T9" fmla="*/ 10 h 288"/>
                <a:gd name="T10" fmla="*/ 109 w 241"/>
                <a:gd name="T11" fmla="*/ 30 h 288"/>
                <a:gd name="T12" fmla="*/ 0 w 241"/>
                <a:gd name="T13" fmla="*/ 30 h 288"/>
                <a:gd name="T14" fmla="*/ 0 w 241"/>
                <a:gd name="T15" fmla="*/ 196 h 288"/>
                <a:gd name="T16" fmla="*/ 75 w 241"/>
                <a:gd name="T17" fmla="*/ 196 h 288"/>
                <a:gd name="T18" fmla="*/ 45 w 241"/>
                <a:gd name="T19" fmla="*/ 272 h 288"/>
                <a:gd name="T20" fmla="*/ 52 w 241"/>
                <a:gd name="T21" fmla="*/ 288 h 288"/>
                <a:gd name="T22" fmla="*/ 56 w 241"/>
                <a:gd name="T23" fmla="*/ 288 h 288"/>
                <a:gd name="T24" fmla="*/ 67 w 241"/>
                <a:gd name="T25" fmla="*/ 281 h 288"/>
                <a:gd name="T26" fmla="*/ 100 w 241"/>
                <a:gd name="T27" fmla="*/ 196 h 288"/>
                <a:gd name="T28" fmla="*/ 138 w 241"/>
                <a:gd name="T29" fmla="*/ 196 h 288"/>
                <a:gd name="T30" fmla="*/ 171 w 241"/>
                <a:gd name="T31" fmla="*/ 281 h 288"/>
                <a:gd name="T32" fmla="*/ 182 w 241"/>
                <a:gd name="T33" fmla="*/ 288 h 288"/>
                <a:gd name="T34" fmla="*/ 186 w 241"/>
                <a:gd name="T35" fmla="*/ 288 h 288"/>
                <a:gd name="T36" fmla="*/ 193 w 241"/>
                <a:gd name="T37" fmla="*/ 272 h 288"/>
                <a:gd name="T38" fmla="*/ 164 w 241"/>
                <a:gd name="T39" fmla="*/ 196 h 288"/>
                <a:gd name="T40" fmla="*/ 241 w 241"/>
                <a:gd name="T41" fmla="*/ 196 h 288"/>
                <a:gd name="T42" fmla="*/ 241 w 241"/>
                <a:gd name="T43" fmla="*/ 30 h 288"/>
                <a:gd name="T44" fmla="*/ 218 w 241"/>
                <a:gd name="T45" fmla="*/ 172 h 288"/>
                <a:gd name="T46" fmla="*/ 23 w 241"/>
                <a:gd name="T47" fmla="*/ 172 h 288"/>
                <a:gd name="T48" fmla="*/ 23 w 241"/>
                <a:gd name="T49" fmla="*/ 53 h 288"/>
                <a:gd name="T50" fmla="*/ 218 w 241"/>
                <a:gd name="T51" fmla="*/ 53 h 288"/>
                <a:gd name="T52" fmla="*/ 218 w 241"/>
                <a:gd name="T53" fmla="*/ 172 h 2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41" h="288">
                  <a:moveTo>
                    <a:pt x="241" y="30"/>
                  </a:moveTo>
                  <a:cubicBezTo>
                    <a:pt x="129" y="30"/>
                    <a:pt x="129" y="30"/>
                    <a:pt x="129" y="30"/>
                  </a:cubicBezTo>
                  <a:cubicBezTo>
                    <a:pt x="129" y="10"/>
                    <a:pt x="129" y="10"/>
                    <a:pt x="129" y="10"/>
                  </a:cubicBezTo>
                  <a:cubicBezTo>
                    <a:pt x="129" y="5"/>
                    <a:pt x="125" y="0"/>
                    <a:pt x="119" y="0"/>
                  </a:cubicBezTo>
                  <a:cubicBezTo>
                    <a:pt x="114" y="0"/>
                    <a:pt x="109" y="5"/>
                    <a:pt x="109" y="10"/>
                  </a:cubicBezTo>
                  <a:cubicBezTo>
                    <a:pt x="109" y="30"/>
                    <a:pt x="109" y="30"/>
                    <a:pt x="109" y="30"/>
                  </a:cubicBezTo>
                  <a:cubicBezTo>
                    <a:pt x="0" y="30"/>
                    <a:pt x="0" y="30"/>
                    <a:pt x="0" y="30"/>
                  </a:cubicBezTo>
                  <a:cubicBezTo>
                    <a:pt x="0" y="196"/>
                    <a:pt x="0" y="196"/>
                    <a:pt x="0" y="196"/>
                  </a:cubicBezTo>
                  <a:cubicBezTo>
                    <a:pt x="75" y="196"/>
                    <a:pt x="75" y="196"/>
                    <a:pt x="75" y="196"/>
                  </a:cubicBezTo>
                  <a:cubicBezTo>
                    <a:pt x="45" y="272"/>
                    <a:pt x="45" y="272"/>
                    <a:pt x="45" y="272"/>
                  </a:cubicBezTo>
                  <a:cubicBezTo>
                    <a:pt x="43" y="278"/>
                    <a:pt x="46" y="285"/>
                    <a:pt x="52" y="288"/>
                  </a:cubicBezTo>
                  <a:cubicBezTo>
                    <a:pt x="53" y="288"/>
                    <a:pt x="55" y="288"/>
                    <a:pt x="56" y="288"/>
                  </a:cubicBezTo>
                  <a:cubicBezTo>
                    <a:pt x="61" y="288"/>
                    <a:pt x="65" y="286"/>
                    <a:pt x="67" y="281"/>
                  </a:cubicBezTo>
                  <a:cubicBezTo>
                    <a:pt x="100" y="196"/>
                    <a:pt x="100" y="196"/>
                    <a:pt x="100" y="196"/>
                  </a:cubicBezTo>
                  <a:cubicBezTo>
                    <a:pt x="138" y="196"/>
                    <a:pt x="138" y="196"/>
                    <a:pt x="138" y="196"/>
                  </a:cubicBezTo>
                  <a:cubicBezTo>
                    <a:pt x="171" y="281"/>
                    <a:pt x="171" y="281"/>
                    <a:pt x="171" y="281"/>
                  </a:cubicBezTo>
                  <a:cubicBezTo>
                    <a:pt x="173" y="286"/>
                    <a:pt x="177" y="288"/>
                    <a:pt x="182" y="288"/>
                  </a:cubicBezTo>
                  <a:cubicBezTo>
                    <a:pt x="184" y="288"/>
                    <a:pt x="185" y="288"/>
                    <a:pt x="186" y="288"/>
                  </a:cubicBezTo>
                  <a:cubicBezTo>
                    <a:pt x="193" y="285"/>
                    <a:pt x="196" y="278"/>
                    <a:pt x="193" y="272"/>
                  </a:cubicBezTo>
                  <a:cubicBezTo>
                    <a:pt x="164" y="196"/>
                    <a:pt x="164" y="196"/>
                    <a:pt x="164" y="196"/>
                  </a:cubicBezTo>
                  <a:cubicBezTo>
                    <a:pt x="241" y="196"/>
                    <a:pt x="241" y="196"/>
                    <a:pt x="241" y="196"/>
                  </a:cubicBezTo>
                  <a:lnTo>
                    <a:pt x="241" y="30"/>
                  </a:lnTo>
                  <a:close/>
                  <a:moveTo>
                    <a:pt x="218" y="172"/>
                  </a:moveTo>
                  <a:cubicBezTo>
                    <a:pt x="23" y="172"/>
                    <a:pt x="23" y="172"/>
                    <a:pt x="23" y="172"/>
                  </a:cubicBezTo>
                  <a:cubicBezTo>
                    <a:pt x="23" y="53"/>
                    <a:pt x="23" y="53"/>
                    <a:pt x="23" y="53"/>
                  </a:cubicBezTo>
                  <a:cubicBezTo>
                    <a:pt x="218" y="53"/>
                    <a:pt x="218" y="53"/>
                    <a:pt x="218" y="53"/>
                  </a:cubicBezTo>
                  <a:lnTo>
                    <a:pt x="218" y="172"/>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382"/>
            <p:cNvSpPr/>
            <p:nvPr/>
          </p:nvSpPr>
          <p:spPr bwMode="auto">
            <a:xfrm>
              <a:off x="873126" y="5694364"/>
              <a:ext cx="142875" cy="74613"/>
            </a:xfrm>
            <a:custGeom>
              <a:avLst/>
              <a:gdLst>
                <a:gd name="T0" fmla="*/ 5 w 90"/>
                <a:gd name="T1" fmla="*/ 47 h 47"/>
                <a:gd name="T2" fmla="*/ 36 w 90"/>
                <a:gd name="T3" fmla="*/ 26 h 47"/>
                <a:gd name="T4" fmla="*/ 43 w 90"/>
                <a:gd name="T5" fmla="*/ 37 h 47"/>
                <a:gd name="T6" fmla="*/ 76 w 90"/>
                <a:gd name="T7" fmla="*/ 15 h 47"/>
                <a:gd name="T8" fmla="*/ 81 w 90"/>
                <a:gd name="T9" fmla="*/ 21 h 47"/>
                <a:gd name="T10" fmla="*/ 90 w 90"/>
                <a:gd name="T11" fmla="*/ 0 h 47"/>
                <a:gd name="T12" fmla="*/ 67 w 90"/>
                <a:gd name="T13" fmla="*/ 1 h 47"/>
                <a:gd name="T14" fmla="*/ 72 w 90"/>
                <a:gd name="T15" fmla="*/ 7 h 47"/>
                <a:gd name="T16" fmla="*/ 46 w 90"/>
                <a:gd name="T17" fmla="*/ 25 h 47"/>
                <a:gd name="T18" fmla="*/ 38 w 90"/>
                <a:gd name="T19" fmla="*/ 14 h 47"/>
                <a:gd name="T20" fmla="*/ 0 w 90"/>
                <a:gd name="T21" fmla="*/ 39 h 47"/>
                <a:gd name="T22" fmla="*/ 5 w 90"/>
                <a:gd name="T23" fmla="*/ 47 h 47"/>
                <a:gd name="T24" fmla="*/ 5 w 90"/>
                <a:gd name="T25" fmla="*/ 47 h 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90" h="47">
                  <a:moveTo>
                    <a:pt x="5" y="47"/>
                  </a:moveTo>
                  <a:lnTo>
                    <a:pt x="36" y="26"/>
                  </a:lnTo>
                  <a:lnTo>
                    <a:pt x="43" y="37"/>
                  </a:lnTo>
                  <a:lnTo>
                    <a:pt x="76" y="15"/>
                  </a:lnTo>
                  <a:lnTo>
                    <a:pt x="81" y="21"/>
                  </a:lnTo>
                  <a:lnTo>
                    <a:pt x="90" y="0"/>
                  </a:lnTo>
                  <a:lnTo>
                    <a:pt x="67" y="1"/>
                  </a:lnTo>
                  <a:lnTo>
                    <a:pt x="72" y="7"/>
                  </a:lnTo>
                  <a:lnTo>
                    <a:pt x="46" y="25"/>
                  </a:lnTo>
                  <a:lnTo>
                    <a:pt x="38" y="14"/>
                  </a:lnTo>
                  <a:lnTo>
                    <a:pt x="0" y="39"/>
                  </a:lnTo>
                  <a:lnTo>
                    <a:pt x="5" y="47"/>
                  </a:lnTo>
                  <a:lnTo>
                    <a:pt x="5" y="47"/>
                  </a:ln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1271" name="文本框 128"/>
          <p:cNvSpPr txBox="1"/>
          <p:nvPr/>
        </p:nvSpPr>
        <p:spPr>
          <a:xfrm>
            <a:off x="4572000" y="2554605"/>
            <a:ext cx="6255385" cy="1415415"/>
          </a:xfrm>
          <a:prstGeom prst="rect">
            <a:avLst/>
          </a:prstGeom>
          <a:noFill/>
          <a:ln w="9525">
            <a:noFill/>
          </a:ln>
        </p:spPr>
        <p:txBody>
          <a:bodyPr anchor="t" anchorCtr="0">
            <a:noAutofit/>
          </a:bodyPr>
          <a:p>
            <a:r>
              <a:rPr lang="en-US" altLang="en-US" sz="4800" b="1" dirty="0">
                <a:solidFill>
                  <a:schemeClr val="bg1"/>
                </a:solidFill>
                <a:latin typeface="Microsoft YaHei" pitchFamily="34" charset="-122"/>
                <a:ea typeface="Microsoft YaHei" pitchFamily="34" charset="-122"/>
              </a:rPr>
              <a:t>Key Features</a:t>
            </a:r>
            <a:endParaRPr lang="en-US" altLang="en-US" sz="4800" b="1" dirty="0">
              <a:solidFill>
                <a:schemeClr val="bg1"/>
              </a:solidFill>
              <a:latin typeface="Microsoft YaHei" pitchFamily="34" charset="-122"/>
              <a:ea typeface="Microsoft YaHei" pitchFamily="34" charset="-122"/>
            </a:endParaRPr>
          </a:p>
        </p:txBody>
      </p:sp>
      <p:pic>
        <p:nvPicPr>
          <p:cNvPr id="49" name="Picture 48" descr="Screenshot 2025-10-15 at 5.22.16 PM"/>
          <p:cNvPicPr>
            <a:picLocks noChangeAspect="1"/>
          </p:cNvPicPr>
          <p:nvPr/>
        </p:nvPicPr>
        <p:blipFill>
          <a:blip r:embed="rId1"/>
          <a:stretch>
            <a:fillRect/>
          </a:stretch>
        </p:blipFill>
        <p:spPr>
          <a:xfrm>
            <a:off x="4572000" y="4787265"/>
            <a:ext cx="3915410" cy="1983740"/>
          </a:xfrm>
          <a:prstGeom prst="rect">
            <a:avLst/>
          </a:prstGeom>
        </p:spPr>
      </p:pic>
      <p:pic>
        <p:nvPicPr>
          <p:cNvPr id="4" name="Picture 3" descr="Screenshot 2025-10-15 at 5.40.38 PM"/>
          <p:cNvPicPr>
            <a:picLocks noChangeAspect="1"/>
          </p:cNvPicPr>
          <p:nvPr/>
        </p:nvPicPr>
        <p:blipFill>
          <a:blip r:embed="rId2"/>
          <a:stretch>
            <a:fillRect/>
          </a:stretch>
        </p:blipFill>
        <p:spPr>
          <a:xfrm>
            <a:off x="1333500" y="2280920"/>
            <a:ext cx="1847850" cy="1962785"/>
          </a:xfrm>
          <a:prstGeom prst="rect">
            <a:avLst/>
          </a:prstGeom>
        </p:spPr>
      </p:pic>
      <p:pic>
        <p:nvPicPr>
          <p:cNvPr id="5" name="Picture 4" descr="Screenshot 2025-10-15 at 5.24.56 PM"/>
          <p:cNvPicPr>
            <a:picLocks noChangeAspect="1"/>
          </p:cNvPicPr>
          <p:nvPr/>
        </p:nvPicPr>
        <p:blipFill>
          <a:blip r:embed="rId3"/>
          <a:stretch>
            <a:fillRect/>
          </a:stretch>
        </p:blipFill>
        <p:spPr>
          <a:xfrm>
            <a:off x="8909050" y="2182495"/>
            <a:ext cx="2980690" cy="215963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8" name="六边形 7"/>
          <p:cNvSpPr/>
          <p:nvPr/>
        </p:nvSpPr>
        <p:spPr>
          <a:xfrm rot="5400000">
            <a:off x="4361656" y="4879499"/>
            <a:ext cx="1787525" cy="1541463"/>
          </a:xfrm>
          <a:prstGeom prst="hexagon">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9" name="任意多边形 8"/>
          <p:cNvSpPr/>
          <p:nvPr/>
        </p:nvSpPr>
        <p:spPr>
          <a:xfrm rot="5400000">
            <a:off x="3717131" y="-392906"/>
            <a:ext cx="2360613" cy="3146425"/>
          </a:xfrm>
          <a:custGeom>
            <a:avLst/>
            <a:gdLst>
              <a:gd name="connsiteX0" fmla="*/ 0 w 2361069"/>
              <a:gd name="connsiteY0" fmla="*/ 3147643 h 3147643"/>
              <a:gd name="connsiteX1" fmla="*/ 0 w 2361069"/>
              <a:gd name="connsiteY1" fmla="*/ 0 h 3147643"/>
              <a:gd name="connsiteX2" fmla="*/ 1574158 w 2361069"/>
              <a:gd name="connsiteY2" fmla="*/ 0 h 3147643"/>
              <a:gd name="connsiteX3" fmla="*/ 2361069 w 2361069"/>
              <a:gd name="connsiteY3" fmla="*/ 1573822 h 3147643"/>
              <a:gd name="connsiteX4" fmla="*/ 1574158 w 2361069"/>
              <a:gd name="connsiteY4" fmla="*/ 3147643 h 314764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361069" h="3147643">
                <a:moveTo>
                  <a:pt x="0" y="3147643"/>
                </a:moveTo>
                <a:lnTo>
                  <a:pt x="0" y="0"/>
                </a:lnTo>
                <a:lnTo>
                  <a:pt x="1574158" y="0"/>
                </a:lnTo>
                <a:lnTo>
                  <a:pt x="2361069" y="1573822"/>
                </a:lnTo>
                <a:lnTo>
                  <a:pt x="1574158" y="3147643"/>
                </a:lnTo>
                <a:close/>
              </a:path>
            </a:pathLst>
          </a:custGeom>
          <a:solidFill>
            <a:srgbClr val="D9D9D9"/>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六边形 9"/>
          <p:cNvSpPr/>
          <p:nvPr/>
        </p:nvSpPr>
        <p:spPr>
          <a:xfrm rot="5400000">
            <a:off x="1199356" y="1370806"/>
            <a:ext cx="1100138" cy="949325"/>
          </a:xfrm>
          <a:prstGeom prst="hexagon">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任意多边形 10"/>
          <p:cNvSpPr/>
          <p:nvPr/>
        </p:nvSpPr>
        <p:spPr>
          <a:xfrm rot="5400000">
            <a:off x="-575469" y="3912394"/>
            <a:ext cx="1909763" cy="758825"/>
          </a:xfrm>
          <a:custGeom>
            <a:avLst/>
            <a:gdLst>
              <a:gd name="connsiteX0" fmla="*/ 0 w 1909197"/>
              <a:gd name="connsiteY0" fmla="*/ 758978 h 758978"/>
              <a:gd name="connsiteX1" fmla="*/ 379489 w 1909197"/>
              <a:gd name="connsiteY1" fmla="*/ 0 h 758978"/>
              <a:gd name="connsiteX2" fmla="*/ 1529708 w 1909197"/>
              <a:gd name="connsiteY2" fmla="*/ 0 h 758978"/>
              <a:gd name="connsiteX3" fmla="*/ 1909197 w 1909197"/>
              <a:gd name="connsiteY3" fmla="*/ 758978 h 758978"/>
            </a:gdLst>
            <a:ahLst/>
            <a:cxnLst>
              <a:cxn ang="0">
                <a:pos x="connsiteX0" y="connsiteY0"/>
              </a:cxn>
              <a:cxn ang="0">
                <a:pos x="connsiteX1" y="connsiteY1"/>
              </a:cxn>
              <a:cxn ang="0">
                <a:pos x="connsiteX2" y="connsiteY2"/>
              </a:cxn>
              <a:cxn ang="0">
                <a:pos x="connsiteX3" y="connsiteY3"/>
              </a:cxn>
            </a:cxnLst>
            <a:rect l="l" t="t" r="r" b="b"/>
            <a:pathLst>
              <a:path w="1909197" h="758978">
                <a:moveTo>
                  <a:pt x="0" y="758978"/>
                </a:moveTo>
                <a:lnTo>
                  <a:pt x="379489" y="0"/>
                </a:lnTo>
                <a:lnTo>
                  <a:pt x="1529708" y="0"/>
                </a:lnTo>
                <a:lnTo>
                  <a:pt x="1909197" y="758978"/>
                </a:ln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 name="任意多边形 11"/>
          <p:cNvSpPr/>
          <p:nvPr/>
        </p:nvSpPr>
        <p:spPr>
          <a:xfrm rot="5400000">
            <a:off x="-330200" y="3446463"/>
            <a:ext cx="790575" cy="130175"/>
          </a:xfrm>
          <a:custGeom>
            <a:avLst/>
            <a:gdLst>
              <a:gd name="connsiteX0" fmla="*/ 0 w 790155"/>
              <a:gd name="connsiteY0" fmla="*/ 130000 h 130000"/>
              <a:gd name="connsiteX1" fmla="*/ 65000 w 790155"/>
              <a:gd name="connsiteY1" fmla="*/ 0 h 130000"/>
              <a:gd name="connsiteX2" fmla="*/ 725155 w 790155"/>
              <a:gd name="connsiteY2" fmla="*/ 0 h 130000"/>
              <a:gd name="connsiteX3" fmla="*/ 790155 w 790155"/>
              <a:gd name="connsiteY3" fmla="*/ 130000 h 130000"/>
            </a:gdLst>
            <a:ahLst/>
            <a:cxnLst>
              <a:cxn ang="0">
                <a:pos x="connsiteX0" y="connsiteY0"/>
              </a:cxn>
              <a:cxn ang="0">
                <a:pos x="connsiteX1" y="connsiteY1"/>
              </a:cxn>
              <a:cxn ang="0">
                <a:pos x="connsiteX2" y="connsiteY2"/>
              </a:cxn>
              <a:cxn ang="0">
                <a:pos x="connsiteX3" y="connsiteY3"/>
              </a:cxn>
            </a:cxnLst>
            <a:rect l="l" t="t" r="r" b="b"/>
            <a:pathLst>
              <a:path w="790155" h="130000">
                <a:moveTo>
                  <a:pt x="0" y="130000"/>
                </a:moveTo>
                <a:lnTo>
                  <a:pt x="65000" y="0"/>
                </a:lnTo>
                <a:lnTo>
                  <a:pt x="725155" y="0"/>
                </a:lnTo>
                <a:lnTo>
                  <a:pt x="790155" y="130000"/>
                </a:lnTo>
                <a:close/>
              </a:path>
            </a:pathLst>
          </a:custGeom>
          <a:solidFill>
            <a:schemeClr val="tx1">
              <a:lumMod val="65000"/>
              <a:lumOff val="35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六边形 12"/>
          <p:cNvSpPr/>
          <p:nvPr/>
        </p:nvSpPr>
        <p:spPr>
          <a:xfrm rot="5400000">
            <a:off x="4914900" y="2239963"/>
            <a:ext cx="1116013" cy="963613"/>
          </a:xfrm>
          <a:prstGeom prst="hexagon">
            <a:avLst/>
          </a:prstGeom>
          <a:solidFill>
            <a:schemeClr val="tx1">
              <a:lumMod val="50000"/>
              <a:lumOff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5" name="六边形 14"/>
          <p:cNvSpPr/>
          <p:nvPr/>
        </p:nvSpPr>
        <p:spPr>
          <a:xfrm rot="5400000">
            <a:off x="5451475" y="3278188"/>
            <a:ext cx="539750" cy="466725"/>
          </a:xfrm>
          <a:prstGeom prst="hexagon">
            <a:avLst/>
          </a:prstGeom>
          <a:solidFill>
            <a:schemeClr val="bg1">
              <a:lumMod val="65000"/>
              <a:alpha val="74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6" name="六边形 15"/>
          <p:cNvSpPr/>
          <p:nvPr/>
        </p:nvSpPr>
        <p:spPr>
          <a:xfrm rot="5400000">
            <a:off x="6077744" y="3258344"/>
            <a:ext cx="269875" cy="233363"/>
          </a:xfrm>
          <a:prstGeom prst="hexagon">
            <a:avLst/>
          </a:prstGeom>
          <a:solidFill>
            <a:srgbClr val="F8941C">
              <a:alpha val="74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2298" name="矩形 16"/>
          <p:cNvSpPr/>
          <p:nvPr/>
        </p:nvSpPr>
        <p:spPr>
          <a:xfrm>
            <a:off x="6645275" y="788670"/>
            <a:ext cx="5203825" cy="5755640"/>
          </a:xfrm>
          <a:prstGeom prst="rect">
            <a:avLst/>
          </a:prstGeom>
          <a:noFill/>
          <a:ln w="9525">
            <a:noFill/>
          </a:ln>
        </p:spPr>
        <p:txBody>
          <a:bodyPr anchor="t" anchorCtr="0">
            <a:noAutofit/>
          </a:bodyPr>
          <a:p>
            <a:pPr indent="457200"/>
            <a:r>
              <a:rPr lang="en-US" altLang="en-US" sz="1600" dirty="0">
                <a:solidFill>
                  <a:srgbClr val="000000"/>
                </a:solidFill>
                <a:latin typeface="Microsoft YaHei" pitchFamily="34" charset="-122"/>
                <a:ea typeface="Microsoft YaHei" pitchFamily="34" charset="-122"/>
              </a:rPr>
              <a:t>1. </a:t>
            </a:r>
            <a:r>
              <a:rPr lang="en-US" altLang="en-US" sz="1600" dirty="0">
                <a:solidFill>
                  <a:srgbClr val="000000"/>
                </a:solidFill>
                <a:latin typeface="Microsoft YaHei" pitchFamily="34" charset="-122"/>
                <a:ea typeface="Microsoft YaHei" pitchFamily="34" charset="-122"/>
                <a:sym typeface="+mn-ea"/>
              </a:rPr>
              <a:t>Embedded servers: You don’t need to install Tomcat or Jetty separately.</a:t>
            </a:r>
            <a:endParaRPr lang="en-US" altLang="en-US" sz="1600" dirty="0">
              <a:solidFill>
                <a:srgbClr val="000000"/>
              </a:solidFill>
              <a:latin typeface="Microsoft YaHei" pitchFamily="34" charset="-122"/>
              <a:ea typeface="Microsoft YaHei" pitchFamily="34" charset="-122"/>
            </a:endParaRPr>
          </a:p>
          <a:p>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2. </a:t>
            </a:r>
            <a:r>
              <a:rPr lang="en-US" altLang="en-US" sz="1600" dirty="0">
                <a:solidFill>
                  <a:srgbClr val="000000"/>
                </a:solidFill>
                <a:latin typeface="Microsoft YaHei" pitchFamily="34" charset="-122"/>
                <a:ea typeface="Microsoft YaHei" pitchFamily="34" charset="-122"/>
                <a:sym typeface="+mn-ea"/>
              </a:rPr>
              <a:t>Auto-configuration: Automatically sets up things for you.</a:t>
            </a:r>
            <a:endParaRPr lang="en-US" altLang="en-US" sz="1600" dirty="0">
              <a:solidFill>
                <a:srgbClr val="000000"/>
              </a:solidFill>
              <a:latin typeface="Microsoft YaHei" pitchFamily="34" charset="-122"/>
              <a:ea typeface="Microsoft YaHei" pitchFamily="34" charset="-122"/>
            </a:endParaRPr>
          </a:p>
          <a:p>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3. Standalone applications: Run your app with one command:</a:t>
            </a:r>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4. Spring Boot Starter dependencies: Pre-packaged sets of dependencies.</a:t>
            </a:r>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Example: spring-boot-starter-web = everything you need for a web app.</a:t>
            </a:r>
            <a:endParaRPr lang="en-US" altLang="en-US" sz="1600" dirty="0">
              <a:solidFill>
                <a:srgbClr val="000000"/>
              </a:solidFill>
              <a:latin typeface="Microsoft YaHei" pitchFamily="34" charset="-122"/>
              <a:ea typeface="Microsoft YaHei" pitchFamily="34" charset="-122"/>
            </a:endParaRPr>
          </a:p>
          <a:p>
            <a:pPr indent="457200"/>
            <a:endParaRPr lang="en-US" altLang="en-US" sz="1600" dirty="0">
              <a:solidFill>
                <a:srgbClr val="000000"/>
              </a:solidFill>
              <a:latin typeface="Microsoft YaHei" pitchFamily="34" charset="-122"/>
              <a:ea typeface="Microsoft YaHei" pitchFamily="34" charset="-122"/>
            </a:endParaRPr>
          </a:p>
          <a:p>
            <a:pPr indent="457200"/>
            <a:r>
              <a:rPr lang="en-US" altLang="en-US" sz="1600" dirty="0">
                <a:solidFill>
                  <a:srgbClr val="000000"/>
                </a:solidFill>
                <a:latin typeface="Microsoft YaHei" pitchFamily="34" charset="-122"/>
                <a:ea typeface="Microsoft YaHei" pitchFamily="34" charset="-122"/>
              </a:rPr>
              <a:t>5.Actuator: Monitors and manages your app (health, performance, etc.).</a:t>
            </a:r>
            <a:endParaRPr lang="en-US" altLang="en-US" sz="1600" dirty="0">
              <a:solidFill>
                <a:srgbClr val="000000"/>
              </a:solidFill>
              <a:latin typeface="Microsoft YaHei" pitchFamily="34" charset="-122"/>
              <a:ea typeface="Microsoft YaHei" pitchFamily="34" charset="-122"/>
            </a:endParaRPr>
          </a:p>
        </p:txBody>
      </p:sp>
      <p:sp>
        <p:nvSpPr>
          <p:cNvPr id="18" name="矩形 17"/>
          <p:cNvSpPr/>
          <p:nvPr/>
        </p:nvSpPr>
        <p:spPr>
          <a:xfrm>
            <a:off x="6645275" y="339090"/>
            <a:ext cx="3390900" cy="398780"/>
          </a:xfrm>
          <a:prstGeom prst="rect">
            <a:avLst/>
          </a:prstGeom>
        </p:spPr>
        <p:txBody>
          <a:bodyPr>
            <a:spAutoFit/>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0" lang="en-US" altLang="zh-CN" sz="2000" b="1" i="0" u="none" strike="noStrike" kern="1200" cap="none" spc="0" normalizeH="0" baseline="0" noProof="0" dirty="0">
                <a:ln>
                  <a:noFill/>
                </a:ln>
                <a:solidFill>
                  <a:schemeClr val="tx1">
                    <a:lumMod val="65000"/>
                    <a:lumOff val="35000"/>
                  </a:schemeClr>
                </a:solidFill>
                <a:effectLst/>
                <a:uLnTx/>
                <a:uFillTx/>
                <a:latin typeface="Microsoft YaHei" pitchFamily="34" charset="-122"/>
                <a:ea typeface="Microsoft YaHei" pitchFamily="34" charset="-122"/>
                <a:cs typeface="+mn-cs"/>
                <a:sym typeface="+mn-ea"/>
              </a:rPr>
              <a:t>Embedded Servers</a:t>
            </a:r>
            <a:endParaRPr kumimoji="0" lang="en-US" altLang="zh-CN" sz="2000" b="1" i="0" u="none" strike="noStrike" kern="1200" cap="none" spc="0" normalizeH="0" baseline="0" noProof="0" dirty="0">
              <a:ln>
                <a:noFill/>
              </a:ln>
              <a:solidFill>
                <a:schemeClr val="tx1">
                  <a:lumMod val="65000"/>
                  <a:lumOff val="35000"/>
                </a:schemeClr>
              </a:solidFill>
              <a:effectLst/>
              <a:uLnTx/>
              <a:uFillTx/>
              <a:latin typeface="Microsoft YaHei" pitchFamily="34" charset="-122"/>
              <a:ea typeface="Microsoft YaHei" pitchFamily="34" charset="-122"/>
              <a:cs typeface="+mn-cs"/>
              <a:sym typeface="+mn-ea"/>
            </a:endParaRPr>
          </a:p>
        </p:txBody>
      </p:sp>
      <p:pic>
        <p:nvPicPr>
          <p:cNvPr id="3" name="Picture 2" descr="Screenshot 2025-10-15 at 5.37.51 PM"/>
          <p:cNvPicPr>
            <a:picLocks noChangeAspect="1"/>
          </p:cNvPicPr>
          <p:nvPr/>
        </p:nvPicPr>
        <p:blipFill>
          <a:blip r:embed="rId1"/>
          <a:srcRect b="21120"/>
          <a:stretch>
            <a:fillRect/>
          </a:stretch>
        </p:blipFill>
        <p:spPr>
          <a:xfrm>
            <a:off x="7038340" y="2885440"/>
            <a:ext cx="2336800" cy="1252220"/>
          </a:xfrm>
          <a:prstGeom prst="rect">
            <a:avLst/>
          </a:prstGeom>
        </p:spPr>
      </p:pic>
      <p:pic>
        <p:nvPicPr>
          <p:cNvPr id="4" name="Picture 3" descr="Screenshot 2025-10-15 at 5.42.38 PM"/>
          <p:cNvPicPr>
            <a:picLocks noChangeAspect="1"/>
          </p:cNvPicPr>
          <p:nvPr/>
        </p:nvPicPr>
        <p:blipFill>
          <a:blip r:embed="rId2"/>
          <a:stretch>
            <a:fillRect/>
          </a:stretch>
        </p:blipFill>
        <p:spPr>
          <a:xfrm>
            <a:off x="1588770" y="2589530"/>
            <a:ext cx="3048000" cy="2463800"/>
          </a:xfrm>
          <a:prstGeom prst="rect">
            <a:avLst/>
          </a:prstGeom>
        </p:spPr>
      </p:pic>
      <p:pic>
        <p:nvPicPr>
          <p:cNvPr id="5" name="Picture 4" descr="Screenshot 2025-10-15 at 5.44.12 PM"/>
          <p:cNvPicPr>
            <a:picLocks noChangeAspect="1"/>
          </p:cNvPicPr>
          <p:nvPr/>
        </p:nvPicPr>
        <p:blipFill>
          <a:blip r:embed="rId3"/>
          <a:stretch>
            <a:fillRect/>
          </a:stretch>
        </p:blipFill>
        <p:spPr>
          <a:xfrm>
            <a:off x="563880" y="5247005"/>
            <a:ext cx="3302000" cy="838200"/>
          </a:xfrm>
          <a:prstGeom prst="rect">
            <a:avLst/>
          </a:prstGeom>
        </p:spPr>
      </p:pic>
      <p:pic>
        <p:nvPicPr>
          <p:cNvPr id="51" name="Picture 50" descr="Screenshot 2025-10-15 at 5.23.06 PM"/>
          <p:cNvPicPr>
            <a:picLocks noChangeAspect="1"/>
          </p:cNvPicPr>
          <p:nvPr/>
        </p:nvPicPr>
        <p:blipFill>
          <a:blip r:embed="rId4"/>
          <a:stretch>
            <a:fillRect/>
          </a:stretch>
        </p:blipFill>
        <p:spPr>
          <a:xfrm>
            <a:off x="3865880" y="0"/>
            <a:ext cx="2054860" cy="178752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738851" y="2566191"/>
            <a:ext cx="1144050" cy="1220780"/>
            <a:chOff x="9909176" y="2032000"/>
            <a:chExt cx="260350" cy="277813"/>
          </a:xfrm>
          <a:solidFill>
            <a:schemeClr val="bg1"/>
          </a:solidFill>
        </p:grpSpPr>
        <p:sp>
          <p:nvSpPr>
            <p:cNvPr id="13" name="Freeform 472"/>
            <p:cNvSpPr/>
            <p:nvPr/>
          </p:nvSpPr>
          <p:spPr bwMode="auto">
            <a:xfrm>
              <a:off x="9909176" y="2192338"/>
              <a:ext cx="260350" cy="117475"/>
            </a:xfrm>
            <a:custGeom>
              <a:avLst/>
              <a:gdLst>
                <a:gd name="T0" fmla="*/ 263 w 271"/>
                <a:gd name="T1" fmla="*/ 34 h 122"/>
                <a:gd name="T2" fmla="*/ 213 w 271"/>
                <a:gd name="T3" fmla="*/ 6 h 122"/>
                <a:gd name="T4" fmla="*/ 191 w 271"/>
                <a:gd name="T5" fmla="*/ 1 h 122"/>
                <a:gd name="T6" fmla="*/ 183 w 271"/>
                <a:gd name="T7" fmla="*/ 19 h 122"/>
                <a:gd name="T8" fmla="*/ 205 w 271"/>
                <a:gd name="T9" fmla="*/ 27 h 122"/>
                <a:gd name="T10" fmla="*/ 224 w 271"/>
                <a:gd name="T11" fmla="*/ 41 h 122"/>
                <a:gd name="T12" fmla="*/ 228 w 271"/>
                <a:gd name="T13" fmla="*/ 51 h 122"/>
                <a:gd name="T14" fmla="*/ 219 w 271"/>
                <a:gd name="T15" fmla="*/ 60 h 122"/>
                <a:gd name="T16" fmla="*/ 162 w 271"/>
                <a:gd name="T17" fmla="*/ 78 h 122"/>
                <a:gd name="T18" fmla="*/ 98 w 271"/>
                <a:gd name="T19" fmla="*/ 76 h 122"/>
                <a:gd name="T20" fmla="*/ 68 w 271"/>
                <a:gd name="T21" fmla="*/ 68 h 122"/>
                <a:gd name="T22" fmla="*/ 45 w 271"/>
                <a:gd name="T23" fmla="*/ 53 h 122"/>
                <a:gd name="T24" fmla="*/ 42 w 271"/>
                <a:gd name="T25" fmla="*/ 47 h 122"/>
                <a:gd name="T26" fmla="*/ 43 w 271"/>
                <a:gd name="T27" fmla="*/ 43 h 122"/>
                <a:gd name="T28" fmla="*/ 52 w 271"/>
                <a:gd name="T29" fmla="*/ 34 h 122"/>
                <a:gd name="T30" fmla="*/ 87 w 271"/>
                <a:gd name="T31" fmla="*/ 19 h 122"/>
                <a:gd name="T32" fmla="*/ 79 w 271"/>
                <a:gd name="T33" fmla="*/ 0 h 122"/>
                <a:gd name="T34" fmla="*/ 21 w 271"/>
                <a:gd name="T35" fmla="*/ 20 h 122"/>
                <a:gd name="T36" fmla="*/ 2 w 271"/>
                <a:gd name="T37" fmla="*/ 40 h 122"/>
                <a:gd name="T38" fmla="*/ 0 w 271"/>
                <a:gd name="T39" fmla="*/ 52 h 122"/>
                <a:gd name="T40" fmla="*/ 3 w 271"/>
                <a:gd name="T41" fmla="*/ 68 h 122"/>
                <a:gd name="T42" fmla="*/ 40 w 271"/>
                <a:gd name="T43" fmla="*/ 104 h 122"/>
                <a:gd name="T44" fmla="*/ 149 w 271"/>
                <a:gd name="T45" fmla="*/ 121 h 122"/>
                <a:gd name="T46" fmla="*/ 246 w 271"/>
                <a:gd name="T47" fmla="*/ 96 h 122"/>
                <a:gd name="T48" fmla="*/ 268 w 271"/>
                <a:gd name="T49" fmla="*/ 65 h 122"/>
                <a:gd name="T50" fmla="*/ 270 w 271"/>
                <a:gd name="T51" fmla="*/ 54 h 122"/>
                <a:gd name="T52" fmla="*/ 263 w 271"/>
                <a:gd name="T53" fmla="*/ 3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1" h="122">
                  <a:moveTo>
                    <a:pt x="263" y="34"/>
                  </a:moveTo>
                  <a:cubicBezTo>
                    <a:pt x="251" y="19"/>
                    <a:pt x="231" y="11"/>
                    <a:pt x="213" y="6"/>
                  </a:cubicBezTo>
                  <a:cubicBezTo>
                    <a:pt x="206" y="4"/>
                    <a:pt x="198" y="2"/>
                    <a:pt x="191" y="1"/>
                  </a:cubicBezTo>
                  <a:cubicBezTo>
                    <a:pt x="188" y="7"/>
                    <a:pt x="185" y="13"/>
                    <a:pt x="183" y="19"/>
                  </a:cubicBezTo>
                  <a:cubicBezTo>
                    <a:pt x="190" y="21"/>
                    <a:pt x="198" y="23"/>
                    <a:pt x="205" y="27"/>
                  </a:cubicBezTo>
                  <a:cubicBezTo>
                    <a:pt x="212" y="30"/>
                    <a:pt x="219" y="35"/>
                    <a:pt x="224" y="41"/>
                  </a:cubicBezTo>
                  <a:cubicBezTo>
                    <a:pt x="226" y="43"/>
                    <a:pt x="230" y="48"/>
                    <a:pt x="228" y="51"/>
                  </a:cubicBezTo>
                  <a:cubicBezTo>
                    <a:pt x="226" y="55"/>
                    <a:pt x="222" y="58"/>
                    <a:pt x="219" y="60"/>
                  </a:cubicBezTo>
                  <a:cubicBezTo>
                    <a:pt x="203" y="72"/>
                    <a:pt x="181" y="76"/>
                    <a:pt x="162" y="78"/>
                  </a:cubicBezTo>
                  <a:cubicBezTo>
                    <a:pt x="141" y="81"/>
                    <a:pt x="119" y="80"/>
                    <a:pt x="98" y="76"/>
                  </a:cubicBezTo>
                  <a:cubicBezTo>
                    <a:pt x="88" y="75"/>
                    <a:pt x="77" y="72"/>
                    <a:pt x="68" y="68"/>
                  </a:cubicBezTo>
                  <a:cubicBezTo>
                    <a:pt x="59" y="65"/>
                    <a:pt x="50" y="60"/>
                    <a:pt x="45" y="53"/>
                  </a:cubicBezTo>
                  <a:cubicBezTo>
                    <a:pt x="43" y="51"/>
                    <a:pt x="41" y="49"/>
                    <a:pt x="42" y="47"/>
                  </a:cubicBezTo>
                  <a:cubicBezTo>
                    <a:pt x="42" y="45"/>
                    <a:pt x="42" y="44"/>
                    <a:pt x="43" y="43"/>
                  </a:cubicBezTo>
                  <a:cubicBezTo>
                    <a:pt x="45" y="39"/>
                    <a:pt x="48" y="36"/>
                    <a:pt x="52" y="34"/>
                  </a:cubicBezTo>
                  <a:cubicBezTo>
                    <a:pt x="62" y="26"/>
                    <a:pt x="74" y="21"/>
                    <a:pt x="87" y="19"/>
                  </a:cubicBezTo>
                  <a:cubicBezTo>
                    <a:pt x="84" y="13"/>
                    <a:pt x="82" y="7"/>
                    <a:pt x="79" y="0"/>
                  </a:cubicBezTo>
                  <a:cubicBezTo>
                    <a:pt x="59" y="4"/>
                    <a:pt x="39" y="9"/>
                    <a:pt x="21" y="20"/>
                  </a:cubicBezTo>
                  <a:cubicBezTo>
                    <a:pt x="14" y="25"/>
                    <a:pt x="6" y="31"/>
                    <a:pt x="2" y="40"/>
                  </a:cubicBezTo>
                  <a:cubicBezTo>
                    <a:pt x="0" y="44"/>
                    <a:pt x="0" y="48"/>
                    <a:pt x="0" y="52"/>
                  </a:cubicBezTo>
                  <a:cubicBezTo>
                    <a:pt x="1" y="58"/>
                    <a:pt x="1" y="63"/>
                    <a:pt x="3" y="68"/>
                  </a:cubicBezTo>
                  <a:cubicBezTo>
                    <a:pt x="8" y="84"/>
                    <a:pt x="26" y="97"/>
                    <a:pt x="40" y="104"/>
                  </a:cubicBezTo>
                  <a:cubicBezTo>
                    <a:pt x="74" y="118"/>
                    <a:pt x="113" y="122"/>
                    <a:pt x="149" y="121"/>
                  </a:cubicBezTo>
                  <a:cubicBezTo>
                    <a:pt x="182" y="119"/>
                    <a:pt x="218" y="114"/>
                    <a:pt x="246" y="96"/>
                  </a:cubicBezTo>
                  <a:cubicBezTo>
                    <a:pt x="256" y="90"/>
                    <a:pt x="266" y="77"/>
                    <a:pt x="268" y="65"/>
                  </a:cubicBezTo>
                  <a:cubicBezTo>
                    <a:pt x="269" y="61"/>
                    <a:pt x="269" y="58"/>
                    <a:pt x="270" y="54"/>
                  </a:cubicBezTo>
                  <a:cubicBezTo>
                    <a:pt x="271" y="47"/>
                    <a:pt x="268" y="40"/>
                    <a:pt x="263" y="3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473"/>
            <p:cNvSpPr/>
            <p:nvPr/>
          </p:nvSpPr>
          <p:spPr bwMode="auto">
            <a:xfrm>
              <a:off x="10156826" y="2219325"/>
              <a:ext cx="9525" cy="12700"/>
            </a:xfrm>
            <a:custGeom>
              <a:avLst/>
              <a:gdLst>
                <a:gd name="T0" fmla="*/ 5 w 11"/>
                <a:gd name="T1" fmla="*/ 6 h 13"/>
                <a:gd name="T2" fmla="*/ 5 w 11"/>
                <a:gd name="T3" fmla="*/ 6 h 13"/>
              </a:gdLst>
              <a:ahLst/>
              <a:cxnLst>
                <a:cxn ang="0">
                  <a:pos x="T0" y="T1"/>
                </a:cxn>
                <a:cxn ang="0">
                  <a:pos x="T2" y="T3"/>
                </a:cxn>
              </a:cxnLst>
              <a:rect l="0" t="0" r="r" b="b"/>
              <a:pathLst>
                <a:path w="11" h="13">
                  <a:moveTo>
                    <a:pt x="5" y="6"/>
                  </a:moveTo>
                  <a:cubicBezTo>
                    <a:pt x="11" y="13"/>
                    <a:pt x="0" y="0"/>
                    <a:pt x="5" y="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Freeform 474"/>
            <p:cNvSpPr>
              <a:spLocks noEditPoints="1"/>
            </p:cNvSpPr>
            <p:nvPr/>
          </p:nvSpPr>
          <p:spPr bwMode="auto">
            <a:xfrm>
              <a:off x="9977438" y="2032000"/>
              <a:ext cx="122238" cy="220662"/>
            </a:xfrm>
            <a:custGeom>
              <a:avLst/>
              <a:gdLst>
                <a:gd name="T0" fmla="*/ 64 w 128"/>
                <a:gd name="T1" fmla="*/ 231 h 231"/>
                <a:gd name="T2" fmla="*/ 128 w 128"/>
                <a:gd name="T3" fmla="*/ 63 h 231"/>
                <a:gd name="T4" fmla="*/ 65 w 128"/>
                <a:gd name="T5" fmla="*/ 0 h 231"/>
                <a:gd name="T6" fmla="*/ 64 w 128"/>
                <a:gd name="T7" fmla="*/ 0 h 231"/>
                <a:gd name="T8" fmla="*/ 64 w 128"/>
                <a:gd name="T9" fmla="*/ 0 h 231"/>
                <a:gd name="T10" fmla="*/ 64 w 128"/>
                <a:gd name="T11" fmla="*/ 0 h 231"/>
                <a:gd name="T12" fmla="*/ 63 w 128"/>
                <a:gd name="T13" fmla="*/ 0 h 231"/>
                <a:gd name="T14" fmla="*/ 0 w 128"/>
                <a:gd name="T15" fmla="*/ 63 h 231"/>
                <a:gd name="T16" fmla="*/ 64 w 128"/>
                <a:gd name="T17" fmla="*/ 231 h 231"/>
                <a:gd name="T18" fmla="*/ 64 w 128"/>
                <a:gd name="T19" fmla="*/ 29 h 231"/>
                <a:gd name="T20" fmla="*/ 93 w 128"/>
                <a:gd name="T21" fmla="*/ 58 h 231"/>
                <a:gd name="T22" fmla="*/ 64 w 128"/>
                <a:gd name="T23" fmla="*/ 86 h 231"/>
                <a:gd name="T24" fmla="*/ 35 w 128"/>
                <a:gd name="T25" fmla="*/ 58 h 231"/>
                <a:gd name="T26" fmla="*/ 64 w 128"/>
                <a:gd name="T27" fmla="*/ 29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8" h="231">
                  <a:moveTo>
                    <a:pt x="64" y="231"/>
                  </a:moveTo>
                  <a:cubicBezTo>
                    <a:pt x="64" y="231"/>
                    <a:pt x="128" y="97"/>
                    <a:pt x="128" y="63"/>
                  </a:cubicBezTo>
                  <a:cubicBezTo>
                    <a:pt x="128" y="29"/>
                    <a:pt x="100" y="0"/>
                    <a:pt x="65" y="0"/>
                  </a:cubicBezTo>
                  <a:cubicBezTo>
                    <a:pt x="65" y="0"/>
                    <a:pt x="65" y="0"/>
                    <a:pt x="64" y="0"/>
                  </a:cubicBezTo>
                  <a:cubicBezTo>
                    <a:pt x="64" y="0"/>
                    <a:pt x="64" y="0"/>
                    <a:pt x="64" y="0"/>
                  </a:cubicBezTo>
                  <a:cubicBezTo>
                    <a:pt x="64" y="0"/>
                    <a:pt x="64" y="0"/>
                    <a:pt x="64" y="0"/>
                  </a:cubicBezTo>
                  <a:cubicBezTo>
                    <a:pt x="64" y="0"/>
                    <a:pt x="63" y="0"/>
                    <a:pt x="63" y="0"/>
                  </a:cubicBezTo>
                  <a:cubicBezTo>
                    <a:pt x="28" y="0"/>
                    <a:pt x="0" y="29"/>
                    <a:pt x="0" y="63"/>
                  </a:cubicBezTo>
                  <a:cubicBezTo>
                    <a:pt x="0" y="98"/>
                    <a:pt x="64" y="231"/>
                    <a:pt x="64" y="231"/>
                  </a:cubicBezTo>
                  <a:close/>
                  <a:moveTo>
                    <a:pt x="64" y="29"/>
                  </a:moveTo>
                  <a:cubicBezTo>
                    <a:pt x="80" y="29"/>
                    <a:pt x="93" y="42"/>
                    <a:pt x="93" y="58"/>
                  </a:cubicBezTo>
                  <a:cubicBezTo>
                    <a:pt x="93" y="74"/>
                    <a:pt x="80" y="86"/>
                    <a:pt x="64" y="86"/>
                  </a:cubicBezTo>
                  <a:cubicBezTo>
                    <a:pt x="48" y="86"/>
                    <a:pt x="35" y="74"/>
                    <a:pt x="35" y="58"/>
                  </a:cubicBezTo>
                  <a:cubicBezTo>
                    <a:pt x="35" y="42"/>
                    <a:pt x="48" y="29"/>
                    <a:pt x="64"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6391" name="文本框 128"/>
          <p:cNvSpPr txBox="1"/>
          <p:nvPr/>
        </p:nvSpPr>
        <p:spPr>
          <a:xfrm>
            <a:off x="4732338" y="2847340"/>
            <a:ext cx="4803775" cy="829945"/>
          </a:xfrm>
          <a:prstGeom prst="rect">
            <a:avLst/>
          </a:prstGeom>
          <a:noFill/>
          <a:ln w="9525">
            <a:noFill/>
          </a:ln>
        </p:spPr>
        <p:txBody>
          <a:bodyPr anchor="t" anchorCtr="0">
            <a:spAutoFit/>
          </a:bodyPr>
          <a:p>
            <a:r>
              <a:rPr lang="en-US" altLang="zh-CN" sz="4800" b="1" dirty="0">
                <a:solidFill>
                  <a:schemeClr val="bg1"/>
                </a:solidFill>
                <a:latin typeface="Microsoft YaHei" pitchFamily="34" charset="-122"/>
                <a:ea typeface="Microsoft YaHei" pitchFamily="34" charset="-122"/>
              </a:rPr>
              <a:t>Demo</a:t>
            </a:r>
            <a:endParaRPr lang="en-US" altLang="zh-CN" sz="4800" b="1" dirty="0">
              <a:solidFill>
                <a:schemeClr val="bg1"/>
              </a:solidFill>
              <a:latin typeface="Microsoft YaHei" pitchFamily="34" charset="-122"/>
              <a:ea typeface="Microsoft YaHei" pitchFamily="34" charset="-122"/>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pic>
        <p:nvPicPr>
          <p:cNvPr id="2" name="Picture 1" descr="Screenshot 2025-10-17 at 1.12.25 PM"/>
          <p:cNvPicPr>
            <a:picLocks noChangeAspect="1"/>
          </p:cNvPicPr>
          <p:nvPr/>
        </p:nvPicPr>
        <p:blipFill>
          <a:blip r:embed="rId1"/>
          <a:stretch>
            <a:fillRect/>
          </a:stretch>
        </p:blipFill>
        <p:spPr>
          <a:xfrm>
            <a:off x="160655" y="161925"/>
            <a:ext cx="9124950" cy="6273165"/>
          </a:xfrm>
          <a:prstGeom prst="rect">
            <a:avLst/>
          </a:prstGeom>
          <a:ln>
            <a:solidFill>
              <a:schemeClr val="bg2">
                <a:lumMod val="10000"/>
              </a:schemeClr>
            </a:solidFill>
          </a:ln>
        </p:spPr>
      </p:pic>
      <p:grpSp>
        <p:nvGrpSpPr>
          <p:cNvPr id="25603" name="组合 42"/>
          <p:cNvGrpSpPr/>
          <p:nvPr/>
        </p:nvGrpSpPr>
        <p:grpSpPr>
          <a:xfrm>
            <a:off x="8584248" y="323056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Download the ‘demo’app from the web-site</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823442" y="1630655"/>
              <a:ext cx="2447529" cy="583358"/>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Demo App</a:t>
              </a:r>
              <a:endParaRPr lang="en-US" altLang="zh-CN" sz="3200" b="1" dirty="0">
                <a:solidFill>
                  <a:srgbClr val="FFFFFF"/>
                </a:solidFill>
                <a:latin typeface="Microsoft YaHei" pitchFamily="34" charset="-122"/>
                <a:ea typeface="Microsoft YaHei" pitchFamily="34" charset="-122"/>
              </a:endParaRPr>
            </a:p>
          </p:txBody>
        </p:sp>
      </p:gr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8597583" y="10128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81" y="2839265"/>
              <a:ext cx="2665355" cy="473542"/>
            </a:xfrm>
            <a:prstGeom prst="rect">
              <a:avLst/>
            </a:prstGeom>
            <a:noFill/>
            <a:ln w="9525">
              <a:noFill/>
            </a:ln>
          </p:spPr>
          <p:txBody>
            <a:bodyPr anchor="t" anchorCtr="0">
              <a:noAutofit/>
            </a:bodyPr>
            <a:p>
              <a:pPr algn="ctr"/>
              <a:r>
                <a:rPr lang="en-US" altLang="zh-CN" sz="1800" b="1" i="1" dirty="0">
                  <a:solidFill>
                    <a:srgbClr val="FFFFFF"/>
                  </a:solidFill>
                  <a:latin typeface="Microsoft YaHei" pitchFamily="34" charset="-122"/>
                  <a:ea typeface="Microsoft YaHei" pitchFamily="34" charset="-122"/>
                  <a:sym typeface="+mn-ea"/>
                </a:rPr>
                <a:t>Spring initializr</a:t>
              </a:r>
              <a:endParaRPr lang="en-US" altLang="zh-CN" sz="1800" b="1" i="1" baseline="-25000" dirty="0">
                <a:solidFill>
                  <a:srgbClr val="FFFFFF"/>
                </a:solidFill>
                <a:latin typeface="Microsoft YaHei" pitchFamily="34" charset="-122"/>
                <a:ea typeface="Microsoft YaHei" pitchFamily="34" charset="-122"/>
                <a:sym typeface="+mn-ea"/>
              </a:endParaRPr>
            </a:p>
          </p:txBody>
        </p:sp>
        <p:sp>
          <p:nvSpPr>
            <p:cNvPr id="25606" name="矩形 45"/>
            <p:cNvSpPr/>
            <p:nvPr/>
          </p:nvSpPr>
          <p:spPr>
            <a:xfrm>
              <a:off x="1714846" y="1551309"/>
              <a:ext cx="2447529" cy="1075943"/>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Setting up Spring boot</a:t>
              </a:r>
              <a:endParaRPr lang="en-US" altLang="zh-CN" sz="3200" b="1" dirty="0">
                <a:solidFill>
                  <a:srgbClr val="FFFFFF"/>
                </a:solidFill>
                <a:latin typeface="Microsoft YaHei" pitchFamily="34" charset="-122"/>
                <a:ea typeface="Microsoft YaHei" pitchFamily="34" charset="-122"/>
              </a:endParaRPr>
            </a:p>
          </p:txBody>
        </p:sp>
      </p:grpSp>
      <p:pic>
        <p:nvPicPr>
          <p:cNvPr id="4" name="Picture 3" descr="Screenshot 2025-10-17 at 1.14.27 PM"/>
          <p:cNvPicPr>
            <a:picLocks noChangeAspect="1"/>
          </p:cNvPicPr>
          <p:nvPr/>
        </p:nvPicPr>
        <p:blipFill>
          <a:blip r:embed="rId1"/>
          <a:stretch>
            <a:fillRect/>
          </a:stretch>
        </p:blipFill>
        <p:spPr>
          <a:xfrm>
            <a:off x="227330" y="315595"/>
            <a:ext cx="8219440" cy="5652135"/>
          </a:xfrm>
          <a:prstGeom prst="rect">
            <a:avLst/>
          </a:prstGeom>
          <a:ln>
            <a:solidFill>
              <a:schemeClr val="bg2">
                <a:lumMod val="10000"/>
              </a:schemeClr>
            </a:solid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317" y="8096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Visit to their official website, download and install</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932726" y="1630373"/>
              <a:ext cx="2229387" cy="583358"/>
            </a:xfrm>
            <a:prstGeom prst="rect">
              <a:avLst/>
            </a:prstGeom>
            <a:noFill/>
            <a:ln w="9525">
              <a:noFill/>
            </a:ln>
          </p:spPr>
          <p:txBody>
            <a:bodyPr anchor="t" anchorCtr="0">
              <a:spAutoFit/>
            </a:bodyPr>
            <a:p>
              <a:pPr algn="ctr"/>
              <a:r>
                <a:rPr lang="en-US" altLang="zh-CN" sz="3200" b="1" dirty="0">
                  <a:solidFill>
                    <a:srgbClr val="FFFFFF"/>
                  </a:solidFill>
                  <a:latin typeface="Microsoft YaHei" pitchFamily="34" charset="-122"/>
                  <a:ea typeface="Microsoft YaHei" pitchFamily="34" charset="-122"/>
                </a:rPr>
                <a:t>Web-Site</a:t>
              </a:r>
              <a:endParaRPr lang="en-US" altLang="zh-CN" sz="3200" b="1" dirty="0">
                <a:solidFill>
                  <a:srgbClr val="FFFFFF"/>
                </a:solidFill>
                <a:latin typeface="Microsoft YaHei" pitchFamily="34" charset="-122"/>
                <a:ea typeface="Microsoft YaHei" pitchFamily="34" charset="-122"/>
              </a:endParaRPr>
            </a:p>
          </p:txBody>
        </p:sp>
      </p:grpSp>
      <p:pic>
        <p:nvPicPr>
          <p:cNvPr id="2" name="Picture 1" descr="Screenshot 2025-10-17 at 1.11.05 PM"/>
          <p:cNvPicPr>
            <a:picLocks noChangeAspect="1"/>
          </p:cNvPicPr>
          <p:nvPr/>
        </p:nvPicPr>
        <p:blipFill>
          <a:blip r:embed="rId1"/>
          <a:stretch>
            <a:fillRect/>
          </a:stretch>
        </p:blipFill>
        <p:spPr>
          <a:xfrm>
            <a:off x="3167380" y="365760"/>
            <a:ext cx="8918575" cy="6126480"/>
          </a:xfrm>
          <a:prstGeom prst="rect">
            <a:avLst/>
          </a:prstGeom>
          <a:ln>
            <a:solidFill>
              <a:schemeClr val="bg2">
                <a:lumMod val="10000"/>
              </a:schemeClr>
            </a:solid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25603" name="组合 42"/>
          <p:cNvGrpSpPr/>
          <p:nvPr/>
        </p:nvGrpSpPr>
        <p:grpSpPr>
          <a:xfrm>
            <a:off x="8597583" y="101283"/>
            <a:ext cx="3506787" cy="3508375"/>
            <a:chOff x="1294435" y="833378"/>
            <a:chExt cx="3507129" cy="3507129"/>
          </a:xfrm>
        </p:grpSpPr>
        <p:sp>
          <p:nvSpPr>
            <p:cNvPr id="44" name="椭圆 43"/>
            <p:cNvSpPr/>
            <p:nvPr/>
          </p:nvSpPr>
          <p:spPr>
            <a:xfrm>
              <a:off x="1294435" y="833378"/>
              <a:ext cx="3507129" cy="3507129"/>
            </a:xfrm>
            <a:prstGeom prst="ellipse">
              <a:avLst/>
            </a:prstGeom>
            <a:solidFill>
              <a:schemeClr val="tx1">
                <a:lumMod val="95000"/>
                <a:lumOff val="5000"/>
                <a:alpha val="43000"/>
              </a:schemeClr>
            </a:solidFill>
            <a:ln w="38100">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Calibri"/>
                <a:ea typeface="SimSun" pitchFamily="2" charset="-122"/>
                <a:cs typeface="+mn-cs"/>
              </a:endParaRPr>
            </a:p>
          </p:txBody>
        </p:sp>
        <p:sp>
          <p:nvSpPr>
            <p:cNvPr id="25605" name="矩形 44"/>
            <p:cNvSpPr/>
            <p:nvPr/>
          </p:nvSpPr>
          <p:spPr>
            <a:xfrm>
              <a:off x="1715425" y="2492037"/>
              <a:ext cx="2665148" cy="929310"/>
            </a:xfrm>
            <a:prstGeom prst="rect">
              <a:avLst/>
            </a:prstGeom>
            <a:noFill/>
            <a:ln w="9525">
              <a:noFill/>
            </a:ln>
          </p:spPr>
          <p:txBody>
            <a:bodyPr anchor="t" anchorCtr="0">
              <a:spAutoFit/>
            </a:bodyPr>
            <a:p>
              <a:pPr algn="ctr"/>
              <a:r>
                <a:rPr lang="en-US" altLang="zh-CN" sz="2800" baseline="-25000" dirty="0">
                  <a:solidFill>
                    <a:srgbClr val="FFFFFF"/>
                  </a:solidFill>
                  <a:latin typeface="Microsoft YaHei" pitchFamily="34" charset="-122"/>
                  <a:ea typeface="Microsoft YaHei" pitchFamily="34" charset="-122"/>
                </a:rPr>
                <a:t>Start the InteliJ IDEA, open the app and run it</a:t>
              </a:r>
              <a:endParaRPr lang="en-US" altLang="zh-CN" sz="2800" baseline="-25000" dirty="0">
                <a:solidFill>
                  <a:srgbClr val="FFFFFF"/>
                </a:solidFill>
                <a:latin typeface="Microsoft YaHei" pitchFamily="34" charset="-122"/>
                <a:ea typeface="Microsoft YaHei" pitchFamily="34" charset="-122"/>
              </a:endParaRPr>
            </a:p>
          </p:txBody>
        </p:sp>
        <p:sp>
          <p:nvSpPr>
            <p:cNvPr id="25606" name="矩形 45"/>
            <p:cNvSpPr/>
            <p:nvPr/>
          </p:nvSpPr>
          <p:spPr>
            <a:xfrm>
              <a:off x="1823442" y="1630655"/>
              <a:ext cx="2447529" cy="583358"/>
            </a:xfrm>
            <a:prstGeom prst="rect">
              <a:avLst/>
            </a:prstGeom>
            <a:noFill/>
            <a:ln w="9525">
              <a:noFill/>
            </a:ln>
          </p:spPr>
          <p:txBody>
            <a:bodyPr wrap="square" anchor="t" anchorCtr="0">
              <a:spAutoFit/>
            </a:bodyPr>
            <a:p>
              <a:pPr algn="ctr"/>
              <a:r>
                <a:rPr lang="en-US" altLang="zh-CN" sz="3200" b="1" dirty="0">
                  <a:solidFill>
                    <a:srgbClr val="FFFFFF"/>
                  </a:solidFill>
                  <a:latin typeface="Microsoft YaHei" pitchFamily="34" charset="-122"/>
                  <a:ea typeface="Microsoft YaHei" pitchFamily="34" charset="-122"/>
                </a:rPr>
                <a:t>Usage</a:t>
              </a:r>
              <a:endParaRPr lang="en-US" altLang="zh-CN" sz="3200" b="1" dirty="0">
                <a:solidFill>
                  <a:srgbClr val="FFFFFF"/>
                </a:solidFill>
                <a:latin typeface="Microsoft YaHei" pitchFamily="34" charset="-122"/>
                <a:ea typeface="Microsoft YaHei" pitchFamily="34" charset="-122"/>
              </a:endParaRPr>
            </a:p>
          </p:txBody>
        </p:sp>
      </p:grpSp>
      <p:pic>
        <p:nvPicPr>
          <p:cNvPr id="2" name="Picture 1" descr="Screenshot 2025-10-17 at 12.51.14 PM"/>
          <p:cNvPicPr>
            <a:picLocks noChangeAspect="1"/>
          </p:cNvPicPr>
          <p:nvPr/>
        </p:nvPicPr>
        <p:blipFill>
          <a:blip r:embed="rId1"/>
          <a:stretch>
            <a:fillRect/>
          </a:stretch>
        </p:blipFill>
        <p:spPr>
          <a:xfrm>
            <a:off x="172720" y="306705"/>
            <a:ext cx="8661400" cy="3530600"/>
          </a:xfrm>
          <a:prstGeom prst="rect">
            <a:avLst/>
          </a:prstGeom>
        </p:spPr>
      </p:pic>
      <p:pic>
        <p:nvPicPr>
          <p:cNvPr id="3" name="Picture 2" descr="Screenshot 2025-10-17 at 12.51.27 PM"/>
          <p:cNvPicPr>
            <a:picLocks noChangeAspect="1"/>
          </p:cNvPicPr>
          <p:nvPr/>
        </p:nvPicPr>
        <p:blipFill>
          <a:blip r:embed="rId2"/>
          <a:stretch>
            <a:fillRect/>
          </a:stretch>
        </p:blipFill>
        <p:spPr>
          <a:xfrm>
            <a:off x="4799330" y="4106545"/>
            <a:ext cx="4648200" cy="23114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0" y="365125"/>
            <a:ext cx="4142740" cy="1111885"/>
          </a:xfrm>
        </p:spPr>
        <p:txBody>
          <a:bodyPr/>
          <a:p>
            <a:pPr algn="l"/>
            <a:r>
              <a:rPr lang="en-US" altLang="en-US" sz="2000"/>
              <a:t>	This line defines where this class is stored, like an address for the code.</a:t>
            </a:r>
            <a:endParaRPr lang="en-US" altLang="en-US" sz="2000"/>
          </a:p>
        </p:txBody>
      </p:sp>
      <p:pic>
        <p:nvPicPr>
          <p:cNvPr id="4" name="Picture 3" descr="Screenshot 2025-10-16 at 5.23.56 PM"/>
          <p:cNvPicPr>
            <a:picLocks noChangeAspect="1"/>
          </p:cNvPicPr>
          <p:nvPr/>
        </p:nvPicPr>
        <p:blipFill>
          <a:blip r:embed="rId1"/>
          <a:stretch>
            <a:fillRect/>
          </a:stretch>
        </p:blipFill>
        <p:spPr>
          <a:xfrm>
            <a:off x="4142740" y="365125"/>
            <a:ext cx="7852410" cy="6061710"/>
          </a:xfrm>
          <a:prstGeom prst="rect">
            <a:avLst/>
          </a:prstGeom>
        </p:spPr>
      </p:pic>
      <p:sp>
        <p:nvSpPr>
          <p:cNvPr id="5" name="Title 1"/>
          <p:cNvSpPr>
            <a:spLocks noGrp="1"/>
          </p:cNvSpPr>
          <p:nvPr/>
        </p:nvSpPr>
        <p:spPr>
          <a:xfrm>
            <a:off x="0" y="1477010"/>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These are imports, they bring in tools from Spring Boot that we’ll use.</a:t>
            </a:r>
            <a:endParaRPr lang="en-US" altLang="en-US" sz="2000"/>
          </a:p>
        </p:txBody>
      </p:sp>
      <p:sp>
        <p:nvSpPr>
          <p:cNvPr id="7" name="Title 1"/>
          <p:cNvSpPr>
            <a:spLocks noGrp="1"/>
          </p:cNvSpPr>
          <p:nvPr/>
        </p:nvSpPr>
        <p:spPr>
          <a:xfrm>
            <a:off x="6791960" y="2391410"/>
            <a:ext cx="455231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1800">
                <a:solidFill>
                  <a:schemeClr val="bg1"/>
                </a:solidFill>
              </a:rPr>
              <a:t>tells Java this is a Spring Boot app</a:t>
            </a:r>
            <a:endParaRPr lang="en-US" altLang="en-US" sz="1800">
              <a:solidFill>
                <a:schemeClr val="bg1"/>
              </a:solidFill>
            </a:endParaRPr>
          </a:p>
        </p:txBody>
      </p:sp>
      <p:sp>
        <p:nvSpPr>
          <p:cNvPr id="8" name="Title 1"/>
          <p:cNvSpPr>
            <a:spLocks noGrp="1"/>
          </p:cNvSpPr>
          <p:nvPr/>
        </p:nvSpPr>
        <p:spPr>
          <a:xfrm>
            <a:off x="5849620" y="2660015"/>
            <a:ext cx="455231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1800">
                <a:solidFill>
                  <a:schemeClr val="bg1"/>
                </a:solidFill>
              </a:rPr>
              <a:t>allows us to handle web requests</a:t>
            </a:r>
            <a:endParaRPr lang="en-US" altLang="en-US" sz="1800">
              <a:solidFill>
                <a:schemeClr val="bg1"/>
              </a:solidFill>
            </a:endParaRPr>
          </a:p>
        </p:txBody>
      </p:sp>
      <p:sp>
        <p:nvSpPr>
          <p:cNvPr id="9" name="Title 1"/>
          <p:cNvSpPr>
            <a:spLocks noGrp="1"/>
          </p:cNvSpPr>
          <p:nvPr/>
        </p:nvSpPr>
        <p:spPr>
          <a:xfrm>
            <a:off x="6527165" y="4588510"/>
            <a:ext cx="4891405" cy="880110"/>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r"/>
            <a:r>
              <a:rPr lang="en-US" altLang="en-US" sz="1800">
                <a:solidFill>
                  <a:schemeClr val="bg1"/>
                </a:solidFill>
              </a:rPr>
              <a:t>defines what happens when someone visits a URL</a:t>
            </a:r>
            <a:endParaRPr lang="en-US" altLang="en-US" sz="1800">
              <a:solidFill>
                <a:schemeClr val="bg1"/>
              </a:solidFill>
            </a:endParaRPr>
          </a:p>
        </p:txBody>
      </p:sp>
      <p:sp>
        <p:nvSpPr>
          <p:cNvPr id="10" name="Title 1"/>
          <p:cNvSpPr>
            <a:spLocks noGrp="1"/>
          </p:cNvSpPr>
          <p:nvPr/>
        </p:nvSpPr>
        <p:spPr>
          <a:xfrm>
            <a:off x="91440" y="264223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This marks the starting point of our Spring Boot program and also tells it that this class will handle web requests.</a:t>
            </a:r>
            <a:endParaRPr lang="en-US" altLang="en-US" sz="2000"/>
          </a:p>
        </p:txBody>
      </p:sp>
      <p:sp>
        <p:nvSpPr>
          <p:cNvPr id="11" name="Title 1"/>
          <p:cNvSpPr>
            <a:spLocks noGrp="1"/>
          </p:cNvSpPr>
          <p:nvPr/>
        </p:nvSpPr>
        <p:spPr>
          <a:xfrm>
            <a:off x="5080" y="3753485"/>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With just one line, this starts a full web server, no setup needed.</a:t>
            </a:r>
            <a:endParaRPr lang="en-US" altLang="en-US" sz="2000"/>
          </a:p>
        </p:txBody>
      </p:sp>
      <p:sp>
        <p:nvSpPr>
          <p:cNvPr id="12" name="Title 1"/>
          <p:cNvSpPr>
            <a:spLocks noGrp="1"/>
          </p:cNvSpPr>
          <p:nvPr/>
        </p:nvSpPr>
        <p:spPr>
          <a:xfrm>
            <a:off x="0" y="4591050"/>
            <a:ext cx="4142740" cy="111188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a:t>This is the controller part (Home Page)</a:t>
            </a:r>
            <a:endParaRPr lang="en-US" altLang="en-US" sz="2000"/>
          </a:p>
        </p:txBody>
      </p:sp>
      <p:cxnSp>
        <p:nvCxnSpPr>
          <p:cNvPr id="13" name="Straight Arrow Connector 12"/>
          <p:cNvCxnSpPr>
            <a:endCxn id="14" idx="1"/>
          </p:cNvCxnSpPr>
          <p:nvPr/>
        </p:nvCxnSpPr>
        <p:spPr>
          <a:xfrm>
            <a:off x="2875915" y="1148715"/>
            <a:ext cx="1383665" cy="9017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4" name="Rectangles 13"/>
          <p:cNvSpPr/>
          <p:nvPr/>
        </p:nvSpPr>
        <p:spPr>
          <a:xfrm>
            <a:off x="4259580" y="1038225"/>
            <a:ext cx="3456305" cy="40068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15" name="Rectangles 14"/>
          <p:cNvSpPr/>
          <p:nvPr/>
        </p:nvSpPr>
        <p:spPr>
          <a:xfrm>
            <a:off x="4259580" y="1612900"/>
            <a:ext cx="6142355" cy="873760"/>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6" name="Straight Arrow Connector 15"/>
          <p:cNvCxnSpPr>
            <a:endCxn id="15" idx="1"/>
          </p:cNvCxnSpPr>
          <p:nvPr/>
        </p:nvCxnSpPr>
        <p:spPr>
          <a:xfrm flipV="1">
            <a:off x="2527935" y="2049780"/>
            <a:ext cx="1731645" cy="165100"/>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7" name="Rectangles 16"/>
          <p:cNvSpPr/>
          <p:nvPr/>
        </p:nvSpPr>
        <p:spPr>
          <a:xfrm>
            <a:off x="4259580" y="3215640"/>
            <a:ext cx="6828155" cy="32194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18" name="Straight Arrow Connector 17"/>
          <p:cNvCxnSpPr>
            <a:endCxn id="17" idx="1"/>
          </p:cNvCxnSpPr>
          <p:nvPr/>
        </p:nvCxnSpPr>
        <p:spPr>
          <a:xfrm flipV="1">
            <a:off x="2804795" y="3376930"/>
            <a:ext cx="1454785" cy="10477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19" name="Rectangles 18"/>
          <p:cNvSpPr/>
          <p:nvPr/>
        </p:nvSpPr>
        <p:spPr>
          <a:xfrm>
            <a:off x="4762500" y="3740150"/>
            <a:ext cx="7012305" cy="54419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20" name="Straight Arrow Connector 19"/>
          <p:cNvCxnSpPr>
            <a:endCxn id="19" idx="1"/>
          </p:cNvCxnSpPr>
          <p:nvPr/>
        </p:nvCxnSpPr>
        <p:spPr>
          <a:xfrm flipV="1">
            <a:off x="3369945" y="4012565"/>
            <a:ext cx="1392555" cy="30670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sp>
        <p:nvSpPr>
          <p:cNvPr id="21" name="Rectangles 20"/>
          <p:cNvSpPr/>
          <p:nvPr/>
        </p:nvSpPr>
        <p:spPr>
          <a:xfrm>
            <a:off x="4763135" y="5069840"/>
            <a:ext cx="2683510" cy="252095"/>
          </a:xfrm>
          <a:prstGeom prst="rect">
            <a:avLst/>
          </a:prstGeom>
          <a:noFill/>
          <a:ln>
            <a:solidFill>
              <a:srgbClr val="FF0000"/>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cxnSp>
        <p:nvCxnSpPr>
          <p:cNvPr id="22" name="Straight Arrow Connector 21"/>
          <p:cNvCxnSpPr>
            <a:endCxn id="21" idx="1"/>
          </p:cNvCxnSpPr>
          <p:nvPr/>
        </p:nvCxnSpPr>
        <p:spPr>
          <a:xfrm flipV="1">
            <a:off x="3243580" y="5196205"/>
            <a:ext cx="1519555" cy="393065"/>
          </a:xfrm>
          <a:prstGeom prst="straightConnector1">
            <a:avLst/>
          </a:prstGeom>
          <a:ln>
            <a:solidFill>
              <a:srgbClr val="FF0000"/>
            </a:solidFill>
            <a:tailEnd type="arrow"/>
          </a:ln>
        </p:spPr>
        <p:style>
          <a:lnRef idx="2">
            <a:schemeClr val="accent1"/>
          </a:lnRef>
          <a:fillRef idx="0">
            <a:srgbClr val="FFFFFF"/>
          </a:fillRef>
          <a:effectRef idx="0">
            <a:srgbClr val="FFFFFF"/>
          </a:effectRef>
          <a:fontRef idx="minor">
            <a:schemeClr val="tx1"/>
          </a:fontRef>
        </p:style>
      </p:cxnSp>
      <p:pic>
        <p:nvPicPr>
          <p:cNvPr id="23" name="Picture 22" descr="Screenshot 2025-10-17 at 1.17.42 PM"/>
          <p:cNvPicPr>
            <a:picLocks noChangeAspect="1"/>
          </p:cNvPicPr>
          <p:nvPr/>
        </p:nvPicPr>
        <p:blipFill>
          <a:blip r:embed="rId2"/>
          <a:stretch>
            <a:fillRect/>
          </a:stretch>
        </p:blipFill>
        <p:spPr>
          <a:xfrm>
            <a:off x="7596505" y="5652770"/>
            <a:ext cx="4216400" cy="533400"/>
          </a:xfrm>
          <a:prstGeom prst="rect">
            <a:avLst/>
          </a:prstGeom>
        </p:spPr>
      </p:pic>
      <p:sp>
        <p:nvSpPr>
          <p:cNvPr id="3" name="Title 1"/>
          <p:cNvSpPr>
            <a:spLocks noGrp="1"/>
          </p:cNvSpPr>
          <p:nvPr/>
        </p:nvSpPr>
        <p:spPr>
          <a:xfrm>
            <a:off x="320675" y="5987415"/>
            <a:ext cx="3712845" cy="874395"/>
          </a:xfrm>
          <a:prstGeom prst="rect">
            <a:avLst/>
          </a:prstGeom>
          <a:noFill/>
          <a:ln w="9525">
            <a:noFill/>
          </a:ln>
        </p:spPr>
        <p:txBody>
          <a:bodyPr anchor="ctr" anchorCtr="0"/>
          <a:lstStyle>
            <a:lvl1pPr algn="l" rtl="0" fontAlgn="base">
              <a:lnSpc>
                <a:spcPct val="90000"/>
              </a:lnSpc>
              <a:spcBef>
                <a:spcPct val="0"/>
              </a:spcBef>
              <a:spcAft>
                <a:spcPct val="0"/>
              </a:spcAft>
              <a:defRPr sz="4400" kern="1200">
                <a:solidFill>
                  <a:schemeClr val="tx1"/>
                </a:solidFill>
                <a:latin typeface="+mj-lt"/>
                <a:ea typeface="+mj-ea"/>
                <a:cs typeface="+mj-cs"/>
              </a:defRPr>
            </a:lvl1pPr>
            <a:lvl2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2pPr>
            <a:lvl3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3pPr>
            <a:lvl4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4pPr>
            <a:lvl5pPr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5pPr>
            <a:lvl6pPr marL="4572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6pPr>
            <a:lvl7pPr marL="9144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7pPr>
            <a:lvl8pPr marL="13716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8pPr>
            <a:lvl9pPr marL="1828800" algn="l" rtl="0" fontAlgn="base">
              <a:lnSpc>
                <a:spcPct val="90000"/>
              </a:lnSpc>
              <a:spcBef>
                <a:spcPct val="0"/>
              </a:spcBef>
              <a:spcAft>
                <a:spcPct val="0"/>
              </a:spcAft>
              <a:defRPr sz="4400">
                <a:solidFill>
                  <a:schemeClr val="tx1"/>
                </a:solidFill>
                <a:latin typeface="等线 Light" pitchFamily="2" charset="-122"/>
                <a:ea typeface="等线 Light" pitchFamily="2" charset="-122"/>
              </a:defRPr>
            </a:lvl9pPr>
          </a:lstStyle>
          <a:p>
            <a:pPr indent="457200" algn="l"/>
            <a:r>
              <a:rPr lang="en-US" altLang="en-US" sz="2000" b="1"/>
              <a:t>Output</a:t>
            </a:r>
            <a:r>
              <a:rPr lang="en-US" altLang="en-US" sz="2000"/>
              <a:t>: Browser shows “Hello, Spring Boot!”</a:t>
            </a:r>
            <a:endParaRPr lang="en-US" altLang="en-US" sz="200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11" name="任意多边形 10"/>
          <p:cNvSpPr/>
          <p:nvPr/>
        </p:nvSpPr>
        <p:spPr>
          <a:xfrm rot="5588898">
            <a:off x="3994150" y="4538663"/>
            <a:ext cx="269875" cy="409575"/>
          </a:xfrm>
          <a:custGeom>
            <a:avLst/>
            <a:gdLst>
              <a:gd name="connsiteX0" fmla="*/ 0 w 269920"/>
              <a:gd name="connsiteY0" fmla="*/ 409575 h 409575"/>
              <a:gd name="connsiteX1" fmla="*/ 0 w 269920"/>
              <a:gd name="connsiteY1" fmla="*/ 0 h 409575"/>
              <a:gd name="connsiteX2" fmla="*/ 261445 w 269920"/>
              <a:gd name="connsiteY2" fmla="*/ 255503 h 409575"/>
              <a:gd name="connsiteX3" fmla="*/ 269920 w 269920"/>
              <a:gd name="connsiteY3" fmla="*/ 409575 h 409575"/>
            </a:gdLst>
            <a:ahLst/>
            <a:cxnLst>
              <a:cxn ang="0">
                <a:pos x="connsiteX0" y="connsiteY0"/>
              </a:cxn>
              <a:cxn ang="0">
                <a:pos x="connsiteX1" y="connsiteY1"/>
              </a:cxn>
              <a:cxn ang="0">
                <a:pos x="connsiteX2" y="connsiteY2"/>
              </a:cxn>
              <a:cxn ang="0">
                <a:pos x="connsiteX3" y="connsiteY3"/>
              </a:cxn>
            </a:cxnLst>
            <a:rect l="l" t="t" r="r" b="b"/>
            <a:pathLst>
              <a:path w="269920" h="409575">
                <a:moveTo>
                  <a:pt x="0" y="409575"/>
                </a:moveTo>
                <a:lnTo>
                  <a:pt x="0" y="0"/>
                </a:lnTo>
                <a:lnTo>
                  <a:pt x="261445" y="255503"/>
                </a:lnTo>
                <a:lnTo>
                  <a:pt x="269920" y="409575"/>
                </a:lnTo>
                <a:close/>
              </a:path>
            </a:pathLst>
          </a:cu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3" name="直角三角形 2"/>
          <p:cNvSpPr/>
          <p:nvPr/>
        </p:nvSpPr>
        <p:spPr>
          <a:xfrm>
            <a:off x="3133725" y="1495425"/>
            <a:ext cx="419100" cy="409575"/>
          </a:xfrm>
          <a:prstGeom prst="rtTriangle">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2" name="矩形 1"/>
          <p:cNvSpPr/>
          <p:nvPr/>
        </p:nvSpPr>
        <p:spPr>
          <a:xfrm>
            <a:off x="0" y="1905000"/>
            <a:ext cx="12192000" cy="2714625"/>
          </a:xfrm>
          <a:prstGeom prst="rect">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8" name="矩形 7"/>
          <p:cNvSpPr/>
          <p:nvPr/>
        </p:nvSpPr>
        <p:spPr>
          <a:xfrm>
            <a:off x="1000125" y="1485900"/>
            <a:ext cx="3076575" cy="3381375"/>
          </a:xfrm>
          <a:custGeom>
            <a:avLst/>
            <a:gdLst>
              <a:gd name="connsiteX0" fmla="*/ 0 w 3076575"/>
              <a:gd name="connsiteY0" fmla="*/ 0 h 3381375"/>
              <a:gd name="connsiteX1" fmla="*/ 3076575 w 3076575"/>
              <a:gd name="connsiteY1" fmla="*/ 0 h 3381375"/>
              <a:gd name="connsiteX2" fmla="*/ 3076575 w 3076575"/>
              <a:gd name="connsiteY2" fmla="*/ 3381375 h 3381375"/>
              <a:gd name="connsiteX3" fmla="*/ 0 w 3076575"/>
              <a:gd name="connsiteY3" fmla="*/ 3381375 h 3381375"/>
              <a:gd name="connsiteX4" fmla="*/ 0 w 3076575"/>
              <a:gd name="connsiteY4" fmla="*/ 0 h 3381375"/>
              <a:gd name="connsiteX0-1" fmla="*/ 0 w 3076575"/>
              <a:gd name="connsiteY0-2" fmla="*/ 0 h 3381375"/>
              <a:gd name="connsiteX1-3" fmla="*/ 2143125 w 3076575"/>
              <a:gd name="connsiteY1-4" fmla="*/ 9525 h 3381375"/>
              <a:gd name="connsiteX2-5" fmla="*/ 3076575 w 3076575"/>
              <a:gd name="connsiteY2-6" fmla="*/ 3381375 h 3381375"/>
              <a:gd name="connsiteX3-7" fmla="*/ 0 w 3076575"/>
              <a:gd name="connsiteY3-8" fmla="*/ 3381375 h 3381375"/>
              <a:gd name="connsiteX4-9" fmla="*/ 0 w 3076575"/>
              <a:gd name="connsiteY4-10" fmla="*/ 0 h 3381375"/>
            </a:gdLst>
            <a:ahLst/>
            <a:cxnLst>
              <a:cxn ang="0">
                <a:pos x="connsiteX0-1" y="connsiteY0-2"/>
              </a:cxn>
              <a:cxn ang="0">
                <a:pos x="connsiteX1-3" y="connsiteY1-4"/>
              </a:cxn>
              <a:cxn ang="0">
                <a:pos x="connsiteX2-5" y="connsiteY2-6"/>
              </a:cxn>
              <a:cxn ang="0">
                <a:pos x="connsiteX3-7" y="connsiteY3-8"/>
              </a:cxn>
              <a:cxn ang="0">
                <a:pos x="connsiteX4-9" y="connsiteY4-10"/>
              </a:cxn>
            </a:cxnLst>
            <a:rect l="l" t="t" r="r" b="b"/>
            <a:pathLst>
              <a:path w="3076575" h="3381375">
                <a:moveTo>
                  <a:pt x="0" y="0"/>
                </a:moveTo>
                <a:lnTo>
                  <a:pt x="2143125" y="9525"/>
                </a:lnTo>
                <a:lnTo>
                  <a:pt x="3076575" y="3381375"/>
                </a:lnTo>
                <a:lnTo>
                  <a:pt x="0" y="3381375"/>
                </a:lnTo>
                <a:lnTo>
                  <a:pt x="0" y="0"/>
                </a:ln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nvGrpSpPr>
          <p:cNvPr id="12" name="组合 11"/>
          <p:cNvGrpSpPr/>
          <p:nvPr/>
        </p:nvGrpSpPr>
        <p:grpSpPr>
          <a:xfrm>
            <a:off x="1738851" y="2566191"/>
            <a:ext cx="1144050" cy="1220780"/>
            <a:chOff x="9909176" y="2032000"/>
            <a:chExt cx="260350" cy="277813"/>
          </a:xfrm>
          <a:solidFill>
            <a:schemeClr val="bg1"/>
          </a:solidFill>
        </p:grpSpPr>
        <p:sp>
          <p:nvSpPr>
            <p:cNvPr id="13" name="Freeform 472"/>
            <p:cNvSpPr/>
            <p:nvPr/>
          </p:nvSpPr>
          <p:spPr bwMode="auto">
            <a:xfrm>
              <a:off x="9909176" y="2192338"/>
              <a:ext cx="260350" cy="117475"/>
            </a:xfrm>
            <a:custGeom>
              <a:avLst/>
              <a:gdLst>
                <a:gd name="T0" fmla="*/ 263 w 271"/>
                <a:gd name="T1" fmla="*/ 34 h 122"/>
                <a:gd name="T2" fmla="*/ 213 w 271"/>
                <a:gd name="T3" fmla="*/ 6 h 122"/>
                <a:gd name="T4" fmla="*/ 191 w 271"/>
                <a:gd name="T5" fmla="*/ 1 h 122"/>
                <a:gd name="T6" fmla="*/ 183 w 271"/>
                <a:gd name="T7" fmla="*/ 19 h 122"/>
                <a:gd name="T8" fmla="*/ 205 w 271"/>
                <a:gd name="T9" fmla="*/ 27 h 122"/>
                <a:gd name="T10" fmla="*/ 224 w 271"/>
                <a:gd name="T11" fmla="*/ 41 h 122"/>
                <a:gd name="T12" fmla="*/ 228 w 271"/>
                <a:gd name="T13" fmla="*/ 51 h 122"/>
                <a:gd name="T14" fmla="*/ 219 w 271"/>
                <a:gd name="T15" fmla="*/ 60 h 122"/>
                <a:gd name="T16" fmla="*/ 162 w 271"/>
                <a:gd name="T17" fmla="*/ 78 h 122"/>
                <a:gd name="T18" fmla="*/ 98 w 271"/>
                <a:gd name="T19" fmla="*/ 76 h 122"/>
                <a:gd name="T20" fmla="*/ 68 w 271"/>
                <a:gd name="T21" fmla="*/ 68 h 122"/>
                <a:gd name="T22" fmla="*/ 45 w 271"/>
                <a:gd name="T23" fmla="*/ 53 h 122"/>
                <a:gd name="T24" fmla="*/ 42 w 271"/>
                <a:gd name="T25" fmla="*/ 47 h 122"/>
                <a:gd name="T26" fmla="*/ 43 w 271"/>
                <a:gd name="T27" fmla="*/ 43 h 122"/>
                <a:gd name="T28" fmla="*/ 52 w 271"/>
                <a:gd name="T29" fmla="*/ 34 h 122"/>
                <a:gd name="T30" fmla="*/ 87 w 271"/>
                <a:gd name="T31" fmla="*/ 19 h 122"/>
                <a:gd name="T32" fmla="*/ 79 w 271"/>
                <a:gd name="T33" fmla="*/ 0 h 122"/>
                <a:gd name="T34" fmla="*/ 21 w 271"/>
                <a:gd name="T35" fmla="*/ 20 h 122"/>
                <a:gd name="T36" fmla="*/ 2 w 271"/>
                <a:gd name="T37" fmla="*/ 40 h 122"/>
                <a:gd name="T38" fmla="*/ 0 w 271"/>
                <a:gd name="T39" fmla="*/ 52 h 122"/>
                <a:gd name="T40" fmla="*/ 3 w 271"/>
                <a:gd name="T41" fmla="*/ 68 h 122"/>
                <a:gd name="T42" fmla="*/ 40 w 271"/>
                <a:gd name="T43" fmla="*/ 104 h 122"/>
                <a:gd name="T44" fmla="*/ 149 w 271"/>
                <a:gd name="T45" fmla="*/ 121 h 122"/>
                <a:gd name="T46" fmla="*/ 246 w 271"/>
                <a:gd name="T47" fmla="*/ 96 h 122"/>
                <a:gd name="T48" fmla="*/ 268 w 271"/>
                <a:gd name="T49" fmla="*/ 65 h 122"/>
                <a:gd name="T50" fmla="*/ 270 w 271"/>
                <a:gd name="T51" fmla="*/ 54 h 122"/>
                <a:gd name="T52" fmla="*/ 263 w 271"/>
                <a:gd name="T53" fmla="*/ 34 h 12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71" h="122">
                  <a:moveTo>
                    <a:pt x="263" y="34"/>
                  </a:moveTo>
                  <a:cubicBezTo>
                    <a:pt x="251" y="19"/>
                    <a:pt x="231" y="11"/>
                    <a:pt x="213" y="6"/>
                  </a:cubicBezTo>
                  <a:cubicBezTo>
                    <a:pt x="206" y="4"/>
                    <a:pt x="198" y="2"/>
                    <a:pt x="191" y="1"/>
                  </a:cubicBezTo>
                  <a:cubicBezTo>
                    <a:pt x="188" y="7"/>
                    <a:pt x="185" y="13"/>
                    <a:pt x="183" y="19"/>
                  </a:cubicBezTo>
                  <a:cubicBezTo>
                    <a:pt x="190" y="21"/>
                    <a:pt x="198" y="23"/>
                    <a:pt x="205" y="27"/>
                  </a:cubicBezTo>
                  <a:cubicBezTo>
                    <a:pt x="212" y="30"/>
                    <a:pt x="219" y="35"/>
                    <a:pt x="224" y="41"/>
                  </a:cubicBezTo>
                  <a:cubicBezTo>
                    <a:pt x="226" y="43"/>
                    <a:pt x="230" y="48"/>
                    <a:pt x="228" y="51"/>
                  </a:cubicBezTo>
                  <a:cubicBezTo>
                    <a:pt x="226" y="55"/>
                    <a:pt x="222" y="58"/>
                    <a:pt x="219" y="60"/>
                  </a:cubicBezTo>
                  <a:cubicBezTo>
                    <a:pt x="203" y="72"/>
                    <a:pt x="181" y="76"/>
                    <a:pt x="162" y="78"/>
                  </a:cubicBezTo>
                  <a:cubicBezTo>
                    <a:pt x="141" y="81"/>
                    <a:pt x="119" y="80"/>
                    <a:pt x="98" y="76"/>
                  </a:cubicBezTo>
                  <a:cubicBezTo>
                    <a:pt x="88" y="75"/>
                    <a:pt x="77" y="72"/>
                    <a:pt x="68" y="68"/>
                  </a:cubicBezTo>
                  <a:cubicBezTo>
                    <a:pt x="59" y="65"/>
                    <a:pt x="50" y="60"/>
                    <a:pt x="45" y="53"/>
                  </a:cubicBezTo>
                  <a:cubicBezTo>
                    <a:pt x="43" y="51"/>
                    <a:pt x="41" y="49"/>
                    <a:pt x="42" y="47"/>
                  </a:cubicBezTo>
                  <a:cubicBezTo>
                    <a:pt x="42" y="45"/>
                    <a:pt x="42" y="44"/>
                    <a:pt x="43" y="43"/>
                  </a:cubicBezTo>
                  <a:cubicBezTo>
                    <a:pt x="45" y="39"/>
                    <a:pt x="48" y="36"/>
                    <a:pt x="52" y="34"/>
                  </a:cubicBezTo>
                  <a:cubicBezTo>
                    <a:pt x="62" y="26"/>
                    <a:pt x="74" y="21"/>
                    <a:pt x="87" y="19"/>
                  </a:cubicBezTo>
                  <a:cubicBezTo>
                    <a:pt x="84" y="13"/>
                    <a:pt x="82" y="7"/>
                    <a:pt x="79" y="0"/>
                  </a:cubicBezTo>
                  <a:cubicBezTo>
                    <a:pt x="59" y="4"/>
                    <a:pt x="39" y="9"/>
                    <a:pt x="21" y="20"/>
                  </a:cubicBezTo>
                  <a:cubicBezTo>
                    <a:pt x="14" y="25"/>
                    <a:pt x="6" y="31"/>
                    <a:pt x="2" y="40"/>
                  </a:cubicBezTo>
                  <a:cubicBezTo>
                    <a:pt x="0" y="44"/>
                    <a:pt x="0" y="48"/>
                    <a:pt x="0" y="52"/>
                  </a:cubicBezTo>
                  <a:cubicBezTo>
                    <a:pt x="1" y="58"/>
                    <a:pt x="1" y="63"/>
                    <a:pt x="3" y="68"/>
                  </a:cubicBezTo>
                  <a:cubicBezTo>
                    <a:pt x="8" y="84"/>
                    <a:pt x="26" y="97"/>
                    <a:pt x="40" y="104"/>
                  </a:cubicBezTo>
                  <a:cubicBezTo>
                    <a:pt x="74" y="118"/>
                    <a:pt x="113" y="122"/>
                    <a:pt x="149" y="121"/>
                  </a:cubicBezTo>
                  <a:cubicBezTo>
                    <a:pt x="182" y="119"/>
                    <a:pt x="218" y="114"/>
                    <a:pt x="246" y="96"/>
                  </a:cubicBezTo>
                  <a:cubicBezTo>
                    <a:pt x="256" y="90"/>
                    <a:pt x="266" y="77"/>
                    <a:pt x="268" y="65"/>
                  </a:cubicBezTo>
                  <a:cubicBezTo>
                    <a:pt x="269" y="61"/>
                    <a:pt x="269" y="58"/>
                    <a:pt x="270" y="54"/>
                  </a:cubicBezTo>
                  <a:cubicBezTo>
                    <a:pt x="271" y="47"/>
                    <a:pt x="268" y="40"/>
                    <a:pt x="263" y="34"/>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4" name="Freeform 473"/>
            <p:cNvSpPr/>
            <p:nvPr/>
          </p:nvSpPr>
          <p:spPr bwMode="auto">
            <a:xfrm>
              <a:off x="10156826" y="2219325"/>
              <a:ext cx="9525" cy="12700"/>
            </a:xfrm>
            <a:custGeom>
              <a:avLst/>
              <a:gdLst>
                <a:gd name="T0" fmla="*/ 5 w 11"/>
                <a:gd name="T1" fmla="*/ 6 h 13"/>
                <a:gd name="T2" fmla="*/ 5 w 11"/>
                <a:gd name="T3" fmla="*/ 6 h 13"/>
              </a:gdLst>
              <a:ahLst/>
              <a:cxnLst>
                <a:cxn ang="0">
                  <a:pos x="T0" y="T1"/>
                </a:cxn>
                <a:cxn ang="0">
                  <a:pos x="T2" y="T3"/>
                </a:cxn>
              </a:cxnLst>
              <a:rect l="0" t="0" r="r" b="b"/>
              <a:pathLst>
                <a:path w="11" h="13">
                  <a:moveTo>
                    <a:pt x="5" y="6"/>
                  </a:moveTo>
                  <a:cubicBezTo>
                    <a:pt x="11" y="13"/>
                    <a:pt x="0" y="0"/>
                    <a:pt x="5" y="6"/>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sp>
          <p:nvSpPr>
            <p:cNvPr id="15" name="Freeform 474"/>
            <p:cNvSpPr>
              <a:spLocks noEditPoints="1"/>
            </p:cNvSpPr>
            <p:nvPr/>
          </p:nvSpPr>
          <p:spPr bwMode="auto">
            <a:xfrm>
              <a:off x="9977438" y="2032000"/>
              <a:ext cx="122238" cy="220662"/>
            </a:xfrm>
            <a:custGeom>
              <a:avLst/>
              <a:gdLst>
                <a:gd name="T0" fmla="*/ 64 w 128"/>
                <a:gd name="T1" fmla="*/ 231 h 231"/>
                <a:gd name="T2" fmla="*/ 128 w 128"/>
                <a:gd name="T3" fmla="*/ 63 h 231"/>
                <a:gd name="T4" fmla="*/ 65 w 128"/>
                <a:gd name="T5" fmla="*/ 0 h 231"/>
                <a:gd name="T6" fmla="*/ 64 w 128"/>
                <a:gd name="T7" fmla="*/ 0 h 231"/>
                <a:gd name="T8" fmla="*/ 64 w 128"/>
                <a:gd name="T9" fmla="*/ 0 h 231"/>
                <a:gd name="T10" fmla="*/ 64 w 128"/>
                <a:gd name="T11" fmla="*/ 0 h 231"/>
                <a:gd name="T12" fmla="*/ 63 w 128"/>
                <a:gd name="T13" fmla="*/ 0 h 231"/>
                <a:gd name="T14" fmla="*/ 0 w 128"/>
                <a:gd name="T15" fmla="*/ 63 h 231"/>
                <a:gd name="T16" fmla="*/ 64 w 128"/>
                <a:gd name="T17" fmla="*/ 231 h 231"/>
                <a:gd name="T18" fmla="*/ 64 w 128"/>
                <a:gd name="T19" fmla="*/ 29 h 231"/>
                <a:gd name="T20" fmla="*/ 93 w 128"/>
                <a:gd name="T21" fmla="*/ 58 h 231"/>
                <a:gd name="T22" fmla="*/ 64 w 128"/>
                <a:gd name="T23" fmla="*/ 86 h 231"/>
                <a:gd name="T24" fmla="*/ 35 w 128"/>
                <a:gd name="T25" fmla="*/ 58 h 231"/>
                <a:gd name="T26" fmla="*/ 64 w 128"/>
                <a:gd name="T27" fmla="*/ 29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28" h="231">
                  <a:moveTo>
                    <a:pt x="64" y="231"/>
                  </a:moveTo>
                  <a:cubicBezTo>
                    <a:pt x="64" y="231"/>
                    <a:pt x="128" y="97"/>
                    <a:pt x="128" y="63"/>
                  </a:cubicBezTo>
                  <a:cubicBezTo>
                    <a:pt x="128" y="29"/>
                    <a:pt x="100" y="0"/>
                    <a:pt x="65" y="0"/>
                  </a:cubicBezTo>
                  <a:cubicBezTo>
                    <a:pt x="65" y="0"/>
                    <a:pt x="65" y="0"/>
                    <a:pt x="64" y="0"/>
                  </a:cubicBezTo>
                  <a:cubicBezTo>
                    <a:pt x="64" y="0"/>
                    <a:pt x="64" y="0"/>
                    <a:pt x="64" y="0"/>
                  </a:cubicBezTo>
                  <a:cubicBezTo>
                    <a:pt x="64" y="0"/>
                    <a:pt x="64" y="0"/>
                    <a:pt x="64" y="0"/>
                  </a:cubicBezTo>
                  <a:cubicBezTo>
                    <a:pt x="64" y="0"/>
                    <a:pt x="63" y="0"/>
                    <a:pt x="63" y="0"/>
                  </a:cubicBezTo>
                  <a:cubicBezTo>
                    <a:pt x="28" y="0"/>
                    <a:pt x="0" y="29"/>
                    <a:pt x="0" y="63"/>
                  </a:cubicBezTo>
                  <a:cubicBezTo>
                    <a:pt x="0" y="98"/>
                    <a:pt x="64" y="231"/>
                    <a:pt x="64" y="231"/>
                  </a:cubicBezTo>
                  <a:close/>
                  <a:moveTo>
                    <a:pt x="64" y="29"/>
                  </a:moveTo>
                  <a:cubicBezTo>
                    <a:pt x="80" y="29"/>
                    <a:pt x="93" y="42"/>
                    <a:pt x="93" y="58"/>
                  </a:cubicBezTo>
                  <a:cubicBezTo>
                    <a:pt x="93" y="74"/>
                    <a:pt x="80" y="86"/>
                    <a:pt x="64" y="86"/>
                  </a:cubicBezTo>
                  <a:cubicBezTo>
                    <a:pt x="48" y="86"/>
                    <a:pt x="35" y="74"/>
                    <a:pt x="35" y="58"/>
                  </a:cubicBezTo>
                  <a:cubicBezTo>
                    <a:pt x="35" y="42"/>
                    <a:pt x="48" y="29"/>
                    <a:pt x="64" y="29"/>
                  </a:cubicBezTo>
                  <a:close/>
                </a:path>
              </a:pathLst>
            </a:custGeom>
            <a:grpFill/>
            <a:ln>
              <a:noFill/>
            </a:ln>
            <a:extLst>
              <a:ext uri="{91240B29-F687-4F45-9708-019B960494DF}">
                <a14:hiddenLine xmlns:a14="http://schemas.microsoft.com/office/drawing/2010/main" w="9525">
                  <a:solidFill>
                    <a:srgbClr val="000000"/>
                  </a:solidFill>
                  <a:round/>
                </a14:hiddenLine>
              </a:ext>
            </a:extLst>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tx1"/>
                </a:solidFill>
                <a:effectLst/>
                <a:uLnTx/>
                <a:uFillTx/>
                <a:latin typeface="+mn-lt"/>
                <a:ea typeface="+mn-ea"/>
                <a:cs typeface="+mn-cs"/>
              </a:endParaRPr>
            </a:p>
          </p:txBody>
        </p:sp>
      </p:grpSp>
      <p:sp>
        <p:nvSpPr>
          <p:cNvPr id="16391" name="文本框 128"/>
          <p:cNvSpPr txBox="1"/>
          <p:nvPr/>
        </p:nvSpPr>
        <p:spPr>
          <a:xfrm>
            <a:off x="5589588" y="2403475"/>
            <a:ext cx="4803775" cy="829945"/>
          </a:xfrm>
          <a:prstGeom prst="rect">
            <a:avLst/>
          </a:prstGeom>
          <a:noFill/>
          <a:ln w="9525">
            <a:noFill/>
          </a:ln>
        </p:spPr>
        <p:txBody>
          <a:bodyPr anchor="t" anchorCtr="0">
            <a:spAutoFit/>
          </a:bodyPr>
          <a:p>
            <a:r>
              <a:rPr lang="en-US" altLang="zh-CN" sz="4800" b="1" dirty="0">
                <a:solidFill>
                  <a:schemeClr val="bg1"/>
                </a:solidFill>
                <a:latin typeface="Microsoft YaHei" pitchFamily="34" charset="-122"/>
                <a:ea typeface="Microsoft YaHei" pitchFamily="34" charset="-122"/>
              </a:rPr>
              <a:t>Conclusion</a:t>
            </a:r>
            <a:endParaRPr lang="en-US" altLang="zh-CN" sz="4800" b="1" dirty="0">
              <a:solidFill>
                <a:schemeClr val="bg1"/>
              </a:solidFill>
              <a:latin typeface="Microsoft YaHei" pitchFamily="34" charset="-122"/>
              <a:ea typeface="Microsoft YaHei" pitchFamily="34" charset="-122"/>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Title 1"/>
          <p:cNvSpPr>
            <a:spLocks noGrp="1"/>
          </p:cNvSpPr>
          <p:nvPr>
            <p:ph type="title"/>
          </p:nvPr>
        </p:nvSpPr>
        <p:spPr>
          <a:xfrm>
            <a:off x="327025" y="0"/>
            <a:ext cx="4542155" cy="1123950"/>
          </a:xfrm>
        </p:spPr>
        <p:txBody>
          <a:bodyPr/>
          <a:p>
            <a:r>
              <a:rPr lang="en-US" sz="4000"/>
              <a:t>Main Differences</a:t>
            </a:r>
            <a:endParaRPr lang="en-US" sz="4000"/>
          </a:p>
        </p:txBody>
      </p:sp>
      <p:sp>
        <p:nvSpPr>
          <p:cNvPr id="3" name="Content Placeholder 2"/>
          <p:cNvSpPr>
            <a:spLocks noGrp="1"/>
          </p:cNvSpPr>
          <p:nvPr>
            <p:ph idx="1"/>
          </p:nvPr>
        </p:nvSpPr>
        <p:spPr>
          <a:xfrm>
            <a:off x="3422650" y="1026795"/>
            <a:ext cx="1446530" cy="605790"/>
          </a:xfrm>
        </p:spPr>
        <p:txBody>
          <a:bodyPr/>
          <a:p>
            <a:pPr marL="0" indent="0">
              <a:buNone/>
            </a:pPr>
            <a:r>
              <a:rPr lang="en-US"/>
              <a:t>Spring</a:t>
            </a:r>
            <a:endParaRPr lang="en-US"/>
          </a:p>
        </p:txBody>
      </p:sp>
      <p:pic>
        <p:nvPicPr>
          <p:cNvPr id="4" name="Picture 3" descr="Screenshot 2025-10-17 at 1.28.32 PM"/>
          <p:cNvPicPr>
            <a:picLocks noChangeAspect="1"/>
          </p:cNvPicPr>
          <p:nvPr/>
        </p:nvPicPr>
        <p:blipFill>
          <a:blip r:embed="rId1"/>
          <a:stretch>
            <a:fillRect/>
          </a:stretch>
        </p:blipFill>
        <p:spPr>
          <a:xfrm>
            <a:off x="939800" y="1825625"/>
            <a:ext cx="10312400" cy="4610100"/>
          </a:xfrm>
          <a:prstGeom prst="rect">
            <a:avLst/>
          </a:prstGeom>
        </p:spPr>
      </p:pic>
      <p:sp>
        <p:nvSpPr>
          <p:cNvPr id="5" name="Content Placeholder 2"/>
          <p:cNvSpPr>
            <a:spLocks noGrp="1"/>
          </p:cNvSpPr>
          <p:nvPr/>
        </p:nvSpPr>
        <p:spPr>
          <a:xfrm>
            <a:off x="7029450" y="1026795"/>
            <a:ext cx="3063875" cy="605790"/>
          </a:xfrm>
          <a:prstGeom prst="rect">
            <a:avLst/>
          </a:prstGeom>
          <a:noFill/>
          <a:ln w="9525">
            <a:noFill/>
          </a:ln>
        </p:spPr>
        <p:txBody>
          <a:bodyPr anchor="t" anchorCtr="0"/>
          <a:lstStyle>
            <a:lvl1pPr marL="228600" indent="-228600" algn="l" rtl="0" fontAlgn="base">
              <a:lnSpc>
                <a:spcPct val="90000"/>
              </a:lnSpc>
              <a:spcBef>
                <a:spcPts val="1000"/>
              </a:spcBef>
              <a:spcAft>
                <a:spcPct val="0"/>
              </a:spcAft>
              <a:buFont typeface="Arial" panose="020B0604020202090204" pitchFamily="34" charset="0"/>
              <a:buChar char="•"/>
              <a:defRPr sz="2800" kern="1200">
                <a:solidFill>
                  <a:schemeClr val="tx1"/>
                </a:solidFill>
                <a:latin typeface="+mn-lt"/>
                <a:ea typeface="+mn-ea"/>
                <a:cs typeface="+mn-cs"/>
              </a:defRPr>
            </a:lvl1pPr>
            <a:lvl2pPr marL="685800" indent="-228600" algn="l" rtl="0" fontAlgn="base">
              <a:lnSpc>
                <a:spcPct val="90000"/>
              </a:lnSpc>
              <a:spcBef>
                <a:spcPts val="500"/>
              </a:spcBef>
              <a:spcAft>
                <a:spcPct val="0"/>
              </a:spcAft>
              <a:buFont typeface="Arial" panose="020B0604020202090204" pitchFamily="34" charset="0"/>
              <a:buChar char="•"/>
              <a:defRPr sz="2400" kern="1200">
                <a:solidFill>
                  <a:schemeClr val="tx1"/>
                </a:solidFill>
                <a:latin typeface="+mn-lt"/>
                <a:ea typeface="+mn-ea"/>
                <a:cs typeface="+mn-cs"/>
              </a:defRPr>
            </a:lvl2pPr>
            <a:lvl3pPr marL="11430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3pPr>
            <a:lvl4pPr marL="16002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4pPr>
            <a:lvl5pPr marL="2057400" indent="-228600" algn="l" rtl="0" fontAlgn="base">
              <a:lnSpc>
                <a:spcPct val="90000"/>
              </a:lnSpc>
              <a:spcBef>
                <a:spcPts val="500"/>
              </a:spcBef>
              <a:spcAft>
                <a:spcPct val="0"/>
              </a:spcAft>
              <a:buFont typeface="Arial" panose="020B0604020202090204" pitchFamily="34" charset="0"/>
              <a:buChar char="•"/>
              <a:defRPr sz="20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90204" pitchFamily="34" charset="0"/>
              <a:buChar char="•"/>
              <a:defRPr sz="1800" kern="1200">
                <a:solidFill>
                  <a:schemeClr val="tx1"/>
                </a:solidFill>
                <a:latin typeface="+mn-lt"/>
                <a:ea typeface="+mn-ea"/>
                <a:cs typeface="+mn-cs"/>
              </a:defRPr>
            </a:lvl9pPr>
          </a:lstStyle>
          <a:p>
            <a:pPr marL="0" indent="0">
              <a:buNone/>
            </a:pPr>
            <a:r>
              <a:rPr lang="en-US"/>
              <a:t>Spring Boot</a:t>
            </a:r>
            <a:endParaRPr lang="en-US"/>
          </a:p>
        </p:txBody>
      </p:sp>
      <p:sp>
        <p:nvSpPr>
          <p:cNvPr id="21" name="Rectangles 20"/>
          <p:cNvSpPr/>
          <p:nvPr/>
        </p:nvSpPr>
        <p:spPr>
          <a:xfrm>
            <a:off x="6933565" y="5096510"/>
            <a:ext cx="1991995" cy="252095"/>
          </a:xfrm>
          <a:prstGeom prst="rect">
            <a:avLst/>
          </a:prstGeom>
          <a:noFill/>
          <a:ln>
            <a:solidFill>
              <a:schemeClr val="accent2">
                <a:lumMod val="75000"/>
              </a:schemeClr>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
        <p:nvSpPr>
          <p:cNvPr id="6" name="Rectangles 5"/>
          <p:cNvSpPr/>
          <p:nvPr/>
        </p:nvSpPr>
        <p:spPr>
          <a:xfrm>
            <a:off x="9508490" y="5096510"/>
            <a:ext cx="572135" cy="252095"/>
          </a:xfrm>
          <a:prstGeom prst="rect">
            <a:avLst/>
          </a:prstGeom>
          <a:noFill/>
          <a:ln>
            <a:solidFill>
              <a:schemeClr val="accent2">
                <a:lumMod val="75000"/>
              </a:schemeClr>
            </a:solidFill>
          </a:ln>
          <a:extLst>
            <a:ext uri="{909E8E84-426E-40DD-AFC4-6F175D3DCCD1}">
              <a14:hiddenFill xmlns:a14="http://schemas.microsoft.com/office/drawing/2010/main">
                <a:solidFill>
                  <a:schemeClr val="accent1"/>
                </a:solidFill>
              </a14:hiddenFill>
            </a:ext>
          </a:extLst>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p:grpSp>
        <p:nvGrpSpPr>
          <p:cNvPr id="17409" name="组合 5"/>
          <p:cNvGrpSpPr/>
          <p:nvPr/>
        </p:nvGrpSpPr>
        <p:grpSpPr>
          <a:xfrm>
            <a:off x="247650" y="196850"/>
            <a:ext cx="417513" cy="355600"/>
            <a:chOff x="705193" y="4082415"/>
            <a:chExt cx="666407" cy="568960"/>
          </a:xfrm>
        </p:grpSpPr>
        <p:sp>
          <p:nvSpPr>
            <p:cNvPr id="4" name="直角三角形 3"/>
            <p:cNvSpPr/>
            <p:nvPr/>
          </p:nvSpPr>
          <p:spPr>
            <a:xfrm>
              <a:off x="760938" y="4082415"/>
              <a:ext cx="610662" cy="56896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19329383">
              <a:off x="705193" y="4125596"/>
              <a:ext cx="532111" cy="406400"/>
            </a:xfrm>
            <a:prstGeom prst="rtTriangle">
              <a:avLst/>
            </a:pr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grpSp>
        <p:nvGrpSpPr>
          <p:cNvPr id="17412" name="组合 7"/>
          <p:cNvGrpSpPr/>
          <p:nvPr/>
        </p:nvGrpSpPr>
        <p:grpSpPr>
          <a:xfrm>
            <a:off x="4021138" y="1830388"/>
            <a:ext cx="3903662" cy="4352925"/>
            <a:chOff x="5602512" y="692718"/>
            <a:chExt cx="4527616" cy="5047681"/>
          </a:xfrm>
        </p:grpSpPr>
        <p:sp>
          <p:nvSpPr>
            <p:cNvPr id="9" name="直角三角形 3"/>
            <p:cNvSpPr/>
            <p:nvPr/>
          </p:nvSpPr>
          <p:spPr>
            <a:xfrm flipH="1">
              <a:off x="5602512" y="1305729"/>
              <a:ext cx="1900163" cy="2236664"/>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870857 w 1855931"/>
                <a:gd name="connsiteY0-2" fmla="*/ 2235198 h 2235198"/>
                <a:gd name="connsiteX1-3" fmla="*/ 0 w 1855931"/>
                <a:gd name="connsiteY1-4" fmla="*/ 0 h 2235198"/>
                <a:gd name="connsiteX2-5" fmla="*/ 1855931 w 1855931"/>
                <a:gd name="connsiteY2-6" fmla="*/ 2235198 h 2235198"/>
                <a:gd name="connsiteX3-7" fmla="*/ 870857 w 1855931"/>
                <a:gd name="connsiteY3-8" fmla="*/ 2235198 h 2235198"/>
                <a:gd name="connsiteX0-9" fmla="*/ 870857 w 1855931"/>
                <a:gd name="connsiteY0-10" fmla="*/ 2235198 h 2235198"/>
                <a:gd name="connsiteX1-11" fmla="*/ 0 w 1855931"/>
                <a:gd name="connsiteY1-12" fmla="*/ 0 h 2235198"/>
                <a:gd name="connsiteX2-13" fmla="*/ 1855931 w 1855931"/>
                <a:gd name="connsiteY2-14" fmla="*/ 2235198 h 2235198"/>
                <a:gd name="connsiteX3-15" fmla="*/ 870857 w 1855931"/>
                <a:gd name="connsiteY3-16" fmla="*/ 2235198 h 2235198"/>
                <a:gd name="connsiteX0-17" fmla="*/ 870857 w 1855931"/>
                <a:gd name="connsiteY0-18" fmla="*/ 2235198 h 2235198"/>
                <a:gd name="connsiteX1-19" fmla="*/ 0 w 1855931"/>
                <a:gd name="connsiteY1-20" fmla="*/ 0 h 2235198"/>
                <a:gd name="connsiteX2-21" fmla="*/ 1855931 w 1855931"/>
                <a:gd name="connsiteY2-22" fmla="*/ 2235198 h 2235198"/>
                <a:gd name="connsiteX3-23" fmla="*/ 870857 w 1855931"/>
                <a:gd name="connsiteY3-24" fmla="*/ 2235198 h 2235198"/>
                <a:gd name="connsiteX0-25" fmla="*/ 870857 w 1855931"/>
                <a:gd name="connsiteY0-26" fmla="*/ 2235198 h 2235198"/>
                <a:gd name="connsiteX1-27" fmla="*/ 0 w 1855931"/>
                <a:gd name="connsiteY1-28" fmla="*/ 0 h 2235198"/>
                <a:gd name="connsiteX2-29" fmla="*/ 1855931 w 1855931"/>
                <a:gd name="connsiteY2-30" fmla="*/ 2235198 h 2235198"/>
                <a:gd name="connsiteX3-31" fmla="*/ 870857 w 1855931"/>
                <a:gd name="connsiteY3-32" fmla="*/ 2235198 h 2235198"/>
                <a:gd name="connsiteX0-33" fmla="*/ 870857 w 1855931"/>
                <a:gd name="connsiteY0-34" fmla="*/ 2235198 h 2235198"/>
                <a:gd name="connsiteX1-35" fmla="*/ 0 w 1855931"/>
                <a:gd name="connsiteY1-36" fmla="*/ 0 h 2235198"/>
                <a:gd name="connsiteX2-37" fmla="*/ 1855931 w 1855931"/>
                <a:gd name="connsiteY2-38" fmla="*/ 2235198 h 2235198"/>
                <a:gd name="connsiteX3-39" fmla="*/ 870857 w 1855931"/>
                <a:gd name="connsiteY3-40" fmla="*/ 2235198 h 2235198"/>
                <a:gd name="connsiteX0-41" fmla="*/ 870857 w 1855931"/>
                <a:gd name="connsiteY0-42" fmla="*/ 2235198 h 2235198"/>
                <a:gd name="connsiteX1-43" fmla="*/ 0 w 1855931"/>
                <a:gd name="connsiteY1-44" fmla="*/ 0 h 2235198"/>
                <a:gd name="connsiteX2-45" fmla="*/ 1855931 w 1855931"/>
                <a:gd name="connsiteY2-46" fmla="*/ 2235198 h 2235198"/>
                <a:gd name="connsiteX3-47" fmla="*/ 870857 w 1855931"/>
                <a:gd name="connsiteY3-48" fmla="*/ 2235198 h 2235198"/>
                <a:gd name="connsiteX0-49" fmla="*/ 870857 w 1855931"/>
                <a:gd name="connsiteY0-50" fmla="*/ 2235198 h 2235198"/>
                <a:gd name="connsiteX1-51" fmla="*/ 0 w 1855931"/>
                <a:gd name="connsiteY1-52" fmla="*/ 0 h 2235198"/>
                <a:gd name="connsiteX2-53" fmla="*/ 1855931 w 1855931"/>
                <a:gd name="connsiteY2-54" fmla="*/ 2235198 h 2235198"/>
                <a:gd name="connsiteX3-55" fmla="*/ 870857 w 1855931"/>
                <a:gd name="connsiteY3-56" fmla="*/ 2235198 h 2235198"/>
                <a:gd name="connsiteX0-57" fmla="*/ 870857 w 1855931"/>
                <a:gd name="connsiteY0-58" fmla="*/ 2235198 h 2235198"/>
                <a:gd name="connsiteX1-59" fmla="*/ 0 w 1855931"/>
                <a:gd name="connsiteY1-60" fmla="*/ 0 h 2235198"/>
                <a:gd name="connsiteX2-61" fmla="*/ 1855931 w 1855931"/>
                <a:gd name="connsiteY2-62" fmla="*/ 2235198 h 2235198"/>
                <a:gd name="connsiteX3-63" fmla="*/ 870857 w 1855931"/>
                <a:gd name="connsiteY3-64" fmla="*/ 2235198 h 2235198"/>
                <a:gd name="connsiteX0-65" fmla="*/ 914399 w 1899473"/>
                <a:gd name="connsiteY0-66" fmla="*/ 2235198 h 2235198"/>
                <a:gd name="connsiteX1-67" fmla="*/ 0 w 1899473"/>
                <a:gd name="connsiteY1-68" fmla="*/ 0 h 2235198"/>
                <a:gd name="connsiteX2-69" fmla="*/ 1899473 w 1899473"/>
                <a:gd name="connsiteY2-70" fmla="*/ 2235198 h 2235198"/>
                <a:gd name="connsiteX3-71" fmla="*/ 914399 w 1899473"/>
                <a:gd name="connsiteY3-72" fmla="*/ 2235198 h 2235198"/>
              </a:gdLst>
              <a:ahLst/>
              <a:cxnLst>
                <a:cxn ang="0">
                  <a:pos x="connsiteX0-1" y="connsiteY0-2"/>
                </a:cxn>
                <a:cxn ang="0">
                  <a:pos x="connsiteX1-3" y="connsiteY1-4"/>
                </a:cxn>
                <a:cxn ang="0">
                  <a:pos x="connsiteX2-5" y="connsiteY2-6"/>
                </a:cxn>
                <a:cxn ang="0">
                  <a:pos x="connsiteX3-7" y="connsiteY3-8"/>
                </a:cxn>
              </a:cxnLst>
              <a:rect l="l" t="t" r="r" b="b"/>
              <a:pathLst>
                <a:path w="1899473" h="2235198">
                  <a:moveTo>
                    <a:pt x="914399" y="2235198"/>
                  </a:moveTo>
                  <a:cubicBezTo>
                    <a:pt x="957942" y="1025675"/>
                    <a:pt x="551543" y="599923"/>
                    <a:pt x="0" y="0"/>
                  </a:cubicBezTo>
                  <a:cubicBezTo>
                    <a:pt x="429958" y="62894"/>
                    <a:pt x="1716258" y="459618"/>
                    <a:pt x="1899473" y="2235198"/>
                  </a:cubicBezTo>
                  <a:cubicBezTo>
                    <a:pt x="1440486" y="1959427"/>
                    <a:pt x="1242757" y="1988455"/>
                    <a:pt x="914399" y="2235198"/>
                  </a:cubicBez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0" name="直角三角形 9"/>
            <p:cNvSpPr/>
            <p:nvPr/>
          </p:nvSpPr>
          <p:spPr>
            <a:xfrm flipH="1">
              <a:off x="6782748" y="1278116"/>
              <a:ext cx="985066" cy="2264277"/>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0 w 985074"/>
                <a:gd name="connsiteY0-2" fmla="*/ 2264227 h 2264227"/>
                <a:gd name="connsiteX1-3" fmla="*/ 0 w 985074"/>
                <a:gd name="connsiteY1-4" fmla="*/ 0 h 2264227"/>
                <a:gd name="connsiteX2-5" fmla="*/ 985074 w 985074"/>
                <a:gd name="connsiteY2-6" fmla="*/ 2264227 h 2264227"/>
                <a:gd name="connsiteX3-7" fmla="*/ 0 w 985074"/>
                <a:gd name="connsiteY3-8" fmla="*/ 2264227 h 2264227"/>
                <a:gd name="connsiteX0-9" fmla="*/ 0 w 986319"/>
                <a:gd name="connsiteY0-10" fmla="*/ 2264227 h 2264227"/>
                <a:gd name="connsiteX1-11" fmla="*/ 0 w 986319"/>
                <a:gd name="connsiteY1-12" fmla="*/ 0 h 2264227"/>
                <a:gd name="connsiteX2-13" fmla="*/ 985074 w 986319"/>
                <a:gd name="connsiteY2-14" fmla="*/ 2264227 h 2264227"/>
                <a:gd name="connsiteX3-15" fmla="*/ 0 w 986319"/>
                <a:gd name="connsiteY3-16" fmla="*/ 2264227 h 2264227"/>
                <a:gd name="connsiteX0-17" fmla="*/ 0 w 986753"/>
                <a:gd name="connsiteY0-18" fmla="*/ 2264227 h 2264227"/>
                <a:gd name="connsiteX1-19" fmla="*/ 0 w 986753"/>
                <a:gd name="connsiteY1-20" fmla="*/ 0 h 2264227"/>
                <a:gd name="connsiteX2-21" fmla="*/ 985074 w 986753"/>
                <a:gd name="connsiteY2-22" fmla="*/ 2264227 h 2264227"/>
                <a:gd name="connsiteX3-23" fmla="*/ 0 w 986753"/>
                <a:gd name="connsiteY3-24" fmla="*/ 2264227 h 2264227"/>
                <a:gd name="connsiteX0-25" fmla="*/ 0 w 986753"/>
                <a:gd name="connsiteY0-26" fmla="*/ 2264227 h 2264227"/>
                <a:gd name="connsiteX1-27" fmla="*/ 0 w 986753"/>
                <a:gd name="connsiteY1-28" fmla="*/ 0 h 2264227"/>
                <a:gd name="connsiteX2-29" fmla="*/ 985074 w 986753"/>
                <a:gd name="connsiteY2-30" fmla="*/ 2264227 h 2264227"/>
                <a:gd name="connsiteX3-31" fmla="*/ 0 w 986753"/>
                <a:gd name="connsiteY3-32" fmla="*/ 2264227 h 2264227"/>
                <a:gd name="connsiteX0-33" fmla="*/ 0 w 986753"/>
                <a:gd name="connsiteY0-34" fmla="*/ 2264227 h 2264227"/>
                <a:gd name="connsiteX1-35" fmla="*/ 0 w 986753"/>
                <a:gd name="connsiteY1-36" fmla="*/ 0 h 2264227"/>
                <a:gd name="connsiteX2-37" fmla="*/ 985074 w 986753"/>
                <a:gd name="connsiteY2-38" fmla="*/ 2264227 h 2264227"/>
                <a:gd name="connsiteX3-39" fmla="*/ 0 w 986753"/>
                <a:gd name="connsiteY3-40" fmla="*/ 2264227 h 2264227"/>
              </a:gdLst>
              <a:ahLst/>
              <a:cxnLst>
                <a:cxn ang="0">
                  <a:pos x="connsiteX0-1" y="connsiteY0-2"/>
                </a:cxn>
                <a:cxn ang="0">
                  <a:pos x="connsiteX1-3" y="connsiteY1-4"/>
                </a:cxn>
                <a:cxn ang="0">
                  <a:pos x="connsiteX2-5" y="connsiteY2-6"/>
                </a:cxn>
                <a:cxn ang="0">
                  <a:pos x="connsiteX3-7" y="connsiteY3-8"/>
                </a:cxn>
              </a:cxnLst>
              <a:rect l="l" t="t" r="r" b="b"/>
              <a:pathLst>
                <a:path w="986753" h="2264227">
                  <a:moveTo>
                    <a:pt x="0" y="2264227"/>
                  </a:moveTo>
                  <a:lnTo>
                    <a:pt x="0" y="0"/>
                  </a:lnTo>
                  <a:cubicBezTo>
                    <a:pt x="517044" y="406399"/>
                    <a:pt x="1019573" y="914399"/>
                    <a:pt x="985074" y="2264227"/>
                  </a:cubicBezTo>
                  <a:cubicBezTo>
                    <a:pt x="540602" y="1915884"/>
                    <a:pt x="328358" y="2017484"/>
                    <a:pt x="0" y="2264227"/>
                  </a:cubicBez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1" name="直角三角形 9"/>
            <p:cNvSpPr/>
            <p:nvPr/>
          </p:nvSpPr>
          <p:spPr>
            <a:xfrm>
              <a:off x="7964826" y="1278116"/>
              <a:ext cx="985066" cy="2264277"/>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0 w 985074"/>
                <a:gd name="connsiteY0-2" fmla="*/ 2264227 h 2264227"/>
                <a:gd name="connsiteX1-3" fmla="*/ 0 w 985074"/>
                <a:gd name="connsiteY1-4" fmla="*/ 0 h 2264227"/>
                <a:gd name="connsiteX2-5" fmla="*/ 985074 w 985074"/>
                <a:gd name="connsiteY2-6" fmla="*/ 2264227 h 2264227"/>
                <a:gd name="connsiteX3-7" fmla="*/ 0 w 985074"/>
                <a:gd name="connsiteY3-8" fmla="*/ 2264227 h 2264227"/>
                <a:gd name="connsiteX0-9" fmla="*/ 0 w 986319"/>
                <a:gd name="connsiteY0-10" fmla="*/ 2264227 h 2264227"/>
                <a:gd name="connsiteX1-11" fmla="*/ 0 w 986319"/>
                <a:gd name="connsiteY1-12" fmla="*/ 0 h 2264227"/>
                <a:gd name="connsiteX2-13" fmla="*/ 985074 w 986319"/>
                <a:gd name="connsiteY2-14" fmla="*/ 2264227 h 2264227"/>
                <a:gd name="connsiteX3-15" fmla="*/ 0 w 986319"/>
                <a:gd name="connsiteY3-16" fmla="*/ 2264227 h 2264227"/>
                <a:gd name="connsiteX0-17" fmla="*/ 0 w 986753"/>
                <a:gd name="connsiteY0-18" fmla="*/ 2264227 h 2264227"/>
                <a:gd name="connsiteX1-19" fmla="*/ 0 w 986753"/>
                <a:gd name="connsiteY1-20" fmla="*/ 0 h 2264227"/>
                <a:gd name="connsiteX2-21" fmla="*/ 985074 w 986753"/>
                <a:gd name="connsiteY2-22" fmla="*/ 2264227 h 2264227"/>
                <a:gd name="connsiteX3-23" fmla="*/ 0 w 986753"/>
                <a:gd name="connsiteY3-24" fmla="*/ 2264227 h 2264227"/>
                <a:gd name="connsiteX0-25" fmla="*/ 0 w 986753"/>
                <a:gd name="connsiteY0-26" fmla="*/ 2264227 h 2264227"/>
                <a:gd name="connsiteX1-27" fmla="*/ 0 w 986753"/>
                <a:gd name="connsiteY1-28" fmla="*/ 0 h 2264227"/>
                <a:gd name="connsiteX2-29" fmla="*/ 985074 w 986753"/>
                <a:gd name="connsiteY2-30" fmla="*/ 2264227 h 2264227"/>
                <a:gd name="connsiteX3-31" fmla="*/ 0 w 986753"/>
                <a:gd name="connsiteY3-32" fmla="*/ 2264227 h 2264227"/>
                <a:gd name="connsiteX0-33" fmla="*/ 0 w 986753"/>
                <a:gd name="connsiteY0-34" fmla="*/ 2264227 h 2264227"/>
                <a:gd name="connsiteX1-35" fmla="*/ 0 w 986753"/>
                <a:gd name="connsiteY1-36" fmla="*/ 0 h 2264227"/>
                <a:gd name="connsiteX2-37" fmla="*/ 985074 w 986753"/>
                <a:gd name="connsiteY2-38" fmla="*/ 2264227 h 2264227"/>
                <a:gd name="connsiteX3-39" fmla="*/ 0 w 986753"/>
                <a:gd name="connsiteY3-40" fmla="*/ 2264227 h 2264227"/>
              </a:gdLst>
              <a:ahLst/>
              <a:cxnLst>
                <a:cxn ang="0">
                  <a:pos x="connsiteX0-1" y="connsiteY0-2"/>
                </a:cxn>
                <a:cxn ang="0">
                  <a:pos x="connsiteX1-3" y="connsiteY1-4"/>
                </a:cxn>
                <a:cxn ang="0">
                  <a:pos x="connsiteX2-5" y="connsiteY2-6"/>
                </a:cxn>
                <a:cxn ang="0">
                  <a:pos x="connsiteX3-7" y="connsiteY3-8"/>
                </a:cxn>
              </a:cxnLst>
              <a:rect l="l" t="t" r="r" b="b"/>
              <a:pathLst>
                <a:path w="986753" h="2264227">
                  <a:moveTo>
                    <a:pt x="0" y="2264227"/>
                  </a:moveTo>
                  <a:lnTo>
                    <a:pt x="0" y="0"/>
                  </a:lnTo>
                  <a:cubicBezTo>
                    <a:pt x="517044" y="406399"/>
                    <a:pt x="1019573" y="914399"/>
                    <a:pt x="985074" y="2264227"/>
                  </a:cubicBezTo>
                  <a:cubicBezTo>
                    <a:pt x="540602" y="1915884"/>
                    <a:pt x="328358" y="2017484"/>
                    <a:pt x="0" y="2264227"/>
                  </a:cubicBezTo>
                  <a:close/>
                </a:path>
              </a:pathLst>
            </a:cu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dirty="0">
                <a:ln>
                  <a:noFill/>
                </a:ln>
                <a:solidFill>
                  <a:prstClr val="white"/>
                </a:solidFill>
                <a:effectLst/>
                <a:uLnTx/>
                <a:uFillTx/>
                <a:latin typeface="+mn-lt"/>
                <a:ea typeface="+mn-ea"/>
                <a:cs typeface="+mn-cs"/>
              </a:endParaRPr>
            </a:p>
          </p:txBody>
        </p:sp>
        <p:sp>
          <p:nvSpPr>
            <p:cNvPr id="12" name="直角三角形 3"/>
            <p:cNvSpPr/>
            <p:nvPr/>
          </p:nvSpPr>
          <p:spPr>
            <a:xfrm>
              <a:off x="8165522" y="1291002"/>
              <a:ext cx="1964606" cy="2236664"/>
            </a:xfrm>
            <a:custGeom>
              <a:avLst/>
              <a:gdLst>
                <a:gd name="connsiteX0" fmla="*/ 0 w 985074"/>
                <a:gd name="connsiteY0" fmla="*/ 2264227 h 2264227"/>
                <a:gd name="connsiteX1" fmla="*/ 0 w 985074"/>
                <a:gd name="connsiteY1" fmla="*/ 0 h 2264227"/>
                <a:gd name="connsiteX2" fmla="*/ 985074 w 985074"/>
                <a:gd name="connsiteY2" fmla="*/ 2264227 h 2264227"/>
                <a:gd name="connsiteX3" fmla="*/ 0 w 985074"/>
                <a:gd name="connsiteY3" fmla="*/ 2264227 h 2264227"/>
                <a:gd name="connsiteX0-1" fmla="*/ 870857 w 1855931"/>
                <a:gd name="connsiteY0-2" fmla="*/ 2235198 h 2235198"/>
                <a:gd name="connsiteX1-3" fmla="*/ 0 w 1855931"/>
                <a:gd name="connsiteY1-4" fmla="*/ 0 h 2235198"/>
                <a:gd name="connsiteX2-5" fmla="*/ 1855931 w 1855931"/>
                <a:gd name="connsiteY2-6" fmla="*/ 2235198 h 2235198"/>
                <a:gd name="connsiteX3-7" fmla="*/ 870857 w 1855931"/>
                <a:gd name="connsiteY3-8" fmla="*/ 2235198 h 2235198"/>
                <a:gd name="connsiteX0-9" fmla="*/ 870857 w 1855931"/>
                <a:gd name="connsiteY0-10" fmla="*/ 2235198 h 2235198"/>
                <a:gd name="connsiteX1-11" fmla="*/ 0 w 1855931"/>
                <a:gd name="connsiteY1-12" fmla="*/ 0 h 2235198"/>
                <a:gd name="connsiteX2-13" fmla="*/ 1855931 w 1855931"/>
                <a:gd name="connsiteY2-14" fmla="*/ 2235198 h 2235198"/>
                <a:gd name="connsiteX3-15" fmla="*/ 870857 w 1855931"/>
                <a:gd name="connsiteY3-16" fmla="*/ 2235198 h 2235198"/>
                <a:gd name="connsiteX0-17" fmla="*/ 870857 w 1855931"/>
                <a:gd name="connsiteY0-18" fmla="*/ 2235198 h 2235198"/>
                <a:gd name="connsiteX1-19" fmla="*/ 0 w 1855931"/>
                <a:gd name="connsiteY1-20" fmla="*/ 0 h 2235198"/>
                <a:gd name="connsiteX2-21" fmla="*/ 1855931 w 1855931"/>
                <a:gd name="connsiteY2-22" fmla="*/ 2235198 h 2235198"/>
                <a:gd name="connsiteX3-23" fmla="*/ 870857 w 1855931"/>
                <a:gd name="connsiteY3-24" fmla="*/ 2235198 h 2235198"/>
                <a:gd name="connsiteX0-25" fmla="*/ 870857 w 1855931"/>
                <a:gd name="connsiteY0-26" fmla="*/ 2235198 h 2235198"/>
                <a:gd name="connsiteX1-27" fmla="*/ 0 w 1855931"/>
                <a:gd name="connsiteY1-28" fmla="*/ 0 h 2235198"/>
                <a:gd name="connsiteX2-29" fmla="*/ 1855931 w 1855931"/>
                <a:gd name="connsiteY2-30" fmla="*/ 2235198 h 2235198"/>
                <a:gd name="connsiteX3-31" fmla="*/ 870857 w 1855931"/>
                <a:gd name="connsiteY3-32" fmla="*/ 2235198 h 2235198"/>
                <a:gd name="connsiteX0-33" fmla="*/ 870857 w 1855931"/>
                <a:gd name="connsiteY0-34" fmla="*/ 2235198 h 2235198"/>
                <a:gd name="connsiteX1-35" fmla="*/ 0 w 1855931"/>
                <a:gd name="connsiteY1-36" fmla="*/ 0 h 2235198"/>
                <a:gd name="connsiteX2-37" fmla="*/ 1855931 w 1855931"/>
                <a:gd name="connsiteY2-38" fmla="*/ 2235198 h 2235198"/>
                <a:gd name="connsiteX3-39" fmla="*/ 870857 w 1855931"/>
                <a:gd name="connsiteY3-40" fmla="*/ 2235198 h 2235198"/>
                <a:gd name="connsiteX0-41" fmla="*/ 870857 w 1855931"/>
                <a:gd name="connsiteY0-42" fmla="*/ 2235198 h 2235198"/>
                <a:gd name="connsiteX1-43" fmla="*/ 0 w 1855931"/>
                <a:gd name="connsiteY1-44" fmla="*/ 0 h 2235198"/>
                <a:gd name="connsiteX2-45" fmla="*/ 1855931 w 1855931"/>
                <a:gd name="connsiteY2-46" fmla="*/ 2235198 h 2235198"/>
                <a:gd name="connsiteX3-47" fmla="*/ 870857 w 1855931"/>
                <a:gd name="connsiteY3-48" fmla="*/ 2235198 h 2235198"/>
                <a:gd name="connsiteX0-49" fmla="*/ 870857 w 1855931"/>
                <a:gd name="connsiteY0-50" fmla="*/ 2235198 h 2235198"/>
                <a:gd name="connsiteX1-51" fmla="*/ 0 w 1855931"/>
                <a:gd name="connsiteY1-52" fmla="*/ 0 h 2235198"/>
                <a:gd name="connsiteX2-53" fmla="*/ 1855931 w 1855931"/>
                <a:gd name="connsiteY2-54" fmla="*/ 2235198 h 2235198"/>
                <a:gd name="connsiteX3-55" fmla="*/ 870857 w 1855931"/>
                <a:gd name="connsiteY3-56" fmla="*/ 2235198 h 2235198"/>
                <a:gd name="connsiteX0-57" fmla="*/ 870857 w 1855931"/>
                <a:gd name="connsiteY0-58" fmla="*/ 2235198 h 2235198"/>
                <a:gd name="connsiteX1-59" fmla="*/ 0 w 1855931"/>
                <a:gd name="connsiteY1-60" fmla="*/ 0 h 2235198"/>
                <a:gd name="connsiteX2-61" fmla="*/ 1855931 w 1855931"/>
                <a:gd name="connsiteY2-62" fmla="*/ 2235198 h 2235198"/>
                <a:gd name="connsiteX3-63" fmla="*/ 870857 w 1855931"/>
                <a:gd name="connsiteY3-64" fmla="*/ 2235198 h 2235198"/>
                <a:gd name="connsiteX0-65" fmla="*/ 914399 w 1899473"/>
                <a:gd name="connsiteY0-66" fmla="*/ 2235198 h 2235198"/>
                <a:gd name="connsiteX1-67" fmla="*/ 0 w 1899473"/>
                <a:gd name="connsiteY1-68" fmla="*/ 0 h 2235198"/>
                <a:gd name="connsiteX2-69" fmla="*/ 1899473 w 1899473"/>
                <a:gd name="connsiteY2-70" fmla="*/ 2235198 h 2235198"/>
                <a:gd name="connsiteX3-71" fmla="*/ 914399 w 1899473"/>
                <a:gd name="connsiteY3-72" fmla="*/ 2235198 h 2235198"/>
              </a:gdLst>
              <a:ahLst/>
              <a:cxnLst>
                <a:cxn ang="0">
                  <a:pos x="connsiteX0-1" y="connsiteY0-2"/>
                </a:cxn>
                <a:cxn ang="0">
                  <a:pos x="connsiteX1-3" y="connsiteY1-4"/>
                </a:cxn>
                <a:cxn ang="0">
                  <a:pos x="connsiteX2-5" y="connsiteY2-6"/>
                </a:cxn>
                <a:cxn ang="0">
                  <a:pos x="connsiteX3-7" y="connsiteY3-8"/>
                </a:cxn>
              </a:cxnLst>
              <a:rect l="l" t="t" r="r" b="b"/>
              <a:pathLst>
                <a:path w="1899473" h="2235198">
                  <a:moveTo>
                    <a:pt x="914399" y="2235198"/>
                  </a:moveTo>
                  <a:cubicBezTo>
                    <a:pt x="957942" y="1025675"/>
                    <a:pt x="551543" y="599923"/>
                    <a:pt x="0" y="0"/>
                  </a:cubicBezTo>
                  <a:cubicBezTo>
                    <a:pt x="429958" y="62894"/>
                    <a:pt x="1716258" y="459618"/>
                    <a:pt x="1899473" y="2235198"/>
                  </a:cubicBezTo>
                  <a:cubicBezTo>
                    <a:pt x="1440486" y="1959427"/>
                    <a:pt x="1242757" y="1988455"/>
                    <a:pt x="914399" y="2235198"/>
                  </a:cubicBezTo>
                  <a:close/>
                </a:path>
              </a:pathLst>
            </a:custGeom>
            <a:solidFill>
              <a:srgbClr val="353F48"/>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3" name="矩形 12"/>
            <p:cNvSpPr/>
            <p:nvPr/>
          </p:nvSpPr>
          <p:spPr>
            <a:xfrm>
              <a:off x="7767814" y="692718"/>
              <a:ext cx="99427" cy="410515"/>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grpSp>
          <p:nvGrpSpPr>
            <p:cNvPr id="17418" name="组合 13"/>
            <p:cNvGrpSpPr/>
            <p:nvPr/>
          </p:nvGrpSpPr>
          <p:grpSpPr>
            <a:xfrm>
              <a:off x="7817729" y="3773715"/>
              <a:ext cx="769256" cy="1966684"/>
              <a:chOff x="7768713" y="4296229"/>
              <a:chExt cx="769256" cy="1966684"/>
            </a:xfrm>
          </p:grpSpPr>
          <p:sp>
            <p:nvSpPr>
              <p:cNvPr id="15" name="矩形 14"/>
              <p:cNvSpPr/>
              <p:nvPr/>
            </p:nvSpPr>
            <p:spPr>
              <a:xfrm>
                <a:off x="7768511" y="4296858"/>
                <a:ext cx="97587" cy="1610766"/>
              </a:xfrm>
              <a:prstGeom prst="rect">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16" name="空心弧 15"/>
              <p:cNvSpPr/>
              <p:nvPr/>
            </p:nvSpPr>
            <p:spPr>
              <a:xfrm rot="10800000">
                <a:off x="7768511" y="5493427"/>
                <a:ext cx="769640" cy="769486"/>
              </a:xfrm>
              <a:prstGeom prst="blockArc">
                <a:avLst>
                  <a:gd name="adj1" fmla="val 10800000"/>
                  <a:gd name="adj2" fmla="val 21421567"/>
                  <a:gd name="adj3" fmla="val 13630"/>
                </a:avLst>
              </a:prstGeom>
              <a:solidFill>
                <a:schemeClr val="bg1">
                  <a:lumMod val="6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black"/>
                  </a:solidFill>
                  <a:effectLst/>
                  <a:uLnTx/>
                  <a:uFillTx/>
                  <a:latin typeface="+mn-lt"/>
                  <a:ea typeface="+mn-ea"/>
                  <a:cs typeface="+mn-cs"/>
                </a:endParaRPr>
              </a:p>
            </p:txBody>
          </p:sp>
        </p:grpSp>
      </p:grpSp>
      <p:grpSp>
        <p:nvGrpSpPr>
          <p:cNvPr id="17421" name="组合 16"/>
          <p:cNvGrpSpPr/>
          <p:nvPr/>
        </p:nvGrpSpPr>
        <p:grpSpPr>
          <a:xfrm>
            <a:off x="4057650" y="2184400"/>
            <a:ext cx="654050" cy="574675"/>
            <a:chOff x="3875314" y="2536918"/>
            <a:chExt cx="653143" cy="750940"/>
          </a:xfrm>
        </p:grpSpPr>
        <p:cxnSp>
          <p:nvCxnSpPr>
            <p:cNvPr id="18" name="直接连接符 17"/>
            <p:cNvCxnSpPr/>
            <p:nvPr/>
          </p:nvCxnSpPr>
          <p:spPr>
            <a:xfrm flipV="1">
              <a:off x="4528457" y="2536918"/>
              <a:ext cx="0" cy="750940"/>
            </a:xfrm>
            <a:prstGeom prst="line">
              <a:avLst/>
            </a:prstGeom>
            <a:ln>
              <a:solidFill>
                <a:srgbClr val="353F48"/>
              </a:solidFill>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p:nvPr/>
          </p:nvCxnSpPr>
          <p:spPr>
            <a:xfrm flipH="1">
              <a:off x="3875314" y="2536918"/>
              <a:ext cx="653143" cy="0"/>
            </a:xfrm>
            <a:prstGeom prst="straightConnector1">
              <a:avLst/>
            </a:prstGeom>
            <a:ln>
              <a:solidFill>
                <a:srgbClr val="353F48"/>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7430" name="组合 25"/>
          <p:cNvGrpSpPr/>
          <p:nvPr/>
        </p:nvGrpSpPr>
        <p:grpSpPr>
          <a:xfrm flipH="1">
            <a:off x="6400800" y="4250055"/>
            <a:ext cx="1693545" cy="645795"/>
            <a:chOff x="3875314" y="2536918"/>
            <a:chExt cx="653143" cy="750940"/>
          </a:xfrm>
        </p:grpSpPr>
        <p:cxnSp>
          <p:nvCxnSpPr>
            <p:cNvPr id="27" name="直接连接符 26"/>
            <p:cNvCxnSpPr/>
            <p:nvPr/>
          </p:nvCxnSpPr>
          <p:spPr>
            <a:xfrm flipV="1">
              <a:off x="4528457" y="2536918"/>
              <a:ext cx="0" cy="750940"/>
            </a:xfrm>
            <a:prstGeom prst="line">
              <a:avLst/>
            </a:prstGeom>
            <a:ln>
              <a:solidFill>
                <a:srgbClr val="353F48"/>
              </a:solidFill>
            </a:ln>
          </p:spPr>
          <p:style>
            <a:lnRef idx="1">
              <a:schemeClr val="accent1"/>
            </a:lnRef>
            <a:fillRef idx="0">
              <a:schemeClr val="accent1"/>
            </a:fillRef>
            <a:effectRef idx="0">
              <a:schemeClr val="accent1"/>
            </a:effectRef>
            <a:fontRef idx="minor">
              <a:schemeClr val="tx1"/>
            </a:fontRef>
          </p:style>
        </p:cxnSp>
        <p:cxnSp>
          <p:nvCxnSpPr>
            <p:cNvPr id="28" name="直接箭头连接符 27"/>
            <p:cNvCxnSpPr/>
            <p:nvPr/>
          </p:nvCxnSpPr>
          <p:spPr>
            <a:xfrm flipH="1">
              <a:off x="3875314" y="3276788"/>
              <a:ext cx="653143" cy="0"/>
            </a:xfrm>
            <a:prstGeom prst="straightConnector1">
              <a:avLst/>
            </a:prstGeom>
            <a:ln>
              <a:solidFill>
                <a:srgbClr val="353F48"/>
              </a:solidFill>
              <a:tailEnd type="triangle"/>
            </a:ln>
          </p:spPr>
          <p:style>
            <a:lnRef idx="1">
              <a:schemeClr val="accent1"/>
            </a:lnRef>
            <a:fillRef idx="0">
              <a:schemeClr val="accent1"/>
            </a:fillRef>
            <a:effectRef idx="0">
              <a:schemeClr val="accent1"/>
            </a:effectRef>
            <a:fontRef idx="minor">
              <a:schemeClr val="tx1"/>
            </a:fontRef>
          </p:style>
        </p:cxnSp>
      </p:grpSp>
      <p:sp>
        <p:nvSpPr>
          <p:cNvPr id="17434" name="矩形 29"/>
          <p:cNvSpPr/>
          <p:nvPr/>
        </p:nvSpPr>
        <p:spPr>
          <a:xfrm>
            <a:off x="379730" y="1931670"/>
            <a:ext cx="3642360" cy="2356485"/>
          </a:xfrm>
          <a:prstGeom prst="rect">
            <a:avLst/>
          </a:prstGeom>
          <a:noFill/>
          <a:ln w="9525">
            <a:noFill/>
          </a:ln>
        </p:spPr>
        <p:txBody>
          <a:bodyPr anchor="t" anchorCtr="0">
            <a:noAutofit/>
          </a:bodyPr>
          <a:p>
            <a:pPr indent="457200" algn="l"/>
            <a:r>
              <a:rPr lang="en-US" altLang="en-US" sz="1800" dirty="0">
                <a:solidFill>
                  <a:srgbClr val="000000"/>
                </a:solidFill>
                <a:latin typeface="Microsoft YaHei" pitchFamily="34" charset="-122"/>
                <a:ea typeface="Microsoft YaHei" pitchFamily="34" charset="-122"/>
              </a:rPr>
              <a:t>Spring Boot makes Java development faster, easier, and more enjoyable.</a:t>
            </a:r>
            <a:endParaRPr lang="en-US" altLang="en-US" sz="1800" dirty="0">
              <a:solidFill>
                <a:srgbClr val="000000"/>
              </a:solidFill>
              <a:latin typeface="Microsoft YaHei" pitchFamily="34" charset="-122"/>
              <a:ea typeface="Microsoft YaHei" pitchFamily="34" charset="-122"/>
            </a:endParaRPr>
          </a:p>
          <a:p>
            <a:pPr indent="457200" algn="l"/>
            <a:r>
              <a:rPr lang="en-US" altLang="en-US" sz="1800" dirty="0">
                <a:solidFill>
                  <a:srgbClr val="000000"/>
                </a:solidFill>
                <a:latin typeface="Microsoft YaHei" pitchFamily="34" charset="-122"/>
                <a:ea typeface="Microsoft YaHei" pitchFamily="34" charset="-122"/>
              </a:rPr>
              <a:t>It removes configuration headaches and allows developers to focus on building features instead of setting up the environment.</a:t>
            </a:r>
            <a:endParaRPr lang="en-US" altLang="en-US" sz="1800" dirty="0">
              <a:solidFill>
                <a:srgbClr val="000000"/>
              </a:solidFill>
              <a:latin typeface="Microsoft YaHei" pitchFamily="34" charset="-122"/>
              <a:ea typeface="Microsoft YaHei" pitchFamily="34" charset="-122"/>
            </a:endParaRPr>
          </a:p>
        </p:txBody>
      </p:sp>
      <p:sp>
        <p:nvSpPr>
          <p:cNvPr id="17440" name="矩形 35"/>
          <p:cNvSpPr/>
          <p:nvPr/>
        </p:nvSpPr>
        <p:spPr>
          <a:xfrm>
            <a:off x="8221345" y="3127375"/>
            <a:ext cx="3642995" cy="3056255"/>
          </a:xfrm>
          <a:prstGeom prst="rect">
            <a:avLst/>
          </a:prstGeom>
          <a:noFill/>
          <a:ln w="9525">
            <a:noFill/>
          </a:ln>
        </p:spPr>
        <p:txBody>
          <a:bodyPr anchor="t" anchorCtr="0">
            <a:noAutofit/>
          </a:bodyPr>
          <a:p>
            <a:pPr indent="457200" algn="l"/>
            <a:r>
              <a:rPr lang="en-US" altLang="en-US" sz="4000" baseline="-25000" dirty="0">
                <a:solidFill>
                  <a:srgbClr val="000000"/>
                </a:solidFill>
                <a:latin typeface="Microsoft YaHei" pitchFamily="34" charset="-122"/>
                <a:ea typeface="Microsoft YaHei" pitchFamily="34" charset="-122"/>
              </a:rPr>
              <a:t>That’s why today, most modern Java applications use Spring Boot from small startups to large companies.</a:t>
            </a:r>
            <a:endParaRPr lang="en-US" altLang="en-US" sz="4000" baseline="-25000" dirty="0">
              <a:solidFill>
                <a:srgbClr val="000000"/>
              </a:solidFill>
              <a:latin typeface="Microsoft YaHei" pitchFamily="34" charset="-122"/>
              <a:ea typeface="Microsoft YaHei" pitchFamily="34" charset="-122"/>
            </a:endParaRPr>
          </a:p>
        </p:txBody>
      </p:sp>
      <p:sp>
        <p:nvSpPr>
          <p:cNvPr id="17445" name="文本框 1"/>
          <p:cNvSpPr txBox="1"/>
          <p:nvPr/>
        </p:nvSpPr>
        <p:spPr>
          <a:xfrm>
            <a:off x="744855" y="225425"/>
            <a:ext cx="6764020" cy="645160"/>
          </a:xfrm>
          <a:prstGeom prst="rect">
            <a:avLst/>
          </a:prstGeom>
          <a:noFill/>
          <a:ln w="9525">
            <a:noFill/>
          </a:ln>
        </p:spPr>
        <p:txBody>
          <a:bodyPr wrap="square" anchor="t" anchorCtr="0">
            <a:spAutoFit/>
          </a:bodyPr>
          <a:p>
            <a:r>
              <a:rPr lang="en-US" altLang="zh-CN" sz="3600" b="1" dirty="0">
                <a:solidFill>
                  <a:srgbClr val="262626"/>
                </a:solidFill>
                <a:latin typeface="Microsoft YaHei" pitchFamily="34" charset="-122"/>
                <a:ea typeface="Microsoft YaHei" pitchFamily="34" charset="-122"/>
              </a:rPr>
              <a:t>Conclusion</a:t>
            </a:r>
            <a:endParaRPr lang="en-US" altLang="zh-CN" sz="3600" b="1" dirty="0">
              <a:solidFill>
                <a:srgbClr val="262626"/>
              </a:solidFill>
              <a:latin typeface="Microsoft YaHei" pitchFamily="34" charset="-122"/>
              <a:ea typeface="Microsoft YaHei" pitchFamily="34" charset="-122"/>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353F48"/>
        </a:solidFill>
        <a:effectLst/>
      </p:bgPr>
    </p:bg>
    <p:spTree>
      <p:nvGrpSpPr>
        <p:cNvPr id="1" name=""/>
        <p:cNvGrpSpPr/>
        <p:nvPr/>
      </p:nvGrpSpPr>
      <p:grpSpPr/>
      <p:sp>
        <p:nvSpPr>
          <p:cNvPr id="26626" name="文本框 6"/>
          <p:cNvSpPr txBox="1"/>
          <p:nvPr/>
        </p:nvSpPr>
        <p:spPr>
          <a:xfrm>
            <a:off x="1223963" y="2473325"/>
            <a:ext cx="6035675" cy="1198880"/>
          </a:xfrm>
          <a:prstGeom prst="rect">
            <a:avLst/>
          </a:prstGeom>
          <a:noFill/>
          <a:ln w="9525">
            <a:noFill/>
          </a:ln>
        </p:spPr>
        <p:txBody>
          <a:bodyPr anchor="t" anchorCtr="0">
            <a:spAutoFit/>
          </a:bodyPr>
          <a:p>
            <a:r>
              <a:rPr lang="en-US" altLang="zh-CN" sz="7200" b="1" dirty="0">
                <a:solidFill>
                  <a:srgbClr val="FFFFFF"/>
                </a:solidFill>
                <a:latin typeface="Microsoft YaHei" pitchFamily="34" charset="-122"/>
                <a:ea typeface="Microsoft YaHei" pitchFamily="34" charset="-122"/>
              </a:rPr>
              <a:t>THANK YOU!</a:t>
            </a:r>
            <a:endParaRPr lang="zh-CN" altLang="en-US" sz="7200" b="1" dirty="0">
              <a:solidFill>
                <a:srgbClr val="FFFFFF"/>
              </a:solidFill>
              <a:latin typeface="Microsoft YaHei" pitchFamily="34" charset="-122"/>
              <a:ea typeface="Microsoft YaHei" pitchFamily="34" charset="-122"/>
            </a:endParaRPr>
          </a:p>
        </p:txBody>
      </p:sp>
      <p:grpSp>
        <p:nvGrpSpPr>
          <p:cNvPr id="26628" name="组合 1"/>
          <p:cNvGrpSpPr/>
          <p:nvPr/>
        </p:nvGrpSpPr>
        <p:grpSpPr>
          <a:xfrm flipH="1">
            <a:off x="6807200" y="0"/>
            <a:ext cx="5384800" cy="6858000"/>
            <a:chOff x="0" y="0"/>
            <a:chExt cx="5384800" cy="6858000"/>
          </a:xfrm>
        </p:grpSpPr>
        <p:sp>
          <p:nvSpPr>
            <p:cNvPr id="12" name="等腰三角形 11"/>
            <p:cNvSpPr/>
            <p:nvPr/>
          </p:nvSpPr>
          <p:spPr>
            <a:xfrm>
              <a:off x="0" y="3189288"/>
              <a:ext cx="5148262" cy="3668712"/>
            </a:xfrm>
            <a:custGeom>
              <a:avLst/>
              <a:gdLst>
                <a:gd name="connsiteX0" fmla="*/ 0 w 5735459"/>
                <a:gd name="connsiteY0" fmla="*/ 3657600 h 3657600"/>
                <a:gd name="connsiteX1" fmla="*/ 2867730 w 5735459"/>
                <a:gd name="connsiteY1" fmla="*/ 0 h 3657600"/>
                <a:gd name="connsiteX2" fmla="*/ 5735459 w 5735459"/>
                <a:gd name="connsiteY2" fmla="*/ 3657600 h 3657600"/>
                <a:gd name="connsiteX3" fmla="*/ 0 w 5735459"/>
                <a:gd name="connsiteY3" fmla="*/ 3657600 h 3657600"/>
                <a:gd name="connsiteX0-1" fmla="*/ 0 w 5151259"/>
                <a:gd name="connsiteY0-2" fmla="*/ 3657600 h 3670300"/>
                <a:gd name="connsiteX1-3" fmla="*/ 2867730 w 5151259"/>
                <a:gd name="connsiteY1-4" fmla="*/ 0 h 3670300"/>
                <a:gd name="connsiteX2-5" fmla="*/ 5151259 w 5151259"/>
                <a:gd name="connsiteY2-6" fmla="*/ 3670300 h 3670300"/>
                <a:gd name="connsiteX3-7" fmla="*/ 0 w 5151259"/>
                <a:gd name="connsiteY3-8" fmla="*/ 3657600 h 3670300"/>
              </a:gdLst>
              <a:ahLst/>
              <a:cxnLst>
                <a:cxn ang="0">
                  <a:pos x="connsiteX0-1" y="connsiteY0-2"/>
                </a:cxn>
                <a:cxn ang="0">
                  <a:pos x="connsiteX1-3" y="connsiteY1-4"/>
                </a:cxn>
                <a:cxn ang="0">
                  <a:pos x="connsiteX2-5" y="connsiteY2-6"/>
                </a:cxn>
                <a:cxn ang="0">
                  <a:pos x="connsiteX3-7" y="connsiteY3-8"/>
                </a:cxn>
              </a:cxnLst>
              <a:rect l="l" t="t" r="r" b="b"/>
              <a:pathLst>
                <a:path w="5151259" h="3670300">
                  <a:moveTo>
                    <a:pt x="0" y="3657600"/>
                  </a:moveTo>
                  <a:lnTo>
                    <a:pt x="2867730" y="0"/>
                  </a:lnTo>
                  <a:lnTo>
                    <a:pt x="5151259" y="3670300"/>
                  </a:lnTo>
                  <a:lnTo>
                    <a:pt x="0" y="3657600"/>
                  </a:lnTo>
                  <a:close/>
                </a:path>
              </a:pathLst>
            </a:custGeom>
            <a:solidFill>
              <a:schemeClr val="bg1">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sp>
          <p:nvSpPr>
            <p:cNvPr id="5" name="直角三角形 4"/>
            <p:cNvSpPr/>
            <p:nvPr/>
          </p:nvSpPr>
          <p:spPr>
            <a:xfrm rot="5400000">
              <a:off x="-736600" y="736600"/>
              <a:ext cx="6858000" cy="5384800"/>
            </a:xfrm>
            <a:prstGeom prst="rtTriangle">
              <a:avLst/>
            </a:prstGeom>
            <a:solidFill>
              <a:srgbClr val="F8941C"/>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prstClr val="white"/>
                </a:solidFill>
                <a:effectLst/>
                <a:uLnTx/>
                <a:uFillTx/>
                <a:latin typeface="+mn-lt"/>
                <a:ea typeface="+mn-ea"/>
                <a:cs typeface="+mn-cs"/>
              </a:endParaRPr>
            </a:p>
          </p:txBody>
        </p:sp>
        <p:sp>
          <p:nvSpPr>
            <p:cNvPr id="3" name="等腰三角形 2"/>
            <p:cNvSpPr/>
            <p:nvPr/>
          </p:nvSpPr>
          <p:spPr>
            <a:xfrm>
              <a:off x="0" y="3575050"/>
              <a:ext cx="5148262" cy="3282950"/>
            </a:xfrm>
            <a:prstGeom prst="triangl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marL="0" marR="0" lvl="0" indent="0" algn="ctr" defTabSz="914400" rtl="0" eaLnBrk="1" fontAlgn="auto" latinLnBrk="0" hangingPunct="1">
                <a:lnSpc>
                  <a:spcPct val="100000"/>
                </a:lnSpc>
                <a:spcBef>
                  <a:spcPts val="0"/>
                </a:spcBef>
                <a:spcAft>
                  <a:spcPts val="0"/>
                </a:spcAft>
                <a:buClrTx/>
                <a:buSzTx/>
                <a:buFontTx/>
                <a:buNone/>
                <a:defRPr/>
              </a:pPr>
              <a:endParaRPr kumimoji="0" lang="zh-CN" altLang="en-US" sz="1800" b="0" i="0" u="none" strike="noStrike" kern="1200" cap="none" spc="0" normalizeH="0" baseline="0" noProof="0">
                <a:ln>
                  <a:noFill/>
                </a:ln>
                <a:solidFill>
                  <a:schemeClr val="lt1"/>
                </a:solidFill>
                <a:effectLst/>
                <a:uLnTx/>
                <a:uFillTx/>
                <a:latin typeface="+mn-lt"/>
                <a:ea typeface="+mn-ea"/>
                <a:cs typeface="+mn-cs"/>
              </a:endParaRPr>
            </a:p>
          </p:txBody>
        </p:sp>
      </p:gr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2492</Words>
  <Application>WPS Writer</Application>
  <PresentationFormat/>
  <Paragraphs>129</Paragraphs>
  <Slides>18</Slides>
  <Notes>0</Notes>
  <HiddenSlides>0</HiddenSlides>
  <MMClips>0</MMClips>
  <ScaleCrop>false</ScaleCrop>
  <HeadingPairs>
    <vt:vector size="6" baseType="variant">
      <vt:variant>
        <vt:lpstr>已用的字体</vt:lpstr>
      </vt:variant>
      <vt:variant>
        <vt:i4>16</vt:i4>
      </vt:variant>
      <vt:variant>
        <vt:lpstr>主题</vt:lpstr>
      </vt:variant>
      <vt:variant>
        <vt:i4>1</vt:i4>
      </vt:variant>
      <vt:variant>
        <vt:lpstr>幻灯片标题</vt:lpstr>
      </vt:variant>
      <vt:variant>
        <vt:i4>18</vt:i4>
      </vt:variant>
    </vt:vector>
  </HeadingPairs>
  <TitlesOfParts>
    <vt:vector size="35" baseType="lpstr">
      <vt:lpstr>Arial</vt:lpstr>
      <vt:lpstr>SimSun</vt:lpstr>
      <vt:lpstr>Wingdings</vt:lpstr>
      <vt:lpstr>等线</vt:lpstr>
      <vt:lpstr>苹方-简</vt:lpstr>
      <vt:lpstr>等线 Light</vt:lpstr>
      <vt:lpstr>Microsoft YaHei</vt:lpstr>
      <vt:lpstr>汉仪旗黑</vt:lpstr>
      <vt:lpstr>Calibri</vt:lpstr>
      <vt:lpstr>Helvetica Neue</vt:lpstr>
      <vt:lpstr>宋体-简</vt:lpstr>
      <vt:lpstr>Calibri</vt:lpstr>
      <vt:lpstr>Arial Unicode MS</vt:lpstr>
      <vt:lpstr>Microsoft YaHei</vt:lpstr>
      <vt:lpstr>等线</vt:lpstr>
      <vt:lpstr>等线 Light</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	This line defines where this class is stored, like an address for my code.</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Administrator</dc:creator>
  <cp:lastModifiedBy>Muhammadsodiq Shukurillayev</cp:lastModifiedBy>
  <cp:revision>93</cp:revision>
  <dcterms:created xsi:type="dcterms:W3CDTF">2025-10-17T04:33:49Z</dcterms:created>
  <dcterms:modified xsi:type="dcterms:W3CDTF">2025-10-17T04:33:49Z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1033-12.1.21937.21937</vt:lpwstr>
  </property>
  <property fmtid="{D5CDD505-2E9C-101B-9397-08002B2CF9AE}" pid="3" name="ICV">
    <vt:lpwstr>8BDDB13B2C27E7CEA355EF68A848BE7C_41</vt:lpwstr>
  </property>
</Properties>
</file>