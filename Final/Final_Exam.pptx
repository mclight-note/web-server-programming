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63" r:id="rId4"/>
    <p:sldId id="291" r:id="rId5"/>
    <p:sldId id="301" r:id="rId6"/>
    <p:sldId id="302" r:id="rId7"/>
    <p:sldId id="303" r:id="rId8"/>
    <p:sldId id="304" r:id="rId9"/>
    <p:sldId id="300" r:id="rId10"/>
    <p:sldId id="305" r:id="rId11"/>
    <p:sldId id="285" r:id="rId12"/>
  </p:sldIdLst>
  <p:sldSz cx="12192000" cy="6858000"/>
  <p:notesSz cx="9144000" cy="6858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222" y="-6"/>
      </p:cViewPr>
      <p:guideLst>
        <p:guide orient="horz" pos="2160"/>
        <p:guide pos="3779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11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0"/>
            <a:r>
              <a:rPr lang="zh-CN" altLang="en-US" dirty="0"/>
              <a:t>Second level</a:t>
            </a:r>
            <a:endParaRPr lang="zh-CN" altLang="en-US" dirty="0"/>
          </a:p>
          <a:p>
            <a:pPr lvl="2" indent="0"/>
            <a:r>
              <a:rPr lang="zh-CN" altLang="en-US" dirty="0"/>
              <a:t>Third level</a:t>
            </a:r>
            <a:endParaRPr lang="zh-CN" altLang="en-US" dirty="0"/>
          </a:p>
          <a:p>
            <a:pPr lvl="3" indent="0"/>
            <a:r>
              <a:rPr lang="zh-CN" altLang="en-US" dirty="0"/>
              <a:t>Fourth level</a:t>
            </a:r>
            <a:endParaRPr lang="zh-CN" altLang="en-US" dirty="0"/>
          </a:p>
          <a:p>
            <a:pPr lvl="4" indent="0"/>
            <a:r>
              <a:rPr lang="zh-CN" altLang="en-US" dirty="0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22860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762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8" name="组合 4"/>
          <p:cNvGrpSpPr/>
          <p:nvPr/>
        </p:nvGrpSpPr>
        <p:grpSpPr>
          <a:xfrm>
            <a:off x="247254" y="2333283"/>
            <a:ext cx="11665585" cy="4273550"/>
            <a:chOff x="645818" y="1980069"/>
            <a:chExt cx="10737642" cy="3932049"/>
          </a:xfrm>
        </p:grpSpPr>
        <p:grpSp>
          <p:nvGrpSpPr>
            <p:cNvPr id="40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10" name="文本框 8"/>
            <p:cNvSpPr txBox="1"/>
            <p:nvPr/>
          </p:nvSpPr>
          <p:spPr>
            <a:xfrm>
              <a:off x="2655655" y="4414398"/>
              <a:ext cx="6701164" cy="4235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endParaRPr 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4111" name="文本框 9"/>
            <p:cNvSpPr txBox="1"/>
            <p:nvPr/>
          </p:nvSpPr>
          <p:spPr>
            <a:xfrm>
              <a:off x="645818" y="5488532"/>
              <a:ext cx="10737642" cy="4235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r>
                <a:rPr lang="en-US" altLang="zh-CN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90204" pitchFamily="34" charset="0"/>
                </a:rPr>
                <a:t>Student: Shukirillaev Mukhammadsodik		id: 202438379</a:t>
              </a:r>
              <a:endParaRPr lang="en-US" altLang="zh-CN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endParaRPr>
            </a:p>
          </p:txBody>
        </p:sp>
      </p:grpSp>
      <p:sp>
        <p:nvSpPr>
          <p:cNvPr id="3" name="Rectangles 2"/>
          <p:cNvSpPr/>
          <p:nvPr/>
        </p:nvSpPr>
        <p:spPr>
          <a:xfrm>
            <a:off x="3625850" y="2513965"/>
            <a:ext cx="4852670" cy="198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4400" dirty="0">
                <a:solidFill>
                  <a:schemeClr val="tx1"/>
                </a:solidFill>
                <a:sym typeface="+mn-ea"/>
              </a:rPr>
              <a:t>Final Examination</a:t>
            </a:r>
            <a:endParaRPr lang="en-US" altLang="en-GB" sz="4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9"/>
          <p:cNvSpPr txBox="1"/>
          <p:nvPr/>
        </p:nvSpPr>
        <p:spPr>
          <a:xfrm>
            <a:off x="263764" y="1100114"/>
            <a:ext cx="116655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defTabSz="914400"/>
            <a:r>
              <a:rPr lang="en-US" altLang="zh-CN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Web Server Programming</a:t>
            </a:r>
            <a:endParaRPr lang="en-US" altLang="zh-CN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0" name="文本框 28"/>
          <p:cNvSpPr txBox="1"/>
          <p:nvPr/>
        </p:nvSpPr>
        <p:spPr>
          <a:xfrm>
            <a:off x="3450590" y="329565"/>
            <a:ext cx="4799330" cy="9467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>
              <a:buFont typeface="Arial" panose="020B0604020202090204" pitchFamily="34" charset="0"/>
            </a:pPr>
            <a:endParaRPr lang="en-US" altLang="en-US" sz="32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5905" y="329565"/>
            <a:ext cx="11500485" cy="6132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28"/>
          <p:cNvSpPr txBox="1"/>
          <p:nvPr/>
        </p:nvSpPr>
        <p:spPr>
          <a:xfrm>
            <a:off x="1610360" y="405765"/>
            <a:ext cx="792353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90204" pitchFamily="34" charset="0"/>
            </a:pPr>
            <a:r>
              <a:rPr lang="en-US" altLang="en-US" sz="3600" b="1" dirty="0">
                <a:solidFill>
                  <a:srgbClr val="404040"/>
                </a:solidFill>
                <a:ea typeface="Calibri" panose="020F0502020204030204" pitchFamily="34" charset="0"/>
              </a:rPr>
              <a:t>Questions:</a:t>
            </a:r>
            <a:endParaRPr lang="en-US" altLang="en-US" sz="36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620395" y="1050925"/>
            <a:ext cx="8075295" cy="519557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p>
            <a:pPr indent="457200" algn="l" defTabSz="1216025">
              <a:lnSpc>
                <a:spcPct val="11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1. Compare synchronous vs. asynchronous communication. When to use AJAX vs WebSockets?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1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2. Explain how HTTPS secures communication (TLS, certificates, encryption).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1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3. In ASP.NET Core, what is middleware? Provide two examples.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1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Coding Questions: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1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4. Write a JSON response sample for POST /users returning id, name, created_at.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1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5. Write an SQL query selecting users older than 18, then pseudocode printing usernames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</p:txBody>
      </p:sp>
      <p:pic>
        <p:nvPicPr>
          <p:cNvPr id="3" name="Picture 2" descr="Screenshot 2025-12-12 at 1.16.14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735" y="2350135"/>
            <a:ext cx="2232660" cy="21577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0" name="文本框 28"/>
          <p:cNvSpPr txBox="1"/>
          <p:nvPr/>
        </p:nvSpPr>
        <p:spPr>
          <a:xfrm>
            <a:off x="363220" y="255270"/>
            <a:ext cx="1122743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90204" pitchFamily="34" charset="0"/>
            </a:pPr>
            <a:r>
              <a:rPr lang="en-US" altLang="en-US" sz="3600" b="1" dirty="0">
                <a:solidFill>
                  <a:srgbClr val="404040"/>
                </a:solidFill>
                <a:ea typeface="Calibri" panose="020F0502020204030204" pitchFamily="34" charset="0"/>
              </a:rPr>
              <a:t>Synchronous vs Asynchronous Communication.</a:t>
            </a:r>
            <a:endParaRPr lang="en-US" altLang="en-US" sz="36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313690" y="1056005"/>
            <a:ext cx="8989695" cy="52768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Synchronous communication: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Synchronous communication makes the client wait for the server’s response before continuing, while asynchronous communication lets the client keep working without waiting; AJAX for occasional request-response updates and WebSockets for continuous real-time two-way communication.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Asynchronous communication: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Asynchronous communication is when a client sends a request and continues working without waiting for the server’s response, allowing other tasks to run while the response arrives later.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</p:txBody>
      </p:sp>
      <p:pic>
        <p:nvPicPr>
          <p:cNvPr id="2" name="Picture 1" descr="Screenshot 2025-12-12 at 1.14.19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320" y="2499995"/>
            <a:ext cx="2250440" cy="238887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0" name="文本框 28"/>
          <p:cNvSpPr txBox="1"/>
          <p:nvPr/>
        </p:nvSpPr>
        <p:spPr>
          <a:xfrm>
            <a:off x="363220" y="255270"/>
            <a:ext cx="1122743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90204" pitchFamily="34" charset="0"/>
            </a:pPr>
            <a:r>
              <a:rPr lang="en-US" altLang="en-US" sz="3600" b="1" dirty="0">
                <a:solidFill>
                  <a:srgbClr val="404040"/>
                </a:solidFill>
                <a:ea typeface="Calibri" panose="020F0502020204030204" pitchFamily="34" charset="0"/>
              </a:rPr>
              <a:t>Synchronous vs Asynchronous Communication.</a:t>
            </a:r>
            <a:endParaRPr lang="en-US" altLang="en-US" sz="36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363220" y="1013460"/>
            <a:ext cx="8559800" cy="5200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Differences: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Synchronous is blocking (everything stops until the response comes), while asynchronous is non-blocking (other work continues).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Synchronous can slow down the user experience, while asynchronous improves responsiveness and speed.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Synchronous is simpler but less efficient for long tasks, while asynchronous is better for background operations or tasks that take time.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2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Synchronous sends a request and waits, while asynchronous sends a request and handles the response later through callbacks, promises, or events.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</p:txBody>
      </p:sp>
      <p:pic>
        <p:nvPicPr>
          <p:cNvPr id="3" name="Picture 2" descr="Screenshot 2025-12-12 at 1.18.22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460" y="2650490"/>
            <a:ext cx="2068195" cy="19265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0" name="文本框 28"/>
          <p:cNvSpPr txBox="1"/>
          <p:nvPr/>
        </p:nvSpPr>
        <p:spPr>
          <a:xfrm>
            <a:off x="363220" y="255270"/>
            <a:ext cx="1122743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90204" pitchFamily="34" charset="0"/>
            </a:pPr>
            <a:r>
              <a:rPr lang="en-US" altLang="en-US" sz="3600" b="1" dirty="0">
                <a:solidFill>
                  <a:srgbClr val="404040"/>
                </a:solidFill>
                <a:ea typeface="Calibri" panose="020F0502020204030204" pitchFamily="34" charset="0"/>
                <a:sym typeface="+mn-ea"/>
              </a:rPr>
              <a:t>When to Use AJAX vs WebSockets</a:t>
            </a:r>
            <a:endParaRPr lang="en-US" altLang="en-US" sz="36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363220" y="1732915"/>
            <a:ext cx="7421880" cy="471551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p>
            <a:pPr indent="457200" algn="l" defTabSz="1216025">
              <a:lnSpc>
                <a:spcPct val="14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AJAX is used when the client needs occasional request–response updates such as form submissions or refreshing data.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4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WebSockets are used when the application requires continuous real-time two-way communication like chat, live notifications, or live dashboards.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</p:txBody>
      </p:sp>
      <p:pic>
        <p:nvPicPr>
          <p:cNvPr id="2" name="Picture 1" descr="Screenshot 2025-12-12 at 1.19.27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5540" y="1341120"/>
            <a:ext cx="2279650" cy="2317750"/>
          </a:xfrm>
          <a:prstGeom prst="rect">
            <a:avLst/>
          </a:prstGeom>
        </p:spPr>
      </p:pic>
      <p:pic>
        <p:nvPicPr>
          <p:cNvPr id="3" name="Picture 2" descr="Screenshot 2025-12-12 at 1.20.58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590" y="4099560"/>
            <a:ext cx="4019550" cy="25177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0" name="文本框 28"/>
          <p:cNvSpPr txBox="1"/>
          <p:nvPr/>
        </p:nvSpPr>
        <p:spPr>
          <a:xfrm>
            <a:off x="363220" y="255270"/>
            <a:ext cx="1122743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90204" pitchFamily="34" charset="0"/>
            </a:pPr>
            <a:r>
              <a:rPr lang="en-US" altLang="en-US" sz="3600" b="1" dirty="0">
                <a:solidFill>
                  <a:srgbClr val="404040"/>
                </a:solidFill>
                <a:ea typeface="Calibri" panose="020F0502020204030204" pitchFamily="34" charset="0"/>
              </a:rPr>
              <a:t>How HTTPS Secures Communication</a:t>
            </a:r>
            <a:endParaRPr lang="en-US" altLang="en-US" sz="36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363220" y="982345"/>
            <a:ext cx="7421880" cy="56007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p>
            <a:pPr indent="457200" algn="l" defTabSz="1216025">
              <a:lnSpc>
                <a:spcPct val="14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HTTPS secures communication by using TLS to create a protected channel between the client and server. During the TLS handshake, the server sends a digital certificate issued by a trusted Certificate Authority, and the client verifies that the server is legitimate. Then they perform a secure key exchange to generate a shared session key. After the handshake, all data is encrypted using symmetric encryption, which ensures confidentiality, integrity, and prevents eavesdropping, tampering, or man-in-the-middle attacks.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</p:txBody>
      </p:sp>
      <p:pic>
        <p:nvPicPr>
          <p:cNvPr id="2" name="Picture 1" descr="Screenshot 2025-12-12 at 1.21.42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455" y="2163445"/>
            <a:ext cx="3378200" cy="32385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0" name="文本框 28"/>
          <p:cNvSpPr txBox="1"/>
          <p:nvPr/>
        </p:nvSpPr>
        <p:spPr>
          <a:xfrm>
            <a:off x="363220" y="255270"/>
            <a:ext cx="1122743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buFont typeface="Arial" panose="020B0604020202090204" pitchFamily="34" charset="0"/>
            </a:pPr>
            <a:r>
              <a:rPr lang="en-US" altLang="en-US" sz="3600" b="1" dirty="0">
                <a:solidFill>
                  <a:srgbClr val="404040"/>
                </a:solidFill>
                <a:ea typeface="Calibri" panose="020F0502020204030204" pitchFamily="34" charset="0"/>
              </a:rPr>
              <a:t>Middleware in ASP.NET</a:t>
            </a:r>
            <a:endParaRPr lang="en-US" altLang="en-US" sz="36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363220" y="982345"/>
            <a:ext cx="7421880" cy="56007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p>
            <a:pPr indent="457200" algn="l" defTabSz="1216025">
              <a:lnSpc>
                <a:spcPct val="14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In ASP.NET Core, middleware is a component in the request pipeline that processes incoming HTTP requests and outgoing responses, either handling them or passing them to the next middleware.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4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Examples:</a:t>
            </a:r>
            <a:endParaRPr lang="en-US" altLang="en-US" sz="2400" b="1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4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- Authentication middleware (handles user identity and tokens)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  <a:p>
            <a:pPr indent="457200" algn="l" defTabSz="1216025">
              <a:lnSpc>
                <a:spcPct val="140000"/>
              </a:lnSpc>
              <a:spcBef>
                <a:spcPct val="20000"/>
              </a:spcBef>
              <a:buFont typeface="Arial" panose="020B0604020202090204" pitchFamily="34" charset="0"/>
            </a:pPr>
            <a:r>
              <a:rPr lang="en-US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- Routing middleware (maps requests to the correct endpoint or controller).</a:t>
            </a:r>
            <a:endParaRPr lang="en-US" altLang="en-US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90204" pitchFamily="34" charset="0"/>
            </a:endParaRPr>
          </a:p>
        </p:txBody>
      </p:sp>
      <p:pic>
        <p:nvPicPr>
          <p:cNvPr id="2" name="Picture 1" descr="Screenshot 2025-12-12 at 1.22.22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755" y="2087245"/>
            <a:ext cx="3517900" cy="33909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250825" y="0"/>
            <a:ext cx="11497310" cy="1216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Code: A JSON response for POST/users returning id, name, created_at</a:t>
            </a:r>
            <a:endParaRPr kumimoji="0" lang="en-US" altLang="en-US" sz="24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effectLst/>
              <a:uLnTx/>
              <a:uFillTx/>
              <a:latin typeface="+mn-lt"/>
              <a:ea typeface="Calibri" panose="020F0502020204030204" pitchFamily="34" charset="0"/>
              <a:cs typeface="+mn-cs"/>
              <a:sym typeface="Arial" panose="020B0604020202090204" pitchFamily="34" charset="0"/>
            </a:endParaRPr>
          </a:p>
        </p:txBody>
      </p:sp>
      <p:pic>
        <p:nvPicPr>
          <p:cNvPr id="10" name="Picture 9" descr="Screenshot 2025-12-12 at 1.08.47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55" y="1751330"/>
            <a:ext cx="5716270" cy="255333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4156075" y="2503170"/>
            <a:ext cx="605790" cy="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ID</a:t>
            </a:r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6243320" y="2496820"/>
            <a:ext cx="903605" cy="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name</a:t>
            </a:r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3205480" y="3456940"/>
            <a:ext cx="1556385" cy="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created_at</a:t>
            </a:r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250825" y="0"/>
            <a:ext cx="11571605" cy="1216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rPr>
              <a:t>CODE: SQL query selecting users older than 18, than pseudocoding each user</a:t>
            </a:r>
            <a:endParaRPr kumimoji="0" lang="en-US" altLang="en-US" sz="24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effectLst/>
              <a:uLnTx/>
              <a:uFillTx/>
              <a:latin typeface="+mn-lt"/>
              <a:ea typeface="Calibri" panose="020F0502020204030204" pitchFamily="34" charset="0"/>
              <a:cs typeface="+mn-cs"/>
              <a:sym typeface="Arial" panose="020B0604020202090204" pitchFamily="34" charset="0"/>
            </a:endParaRPr>
          </a:p>
        </p:txBody>
      </p:sp>
      <p:pic>
        <p:nvPicPr>
          <p:cNvPr id="2" name="Picture 1" descr="Screenshot 2025-12-12 at 1.09.39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" y="1216025"/>
            <a:ext cx="4575175" cy="2600960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54150" y="2992120"/>
            <a:ext cx="2789555" cy="70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defining the condition of age being older that 18</a:t>
            </a:r>
            <a:endParaRPr lang="en-US"/>
          </a:p>
        </p:txBody>
      </p:sp>
      <p:pic>
        <p:nvPicPr>
          <p:cNvPr id="6" name="Picture 5" descr="Screenshot 2025-12-12 at 1.11.07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545" y="4089400"/>
            <a:ext cx="7053580" cy="2262505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6902450" y="5467985"/>
            <a:ext cx="2789555" cy="70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printing each user in results after assigning</a:t>
            </a:r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698" name="组合 4"/>
          <p:cNvGrpSpPr/>
          <p:nvPr/>
        </p:nvGrpSpPr>
        <p:grpSpPr>
          <a:xfrm>
            <a:off x="2434173" y="1840865"/>
            <a:ext cx="7693442" cy="3779927"/>
            <a:chOff x="3457574" y="1980015"/>
            <a:chExt cx="5143501" cy="2116840"/>
          </a:xfrm>
        </p:grpSpPr>
        <p:grpSp>
          <p:nvGrpSpPr>
            <p:cNvPr id="296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7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09" name="文本框 7"/>
            <p:cNvSpPr txBox="1"/>
            <p:nvPr/>
          </p:nvSpPr>
          <p:spPr>
            <a:xfrm>
              <a:off x="3753328" y="1980015"/>
              <a:ext cx="4495699" cy="20333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r>
                <a:rPr lang="en-US" altLang="zh-CN" sz="11500" i="1" dirty="0">
                  <a:solidFill>
                    <a:srgbClr val="404040"/>
                  </a:solidFill>
                  <a:ea typeface="Calibri" panose="020F0502020204030204" pitchFamily="34" charset="0"/>
                </a:rPr>
                <a:t>THANK YOU!</a:t>
              </a:r>
              <a:endParaRPr lang="en-US" altLang="zh-CN" sz="11500" i="1" dirty="0">
                <a:solidFill>
                  <a:srgbClr val="404040"/>
                </a:solidFill>
                <a:ea typeface="Calibri" panose="020F050202020403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3083</Words>
  <Application>WPS Writer</Application>
  <PresentationFormat>宽屏</PresentationFormat>
  <Paragraphs>64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Helvetica Neue</vt:lpstr>
      <vt:lpstr>宋体-简</vt:lpstr>
      <vt:lpstr>Microsoft YaHei</vt:lpstr>
      <vt:lpstr>汉仪旗黑</vt:lpstr>
      <vt:lpstr>Arial Unicode MS</vt:lpstr>
      <vt:lpstr>Calibri Light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ZhuLong</dc:creator>
  <cp:lastModifiedBy>Muhammadsodiq Shukurillayev</cp:lastModifiedBy>
  <cp:revision>31</cp:revision>
  <dcterms:created xsi:type="dcterms:W3CDTF">2025-12-12T04:24:29Z</dcterms:created>
  <dcterms:modified xsi:type="dcterms:W3CDTF">2025-12-12T04:24:29Z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1033-12.1.23152.23152</vt:lpwstr>
  </property>
  <property fmtid="{D5CDD505-2E9C-101B-9397-08002B2CF9AE}" pid="3" name="ICV">
    <vt:lpwstr>C03A106C6850AB0AFF8D3B6974177CE5_43</vt:lpwstr>
  </property>
</Properties>
</file>