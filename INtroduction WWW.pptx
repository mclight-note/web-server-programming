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2" r:id="rId5"/>
    <p:sldId id="301" r:id="rId6"/>
    <p:sldId id="263" r:id="rId7"/>
    <p:sldId id="264" r:id="rId8"/>
    <p:sldId id="302" r:id="rId9"/>
    <p:sldId id="265" r:id="rId10"/>
    <p:sldId id="271"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60" r:id="rId25"/>
    <p:sldId id="294" r:id="rId26"/>
    <p:sldId id="295" r:id="rId27"/>
    <p:sldId id="296" r:id="rId28"/>
    <p:sldId id="278" r:id="rId29"/>
    <p:sldId id="279" r:id="rId30"/>
    <p:sldId id="280" r:id="rId31"/>
    <p:sldId id="297" r:id="rId32"/>
    <p:sldId id="298" r:id="rId33"/>
    <p:sldId id="299" r:id="rId34"/>
    <p:sldId id="300" r:id="rId35"/>
    <p:sldId id="261" r:id="rId36"/>
    <p:sldId id="272" r:id="rId37"/>
    <p:sldId id="273" r:id="rId38"/>
    <p:sldId id="274" r:id="rId39"/>
    <p:sldId id="275" r:id="rId40"/>
    <p:sldId id="276" r:id="rId41"/>
    <p:sldId id="27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36278-2A16-FAA4-6BF5-A24857C47EA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E93DD75-9231-1770-807F-6540CB0CC0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BF68FF-2B5B-CA12-2B8B-366F899D1266}"/>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9ADC0293-2AA4-88A8-B374-3E2F83962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DF7C0-3EF0-A91E-59F2-39587BF0370B}"/>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57547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FB572-BD0D-93B8-FDF3-303FB12AA24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AF3E26-5A68-4C44-689F-C56A9E28E8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CCEE5F2-55A0-FC1C-1907-8D076116D9DB}"/>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E7AA2B19-7BCC-0F2A-A96D-BCCF484EF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21C27-BA36-0DE4-78CA-1F8A6A87B691}"/>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156946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742CA-111E-5A66-8245-79B5057D5CE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7E286A3-CD8A-17B1-305C-4ED9A0202D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48CF296-FFE6-C06C-D561-8E844E4F0FDE}"/>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2EA74AB4-793A-BDC5-E620-D92BAC978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DA98A-784E-6AFD-7864-A3CBA3FBA500}"/>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417501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171D-BC74-6136-ED6F-0FDCE0E6BAB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DB8EB9B-8402-982D-73D3-A9D34979439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0DD0A5C-34DE-803C-8E33-02C01ABEF07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CA4D96D-F8F5-1286-24C5-5FC268A512B9}"/>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6" name="Footer Placeholder 5">
            <a:extLst>
              <a:ext uri="{FF2B5EF4-FFF2-40B4-BE49-F238E27FC236}">
                <a16:creationId xmlns:a16="http://schemas.microsoft.com/office/drawing/2014/main" id="{F59918BA-B22D-3191-C3C6-070298340D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D2B05-4784-0FB4-7676-886334D39BAC}"/>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4028781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EECA-038F-668A-96CC-254EB5473A0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7C26472-5650-1AB4-4160-C582A588B9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C03504C-DF38-934E-9102-7ADC75FFDDC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7B0C86E-A876-B8F6-25D5-29403110F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5FDAADF-C2EA-D47E-6A2E-97FBBB2DF75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2C42DCE-5F0F-4C4B-D832-7BB0D9234BA9}"/>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8" name="Footer Placeholder 7">
            <a:extLst>
              <a:ext uri="{FF2B5EF4-FFF2-40B4-BE49-F238E27FC236}">
                <a16:creationId xmlns:a16="http://schemas.microsoft.com/office/drawing/2014/main" id="{ED6ADA60-A819-1A59-6F80-02FF02DED3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8F178A-E42C-FBB8-C36F-18C25F68B368}"/>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50953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AF3C-8C11-70D5-3F99-174D87C2CF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8650562-D190-713D-182E-9461B66F605D}"/>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4" name="Footer Placeholder 3">
            <a:extLst>
              <a:ext uri="{FF2B5EF4-FFF2-40B4-BE49-F238E27FC236}">
                <a16:creationId xmlns:a16="http://schemas.microsoft.com/office/drawing/2014/main" id="{ED5D81F7-46AE-EA39-3097-EDCA94E047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E913-43D8-3608-525E-96B986EECEF3}"/>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229076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C7683-6F0E-E8F7-B08E-50D64510EDF4}"/>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3" name="Footer Placeholder 2">
            <a:extLst>
              <a:ext uri="{FF2B5EF4-FFF2-40B4-BE49-F238E27FC236}">
                <a16:creationId xmlns:a16="http://schemas.microsoft.com/office/drawing/2014/main" id="{1FB86B3D-A937-C59E-C32C-65A05F9A03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46EF8A-FEBB-1889-7FD9-797B3999A711}"/>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1602960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8651-14D2-9E84-4DE3-28D74C8361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542ECF9-E8B1-8AF7-9915-9120C996FD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875B9E9-FE7A-FE3C-D707-8B018F64B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77B0AC-8FC2-F32D-C18E-DFDC349E70C8}"/>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6" name="Footer Placeholder 5">
            <a:extLst>
              <a:ext uri="{FF2B5EF4-FFF2-40B4-BE49-F238E27FC236}">
                <a16:creationId xmlns:a16="http://schemas.microsoft.com/office/drawing/2014/main" id="{C0DF8900-0E7B-7FFF-BE9F-3C159E12F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836BE8-07E9-E24E-5F62-821FFDED4EA7}"/>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4086247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DECF-5641-C6C2-3CBE-73BDA57173E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4D94E0D-48AC-1A32-D1B8-7785E3F8E6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E6CB4E-6145-55AC-3F45-F4A499013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E71688-CB2F-DBF1-D99B-0348D520B616}"/>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6" name="Footer Placeholder 5">
            <a:extLst>
              <a:ext uri="{FF2B5EF4-FFF2-40B4-BE49-F238E27FC236}">
                <a16:creationId xmlns:a16="http://schemas.microsoft.com/office/drawing/2014/main" id="{3477E44D-E1FE-2278-46AE-4E44A2933E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28FCA2-CD85-2B6E-65F1-6788B51DFFF8}"/>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35061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1083-65D0-C93B-EEA4-80FEF47BA4A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780C2B3-560D-C990-7F02-404C044CA30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C8677E-3519-D49F-999C-305205058B4E}"/>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0DD46397-4C16-876A-FF93-7EAB20E04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8E743B-7B3D-5060-593E-F10C4BE1BF6C}"/>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2359147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7102CD-DDC0-4A6E-1F1D-FDBECEE7B7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B1D2F89-0B99-CE5B-925B-1FC68889311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5C0422-46A9-640B-626A-00F51745BD63}"/>
              </a:ext>
            </a:extLst>
          </p:cNvPr>
          <p:cNvSpPr>
            <a:spLocks noGrp="1"/>
          </p:cNvSpPr>
          <p:nvPr>
            <p:ph type="dt" sz="half" idx="10"/>
          </p:nvPr>
        </p:nvSpPr>
        <p:spPr/>
        <p:txBody>
          <a:body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E7F8149E-8DBE-B92E-3C00-855E41EBEA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9204C-EBB3-1134-0C2D-5A40D7F7DBF3}"/>
              </a:ext>
            </a:extLst>
          </p:cNvPr>
          <p:cNvSpPr>
            <a:spLocks noGrp="1"/>
          </p:cNvSpPr>
          <p:nvPr>
            <p:ph type="sldNum" sz="quarter" idx="12"/>
          </p:nvPr>
        </p:nvSpPr>
        <p:spPr/>
        <p:txBody>
          <a:bodyPr/>
          <a:lstStyle/>
          <a:p>
            <a:fld id="{DC4B08EB-AC5E-1A49-AE65-DC6AD0B65C81}" type="slidenum">
              <a:rPr lang="en-US" smtClean="0"/>
              <a:t>‹#›</a:t>
            </a:fld>
            <a:endParaRPr lang="en-US"/>
          </a:p>
        </p:txBody>
      </p:sp>
    </p:spTree>
    <p:extLst>
      <p:ext uri="{BB962C8B-B14F-4D97-AF65-F5344CB8AC3E}">
        <p14:creationId xmlns:p14="http://schemas.microsoft.com/office/powerpoint/2010/main" val="39464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C8701D-6752-0B4B-FC8E-A151807CAF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A223424-D472-B6A9-50C2-963671A64D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E7847F8-C202-B7B6-1BB9-933FD8989D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45CEC9-26D7-DB40-8BCD-319C93EBD9A7}" type="datetimeFigureOut">
              <a:rPr lang="en-US" smtClean="0"/>
              <a:t>9/12/25</a:t>
            </a:fld>
            <a:endParaRPr lang="en-US"/>
          </a:p>
        </p:txBody>
      </p:sp>
      <p:sp>
        <p:nvSpPr>
          <p:cNvPr id="5" name="Footer Placeholder 4">
            <a:extLst>
              <a:ext uri="{FF2B5EF4-FFF2-40B4-BE49-F238E27FC236}">
                <a16:creationId xmlns:a16="http://schemas.microsoft.com/office/drawing/2014/main" id="{A54F76BF-83A3-F90C-CE4E-AB0FCEE6AE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97141C-15B6-23B9-EF14-7EA2780AC0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4B08EB-AC5E-1A49-AE65-DC6AD0B65C81}" type="slidenum">
              <a:rPr lang="en-US" smtClean="0"/>
              <a:t>‹#›</a:t>
            </a:fld>
            <a:endParaRPr lang="en-US"/>
          </a:p>
        </p:txBody>
      </p:sp>
    </p:spTree>
    <p:extLst>
      <p:ext uri="{BB962C8B-B14F-4D97-AF65-F5344CB8AC3E}">
        <p14:creationId xmlns:p14="http://schemas.microsoft.com/office/powerpoint/2010/main" val="1388486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computer-organization-architecture/w3c-full-for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system-design/client-server-model/" TargetMode="External"/><Relationship Id="rId2" Type="http://schemas.openxmlformats.org/officeDocument/2006/relationships/hyperlink" Target="https://www.geeksforgeeks.org/computer-networks/web-pages/" TargetMode="Externa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hyperlink" Target="https://www.geeksforgeeks.org/node-js/web-server-and-its-type/"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eksforgeeks.org/computer-networks/tcp-ip-mode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geeksforgeeks.org/blogs/http-full-form/" TargetMode="External"/><Relationship Id="rId2" Type="http://schemas.openxmlformats.org/officeDocument/2006/relationships/hyperlink" Target="https://www.geeksforgeeks.org/system-design/whats-is-domain-name-systemdns/"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introduction-to-telnet/" TargetMode="External"/><Relationship Id="rId5" Type="http://schemas.openxmlformats.org/officeDocument/2006/relationships/hyperlink" Target="https://www.geeksforgeeks.org/computer-science-fundamentals/file-transfer-protocol-ftp/" TargetMode="External"/><Relationship Id="rId4" Type="http://schemas.openxmlformats.org/officeDocument/2006/relationships/hyperlink" Target="https://www.geeksforgeeks.org/html/explain-working-of-http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system-design/client-server-mode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www.geeksforgeeks.org/php/php-introduction/" TargetMode="External"/><Relationship Id="rId3" Type="http://schemas.openxmlformats.org/officeDocument/2006/relationships/hyperlink" Target="https://www.geeksforgeeks.org/css/css-tutorial/" TargetMode="External"/><Relationship Id="rId7" Type="http://schemas.openxmlformats.org/officeDocument/2006/relationships/hyperlink" Target="https://www.geeksforgeeks.org/ruby/ruby-on-rails-introduction/" TargetMode="External"/><Relationship Id="rId2" Type="http://schemas.openxmlformats.org/officeDocument/2006/relationships/hyperlink" Target="https://www.geeksforgeeks.org/html/html-tutorial/" TargetMode="External"/><Relationship Id="rId1" Type="http://schemas.openxmlformats.org/officeDocument/2006/relationships/slideLayout" Target="../slideLayouts/slideLayout2.xml"/><Relationship Id="rId6" Type="http://schemas.openxmlformats.org/officeDocument/2006/relationships/hyperlink" Target="https://www.geeksforgeeks.org/java/java/" TargetMode="External"/><Relationship Id="rId5" Type="http://schemas.openxmlformats.org/officeDocument/2006/relationships/hyperlink" Target="https://www.geeksforgeeks.org/python/python-programming-language-tutorial/" TargetMode="External"/><Relationship Id="rId4" Type="http://schemas.openxmlformats.org/officeDocument/2006/relationships/hyperlink" Target="https://www.geeksforgeeks.org/javascript/introduction-to-javascrip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44AE-462D-9C82-D5FD-AA2FE3451F1E}"/>
              </a:ext>
            </a:extLst>
          </p:cNvPr>
          <p:cNvSpPr>
            <a:spLocks noGrp="1"/>
          </p:cNvSpPr>
          <p:nvPr>
            <p:ph type="ctrTitle"/>
          </p:nvPr>
        </p:nvSpPr>
        <p:spPr>
          <a:xfrm>
            <a:off x="1696994" y="1253889"/>
            <a:ext cx="9144000" cy="692622"/>
          </a:xfrm>
        </p:spPr>
        <p:txBody>
          <a:bodyPr>
            <a:normAutofit/>
          </a:bodyPr>
          <a:lstStyle/>
          <a:p>
            <a:r>
              <a:rPr lang="en-US" sz="3600" dirty="0"/>
              <a:t>Web Server Programming</a:t>
            </a:r>
          </a:p>
        </p:txBody>
      </p:sp>
      <p:sp>
        <p:nvSpPr>
          <p:cNvPr id="3" name="Subtitle 2">
            <a:extLst>
              <a:ext uri="{FF2B5EF4-FFF2-40B4-BE49-F238E27FC236}">
                <a16:creationId xmlns:a16="http://schemas.microsoft.com/office/drawing/2014/main" id="{2B9E3BE7-39DA-543C-8EC5-3439B67938FE}"/>
              </a:ext>
            </a:extLst>
          </p:cNvPr>
          <p:cNvSpPr>
            <a:spLocks noGrp="1"/>
          </p:cNvSpPr>
          <p:nvPr>
            <p:ph type="subTitle" idx="1"/>
          </p:nvPr>
        </p:nvSpPr>
        <p:spPr>
          <a:xfrm>
            <a:off x="1400432" y="2909416"/>
            <a:ext cx="9144000" cy="562189"/>
          </a:xfrm>
        </p:spPr>
        <p:txBody>
          <a:bodyPr/>
          <a:lstStyle/>
          <a:p>
            <a:r>
              <a:rPr lang="en-US" dirty="0"/>
              <a:t>Introduction to Web Server Programming</a:t>
            </a:r>
          </a:p>
        </p:txBody>
      </p:sp>
      <p:sp>
        <p:nvSpPr>
          <p:cNvPr id="4" name="TextBox 3">
            <a:extLst>
              <a:ext uri="{FF2B5EF4-FFF2-40B4-BE49-F238E27FC236}">
                <a16:creationId xmlns:a16="http://schemas.microsoft.com/office/drawing/2014/main" id="{213A4035-F19F-0D28-C1B1-F1EC0CFC297D}"/>
              </a:ext>
            </a:extLst>
          </p:cNvPr>
          <p:cNvSpPr txBox="1"/>
          <p:nvPr/>
        </p:nvSpPr>
        <p:spPr>
          <a:xfrm>
            <a:off x="6993924" y="4957780"/>
            <a:ext cx="4534930" cy="646331"/>
          </a:xfrm>
          <a:prstGeom prst="rect">
            <a:avLst/>
          </a:prstGeom>
          <a:noFill/>
        </p:spPr>
        <p:txBody>
          <a:bodyPr wrap="square" rtlCol="0">
            <a:spAutoFit/>
          </a:bodyPr>
          <a:lstStyle/>
          <a:p>
            <a:r>
              <a:rPr lang="en-US" dirty="0"/>
              <a:t>Lecturer: Shakhnoza Muksimova</a:t>
            </a:r>
          </a:p>
          <a:p>
            <a:r>
              <a:rPr lang="en-US" dirty="0"/>
              <a:t>Email: Shakhnoza02@gachon.ac.kr</a:t>
            </a:r>
          </a:p>
        </p:txBody>
      </p:sp>
    </p:spTree>
    <p:extLst>
      <p:ext uri="{BB962C8B-B14F-4D97-AF65-F5344CB8AC3E}">
        <p14:creationId xmlns:p14="http://schemas.microsoft.com/office/powerpoint/2010/main" val="277480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78157-F4FC-A327-370B-E559F9DD53BD}"/>
              </a:ext>
            </a:extLst>
          </p:cNvPr>
          <p:cNvSpPr>
            <a:spLocks noGrp="1"/>
          </p:cNvSpPr>
          <p:nvPr>
            <p:ph type="title"/>
          </p:nvPr>
        </p:nvSpPr>
        <p:spPr>
          <a:xfrm>
            <a:off x="793662" y="386930"/>
            <a:ext cx="10066122" cy="1298448"/>
          </a:xfrm>
        </p:spPr>
        <p:txBody>
          <a:bodyPr anchor="b">
            <a:normAutofit/>
          </a:bodyPr>
          <a:lstStyle/>
          <a:p>
            <a:r>
              <a:rPr lang="en-US" sz="4800"/>
              <a:t>Content</a:t>
            </a:r>
          </a:p>
        </p:txBody>
      </p:sp>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C71233-D005-8492-1E71-599C6CBE7996}"/>
              </a:ext>
            </a:extLst>
          </p:cNvPr>
          <p:cNvSpPr>
            <a:spLocks noGrp="1"/>
          </p:cNvSpPr>
          <p:nvPr>
            <p:ph idx="1"/>
          </p:nvPr>
        </p:nvSpPr>
        <p:spPr>
          <a:xfrm>
            <a:off x="793661" y="2599509"/>
            <a:ext cx="4530898" cy="3639450"/>
          </a:xfrm>
        </p:spPr>
        <p:txBody>
          <a:bodyPr anchor="ctr">
            <a:normAutofit/>
          </a:bodyPr>
          <a:lstStyle/>
          <a:p>
            <a:r>
              <a:rPr lang="en-GB" sz="2000"/>
              <a:t>WWW history and concepts</a:t>
            </a:r>
          </a:p>
          <a:p>
            <a:r>
              <a:rPr lang="en-GB" sz="2000"/>
              <a:t>Client-Server architecture</a:t>
            </a:r>
          </a:p>
          <a:p>
            <a:r>
              <a:rPr lang="en-GB" sz="2000"/>
              <a:t>Internet addressing mechanism, name servers, URLs</a:t>
            </a:r>
          </a:p>
          <a:p>
            <a:r>
              <a:rPr lang="en-GB" sz="2000"/>
              <a:t>Basics of HTTP request/response cycle</a:t>
            </a:r>
          </a:p>
          <a:p>
            <a:endParaRPr lang="en-US" sz="2000"/>
          </a:p>
        </p:txBody>
      </p:sp>
      <p:pic>
        <p:nvPicPr>
          <p:cNvPr id="7" name="Graphic 6" descr="Laptop Secure">
            <a:extLst>
              <a:ext uri="{FF2B5EF4-FFF2-40B4-BE49-F238E27FC236}">
                <a16:creationId xmlns:a16="http://schemas.microsoft.com/office/drawing/2014/main" id="{9A552FCA-25F2-AC86-AD11-D6FF750E30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25" name="Rectangle 2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949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D47FEA-31D3-266B-1F34-40217FA09BB0}"/>
              </a:ext>
            </a:extLst>
          </p:cNvPr>
          <p:cNvSpPr>
            <a:spLocks noGrp="1"/>
          </p:cNvSpPr>
          <p:nvPr>
            <p:ph type="title"/>
          </p:nvPr>
        </p:nvSpPr>
        <p:spPr>
          <a:xfrm>
            <a:off x="1137034" y="609597"/>
            <a:ext cx="9392421" cy="1330841"/>
          </a:xfrm>
        </p:spPr>
        <p:txBody>
          <a:bodyPr>
            <a:normAutofit/>
          </a:bodyPr>
          <a:lstStyle/>
          <a:p>
            <a:r>
              <a:rPr lang="en-GB" dirty="0"/>
              <a:t>WWW history and concepts</a:t>
            </a:r>
            <a:endParaRPr lang="en-US" dirty="0"/>
          </a:p>
        </p:txBody>
      </p:sp>
      <p:sp>
        <p:nvSpPr>
          <p:cNvPr id="3" name="Content Placeholder 2">
            <a:extLst>
              <a:ext uri="{FF2B5EF4-FFF2-40B4-BE49-F238E27FC236}">
                <a16:creationId xmlns:a16="http://schemas.microsoft.com/office/drawing/2014/main" id="{5CAB18DE-31E5-4620-C142-7D024EA700C9}"/>
              </a:ext>
            </a:extLst>
          </p:cNvPr>
          <p:cNvSpPr>
            <a:spLocks noGrp="1"/>
          </p:cNvSpPr>
          <p:nvPr>
            <p:ph idx="1"/>
          </p:nvPr>
        </p:nvSpPr>
        <p:spPr>
          <a:xfrm>
            <a:off x="1038958" y="2023056"/>
            <a:ext cx="5770880" cy="3917773"/>
          </a:xfrm>
        </p:spPr>
        <p:txBody>
          <a:bodyPr>
            <a:noAutofit/>
          </a:bodyPr>
          <a:lstStyle/>
          <a:p>
            <a:r>
              <a:rPr lang="en-US" sz="2400" dirty="0"/>
              <a:t>The World Wide Web (WWW), often called the Web, is a system of interconnected webpages and information that you can access using the Internet. It was created to help people share and find information easily, using links that connect different pages together. The Web allows us to browse websites, watch videos, shop online, and connect with others around the world through our computers and phones.</a:t>
            </a:r>
          </a:p>
        </p:txBody>
      </p:sp>
      <p:pic>
        <p:nvPicPr>
          <p:cNvPr id="18" name="Graphic 17" descr="Website">
            <a:extLst>
              <a:ext uri="{FF2B5EF4-FFF2-40B4-BE49-F238E27FC236}">
                <a16:creationId xmlns:a16="http://schemas.microsoft.com/office/drawing/2014/main" id="{F5A8DADF-61F8-F888-4602-EDEEFB7FB3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662" y="2184914"/>
            <a:ext cx="3755915" cy="3755915"/>
          </a:xfrm>
          <a:prstGeom prst="rect">
            <a:avLst/>
          </a:prstGeom>
        </p:spPr>
      </p:pic>
      <p:sp>
        <p:nvSpPr>
          <p:cNvPr id="19"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0912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5" name="Rectangle 105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6" name="Arc 105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57" name="Freeform: Shape 105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Lightbox">
            <a:extLst>
              <a:ext uri="{FF2B5EF4-FFF2-40B4-BE49-F238E27FC236}">
                <a16:creationId xmlns:a16="http://schemas.microsoft.com/office/drawing/2014/main" id="{AFAD3633-C516-97C8-E669-B847E023965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2149783"/>
            <a:ext cx="4777381" cy="238868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4E9EB3A-34C6-9070-D3C9-4ED50AC4811D}"/>
              </a:ext>
            </a:extLst>
          </p:cNvPr>
          <p:cNvSpPr>
            <a:spLocks noGrp="1"/>
          </p:cNvSpPr>
          <p:nvPr>
            <p:ph idx="1"/>
          </p:nvPr>
        </p:nvSpPr>
        <p:spPr>
          <a:xfrm>
            <a:off x="5894962" y="1984443"/>
            <a:ext cx="5458838" cy="4192520"/>
          </a:xfrm>
        </p:spPr>
        <p:txBody>
          <a:bodyPr>
            <a:normAutofit/>
          </a:bodyPr>
          <a:lstStyle/>
          <a:p>
            <a:r>
              <a:rPr lang="en-US" sz="2600"/>
              <a:t>All public websites or web pages that people may access on their local computers and other devices through the internet are collectively known as the World Wide Web or W3. Users can get further information by navigating to links interconnecting these pages and documents. This data may be presented in text, picture, audio, or video formats on the internet.</a:t>
            </a:r>
          </a:p>
        </p:txBody>
      </p:sp>
    </p:spTree>
    <p:extLst>
      <p:ext uri="{BB962C8B-B14F-4D97-AF65-F5344CB8AC3E}">
        <p14:creationId xmlns:p14="http://schemas.microsoft.com/office/powerpoint/2010/main" val="2867360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47D7-D6C9-B631-84DF-2A47DBB866BC}"/>
              </a:ext>
            </a:extLst>
          </p:cNvPr>
          <p:cNvSpPr>
            <a:spLocks noGrp="1"/>
          </p:cNvSpPr>
          <p:nvPr>
            <p:ph type="title"/>
          </p:nvPr>
        </p:nvSpPr>
        <p:spPr/>
        <p:txBody>
          <a:bodyPr/>
          <a:lstStyle/>
          <a:p>
            <a:r>
              <a:rPr lang="en-US" dirty="0"/>
              <a:t>History WWW</a:t>
            </a:r>
          </a:p>
        </p:txBody>
      </p:sp>
      <p:sp>
        <p:nvSpPr>
          <p:cNvPr id="3" name="Content Placeholder 2">
            <a:extLst>
              <a:ext uri="{FF2B5EF4-FFF2-40B4-BE49-F238E27FC236}">
                <a16:creationId xmlns:a16="http://schemas.microsoft.com/office/drawing/2014/main" id="{A58E52C0-6008-504A-5A27-F9AEC9056093}"/>
              </a:ext>
            </a:extLst>
          </p:cNvPr>
          <p:cNvSpPr>
            <a:spLocks noGrp="1"/>
          </p:cNvSpPr>
          <p:nvPr>
            <p:ph idx="1"/>
          </p:nvPr>
        </p:nvSpPr>
        <p:spPr/>
        <p:txBody>
          <a:bodyPr/>
          <a:lstStyle/>
          <a:p>
            <a:r>
              <a:rPr lang="en-GB" dirty="0"/>
              <a:t>It is a project created, by Tim Berner Lee in 1989, for researchers to work together effectively at CERN. It is an organization, named the </a:t>
            </a:r>
            <a:r>
              <a:rPr lang="en-GB" u="sng" dirty="0">
                <a:hlinkClick r:id="rId2"/>
              </a:rPr>
              <a:t>World Wide Web Consortium (W3C)</a:t>
            </a:r>
            <a:r>
              <a:rPr lang="en-GB" dirty="0"/>
              <a:t>, which was developed for further development of the web. This organization is directed by Tim Berner's Lee, aka the father of the web.  CERN, where Tim Berners worked, is a community of more than 1700 researchers from more than 100 countries. These researchers spend a little time on CERN and the rest of the time they work at their colleges and national research facilities in their home country, so there was a requirement for solid communication so that they can exchange data. </a:t>
            </a:r>
            <a:endParaRPr lang="en-US" dirty="0"/>
          </a:p>
        </p:txBody>
      </p:sp>
    </p:spTree>
    <p:extLst>
      <p:ext uri="{BB962C8B-B14F-4D97-AF65-F5344CB8AC3E}">
        <p14:creationId xmlns:p14="http://schemas.microsoft.com/office/powerpoint/2010/main" val="656725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3" name="Rectangle 207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Rectangle 207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34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307F4-381E-A00D-5FFD-85F8A76B06C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a:solidFill>
                  <a:srgbClr val="FFFFFF"/>
                </a:solidFill>
                <a:latin typeface="+mj-lt"/>
                <a:ea typeface="+mj-ea"/>
                <a:cs typeface="+mj-cs"/>
              </a:rPr>
              <a:t>How Web Evolves?</a:t>
            </a:r>
            <a:br>
              <a:rPr lang="en-US" sz="2600" b="1" kern="1200">
                <a:solidFill>
                  <a:srgbClr val="FFFFFF"/>
                </a:solidFill>
                <a:latin typeface="+mj-lt"/>
                <a:ea typeface="+mj-ea"/>
                <a:cs typeface="+mj-cs"/>
              </a:rPr>
            </a:br>
            <a:endParaRPr lang="en-US" sz="2600" kern="1200">
              <a:solidFill>
                <a:srgbClr val="FFFFFF"/>
              </a:solidFill>
              <a:latin typeface="+mj-lt"/>
              <a:ea typeface="+mj-ea"/>
              <a:cs typeface="+mj-cs"/>
            </a:endParaRPr>
          </a:p>
        </p:txBody>
      </p:sp>
      <p:pic>
        <p:nvPicPr>
          <p:cNvPr id="2050" name="Picture 2" descr="Web-Evolution_">
            <a:extLst>
              <a:ext uri="{FF2B5EF4-FFF2-40B4-BE49-F238E27FC236}">
                <a16:creationId xmlns:a16="http://schemas.microsoft.com/office/drawing/2014/main" id="{00C9B03A-C279-38E5-0F15-2E22FA8BF8D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86358" y="444008"/>
            <a:ext cx="8058279" cy="504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334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87" name="Rectangle 2048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9" name="Freeform: Shape 2048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C048A9-63FC-2209-CECC-EAA788731988}"/>
              </a:ext>
            </a:extLst>
          </p:cNvPr>
          <p:cNvSpPr>
            <a:spLocks noGrp="1"/>
          </p:cNvSpPr>
          <p:nvPr>
            <p:ph type="title"/>
          </p:nvPr>
        </p:nvSpPr>
        <p:spPr>
          <a:xfrm>
            <a:off x="1137034" y="609597"/>
            <a:ext cx="9392421" cy="1330841"/>
          </a:xfrm>
        </p:spPr>
        <p:txBody>
          <a:bodyPr>
            <a:normAutofit/>
          </a:bodyPr>
          <a:lstStyle/>
          <a:p>
            <a:r>
              <a:rPr lang="en-GB" b="1" dirty="0"/>
              <a:t>Working of World Wide Web(WWW)</a:t>
            </a:r>
            <a:br>
              <a:rPr lang="en-GB" b="1" dirty="0"/>
            </a:br>
            <a:endParaRPr lang="en-US" dirty="0"/>
          </a:p>
        </p:txBody>
      </p:sp>
      <p:sp>
        <p:nvSpPr>
          <p:cNvPr id="3" name="Content Placeholder 2">
            <a:extLst>
              <a:ext uri="{FF2B5EF4-FFF2-40B4-BE49-F238E27FC236}">
                <a16:creationId xmlns:a16="http://schemas.microsoft.com/office/drawing/2014/main" id="{A5F20DC5-174A-B284-37D8-94C36B1D44AF}"/>
              </a:ext>
            </a:extLst>
          </p:cNvPr>
          <p:cNvSpPr>
            <a:spLocks noGrp="1"/>
          </p:cNvSpPr>
          <p:nvPr>
            <p:ph idx="1"/>
          </p:nvPr>
        </p:nvSpPr>
        <p:spPr>
          <a:xfrm>
            <a:off x="1137034" y="2198362"/>
            <a:ext cx="4958966" cy="3917773"/>
          </a:xfrm>
        </p:spPr>
        <p:txBody>
          <a:bodyPr>
            <a:normAutofit/>
          </a:bodyPr>
          <a:lstStyle/>
          <a:p>
            <a:pPr fontAlgn="base"/>
            <a:r>
              <a:rPr lang="en-GB" sz="1600"/>
              <a:t>A Web browser is used to access </a:t>
            </a:r>
            <a:r>
              <a:rPr lang="en-GB" sz="1600" u="sng">
                <a:hlinkClick r:id="rId2"/>
              </a:rPr>
              <a:t>web pages.</a:t>
            </a:r>
            <a:r>
              <a:rPr lang="en-GB" sz="1600"/>
              <a:t> Web browsers can be defined as programs which display text, data, pictures, animation and video on the Internet. Hyperlinked resources on the World Wide Web can be accessed using software interfaces provided by Web browsers. Initially, Web browsers were used only for surfing the Web but now they have become more universal.</a:t>
            </a:r>
          </a:p>
          <a:p>
            <a:pPr fontAlgn="base"/>
            <a:r>
              <a:rPr lang="en-GB" sz="1600"/>
              <a:t>The diagram indicates how the Web operates just like </a:t>
            </a:r>
            <a:r>
              <a:rPr lang="en-GB" sz="1600" u="sng">
                <a:hlinkClick r:id="rId3"/>
              </a:rPr>
              <a:t>client-server architecture</a:t>
            </a:r>
            <a:r>
              <a:rPr lang="en-GB" sz="1600"/>
              <a:t> of the internet. When users request web pages or other information, then the web browser of your system request to the server for the information and then the </a:t>
            </a:r>
            <a:r>
              <a:rPr lang="en-GB" sz="1600" u="sng">
                <a:hlinkClick r:id="rId4"/>
              </a:rPr>
              <a:t>web server</a:t>
            </a:r>
            <a:r>
              <a:rPr lang="en-GB" sz="1600"/>
              <a:t>  provide requested services to web browser back and finally the requested service is utilized by the user who made the request.</a:t>
            </a:r>
          </a:p>
          <a:p>
            <a:endParaRPr lang="en-US" sz="1600"/>
          </a:p>
        </p:txBody>
      </p:sp>
      <p:pic>
        <p:nvPicPr>
          <p:cNvPr id="20482" name="Picture 2">
            <a:extLst>
              <a:ext uri="{FF2B5EF4-FFF2-40B4-BE49-F238E27FC236}">
                <a16:creationId xmlns:a16="http://schemas.microsoft.com/office/drawing/2014/main" id="{177344E6-35AB-FE65-4462-11E609513F6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719367" y="2937573"/>
            <a:ext cx="4788505" cy="2250597"/>
          </a:xfrm>
          <a:prstGeom prst="rect">
            <a:avLst/>
          </a:prstGeom>
          <a:noFill/>
          <a:extLst>
            <a:ext uri="{909E8E84-426E-40DD-AFC4-6F175D3DCCD1}">
              <a14:hiddenFill xmlns:a14="http://schemas.microsoft.com/office/drawing/2010/main">
                <a:solidFill>
                  <a:srgbClr val="FFFFFF"/>
                </a:solidFill>
              </a14:hiddenFill>
            </a:ext>
          </a:extLst>
        </p:spPr>
      </p:pic>
      <p:sp>
        <p:nvSpPr>
          <p:cNvPr id="20491" name="Freeform: Shape 2049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76255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C3F3EF-1098-F85E-3952-127579869E6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b="1" kern="1200">
                <a:solidFill>
                  <a:schemeClr val="tx1"/>
                </a:solidFill>
                <a:latin typeface="+mj-lt"/>
                <a:ea typeface="+mj-ea"/>
                <a:cs typeface="+mj-cs"/>
              </a:rPr>
              <a:t>World Wide Web (WWW) Vs Internet</a:t>
            </a:r>
            <a:br>
              <a:rPr lang="en-US" sz="4100" b="1" kern="1200">
                <a:solidFill>
                  <a:schemeClr val="tx1"/>
                </a:solidFill>
                <a:latin typeface="+mj-lt"/>
                <a:ea typeface="+mj-ea"/>
                <a:cs typeface="+mj-cs"/>
              </a:rPr>
            </a:br>
            <a:endParaRPr lang="en-US" sz="4100" kern="1200">
              <a:solidFill>
                <a:schemeClr val="tx1"/>
              </a:solidFill>
              <a:latin typeface="+mj-lt"/>
              <a:ea typeface="+mj-ea"/>
              <a:cs typeface="+mj-cs"/>
            </a:endParaRPr>
          </a:p>
        </p:txBody>
      </p:sp>
      <p:sp>
        <p:nvSpPr>
          <p:cNvPr id="2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web page&#10;&#10;AI-generated content may be incorrect.">
            <a:extLst>
              <a:ext uri="{FF2B5EF4-FFF2-40B4-BE49-F238E27FC236}">
                <a16:creationId xmlns:a16="http://schemas.microsoft.com/office/drawing/2014/main" id="{5259C26C-87AD-859A-7047-8EB6F682B720}"/>
              </a:ext>
            </a:extLst>
          </p:cNvPr>
          <p:cNvPicPr>
            <a:picLocks noChangeAspect="1"/>
          </p:cNvPicPr>
          <p:nvPr/>
        </p:nvPicPr>
        <p:blipFill>
          <a:blip r:embed="rId2"/>
          <a:stretch>
            <a:fillRect/>
          </a:stretch>
        </p:blipFill>
        <p:spPr>
          <a:xfrm>
            <a:off x="1705233" y="1929436"/>
            <a:ext cx="8366235" cy="3994876"/>
          </a:xfrm>
          <a:prstGeom prst="rect">
            <a:avLst/>
          </a:prstGeom>
        </p:spPr>
      </p:pic>
    </p:spTree>
    <p:extLst>
      <p:ext uri="{BB962C8B-B14F-4D97-AF65-F5344CB8AC3E}">
        <p14:creationId xmlns:p14="http://schemas.microsoft.com/office/powerpoint/2010/main" val="1110571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583FF9-A776-C416-9E9D-5F984039D1F9}"/>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a:t>Static websites</a:t>
            </a:r>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F345CA-5615-4609-FA9B-BC48B2D8D336}"/>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One famous example of a static website is the </a:t>
            </a:r>
            <a:r>
              <a:rPr lang="en-US" sz="2000" i="1"/>
              <a:t>Space Jam</a:t>
            </a:r>
            <a:r>
              <a:rPr lang="en-US" sz="2000"/>
              <a:t> movie site from 1996, which only shows fixed text and images.</a:t>
            </a:r>
            <a:br>
              <a:rPr lang="en-US" sz="2000"/>
            </a:br>
            <a:r>
              <a:rPr lang="en-US" sz="2000"/>
              <a:t>A modern example is a personal portfolio site, where you can see information about a person’s skills and projects.</a:t>
            </a:r>
            <a:br>
              <a:rPr lang="en-US" sz="2000"/>
            </a:br>
            <a:r>
              <a:rPr lang="en-US" sz="2000"/>
              <a:t>In both cases, the content does not change unless the developer updates the HTML files.</a:t>
            </a:r>
          </a:p>
        </p:txBody>
      </p:sp>
      <p:pic>
        <p:nvPicPr>
          <p:cNvPr id="3074" name="Picture 2" descr="15+ Best portfolio website examples for inspiration in 2025">
            <a:extLst>
              <a:ext uri="{FF2B5EF4-FFF2-40B4-BE49-F238E27FC236}">
                <a16:creationId xmlns:a16="http://schemas.microsoft.com/office/drawing/2014/main" id="{3E7115D9-1185-D807-F122-8F57CB811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2003" b="2"/>
          <a:stretch>
            <a:fillRect/>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147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0" name="Rectangle 1127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5BE17-5FF8-3512-0A91-DFC23076A17C}"/>
              </a:ext>
            </a:extLst>
          </p:cNvPr>
          <p:cNvSpPr>
            <a:spLocks noGrp="1"/>
          </p:cNvSpPr>
          <p:nvPr>
            <p:ph type="title"/>
          </p:nvPr>
        </p:nvSpPr>
        <p:spPr>
          <a:xfrm>
            <a:off x="793662" y="386930"/>
            <a:ext cx="10066122" cy="1298448"/>
          </a:xfrm>
        </p:spPr>
        <p:txBody>
          <a:bodyPr anchor="b">
            <a:normAutofit/>
          </a:bodyPr>
          <a:lstStyle/>
          <a:p>
            <a:r>
              <a:rPr lang="en-GB" sz="4100" b="1"/>
              <a:t>What is Client-Server Architecture?</a:t>
            </a:r>
            <a:br>
              <a:rPr lang="en-GB" sz="4100" b="1"/>
            </a:br>
            <a:endParaRPr lang="en-US" sz="4100"/>
          </a:p>
        </p:txBody>
      </p:sp>
      <p:sp>
        <p:nvSpPr>
          <p:cNvPr id="11282" name="Rectangle 1128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4" name="Rectangle 1128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2C0301-F54E-6F59-B5FC-3C413DA00697}"/>
              </a:ext>
            </a:extLst>
          </p:cNvPr>
          <p:cNvSpPr>
            <a:spLocks noGrp="1"/>
          </p:cNvSpPr>
          <p:nvPr>
            <p:ph idx="1"/>
          </p:nvPr>
        </p:nvSpPr>
        <p:spPr>
          <a:xfrm>
            <a:off x="793661" y="2599509"/>
            <a:ext cx="4530898" cy="3639450"/>
          </a:xfrm>
        </p:spPr>
        <p:txBody>
          <a:bodyPr anchor="ctr">
            <a:normAutofit/>
          </a:bodyPr>
          <a:lstStyle/>
          <a:p>
            <a:r>
              <a:rPr lang="en-GB" sz="1700"/>
              <a:t>Client-server architecture is a computing model in which multiple clients (users or devices) interact with a centralized server to access data, resources, or services.</a:t>
            </a:r>
          </a:p>
          <a:p>
            <a:r>
              <a:rPr lang="en-GB" sz="1700"/>
              <a:t>In this model, the </a:t>
            </a:r>
            <a:r>
              <a:rPr lang="en-GB" sz="1700" b="1"/>
              <a:t>client</a:t>
            </a:r>
            <a:r>
              <a:rPr lang="en-GB" sz="1700"/>
              <a:t> initiates requests (like fetching data or performing an action), while the </a:t>
            </a:r>
            <a:r>
              <a:rPr lang="en-GB" sz="1700" b="1"/>
              <a:t>server</a:t>
            </a:r>
            <a:r>
              <a:rPr lang="en-GB" sz="1700"/>
              <a:t> handles those requests, manages resources, and responds accordingly, often serving multiple clients at the</a:t>
            </a:r>
          </a:p>
          <a:p>
            <a:r>
              <a:rPr lang="en-GB" sz="1700"/>
              <a:t> same time.</a:t>
            </a:r>
          </a:p>
        </p:txBody>
      </p:sp>
      <p:pic>
        <p:nvPicPr>
          <p:cNvPr id="11266" name="Picture 2">
            <a:extLst>
              <a:ext uri="{FF2B5EF4-FFF2-40B4-BE49-F238E27FC236}">
                <a16:creationId xmlns:a16="http://schemas.microsoft.com/office/drawing/2014/main" id="{D39234BA-64E5-27C8-CE82-84E85BA91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6457" b="1"/>
          <a:stretch>
            <a:fillRect/>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11286" name="Rectangle 1128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1759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6E8BC-E584-F026-6682-0D0222CF24B8}"/>
              </a:ext>
            </a:extLst>
          </p:cNvPr>
          <p:cNvSpPr>
            <a:spLocks noGrp="1"/>
          </p:cNvSpPr>
          <p:nvPr>
            <p:ph type="title"/>
          </p:nvPr>
        </p:nvSpPr>
        <p:spPr/>
        <p:txBody>
          <a:bodyPr/>
          <a:lstStyle/>
          <a:p>
            <a:r>
              <a:rPr lang="en-GB" b="1" dirty="0"/>
              <a:t>Key Components:</a:t>
            </a:r>
            <a:br>
              <a:rPr lang="en-GB" b="1" dirty="0"/>
            </a:br>
            <a:endParaRPr lang="en-US" dirty="0"/>
          </a:p>
        </p:txBody>
      </p:sp>
      <p:sp>
        <p:nvSpPr>
          <p:cNvPr id="3" name="Content Placeholder 2">
            <a:extLst>
              <a:ext uri="{FF2B5EF4-FFF2-40B4-BE49-F238E27FC236}">
                <a16:creationId xmlns:a16="http://schemas.microsoft.com/office/drawing/2014/main" id="{313DFBCE-A956-30F3-3684-2DB5CDC568F7}"/>
              </a:ext>
            </a:extLst>
          </p:cNvPr>
          <p:cNvSpPr>
            <a:spLocks noGrp="1"/>
          </p:cNvSpPr>
          <p:nvPr>
            <p:ph idx="1"/>
          </p:nvPr>
        </p:nvSpPr>
        <p:spPr/>
        <p:txBody>
          <a:bodyPr/>
          <a:lstStyle/>
          <a:p>
            <a:r>
              <a:rPr lang="en-GB" b="1" dirty="0"/>
              <a:t>Client</a:t>
            </a:r>
            <a:r>
              <a:rPr lang="en-GB" dirty="0"/>
              <a:t>: The client is typically a device or application that initiates a request to the server. This could be a web browser, a mobile app, or a desktop application.</a:t>
            </a:r>
          </a:p>
          <a:p>
            <a:r>
              <a:rPr lang="en-GB" b="1" dirty="0"/>
              <a:t>Server</a:t>
            </a:r>
            <a:r>
              <a:rPr lang="en-GB" dirty="0"/>
              <a:t>: The server is a powerful computer or software application that processes requests from clients, manages resources, and delivers the requested services or data.</a:t>
            </a:r>
          </a:p>
          <a:p>
            <a:r>
              <a:rPr lang="en-GB" b="1" dirty="0"/>
              <a:t>Network</a:t>
            </a:r>
            <a:r>
              <a:rPr lang="en-GB" dirty="0"/>
              <a:t>: The communication medium (usually the internet) that allows clients and servers to exchange data.</a:t>
            </a:r>
          </a:p>
          <a:p>
            <a:pPr marL="0" indent="0">
              <a:buNone/>
            </a:pPr>
            <a:br>
              <a:rPr lang="en-GB" dirty="0"/>
            </a:br>
            <a:endParaRPr lang="en-GB" dirty="0"/>
          </a:p>
          <a:p>
            <a:endParaRPr lang="en-US" dirty="0"/>
          </a:p>
        </p:txBody>
      </p:sp>
    </p:spTree>
    <p:extLst>
      <p:ext uri="{BB962C8B-B14F-4D97-AF65-F5344CB8AC3E}">
        <p14:creationId xmlns:p14="http://schemas.microsoft.com/office/powerpoint/2010/main" val="4257316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3A0F-3FE9-41B2-0F1E-07734BBE1451}"/>
              </a:ext>
            </a:extLst>
          </p:cNvPr>
          <p:cNvSpPr>
            <a:spLocks noGrp="1"/>
          </p:cNvSpPr>
          <p:nvPr>
            <p:ph type="title"/>
          </p:nvPr>
        </p:nvSpPr>
        <p:spPr/>
        <p:txBody>
          <a:bodyPr/>
          <a:lstStyle/>
          <a:p>
            <a:r>
              <a:rPr lang="en-GB" b="1" dirty="0"/>
              <a:t>Visiting a Website</a:t>
            </a:r>
            <a:br>
              <a:rPr lang="en-GB" dirty="0"/>
            </a:br>
            <a:endParaRPr lang="en-US" dirty="0"/>
          </a:p>
        </p:txBody>
      </p:sp>
      <p:sp>
        <p:nvSpPr>
          <p:cNvPr id="3" name="Content Placeholder 2">
            <a:extLst>
              <a:ext uri="{FF2B5EF4-FFF2-40B4-BE49-F238E27FC236}">
                <a16:creationId xmlns:a16="http://schemas.microsoft.com/office/drawing/2014/main" id="{6B97DE5A-F629-C4CF-100E-2112579532D0}"/>
              </a:ext>
            </a:extLst>
          </p:cNvPr>
          <p:cNvSpPr>
            <a:spLocks noGrp="1"/>
          </p:cNvSpPr>
          <p:nvPr>
            <p:ph idx="1"/>
          </p:nvPr>
        </p:nvSpPr>
        <p:spPr/>
        <p:txBody>
          <a:bodyPr/>
          <a:lstStyle/>
          <a:p>
            <a:r>
              <a:rPr lang="en-GB" dirty="0"/>
              <a:t>Let’s say you type </a:t>
            </a:r>
            <a:r>
              <a:rPr lang="en-GB" dirty="0" err="1"/>
              <a:t>algomaster.io</a:t>
            </a:r>
            <a:r>
              <a:rPr lang="en-GB" dirty="0"/>
              <a:t> in your browser:</a:t>
            </a:r>
          </a:p>
          <a:p>
            <a:r>
              <a:rPr lang="en-GB" b="1" dirty="0"/>
              <a:t>Client →</a:t>
            </a:r>
            <a:r>
              <a:rPr lang="en-GB" dirty="0"/>
              <a:t> Browser sends a request to </a:t>
            </a:r>
            <a:r>
              <a:rPr lang="en-GB" dirty="0" err="1"/>
              <a:t>algomaster.io's</a:t>
            </a:r>
            <a:r>
              <a:rPr lang="en-GB" dirty="0"/>
              <a:t> web server over HTTP/HTTPS.</a:t>
            </a:r>
          </a:p>
          <a:p>
            <a:r>
              <a:rPr lang="en-GB" b="1" dirty="0"/>
              <a:t>Server →</a:t>
            </a:r>
            <a:r>
              <a:rPr lang="en-GB" dirty="0"/>
              <a:t> Finds the HTML, CSS, and JS files and sends them back.</a:t>
            </a:r>
          </a:p>
          <a:p>
            <a:r>
              <a:rPr lang="en-GB" b="1" dirty="0"/>
              <a:t>Client →</a:t>
            </a:r>
            <a:r>
              <a:rPr lang="en-GB" dirty="0"/>
              <a:t> Browser displays the page based on those files.</a:t>
            </a:r>
          </a:p>
          <a:p>
            <a:endParaRPr lang="en-US" dirty="0"/>
          </a:p>
        </p:txBody>
      </p:sp>
    </p:spTree>
    <p:extLst>
      <p:ext uri="{BB962C8B-B14F-4D97-AF65-F5344CB8AC3E}">
        <p14:creationId xmlns:p14="http://schemas.microsoft.com/office/powerpoint/2010/main" val="2321939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4E5E4-587A-652D-74CE-B0D18B773555}"/>
              </a:ext>
            </a:extLst>
          </p:cNvPr>
          <p:cNvSpPr>
            <a:spLocks noGrp="1"/>
          </p:cNvSpPr>
          <p:nvPr>
            <p:ph type="title"/>
          </p:nvPr>
        </p:nvSpPr>
        <p:spPr/>
        <p:txBody>
          <a:bodyPr/>
          <a:lstStyle/>
          <a:p>
            <a:r>
              <a:rPr lang="en-GB" b="1" dirty="0"/>
              <a:t>How Client-Server Architecture Works</a:t>
            </a:r>
            <a:br>
              <a:rPr lang="en-GB" b="1" dirty="0"/>
            </a:br>
            <a:endParaRPr lang="en-US" dirty="0"/>
          </a:p>
        </p:txBody>
      </p:sp>
      <p:sp>
        <p:nvSpPr>
          <p:cNvPr id="3" name="Content Placeholder 2">
            <a:extLst>
              <a:ext uri="{FF2B5EF4-FFF2-40B4-BE49-F238E27FC236}">
                <a16:creationId xmlns:a16="http://schemas.microsoft.com/office/drawing/2014/main" id="{5405034B-D878-E69F-8A65-F2BEA671330E}"/>
              </a:ext>
            </a:extLst>
          </p:cNvPr>
          <p:cNvSpPr>
            <a:spLocks noGrp="1"/>
          </p:cNvSpPr>
          <p:nvPr>
            <p:ph idx="1"/>
          </p:nvPr>
        </p:nvSpPr>
        <p:spPr/>
        <p:txBody>
          <a:bodyPr>
            <a:normAutofit fontScale="70000" lnSpcReduction="20000"/>
          </a:bodyPr>
          <a:lstStyle/>
          <a:p>
            <a:pPr marL="514350" indent="-514350">
              <a:buFont typeface="+mj-lt"/>
              <a:buAutoNum type="arabicPeriod"/>
            </a:pPr>
            <a:r>
              <a:rPr lang="en-GB" b="1" dirty="0"/>
              <a:t>The Client Initiates a Request: </a:t>
            </a:r>
            <a:r>
              <a:rPr lang="en-GB" dirty="0"/>
              <a:t>You (the client) perform an action like clicking a link, pressing “Send” on an email, or opening an app. That action triggers a </a:t>
            </a:r>
            <a:r>
              <a:rPr lang="en-GB" b="1" dirty="0"/>
              <a:t>request</a:t>
            </a:r>
            <a:r>
              <a:rPr lang="en-GB" dirty="0"/>
              <a:t> to a server.</a:t>
            </a:r>
          </a:p>
          <a:p>
            <a:pPr marL="514350" indent="-514350">
              <a:buFont typeface="+mj-lt"/>
              <a:buAutoNum type="arabicPeriod"/>
            </a:pPr>
            <a:r>
              <a:rPr lang="en-GB" b="1" dirty="0"/>
              <a:t>The Request Travels Over the Network: </a:t>
            </a:r>
            <a:r>
              <a:rPr lang="en-GB" dirty="0"/>
              <a:t>This request usually in the form of an HTTP message is sent over the internet to a server’s IP address. Think of it like mailing a letter to a specific address.</a:t>
            </a:r>
          </a:p>
          <a:p>
            <a:pPr marL="514350" indent="-514350">
              <a:buFont typeface="+mj-lt"/>
              <a:buAutoNum type="arabicPeriod"/>
            </a:pPr>
            <a:r>
              <a:rPr lang="en-GB" b="1" dirty="0"/>
              <a:t>The Server Receives and Processes the Request: </a:t>
            </a:r>
            <a:r>
              <a:rPr lang="en-GB" dirty="0"/>
              <a:t>The server listens on a specific port and handles incoming requests. It processes the data, runs logic, queries a database if needed, and prepares a response.</a:t>
            </a:r>
          </a:p>
          <a:p>
            <a:pPr marL="514350" indent="-514350">
              <a:buFont typeface="+mj-lt"/>
              <a:buAutoNum type="arabicPeriod"/>
            </a:pPr>
            <a:r>
              <a:rPr lang="en-GB" b="1" dirty="0"/>
              <a:t>The Server Sends Back a Response: </a:t>
            </a:r>
            <a:r>
              <a:rPr lang="en-GB" dirty="0"/>
              <a:t>Once processing is done, the server sends the result back. This could be:</a:t>
            </a:r>
          </a:p>
          <a:p>
            <a:pPr lvl="1">
              <a:buFont typeface="Courier New" panose="02070309020205020404" pitchFamily="49" charset="0"/>
              <a:buChar char="o"/>
            </a:pPr>
            <a:r>
              <a:rPr lang="en-GB" dirty="0"/>
              <a:t>A webpage</a:t>
            </a:r>
          </a:p>
          <a:p>
            <a:pPr lvl="1">
              <a:buFont typeface="Courier New" panose="02070309020205020404" pitchFamily="49" charset="0"/>
              <a:buChar char="o"/>
            </a:pPr>
            <a:r>
              <a:rPr lang="en-GB" dirty="0"/>
              <a:t>Search results</a:t>
            </a:r>
          </a:p>
          <a:p>
            <a:pPr lvl="1">
              <a:buFont typeface="Courier New" panose="02070309020205020404" pitchFamily="49" charset="0"/>
              <a:buChar char="o"/>
            </a:pPr>
            <a:r>
              <a:rPr lang="en-GB" dirty="0"/>
              <a:t>A confirmation message</a:t>
            </a:r>
          </a:p>
          <a:p>
            <a:pPr lvl="1">
              <a:buFont typeface="Courier New" panose="02070309020205020404" pitchFamily="49" charset="0"/>
              <a:buChar char="o"/>
            </a:pPr>
            <a:r>
              <a:rPr lang="en-GB" dirty="0"/>
              <a:t>JSON data for a mobile app</a:t>
            </a:r>
          </a:p>
          <a:p>
            <a:pPr marL="514350" indent="-514350">
              <a:buFont typeface="+mj-lt"/>
              <a:buAutoNum type="arabicPeriod"/>
            </a:pPr>
            <a:r>
              <a:rPr lang="en-GB" b="1" dirty="0"/>
              <a:t>The Client Displays the Response: </a:t>
            </a:r>
            <a:r>
              <a:rPr lang="en-GB" dirty="0"/>
              <a:t>The client receives the response and renders it on screen. What you see in your browser or app is the result of this back-and-forth.</a:t>
            </a:r>
          </a:p>
          <a:p>
            <a:endParaRPr lang="en-US" dirty="0"/>
          </a:p>
        </p:txBody>
      </p:sp>
    </p:spTree>
    <p:extLst>
      <p:ext uri="{BB962C8B-B14F-4D97-AF65-F5344CB8AC3E}">
        <p14:creationId xmlns:p14="http://schemas.microsoft.com/office/powerpoint/2010/main" val="3742573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10C74A-767A-F855-A974-56E5D084BDC1}"/>
              </a:ext>
            </a:extLst>
          </p:cNvPr>
          <p:cNvSpPr>
            <a:spLocks noGrp="1"/>
          </p:cNvSpPr>
          <p:nvPr>
            <p:ph type="title"/>
          </p:nvPr>
        </p:nvSpPr>
        <p:spPr>
          <a:xfrm>
            <a:off x="808638" y="386930"/>
            <a:ext cx="9236700" cy="1188950"/>
          </a:xfrm>
        </p:spPr>
        <p:txBody>
          <a:bodyPr anchor="b">
            <a:normAutofit/>
          </a:bodyPr>
          <a:lstStyle/>
          <a:p>
            <a:r>
              <a:rPr lang="en-GB" sz="3800" b="1"/>
              <a:t>Key Technologies Involved</a:t>
            </a:r>
            <a:br>
              <a:rPr lang="en-GB" sz="3800" b="1"/>
            </a:br>
            <a:endParaRPr lang="en-US" sz="38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0ECC1F-E4DF-E004-35C4-B46E1971FE14}"/>
              </a:ext>
            </a:extLst>
          </p:cNvPr>
          <p:cNvSpPr>
            <a:spLocks noGrp="1"/>
          </p:cNvSpPr>
          <p:nvPr>
            <p:ph idx="1"/>
          </p:nvPr>
        </p:nvSpPr>
        <p:spPr>
          <a:xfrm>
            <a:off x="793660" y="2599509"/>
            <a:ext cx="10143668" cy="3435531"/>
          </a:xfrm>
        </p:spPr>
        <p:txBody>
          <a:bodyPr anchor="ctr">
            <a:normAutofit/>
          </a:bodyPr>
          <a:lstStyle/>
          <a:p>
            <a:r>
              <a:rPr lang="en-GB" sz="2200"/>
              <a:t>Here are some of the technologies that enable this communication:</a:t>
            </a:r>
          </a:p>
          <a:p>
            <a:r>
              <a:rPr lang="en-GB" sz="2200" b="1"/>
              <a:t>HTTP/HTTPS</a:t>
            </a:r>
            <a:r>
              <a:rPr lang="en-GB" sz="2200"/>
              <a:t>: The most common protocol used by browsers and web servers for communication.</a:t>
            </a:r>
          </a:p>
          <a:p>
            <a:r>
              <a:rPr lang="en-GB" sz="2200" b="1"/>
              <a:t>DNS (Domain Name System)</a:t>
            </a:r>
            <a:r>
              <a:rPr lang="en-GB" sz="2200"/>
              <a:t>: Translates human-friendly domain names (like algomaster.io) into server IP addresses.</a:t>
            </a:r>
          </a:p>
          <a:p>
            <a:r>
              <a:rPr lang="en-GB" sz="2200" b="1"/>
              <a:t>TCP/IP</a:t>
            </a:r>
            <a:r>
              <a:rPr lang="en-GB" sz="2200"/>
              <a:t>: The underlying protocol that ensures data packets are delivered reliably between client and server.</a:t>
            </a:r>
          </a:p>
          <a:p>
            <a:r>
              <a:rPr lang="en-GB" sz="2200" b="1"/>
              <a:t>Ports</a:t>
            </a:r>
            <a:r>
              <a:rPr lang="en-GB" sz="2200"/>
              <a:t>: Servers listen on specific ports (like 80 for HTTP or 443 for HTTPS) to accept requests.</a:t>
            </a:r>
          </a:p>
          <a:p>
            <a:endParaRPr lang="en-US" sz="2200"/>
          </a:p>
        </p:txBody>
      </p:sp>
    </p:spTree>
    <p:extLst>
      <p:ext uri="{BB962C8B-B14F-4D97-AF65-F5344CB8AC3E}">
        <p14:creationId xmlns:p14="http://schemas.microsoft.com/office/powerpoint/2010/main" val="2470704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4377B-43FE-8A80-B0A4-B95099DD46EB}"/>
              </a:ext>
            </a:extLst>
          </p:cNvPr>
          <p:cNvSpPr>
            <a:spLocks noGrp="1"/>
          </p:cNvSpPr>
          <p:nvPr>
            <p:ph type="title"/>
          </p:nvPr>
        </p:nvSpPr>
        <p:spPr>
          <a:xfrm>
            <a:off x="808638" y="386930"/>
            <a:ext cx="9236700" cy="1188950"/>
          </a:xfrm>
        </p:spPr>
        <p:txBody>
          <a:bodyPr anchor="b">
            <a:normAutofit/>
          </a:bodyPr>
          <a:lstStyle/>
          <a:p>
            <a:r>
              <a:rPr lang="en-GB" sz="4600" b="1"/>
              <a:t>Types of Client-Server Architectures</a:t>
            </a:r>
            <a:endParaRPr lang="en-US" sz="46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BBC018-F282-BBBF-B23E-3EB53EB04638}"/>
              </a:ext>
            </a:extLst>
          </p:cNvPr>
          <p:cNvSpPr>
            <a:spLocks noGrp="1"/>
          </p:cNvSpPr>
          <p:nvPr>
            <p:ph idx="1"/>
          </p:nvPr>
        </p:nvSpPr>
        <p:spPr>
          <a:xfrm>
            <a:off x="793660" y="2599509"/>
            <a:ext cx="10143668" cy="3435531"/>
          </a:xfrm>
        </p:spPr>
        <p:txBody>
          <a:bodyPr anchor="ctr">
            <a:normAutofit/>
          </a:bodyPr>
          <a:lstStyle/>
          <a:p>
            <a:pPr marL="0" indent="0">
              <a:buNone/>
            </a:pPr>
            <a:br>
              <a:rPr lang="en-GB" sz="2400"/>
            </a:br>
            <a:r>
              <a:rPr lang="en-GB" sz="2400"/>
              <a:t>Client-server systems can vary significantly in complexity based on how many layers (or "tiers") are involved in processing and delivering data.</a:t>
            </a:r>
          </a:p>
          <a:p>
            <a:r>
              <a:rPr lang="en-GB" sz="2400"/>
              <a:t>Let’s explore the most common models from the simplest one-tier setup to sophisticated, multi-tiered architectures used in large-scale applications.</a:t>
            </a:r>
          </a:p>
          <a:p>
            <a:endParaRPr lang="en-US" sz="2400"/>
          </a:p>
        </p:txBody>
      </p:sp>
    </p:spTree>
    <p:extLst>
      <p:ext uri="{BB962C8B-B14F-4D97-AF65-F5344CB8AC3E}">
        <p14:creationId xmlns:p14="http://schemas.microsoft.com/office/powerpoint/2010/main" val="3673599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A01B-C61C-0B3F-5FA0-A5E2BB0C5321}"/>
              </a:ext>
            </a:extLst>
          </p:cNvPr>
          <p:cNvSpPr>
            <a:spLocks noGrp="1"/>
          </p:cNvSpPr>
          <p:nvPr>
            <p:ph type="title"/>
          </p:nvPr>
        </p:nvSpPr>
        <p:spPr/>
        <p:txBody>
          <a:bodyPr/>
          <a:lstStyle/>
          <a:p>
            <a:r>
              <a:rPr lang="en-GB" b="1" dirty="0"/>
              <a:t>1-Tier Architecture (Monolithic Model)</a:t>
            </a:r>
            <a:br>
              <a:rPr lang="en-GB" b="1" dirty="0"/>
            </a:br>
            <a:endParaRPr lang="en-US" dirty="0"/>
          </a:p>
        </p:txBody>
      </p:sp>
      <p:sp>
        <p:nvSpPr>
          <p:cNvPr id="3" name="Content Placeholder 2">
            <a:extLst>
              <a:ext uri="{FF2B5EF4-FFF2-40B4-BE49-F238E27FC236}">
                <a16:creationId xmlns:a16="http://schemas.microsoft.com/office/drawing/2014/main" id="{7D6A5139-C08E-8839-487E-1BA39B67E93D}"/>
              </a:ext>
            </a:extLst>
          </p:cNvPr>
          <p:cNvSpPr>
            <a:spLocks noGrp="1"/>
          </p:cNvSpPr>
          <p:nvPr>
            <p:ph idx="1"/>
          </p:nvPr>
        </p:nvSpPr>
        <p:spPr/>
        <p:txBody>
          <a:bodyPr>
            <a:normAutofit fontScale="62500" lnSpcReduction="20000"/>
          </a:bodyPr>
          <a:lstStyle/>
          <a:p>
            <a:pPr marL="0" indent="0">
              <a:buNone/>
            </a:pPr>
            <a:r>
              <a:rPr lang="en-GB" dirty="0"/>
              <a:t>In </a:t>
            </a:r>
            <a:r>
              <a:rPr lang="en-GB" b="1" dirty="0"/>
              <a:t>1-tier architecture</a:t>
            </a:r>
            <a:r>
              <a:rPr lang="en-GB" dirty="0"/>
              <a:t>, everything—the user interface, business logic, and data storage—resides in a </a:t>
            </a:r>
            <a:r>
              <a:rPr lang="en-GB" b="1" dirty="0"/>
              <a:t>single layer</a:t>
            </a:r>
            <a:r>
              <a:rPr lang="en-GB" dirty="0"/>
              <a:t>. All operations are handled on the </a:t>
            </a:r>
            <a:r>
              <a:rPr lang="en-GB" b="1" dirty="0"/>
              <a:t>same machine</a:t>
            </a:r>
            <a:r>
              <a:rPr lang="en-GB" dirty="0"/>
              <a:t> or within the same application.</a:t>
            </a:r>
          </a:p>
          <a:p>
            <a:pPr marL="0" indent="0">
              <a:buNone/>
            </a:pPr>
            <a:r>
              <a:rPr lang="en-GB" b="1" dirty="0"/>
              <a:t>Example Use Cases:</a:t>
            </a:r>
          </a:p>
          <a:p>
            <a:r>
              <a:rPr lang="en-GB" dirty="0"/>
              <a:t>Microsoft Excel</a:t>
            </a:r>
          </a:p>
          <a:p>
            <a:r>
              <a:rPr lang="en-GB" dirty="0"/>
              <a:t>Personal finance tools that store and compute everything locally</a:t>
            </a:r>
          </a:p>
          <a:p>
            <a:pPr marL="0" indent="0">
              <a:buNone/>
            </a:pPr>
            <a:r>
              <a:rPr lang="en-GB" b="1" dirty="0"/>
              <a:t>    Pros:</a:t>
            </a:r>
          </a:p>
          <a:p>
            <a:r>
              <a:rPr lang="en-GB" dirty="0"/>
              <a:t>Simple to build and deploy</a:t>
            </a:r>
          </a:p>
          <a:p>
            <a:r>
              <a:rPr lang="en-GB" dirty="0"/>
              <a:t>No network communication overhead</a:t>
            </a:r>
          </a:p>
          <a:p>
            <a:pPr marL="0" indent="0">
              <a:buNone/>
            </a:pPr>
            <a:r>
              <a:rPr lang="en-GB" b="1" dirty="0"/>
              <a:t>    Cons:</a:t>
            </a:r>
          </a:p>
          <a:p>
            <a:r>
              <a:rPr lang="en-GB" dirty="0"/>
              <a:t>Not scalable</a:t>
            </a:r>
          </a:p>
          <a:p>
            <a:r>
              <a:rPr lang="en-GB" dirty="0"/>
              <a:t>No separation of concerns</a:t>
            </a:r>
          </a:p>
          <a:p>
            <a:r>
              <a:rPr lang="en-GB" dirty="0"/>
              <a:t>Unsuitable for multi-user environments</a:t>
            </a:r>
          </a:p>
          <a:p>
            <a:pPr marL="0" indent="0">
              <a:buNone/>
            </a:pPr>
            <a:r>
              <a:rPr lang="en-GB" i="1" dirty="0"/>
              <a:t>Best suited for small, standalone, offline applications</a:t>
            </a:r>
            <a:r>
              <a:rPr lang="en-GB" dirty="0"/>
              <a:t>.</a:t>
            </a:r>
            <a:endParaRPr lang="en-US" dirty="0"/>
          </a:p>
        </p:txBody>
      </p:sp>
    </p:spTree>
    <p:extLst>
      <p:ext uri="{BB962C8B-B14F-4D97-AF65-F5344CB8AC3E}">
        <p14:creationId xmlns:p14="http://schemas.microsoft.com/office/powerpoint/2010/main" val="1248095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1" name="Rectangle 12300">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3" name="Freeform: Shape 12302">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AF86FA-80E6-8BF3-CB3C-91AF2377B3EC}"/>
              </a:ext>
            </a:extLst>
          </p:cNvPr>
          <p:cNvSpPr>
            <a:spLocks noGrp="1"/>
          </p:cNvSpPr>
          <p:nvPr>
            <p:ph type="title"/>
          </p:nvPr>
        </p:nvSpPr>
        <p:spPr>
          <a:xfrm>
            <a:off x="838199" y="1068891"/>
            <a:ext cx="4259731" cy="1985085"/>
          </a:xfrm>
        </p:spPr>
        <p:txBody>
          <a:bodyPr anchor="b">
            <a:normAutofit/>
          </a:bodyPr>
          <a:lstStyle/>
          <a:p>
            <a:pPr algn="ctr"/>
            <a:r>
              <a:rPr lang="en-GB" b="1" dirty="0"/>
              <a:t>2-Tier Architecture</a:t>
            </a:r>
            <a:endParaRPr lang="en-US"/>
          </a:p>
        </p:txBody>
      </p:sp>
      <p:sp>
        <p:nvSpPr>
          <p:cNvPr id="12305" name="Freeform: Shape 12304">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2296" name="Picture 8" descr="A black arrow pointing to a black line&#10;&#10;AI-generated content may be incorrect.">
            <a:extLst>
              <a:ext uri="{FF2B5EF4-FFF2-40B4-BE49-F238E27FC236}">
                <a16:creationId xmlns:a16="http://schemas.microsoft.com/office/drawing/2014/main" id="{ECDD70CA-B726-AD26-A246-F1B0920D8FF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49617" y="4138231"/>
            <a:ext cx="3836894" cy="1285359"/>
          </a:xfrm>
          <a:prstGeom prst="rect">
            <a:avLst/>
          </a:prstGeom>
          <a:noFill/>
          <a:extLst>
            <a:ext uri="{909E8E84-426E-40DD-AFC4-6F175D3DCCD1}">
              <a14:hiddenFill xmlns:a14="http://schemas.microsoft.com/office/drawing/2010/main">
                <a:solidFill>
                  <a:srgbClr val="FFFFFF"/>
                </a:solidFill>
              </a14:hiddenFill>
            </a:ext>
          </a:extLst>
        </p:spPr>
      </p:pic>
      <p:sp>
        <p:nvSpPr>
          <p:cNvPr id="12307"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FC9750-A5A2-09EB-03F4-42B612856537}"/>
              </a:ext>
            </a:extLst>
          </p:cNvPr>
          <p:cNvSpPr>
            <a:spLocks noGrp="1"/>
          </p:cNvSpPr>
          <p:nvPr>
            <p:ph idx="1"/>
          </p:nvPr>
        </p:nvSpPr>
        <p:spPr>
          <a:xfrm>
            <a:off x="5844747" y="374037"/>
            <a:ext cx="6042452" cy="6048350"/>
          </a:xfrm>
        </p:spPr>
        <p:txBody>
          <a:bodyPr anchor="ctr">
            <a:normAutofit fontScale="92500" lnSpcReduction="10000"/>
          </a:bodyPr>
          <a:lstStyle/>
          <a:p>
            <a:pPr marL="0" indent="0">
              <a:buNone/>
            </a:pPr>
            <a:r>
              <a:rPr lang="en-GB" sz="1800" dirty="0"/>
              <a:t>In a </a:t>
            </a:r>
            <a:r>
              <a:rPr lang="en-GB" sz="1800" b="1" dirty="0"/>
              <a:t>2-tier architecture</a:t>
            </a:r>
            <a:r>
              <a:rPr lang="en-GB" sz="1800" dirty="0"/>
              <a:t>, the system is split into two parts:</a:t>
            </a:r>
          </a:p>
          <a:p>
            <a:r>
              <a:rPr lang="en-GB" sz="1800" dirty="0"/>
              <a:t>The </a:t>
            </a:r>
            <a:r>
              <a:rPr lang="en-GB" sz="1800" b="1" dirty="0"/>
              <a:t>client</a:t>
            </a:r>
            <a:r>
              <a:rPr lang="en-GB" sz="1800" dirty="0"/>
              <a:t>, which handles the </a:t>
            </a:r>
            <a:r>
              <a:rPr lang="en-GB" sz="1800" b="1" dirty="0"/>
              <a:t>presentation layer</a:t>
            </a:r>
            <a:r>
              <a:rPr lang="en-GB" sz="1800" dirty="0"/>
              <a:t> (UI)</a:t>
            </a:r>
          </a:p>
          <a:p>
            <a:r>
              <a:rPr lang="en-GB" sz="1800" dirty="0"/>
              <a:t>The </a:t>
            </a:r>
            <a:r>
              <a:rPr lang="en-GB" sz="1800" b="1" dirty="0"/>
              <a:t>server</a:t>
            </a:r>
            <a:r>
              <a:rPr lang="en-GB" sz="1800" dirty="0"/>
              <a:t>, which handles both the </a:t>
            </a:r>
            <a:r>
              <a:rPr lang="en-GB" sz="1800" b="1" dirty="0"/>
              <a:t>business logic</a:t>
            </a:r>
            <a:r>
              <a:rPr lang="en-GB" sz="1800" dirty="0"/>
              <a:t> and </a:t>
            </a:r>
            <a:r>
              <a:rPr lang="en-GB" sz="1800" b="1" dirty="0"/>
              <a:t>data storage</a:t>
            </a:r>
            <a:endParaRPr lang="en-GB" sz="1800" dirty="0"/>
          </a:p>
          <a:p>
            <a:pPr marL="0" indent="0">
              <a:buNone/>
            </a:pPr>
            <a:r>
              <a:rPr lang="en-GB" sz="1800" dirty="0"/>
              <a:t>In a two-tier architecture, the client directly communicates with the server to send requests and receive responses. The server runs the logic and interacts with the database to return results.</a:t>
            </a:r>
          </a:p>
          <a:p>
            <a:pPr marL="0" indent="0">
              <a:buNone/>
            </a:pPr>
            <a:r>
              <a:rPr lang="en-GB" sz="1800" b="1" dirty="0"/>
              <a:t>Example Use Case:</a:t>
            </a:r>
          </a:p>
          <a:p>
            <a:r>
              <a:rPr lang="en-GB" sz="1800" dirty="0"/>
              <a:t>A </a:t>
            </a:r>
            <a:r>
              <a:rPr lang="en-GB" sz="1800" b="1" dirty="0"/>
              <a:t>desktop application</a:t>
            </a:r>
            <a:r>
              <a:rPr lang="en-GB" sz="1800" dirty="0"/>
              <a:t> that connects directly to a central database to retrieve and display data.</a:t>
            </a:r>
          </a:p>
          <a:p>
            <a:pPr marL="0" indent="0">
              <a:buNone/>
            </a:pPr>
            <a:r>
              <a:rPr lang="en-GB" sz="1800" b="1" dirty="0"/>
              <a:t>Pros:</a:t>
            </a:r>
          </a:p>
          <a:p>
            <a:r>
              <a:rPr lang="en-GB" sz="1800" dirty="0"/>
              <a:t>Simple and fast for a small number of users</a:t>
            </a:r>
          </a:p>
          <a:p>
            <a:r>
              <a:rPr lang="en-GB" sz="1800" dirty="0"/>
              <a:t>Easy to implement</a:t>
            </a:r>
          </a:p>
          <a:p>
            <a:pPr marL="0" indent="0">
              <a:buNone/>
            </a:pPr>
            <a:r>
              <a:rPr lang="en-GB" sz="1800" b="1" dirty="0"/>
              <a:t>Cons:</a:t>
            </a:r>
          </a:p>
          <a:p>
            <a:r>
              <a:rPr lang="en-GB" sz="1800" dirty="0"/>
              <a:t>Poor scalability as more clients are added</a:t>
            </a:r>
          </a:p>
          <a:p>
            <a:r>
              <a:rPr lang="en-GB" sz="1800" dirty="0"/>
              <a:t>Performance bottlenecks on the server</a:t>
            </a:r>
          </a:p>
          <a:p>
            <a:r>
              <a:rPr lang="en-GB" sz="1800" dirty="0"/>
              <a:t>Difficult to update logic across different clients</a:t>
            </a:r>
          </a:p>
          <a:p>
            <a:pPr marL="0" indent="0">
              <a:buNone/>
            </a:pPr>
            <a:r>
              <a:rPr lang="en-GB" sz="1700" i="1" dirty="0"/>
              <a:t>Suitable for internal tools or apps with a small user base and limited traffic</a:t>
            </a:r>
          </a:p>
          <a:p>
            <a:endParaRPr lang="en-US" sz="1400" dirty="0"/>
          </a:p>
        </p:txBody>
      </p:sp>
    </p:spTree>
    <p:extLst>
      <p:ext uri="{BB962C8B-B14F-4D97-AF65-F5344CB8AC3E}">
        <p14:creationId xmlns:p14="http://schemas.microsoft.com/office/powerpoint/2010/main" val="3216590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2065A-E56A-1A71-C4FD-BDCE7C88DF53}"/>
              </a:ext>
            </a:extLst>
          </p:cNvPr>
          <p:cNvSpPr>
            <a:spLocks noGrp="1"/>
          </p:cNvSpPr>
          <p:nvPr>
            <p:ph type="title"/>
          </p:nvPr>
        </p:nvSpPr>
        <p:spPr/>
        <p:txBody>
          <a:bodyPr/>
          <a:lstStyle/>
          <a:p>
            <a:r>
              <a:rPr lang="en-GB" b="1" dirty="0"/>
              <a:t>3-Tier Architecture</a:t>
            </a:r>
            <a:br>
              <a:rPr lang="en-GB" b="1" dirty="0"/>
            </a:br>
            <a:endParaRPr lang="en-US" dirty="0"/>
          </a:p>
        </p:txBody>
      </p:sp>
      <p:sp>
        <p:nvSpPr>
          <p:cNvPr id="3" name="Content Placeholder 2">
            <a:extLst>
              <a:ext uri="{FF2B5EF4-FFF2-40B4-BE49-F238E27FC236}">
                <a16:creationId xmlns:a16="http://schemas.microsoft.com/office/drawing/2014/main" id="{1A23E91E-30B2-55E4-AE46-864791EAC5F8}"/>
              </a:ext>
            </a:extLst>
          </p:cNvPr>
          <p:cNvSpPr>
            <a:spLocks noGrp="1"/>
          </p:cNvSpPr>
          <p:nvPr>
            <p:ph idx="1"/>
          </p:nvPr>
        </p:nvSpPr>
        <p:spPr/>
        <p:txBody>
          <a:bodyPr>
            <a:normAutofit fontScale="85000" lnSpcReduction="20000"/>
          </a:bodyPr>
          <a:lstStyle/>
          <a:p>
            <a:r>
              <a:rPr lang="en-GB" dirty="0"/>
              <a:t>The </a:t>
            </a:r>
            <a:r>
              <a:rPr lang="en-GB" b="1" dirty="0"/>
              <a:t>3-tier architecture</a:t>
            </a:r>
            <a:r>
              <a:rPr lang="en-GB" dirty="0"/>
              <a:t> introduces a dedicated </a:t>
            </a:r>
            <a:r>
              <a:rPr lang="en-GB" b="1" dirty="0"/>
              <a:t>Application Layer</a:t>
            </a:r>
            <a:r>
              <a:rPr lang="en-GB" dirty="0"/>
              <a:t> (also called the </a:t>
            </a:r>
            <a:r>
              <a:rPr lang="en-GB" b="1" dirty="0"/>
              <a:t>business logic layer</a:t>
            </a:r>
            <a:r>
              <a:rPr lang="en-GB" dirty="0"/>
              <a:t>) between the client and the data server.</a:t>
            </a:r>
          </a:p>
          <a:p>
            <a:r>
              <a:rPr lang="en-GB" dirty="0"/>
              <a:t>This creates a clear separation of concerns and is the most commonly used architecture for modern web and enterprise applications.</a:t>
            </a:r>
          </a:p>
          <a:p>
            <a:pPr marL="0" indent="0">
              <a:buNone/>
            </a:pPr>
            <a:r>
              <a:rPr lang="en-GB" b="1" dirty="0"/>
              <a:t>Pros:</a:t>
            </a:r>
          </a:p>
          <a:p>
            <a:r>
              <a:rPr lang="en-GB" dirty="0"/>
              <a:t>Better scalability and maintainability</a:t>
            </a:r>
          </a:p>
          <a:p>
            <a:r>
              <a:rPr lang="en-GB" dirty="0"/>
              <a:t>Logic is centralized, so clients are lightweight</a:t>
            </a:r>
          </a:p>
          <a:p>
            <a:r>
              <a:rPr lang="en-GB" dirty="0"/>
              <a:t>Improved security and abstraction</a:t>
            </a:r>
          </a:p>
          <a:p>
            <a:r>
              <a:rPr lang="en-GB" b="1" dirty="0"/>
              <a:t>Cons:</a:t>
            </a:r>
          </a:p>
          <a:p>
            <a:r>
              <a:rPr lang="en-GB" dirty="0"/>
              <a:t>More complex than 1- or 2-tier setups</a:t>
            </a:r>
          </a:p>
          <a:p>
            <a:r>
              <a:rPr lang="en-GB" dirty="0"/>
              <a:t>Slightly increased latency if layers aren't optimized</a:t>
            </a:r>
          </a:p>
          <a:p>
            <a:pPr marL="0" indent="0">
              <a:buNone/>
            </a:pPr>
            <a:r>
              <a:rPr lang="en-GB" i="1" dirty="0"/>
              <a:t>Ideal for web apps, SaaS products, and large internal tools.</a:t>
            </a:r>
          </a:p>
          <a:p>
            <a:pPr marL="0" indent="0">
              <a:buNone/>
            </a:pPr>
            <a:endParaRPr lang="en-US" dirty="0"/>
          </a:p>
        </p:txBody>
      </p:sp>
    </p:spTree>
    <p:extLst>
      <p:ext uri="{BB962C8B-B14F-4D97-AF65-F5344CB8AC3E}">
        <p14:creationId xmlns:p14="http://schemas.microsoft.com/office/powerpoint/2010/main" val="3860197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4615E42-3828-5A74-80BE-ACDD54F7CF29}"/>
              </a:ext>
            </a:extLst>
          </p:cNvPr>
          <p:cNvSpPr>
            <a:spLocks noGrp="1"/>
          </p:cNvSpPr>
          <p:nvPr>
            <p:ph type="title"/>
          </p:nvPr>
        </p:nvSpPr>
        <p:spPr>
          <a:xfrm>
            <a:off x="1137034" y="609597"/>
            <a:ext cx="9392421" cy="1330841"/>
          </a:xfrm>
        </p:spPr>
        <p:txBody>
          <a:bodyPr>
            <a:normAutofit/>
          </a:bodyPr>
          <a:lstStyle/>
          <a:p>
            <a:r>
              <a:rPr lang="en-GB" b="1"/>
              <a:t>3-Tier Architecture</a:t>
            </a:r>
            <a:endParaRPr lang="en-US" dirty="0"/>
          </a:p>
        </p:txBody>
      </p:sp>
      <p:sp>
        <p:nvSpPr>
          <p:cNvPr id="3" name="Content Placeholder 2">
            <a:extLst>
              <a:ext uri="{FF2B5EF4-FFF2-40B4-BE49-F238E27FC236}">
                <a16:creationId xmlns:a16="http://schemas.microsoft.com/office/drawing/2014/main" id="{E804724E-F7BB-466E-A113-143B7165B437}"/>
              </a:ext>
            </a:extLst>
          </p:cNvPr>
          <p:cNvSpPr>
            <a:spLocks noGrp="1"/>
          </p:cNvSpPr>
          <p:nvPr>
            <p:ph idx="1"/>
          </p:nvPr>
        </p:nvSpPr>
        <p:spPr>
          <a:xfrm>
            <a:off x="271849" y="2198362"/>
            <a:ext cx="5824151" cy="3354931"/>
          </a:xfrm>
        </p:spPr>
        <p:txBody>
          <a:bodyPr>
            <a:normAutofit/>
          </a:bodyPr>
          <a:lstStyle/>
          <a:p>
            <a:r>
              <a:rPr lang="en-GB" sz="2000" b="1" dirty="0"/>
              <a:t>Client (Presentation Layer)</a:t>
            </a:r>
            <a:r>
              <a:rPr lang="en-GB" sz="2000" dirty="0"/>
              <a:t>: The front-end interface users interact with (e.g., a browser or mobile app).</a:t>
            </a:r>
          </a:p>
          <a:p>
            <a:r>
              <a:rPr lang="en-GB" sz="2000" b="1" dirty="0"/>
              <a:t>Application Server (Logic Layer)</a:t>
            </a:r>
            <a:r>
              <a:rPr lang="en-GB" sz="2000" dirty="0"/>
              <a:t>: Processes client requests, applies business rules, and interacts with the database.</a:t>
            </a:r>
          </a:p>
          <a:p>
            <a:r>
              <a:rPr lang="en-GB" sz="2000" b="1" dirty="0"/>
              <a:t>Database Server (Data Layer)</a:t>
            </a:r>
            <a:r>
              <a:rPr lang="en-GB" sz="2000" dirty="0"/>
              <a:t>: Handles storage, retrieval, and management of data.</a:t>
            </a:r>
          </a:p>
          <a:p>
            <a:pPr marL="0" indent="0">
              <a:buNone/>
            </a:pPr>
            <a:endParaRPr lang="en-US" sz="2000" dirty="0"/>
          </a:p>
        </p:txBody>
      </p:sp>
      <p:pic>
        <p:nvPicPr>
          <p:cNvPr id="4" name="Picture 2">
            <a:extLst>
              <a:ext uri="{FF2B5EF4-FFF2-40B4-BE49-F238E27FC236}">
                <a16:creationId xmlns:a16="http://schemas.microsoft.com/office/drawing/2014/main" id="{56DD3F5A-1B24-BD3C-8F73-61DEA708EC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77671" y="2061836"/>
            <a:ext cx="4788505" cy="2980844"/>
          </a:xfrm>
          <a:prstGeom prst="rect">
            <a:avLst/>
          </a:prstGeom>
          <a:noFill/>
          <a:extLst>
            <a:ext uri="{909E8E84-426E-40DD-AFC4-6F175D3DCCD1}">
              <a14:hiddenFill xmlns:a14="http://schemas.microsoft.com/office/drawing/2010/main">
                <a:solidFill>
                  <a:srgbClr val="FFFFFF"/>
                </a:solidFill>
              </a14:hiddenFill>
            </a:ext>
          </a:extLst>
        </p:spPr>
      </p:pic>
      <p:sp>
        <p:nvSpPr>
          <p:cNvPr id="19"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68811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02D53-1791-C4F9-75A5-85AE21B43BA4}"/>
              </a:ext>
            </a:extLst>
          </p:cNvPr>
          <p:cNvSpPr>
            <a:spLocks noGrp="1"/>
          </p:cNvSpPr>
          <p:nvPr>
            <p:ph type="title"/>
          </p:nvPr>
        </p:nvSpPr>
        <p:spPr/>
        <p:txBody>
          <a:bodyPr/>
          <a:lstStyle/>
          <a:p>
            <a:r>
              <a:rPr lang="en-GB" b="1" dirty="0"/>
              <a:t>N-Tier Architecture</a:t>
            </a:r>
            <a:br>
              <a:rPr lang="en-GB" b="1" dirty="0"/>
            </a:br>
            <a:endParaRPr lang="en-US" dirty="0"/>
          </a:p>
        </p:txBody>
      </p:sp>
      <p:sp>
        <p:nvSpPr>
          <p:cNvPr id="3" name="Content Placeholder 2">
            <a:extLst>
              <a:ext uri="{FF2B5EF4-FFF2-40B4-BE49-F238E27FC236}">
                <a16:creationId xmlns:a16="http://schemas.microsoft.com/office/drawing/2014/main" id="{4C1C5600-B332-3E53-9BFA-0A7FB473963A}"/>
              </a:ext>
            </a:extLst>
          </p:cNvPr>
          <p:cNvSpPr>
            <a:spLocks noGrp="1"/>
          </p:cNvSpPr>
          <p:nvPr>
            <p:ph idx="1"/>
          </p:nvPr>
        </p:nvSpPr>
        <p:spPr/>
        <p:txBody>
          <a:bodyPr>
            <a:normAutofit fontScale="70000" lnSpcReduction="20000"/>
          </a:bodyPr>
          <a:lstStyle/>
          <a:p>
            <a:r>
              <a:rPr lang="en-GB" b="1" dirty="0"/>
              <a:t>N-tier architecture</a:t>
            </a:r>
            <a:r>
              <a:rPr lang="en-GB" dirty="0"/>
              <a:t> builds on the 3-tier model by adding </a:t>
            </a:r>
            <a:r>
              <a:rPr lang="en-GB" b="1" dirty="0"/>
              <a:t>specialized layers</a:t>
            </a:r>
            <a:r>
              <a:rPr lang="en-GB" dirty="0"/>
              <a:t> for specific responsibilities such as caching, load balancing, authentication, analytics, or API gateways.</a:t>
            </a:r>
          </a:p>
          <a:p>
            <a:r>
              <a:rPr lang="en-GB" dirty="0"/>
              <a:t>Each layer focuses on one concern and communicates only with adjacent layers, enabling </a:t>
            </a:r>
            <a:r>
              <a:rPr lang="en-GB" b="1" dirty="0"/>
              <a:t>high modularity and scalability</a:t>
            </a:r>
            <a:endParaRPr lang="en-GB" dirty="0"/>
          </a:p>
          <a:p>
            <a:pPr marL="0" indent="0">
              <a:buNone/>
            </a:pPr>
            <a:r>
              <a:rPr lang="en-GB" b="1" dirty="0"/>
              <a:t>Pros:</a:t>
            </a:r>
          </a:p>
          <a:p>
            <a:r>
              <a:rPr lang="en-GB" dirty="0"/>
              <a:t>Highly scalable and fault-tolerant</a:t>
            </a:r>
          </a:p>
          <a:p>
            <a:r>
              <a:rPr lang="en-GB" dirty="0"/>
              <a:t>Individual layers can be developed, deployed, and scaled independently</a:t>
            </a:r>
          </a:p>
          <a:p>
            <a:r>
              <a:rPr lang="en-GB" dirty="0"/>
              <a:t>Supports complex workflows and distributed teams</a:t>
            </a:r>
          </a:p>
          <a:p>
            <a:pPr marL="0" indent="0">
              <a:buNone/>
            </a:pPr>
            <a:r>
              <a:rPr lang="en-GB" b="1" dirty="0"/>
              <a:t>Cons:</a:t>
            </a:r>
          </a:p>
          <a:p>
            <a:r>
              <a:rPr lang="en-GB" dirty="0"/>
              <a:t>More difficult to design, maintain, and debug</a:t>
            </a:r>
          </a:p>
          <a:p>
            <a:r>
              <a:rPr lang="en-GB" dirty="0"/>
              <a:t>Higher latency if not optimized</a:t>
            </a:r>
          </a:p>
          <a:p>
            <a:r>
              <a:rPr lang="en-GB" dirty="0"/>
              <a:t>Requires strong DevOps and monitoring practices</a:t>
            </a:r>
          </a:p>
          <a:p>
            <a:pPr marL="0" indent="0">
              <a:buNone/>
            </a:pPr>
            <a:r>
              <a:rPr lang="en-GB" i="1" dirty="0"/>
              <a:t>Best for enterprise-grade systems, cloud-native apps, and services that serve millions of users.</a:t>
            </a:r>
          </a:p>
          <a:p>
            <a:endParaRPr lang="en-US" dirty="0"/>
          </a:p>
        </p:txBody>
      </p:sp>
    </p:spTree>
    <p:extLst>
      <p:ext uri="{BB962C8B-B14F-4D97-AF65-F5344CB8AC3E}">
        <p14:creationId xmlns:p14="http://schemas.microsoft.com/office/powerpoint/2010/main" val="4073401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4F7A68-0760-A2F9-9C47-D5220FB071A4}"/>
              </a:ext>
            </a:extLst>
          </p:cNvPr>
          <p:cNvSpPr>
            <a:spLocks noGrp="1"/>
          </p:cNvSpPr>
          <p:nvPr>
            <p:ph type="title"/>
          </p:nvPr>
        </p:nvSpPr>
        <p:spPr>
          <a:xfrm>
            <a:off x="259705" y="155461"/>
            <a:ext cx="9392421" cy="1330841"/>
          </a:xfrm>
        </p:spPr>
        <p:txBody>
          <a:bodyPr>
            <a:normAutofit/>
          </a:bodyPr>
          <a:lstStyle/>
          <a:p>
            <a:r>
              <a:rPr lang="en-GB" b="1" dirty="0"/>
              <a:t>N-Tier Architecture</a:t>
            </a:r>
            <a:endParaRPr lang="en-US" dirty="0"/>
          </a:p>
        </p:txBody>
      </p:sp>
      <p:sp>
        <p:nvSpPr>
          <p:cNvPr id="3" name="Content Placeholder 2">
            <a:extLst>
              <a:ext uri="{FF2B5EF4-FFF2-40B4-BE49-F238E27FC236}">
                <a16:creationId xmlns:a16="http://schemas.microsoft.com/office/drawing/2014/main" id="{C983782E-8FF5-89BA-405B-586DDDC6F07D}"/>
              </a:ext>
            </a:extLst>
          </p:cNvPr>
          <p:cNvSpPr>
            <a:spLocks noGrp="1"/>
          </p:cNvSpPr>
          <p:nvPr>
            <p:ph idx="1"/>
          </p:nvPr>
        </p:nvSpPr>
        <p:spPr>
          <a:xfrm>
            <a:off x="593337" y="1641763"/>
            <a:ext cx="4958966" cy="3917773"/>
          </a:xfrm>
        </p:spPr>
        <p:txBody>
          <a:bodyPr>
            <a:normAutofit/>
          </a:bodyPr>
          <a:lstStyle/>
          <a:p>
            <a:pPr marL="0" indent="0">
              <a:buNone/>
            </a:pPr>
            <a:r>
              <a:rPr lang="en-GB" sz="2000" b="1" dirty="0"/>
              <a:t>Common Layers:</a:t>
            </a:r>
          </a:p>
          <a:p>
            <a:r>
              <a:rPr lang="en-GB" sz="2000" b="1" dirty="0"/>
              <a:t>Client:</a:t>
            </a:r>
            <a:r>
              <a:rPr lang="en-GB" sz="2000" dirty="0"/>
              <a:t> User interface or front-end application.</a:t>
            </a:r>
          </a:p>
          <a:p>
            <a:r>
              <a:rPr lang="en-GB" sz="2000" b="1" dirty="0"/>
              <a:t>Presentation Layer:</a:t>
            </a:r>
            <a:r>
              <a:rPr lang="en-GB" sz="2000" dirty="0"/>
              <a:t> Manages the user interface and presentation logic.</a:t>
            </a:r>
          </a:p>
          <a:p>
            <a:r>
              <a:rPr lang="en-GB" sz="2000" b="1" dirty="0"/>
              <a:t>Application Layer:</a:t>
            </a:r>
            <a:r>
              <a:rPr lang="en-GB" sz="2000" dirty="0"/>
              <a:t> Handles business logic and rules.</a:t>
            </a:r>
          </a:p>
          <a:p>
            <a:r>
              <a:rPr lang="en-GB" sz="2000" b="1" dirty="0"/>
              <a:t>Data Layer:</a:t>
            </a:r>
            <a:r>
              <a:rPr lang="en-GB" sz="2000" dirty="0"/>
              <a:t> Manages data access and storage.</a:t>
            </a:r>
          </a:p>
          <a:p>
            <a:r>
              <a:rPr lang="en-GB" sz="2000" b="1" dirty="0"/>
              <a:t>Additional Layers (optional):</a:t>
            </a:r>
            <a:r>
              <a:rPr lang="en-GB" sz="2000" dirty="0"/>
              <a:t> For caching, logging, security, etc.</a:t>
            </a:r>
          </a:p>
          <a:p>
            <a:endParaRPr lang="en-US" sz="2000" dirty="0"/>
          </a:p>
        </p:txBody>
      </p:sp>
      <p:pic>
        <p:nvPicPr>
          <p:cNvPr id="4" name="Picture 4">
            <a:extLst>
              <a:ext uri="{FF2B5EF4-FFF2-40B4-BE49-F238E27FC236}">
                <a16:creationId xmlns:a16="http://schemas.microsoft.com/office/drawing/2014/main" id="{DC89AFF8-77B3-45AD-9267-D26C466B0F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6471" y="1832131"/>
            <a:ext cx="6260680" cy="2801653"/>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558E1D54-F679-F43B-2126-238F96A5DCDD}"/>
              </a:ext>
            </a:extLst>
          </p:cNvPr>
          <p:cNvSpPr txBox="1"/>
          <p:nvPr/>
        </p:nvSpPr>
        <p:spPr>
          <a:xfrm>
            <a:off x="580494" y="5563082"/>
            <a:ext cx="10605187" cy="646331"/>
          </a:xfrm>
          <a:prstGeom prst="rect">
            <a:avLst/>
          </a:prstGeom>
          <a:noFill/>
        </p:spPr>
        <p:txBody>
          <a:bodyPr wrap="square">
            <a:spAutoFit/>
          </a:bodyPr>
          <a:lstStyle/>
          <a:p>
            <a:pPr algn="l">
              <a:spcBef>
                <a:spcPts val="1500"/>
              </a:spcBef>
              <a:spcAft>
                <a:spcPts val="1500"/>
              </a:spcAft>
              <a:buNone/>
            </a:pPr>
            <a:r>
              <a:rPr lang="en-GB" b="0" i="1" dirty="0">
                <a:solidFill>
                  <a:srgbClr val="363737"/>
                </a:solidFill>
                <a:effectLst/>
                <a:latin typeface="Spectral"/>
              </a:rPr>
              <a:t>A large e-commerce platform with separate services for user authentication, product </a:t>
            </a:r>
            <a:r>
              <a:rPr lang="en-GB" b="0" i="1" dirty="0" err="1">
                <a:solidFill>
                  <a:srgbClr val="363737"/>
                </a:solidFill>
                <a:effectLst/>
                <a:latin typeface="Spectral"/>
              </a:rPr>
              <a:t>catalog</a:t>
            </a:r>
            <a:r>
              <a:rPr lang="en-GB" b="0" i="1" dirty="0">
                <a:solidFill>
                  <a:srgbClr val="363737"/>
                </a:solidFill>
                <a:effectLst/>
                <a:latin typeface="Spectral"/>
              </a:rPr>
              <a:t>, shopping cart, and payment processing might use an N-tier architecture.</a:t>
            </a:r>
            <a:endParaRPr lang="en-US" i="1" dirty="0"/>
          </a:p>
        </p:txBody>
      </p:sp>
    </p:spTree>
    <p:extLst>
      <p:ext uri="{BB962C8B-B14F-4D97-AF65-F5344CB8AC3E}">
        <p14:creationId xmlns:p14="http://schemas.microsoft.com/office/powerpoint/2010/main" val="1221549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762A-1864-55FD-492E-11AD508782AA}"/>
              </a:ext>
            </a:extLst>
          </p:cNvPr>
          <p:cNvSpPr>
            <a:spLocks noGrp="1"/>
          </p:cNvSpPr>
          <p:nvPr>
            <p:ph type="title"/>
          </p:nvPr>
        </p:nvSpPr>
        <p:spPr/>
        <p:txBody>
          <a:bodyPr/>
          <a:lstStyle/>
          <a:p>
            <a:r>
              <a:rPr lang="en-GB" b="1" dirty="0"/>
              <a:t>Advantages of Client-Server Architecture</a:t>
            </a:r>
            <a:br>
              <a:rPr lang="en-GB" b="1" dirty="0"/>
            </a:br>
            <a:endParaRPr lang="en-US" dirty="0"/>
          </a:p>
        </p:txBody>
      </p:sp>
      <p:sp>
        <p:nvSpPr>
          <p:cNvPr id="3" name="Content Placeholder 2">
            <a:extLst>
              <a:ext uri="{FF2B5EF4-FFF2-40B4-BE49-F238E27FC236}">
                <a16:creationId xmlns:a16="http://schemas.microsoft.com/office/drawing/2014/main" id="{43E674D0-A1C8-586C-F229-7A340886B6FA}"/>
              </a:ext>
            </a:extLst>
          </p:cNvPr>
          <p:cNvSpPr>
            <a:spLocks noGrp="1"/>
          </p:cNvSpPr>
          <p:nvPr>
            <p:ph idx="1"/>
          </p:nvPr>
        </p:nvSpPr>
        <p:spPr/>
        <p:txBody>
          <a:bodyPr>
            <a:normAutofit fontScale="85000" lnSpcReduction="20000"/>
          </a:bodyPr>
          <a:lstStyle/>
          <a:p>
            <a:pPr marL="0" indent="0">
              <a:buNone/>
            </a:pPr>
            <a:r>
              <a:rPr lang="en-GB" dirty="0"/>
              <a:t>The client-server model offers several advantages, which is why it’s so widely used:</a:t>
            </a:r>
          </a:p>
          <a:p>
            <a:r>
              <a:rPr lang="en-GB" b="1" dirty="0"/>
              <a:t>Centralized Management:</a:t>
            </a:r>
            <a:r>
              <a:rPr lang="en-GB" dirty="0"/>
              <a:t> All critical data, resources, and services reside on the server, which means they can be </a:t>
            </a:r>
            <a:r>
              <a:rPr lang="en-GB" b="1" dirty="0"/>
              <a:t>monitored, updated, and secured</a:t>
            </a:r>
            <a:r>
              <a:rPr lang="en-GB" dirty="0"/>
              <a:t> from a central location.</a:t>
            </a:r>
          </a:p>
          <a:p>
            <a:r>
              <a:rPr lang="en-GB" b="1" dirty="0"/>
              <a:t>Scalability:</a:t>
            </a:r>
            <a:r>
              <a:rPr lang="en-GB" dirty="0"/>
              <a:t> Client-server systems are built to grow. You can </a:t>
            </a:r>
            <a:r>
              <a:rPr lang="en-GB" b="1" dirty="0"/>
              <a:t>scale vertically</a:t>
            </a:r>
            <a:r>
              <a:rPr lang="en-GB" dirty="0"/>
              <a:t> by upgrading server hardware (e.g., adding more RAM or CPU) or </a:t>
            </a:r>
            <a:r>
              <a:rPr lang="en-GB" b="1" dirty="0"/>
              <a:t>scale horizontally</a:t>
            </a:r>
            <a:r>
              <a:rPr lang="en-GB" dirty="0"/>
              <a:t> by adding more servers behind load balancers to distribute traffic.</a:t>
            </a:r>
          </a:p>
          <a:p>
            <a:r>
              <a:rPr lang="en-GB" b="1" dirty="0"/>
              <a:t>Efficient Resource Sharing:</a:t>
            </a:r>
            <a:r>
              <a:rPr lang="en-GB" dirty="0"/>
              <a:t> One server can serve </a:t>
            </a:r>
            <a:r>
              <a:rPr lang="en-GB" b="1" dirty="0"/>
              <a:t>multiple clients simultaneously</a:t>
            </a:r>
            <a:r>
              <a:rPr lang="en-GB" dirty="0"/>
              <a:t>, enabling shared access to databases, file storage, and applications.</a:t>
            </a:r>
          </a:p>
          <a:p>
            <a:r>
              <a:rPr lang="en-GB" b="1" dirty="0"/>
              <a:t>Security:</a:t>
            </a:r>
            <a:r>
              <a:rPr lang="en-GB" dirty="0"/>
              <a:t> With everything centralized, it’s easier to implement and enforce authentication, authorization, encryption, and access control.</a:t>
            </a:r>
          </a:p>
          <a:p>
            <a:pPr marL="0" indent="0">
              <a:buNone/>
            </a:pPr>
            <a:endParaRPr lang="en-US" dirty="0"/>
          </a:p>
        </p:txBody>
      </p:sp>
    </p:spTree>
    <p:extLst>
      <p:ext uri="{BB962C8B-B14F-4D97-AF65-F5344CB8AC3E}">
        <p14:creationId xmlns:p14="http://schemas.microsoft.com/office/powerpoint/2010/main" val="3061065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3A1C-1892-7FCD-9C4B-8A3DA071A81A}"/>
              </a:ext>
            </a:extLst>
          </p:cNvPr>
          <p:cNvSpPr>
            <a:spLocks noGrp="1"/>
          </p:cNvSpPr>
          <p:nvPr>
            <p:ph type="title"/>
          </p:nvPr>
        </p:nvSpPr>
        <p:spPr/>
        <p:txBody>
          <a:bodyPr/>
          <a:lstStyle/>
          <a:p>
            <a:r>
              <a:rPr lang="en-GB" b="1" dirty="0"/>
              <a:t>Real-World Applications</a:t>
            </a:r>
            <a:br>
              <a:rPr lang="en-GB" b="1" dirty="0"/>
            </a:br>
            <a:endParaRPr lang="en-US" dirty="0"/>
          </a:p>
        </p:txBody>
      </p:sp>
      <p:sp>
        <p:nvSpPr>
          <p:cNvPr id="3" name="Content Placeholder 2">
            <a:extLst>
              <a:ext uri="{FF2B5EF4-FFF2-40B4-BE49-F238E27FC236}">
                <a16:creationId xmlns:a16="http://schemas.microsoft.com/office/drawing/2014/main" id="{9245D4A1-1240-AABE-2A14-C81D6C9E407E}"/>
              </a:ext>
            </a:extLst>
          </p:cNvPr>
          <p:cNvSpPr>
            <a:spLocks noGrp="1"/>
          </p:cNvSpPr>
          <p:nvPr>
            <p:ph idx="1"/>
          </p:nvPr>
        </p:nvSpPr>
        <p:spPr>
          <a:xfrm>
            <a:off x="333632" y="1309816"/>
            <a:ext cx="11020168" cy="4867147"/>
          </a:xfrm>
        </p:spPr>
        <p:txBody>
          <a:bodyPr>
            <a:normAutofit fontScale="55000" lnSpcReduction="20000"/>
          </a:bodyPr>
          <a:lstStyle/>
          <a:p>
            <a:pPr marL="0" indent="0">
              <a:buNone/>
            </a:pPr>
            <a:r>
              <a:rPr lang="en-GB" sz="3300" dirty="0"/>
              <a:t>Client-server architecture is ubiquitous in modern computing. You interact with it dozens of times a day, often without even realizing it.</a:t>
            </a:r>
          </a:p>
          <a:p>
            <a:pPr marL="0" indent="0">
              <a:buNone/>
            </a:pPr>
            <a:r>
              <a:rPr lang="en-GB" sz="3300" b="1" dirty="0"/>
              <a:t>🌐 Web Browsing</a:t>
            </a:r>
          </a:p>
          <a:p>
            <a:r>
              <a:rPr lang="en-GB" sz="3300" dirty="0"/>
              <a:t>When you visit a site like </a:t>
            </a:r>
            <a:r>
              <a:rPr lang="en-GB" sz="3300" dirty="0" err="1"/>
              <a:t>www.wikipedia.org</a:t>
            </a:r>
            <a:r>
              <a:rPr lang="en-GB" sz="3300" dirty="0"/>
              <a:t>, your </a:t>
            </a:r>
            <a:r>
              <a:rPr lang="en-GB" sz="3300" b="1" dirty="0"/>
              <a:t>browser (client)</a:t>
            </a:r>
            <a:r>
              <a:rPr lang="en-GB" sz="3300" dirty="0"/>
              <a:t> sends a request to a </a:t>
            </a:r>
            <a:r>
              <a:rPr lang="en-GB" sz="3300" b="1" dirty="0"/>
              <a:t>web server</a:t>
            </a:r>
            <a:r>
              <a:rPr lang="en-GB" sz="3300" dirty="0"/>
              <a:t>, which responds with the HTML, CSS, and content of the page.</a:t>
            </a:r>
          </a:p>
          <a:p>
            <a:pPr marL="0" indent="0">
              <a:buNone/>
            </a:pPr>
            <a:r>
              <a:rPr lang="en-GB" sz="3300" b="1" dirty="0"/>
              <a:t>📧 Email Services</a:t>
            </a:r>
          </a:p>
          <a:p>
            <a:r>
              <a:rPr lang="en-GB" sz="3300" dirty="0"/>
              <a:t>Email apps like </a:t>
            </a:r>
            <a:r>
              <a:rPr lang="en-GB" sz="3300" b="1" dirty="0"/>
              <a:t>Gmail</a:t>
            </a:r>
            <a:r>
              <a:rPr lang="en-GB" sz="3300" dirty="0"/>
              <a:t>, </a:t>
            </a:r>
            <a:r>
              <a:rPr lang="en-GB" sz="3300" b="1" dirty="0"/>
              <a:t>Outlook</a:t>
            </a:r>
            <a:r>
              <a:rPr lang="en-GB" sz="3300" dirty="0"/>
              <a:t>, or </a:t>
            </a:r>
            <a:r>
              <a:rPr lang="en-GB" sz="3300" b="1" dirty="0"/>
              <a:t>Apple Mail</a:t>
            </a:r>
            <a:r>
              <a:rPr lang="en-GB" sz="3300" dirty="0"/>
              <a:t> act as clients that connect to mail servers (using protocols like SMTP, IMAP, or POP3) to send, receive, and sync your emails.</a:t>
            </a:r>
          </a:p>
          <a:p>
            <a:pPr marL="0" indent="0">
              <a:buNone/>
            </a:pPr>
            <a:r>
              <a:rPr lang="en-GB" sz="3300" b="1" dirty="0"/>
              <a:t>🏦 Online Banking</a:t>
            </a:r>
          </a:p>
          <a:p>
            <a:r>
              <a:rPr lang="en-GB" sz="3300" dirty="0"/>
              <a:t>Banking apps and websites rely on client-server models to:</a:t>
            </a:r>
          </a:p>
          <a:p>
            <a:r>
              <a:rPr lang="en-GB" sz="3300" dirty="0"/>
              <a:t>Authenticate users</a:t>
            </a:r>
          </a:p>
          <a:p>
            <a:r>
              <a:rPr lang="en-GB" sz="3300" dirty="0"/>
              <a:t>Process transactions</a:t>
            </a:r>
          </a:p>
          <a:p>
            <a:r>
              <a:rPr lang="en-GB" sz="3300" dirty="0"/>
              <a:t>Display real-time account data all while keeping data encrypted and secure on the server.</a:t>
            </a:r>
          </a:p>
          <a:p>
            <a:pPr marL="0" indent="0">
              <a:buNone/>
            </a:pPr>
            <a:r>
              <a:rPr lang="en-GB" sz="3300" b="1" dirty="0"/>
              <a:t>☁️ Cloud Computing</a:t>
            </a:r>
          </a:p>
          <a:p>
            <a:r>
              <a:rPr lang="en-GB" sz="3300" dirty="0"/>
              <a:t>Cloud providers like </a:t>
            </a:r>
            <a:r>
              <a:rPr lang="en-GB" sz="3300" b="1" dirty="0"/>
              <a:t>AWS</a:t>
            </a:r>
            <a:r>
              <a:rPr lang="en-GB" sz="3300" dirty="0"/>
              <a:t>, </a:t>
            </a:r>
            <a:r>
              <a:rPr lang="en-GB" sz="3300" b="1" dirty="0"/>
              <a:t>Google Cloud</a:t>
            </a:r>
            <a:r>
              <a:rPr lang="en-GB" sz="3300" dirty="0"/>
              <a:t>, and </a:t>
            </a:r>
            <a:r>
              <a:rPr lang="en-GB" sz="3300" b="1" dirty="0"/>
              <a:t>Microsoft Azure</a:t>
            </a:r>
            <a:r>
              <a:rPr lang="en-GB" sz="3300" dirty="0"/>
              <a:t> offer on-demand services (compute, storage, databases) using a client-server model. Your apps (clients) communicate with cloud APIs (servers) to scale seamlessly.</a:t>
            </a:r>
          </a:p>
          <a:p>
            <a:endParaRPr lang="en-US" dirty="0"/>
          </a:p>
        </p:txBody>
      </p:sp>
    </p:spTree>
    <p:extLst>
      <p:ext uri="{BB962C8B-B14F-4D97-AF65-F5344CB8AC3E}">
        <p14:creationId xmlns:p14="http://schemas.microsoft.com/office/powerpoint/2010/main" val="2778452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B602-3467-95D4-582E-54AC1790A1F9}"/>
              </a:ext>
            </a:extLst>
          </p:cNvPr>
          <p:cNvSpPr>
            <a:spLocks noGrp="1"/>
          </p:cNvSpPr>
          <p:nvPr>
            <p:ph type="title"/>
          </p:nvPr>
        </p:nvSpPr>
        <p:spPr/>
        <p:txBody>
          <a:bodyPr>
            <a:normAutofit/>
          </a:bodyPr>
          <a:lstStyle/>
          <a:p>
            <a:pPr fontAlgn="base"/>
            <a:r>
              <a:rPr lang="en-GB" b="1" dirty="0"/>
              <a:t>What is an IP Address?</a:t>
            </a:r>
          </a:p>
        </p:txBody>
      </p:sp>
      <p:sp>
        <p:nvSpPr>
          <p:cNvPr id="3" name="Content Placeholder 2">
            <a:extLst>
              <a:ext uri="{FF2B5EF4-FFF2-40B4-BE49-F238E27FC236}">
                <a16:creationId xmlns:a16="http://schemas.microsoft.com/office/drawing/2014/main" id="{374F5521-DE18-8D71-9704-EDF27BED73A4}"/>
              </a:ext>
            </a:extLst>
          </p:cNvPr>
          <p:cNvSpPr>
            <a:spLocks noGrp="1"/>
          </p:cNvSpPr>
          <p:nvPr>
            <p:ph idx="1"/>
          </p:nvPr>
        </p:nvSpPr>
        <p:spPr/>
        <p:txBody>
          <a:bodyPr/>
          <a:lstStyle/>
          <a:p>
            <a:r>
              <a:rPr lang="en-GB" i="1" dirty="0"/>
              <a:t>An IP address, or Internet Protocol address, is a unique string of numbers assigned to each device connected to a computer network that uses the Internet Protocol for communication. It serves as an identifier that allows devices to send and receive data over the network, ensuring that this data reaches the correct destination.</a:t>
            </a:r>
            <a:r>
              <a:rPr lang="en-GB" dirty="0"/>
              <a:t>.</a:t>
            </a:r>
            <a:endParaRPr lang="en-US" dirty="0"/>
          </a:p>
        </p:txBody>
      </p:sp>
    </p:spTree>
    <p:extLst>
      <p:ext uri="{BB962C8B-B14F-4D97-AF65-F5344CB8AC3E}">
        <p14:creationId xmlns:p14="http://schemas.microsoft.com/office/powerpoint/2010/main" val="3325533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7A972-4904-A962-A7BB-075A0B828E45}"/>
              </a:ext>
            </a:extLst>
          </p:cNvPr>
          <p:cNvSpPr>
            <a:spLocks noGrp="1"/>
          </p:cNvSpPr>
          <p:nvPr>
            <p:ph type="title"/>
          </p:nvPr>
        </p:nvSpPr>
        <p:spPr/>
        <p:txBody>
          <a:bodyPr/>
          <a:lstStyle/>
          <a:p>
            <a:r>
              <a:rPr lang="en-GB" b="1" dirty="0"/>
              <a:t>Structure and Types of IP Address</a:t>
            </a:r>
            <a:br>
              <a:rPr lang="en-GB" b="1" dirty="0"/>
            </a:br>
            <a:endParaRPr lang="en-US" dirty="0"/>
          </a:p>
        </p:txBody>
      </p:sp>
      <p:sp>
        <p:nvSpPr>
          <p:cNvPr id="3" name="Content Placeholder 2">
            <a:extLst>
              <a:ext uri="{FF2B5EF4-FFF2-40B4-BE49-F238E27FC236}">
                <a16:creationId xmlns:a16="http://schemas.microsoft.com/office/drawing/2014/main" id="{83D890EB-415E-B608-71C6-E402699B43A6}"/>
              </a:ext>
            </a:extLst>
          </p:cNvPr>
          <p:cNvSpPr>
            <a:spLocks noGrp="1"/>
          </p:cNvSpPr>
          <p:nvPr>
            <p:ph idx="1"/>
          </p:nvPr>
        </p:nvSpPr>
        <p:spPr/>
        <p:txBody>
          <a:bodyPr/>
          <a:lstStyle/>
          <a:p>
            <a:r>
              <a:rPr lang="en-GB" dirty="0"/>
              <a:t>IP addresses are an important part of the Internet. It can be represented as Internet Protocol address. A unique address that identifies the device over the network. They are made up of a series of numbers or alphanumeric characters that help us to identify devices on a network. Almost every device we use is connected to the Internet, whether a smartphone, computer, or smart home device. For these devices to communicate with each other, they need a unique identifier, known as an </a:t>
            </a:r>
            <a:r>
              <a:rPr lang="en-GB" b="1" dirty="0"/>
              <a:t>IP address</a:t>
            </a:r>
            <a:r>
              <a:rPr lang="en-GB" dirty="0"/>
              <a:t>.</a:t>
            </a:r>
            <a:endParaRPr lang="en-US" dirty="0"/>
          </a:p>
        </p:txBody>
      </p:sp>
    </p:spTree>
    <p:extLst>
      <p:ext uri="{BB962C8B-B14F-4D97-AF65-F5344CB8AC3E}">
        <p14:creationId xmlns:p14="http://schemas.microsoft.com/office/powerpoint/2010/main" val="333139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F725-987A-F1FA-6708-A1832E23B912}"/>
              </a:ext>
            </a:extLst>
          </p:cNvPr>
          <p:cNvSpPr>
            <a:spLocks noGrp="1"/>
          </p:cNvSpPr>
          <p:nvPr>
            <p:ph type="title"/>
          </p:nvPr>
        </p:nvSpPr>
        <p:spPr/>
        <p:txBody>
          <a:bodyPr/>
          <a:lstStyle/>
          <a:p>
            <a:r>
              <a:rPr lang="en-GB" b="1" dirty="0"/>
              <a:t>Structure of IP Address</a:t>
            </a:r>
            <a:br>
              <a:rPr lang="en-GB" b="1" dirty="0"/>
            </a:br>
            <a:endParaRPr lang="en-US" dirty="0"/>
          </a:p>
        </p:txBody>
      </p:sp>
      <p:pic>
        <p:nvPicPr>
          <p:cNvPr id="5" name="Content Placeholder 4" descr="A screenshot of a computer error&#10;&#10;AI-generated content may be incorrect.">
            <a:extLst>
              <a:ext uri="{FF2B5EF4-FFF2-40B4-BE49-F238E27FC236}">
                <a16:creationId xmlns:a16="http://schemas.microsoft.com/office/drawing/2014/main" id="{86CC6BE7-34D4-CF4D-F53A-BBCF6EC6AB6A}"/>
              </a:ext>
            </a:extLst>
          </p:cNvPr>
          <p:cNvPicPr>
            <a:picLocks noGrp="1" noChangeAspect="1"/>
          </p:cNvPicPr>
          <p:nvPr>
            <p:ph idx="1"/>
          </p:nvPr>
        </p:nvPicPr>
        <p:blipFill>
          <a:blip r:embed="rId2"/>
          <a:stretch>
            <a:fillRect/>
          </a:stretch>
        </p:blipFill>
        <p:spPr>
          <a:xfrm>
            <a:off x="652848" y="3705544"/>
            <a:ext cx="10590770" cy="2621115"/>
          </a:xfrm>
        </p:spPr>
      </p:pic>
      <p:sp>
        <p:nvSpPr>
          <p:cNvPr id="7" name="TextBox 6">
            <a:extLst>
              <a:ext uri="{FF2B5EF4-FFF2-40B4-BE49-F238E27FC236}">
                <a16:creationId xmlns:a16="http://schemas.microsoft.com/office/drawing/2014/main" id="{1E4EEE91-F628-D58C-44C8-5B04E62415CB}"/>
              </a:ext>
            </a:extLst>
          </p:cNvPr>
          <p:cNvSpPr txBox="1"/>
          <p:nvPr/>
        </p:nvSpPr>
        <p:spPr>
          <a:xfrm>
            <a:off x="410862" y="1027906"/>
            <a:ext cx="11156092" cy="2262158"/>
          </a:xfrm>
          <a:prstGeom prst="rect">
            <a:avLst/>
          </a:prstGeom>
          <a:noFill/>
        </p:spPr>
        <p:txBody>
          <a:bodyPr wrap="square">
            <a:spAutoFit/>
          </a:bodyPr>
          <a:lstStyle/>
          <a:p>
            <a:pPr algn="l" fontAlgn="base">
              <a:spcAft>
                <a:spcPts val="1800"/>
              </a:spcAft>
              <a:buFont typeface="+mj-lt"/>
              <a:buAutoNum type="arabicPeriod"/>
            </a:pPr>
            <a:r>
              <a:rPr lang="en-GB" b="1" i="0" dirty="0">
                <a:solidFill>
                  <a:srgbClr val="273239"/>
                </a:solidFill>
                <a:effectLst/>
                <a:latin typeface="Nunito" pitchFamily="2" charset="77"/>
              </a:rPr>
              <a:t>Network ID: </a:t>
            </a:r>
            <a:r>
              <a:rPr lang="en-GB" b="0" i="0" dirty="0">
                <a:solidFill>
                  <a:srgbClr val="273239"/>
                </a:solidFill>
                <a:effectLst/>
                <a:latin typeface="Nunito" pitchFamily="2" charset="77"/>
              </a:rPr>
              <a:t>The left-hand IP address part identifies the specific network where the device is located. In a normal home network, where the device has an IP address of 192.168.1.32, the 192.168.1 part of the address will be the network ID. Filling in the last part that is not zero is customary, so the device's network ID is 192.168.1.0.</a:t>
            </a:r>
          </a:p>
          <a:p>
            <a:pPr algn="l" fontAlgn="base">
              <a:spcAft>
                <a:spcPts val="1800"/>
              </a:spcAft>
              <a:buFont typeface="+mj-lt"/>
              <a:buAutoNum type="arabicPeriod" startAt="2"/>
            </a:pPr>
            <a:r>
              <a:rPr lang="en-GB" b="1" i="0" dirty="0">
                <a:solidFill>
                  <a:srgbClr val="273239"/>
                </a:solidFill>
                <a:effectLst/>
                <a:latin typeface="Nunito" pitchFamily="2" charset="77"/>
              </a:rPr>
              <a:t>Hosting ID: </a:t>
            </a:r>
            <a:r>
              <a:rPr lang="en-GB" b="0" i="0" dirty="0">
                <a:solidFill>
                  <a:srgbClr val="273239"/>
                </a:solidFill>
                <a:effectLst/>
                <a:latin typeface="Nunito" pitchFamily="2" charset="77"/>
              </a:rPr>
              <a:t>The host ID is part of the IP address that was not taken by the network ID. Identifies a specific device (in the </a:t>
            </a:r>
            <a:r>
              <a:rPr lang="en-GB" b="0" i="0" u="sng" dirty="0">
                <a:solidFill>
                  <a:srgbClr val="357960"/>
                </a:solidFill>
                <a:effectLst/>
                <a:latin typeface="Nunito" pitchFamily="2" charset="77"/>
                <a:hlinkClick r:id="rId3"/>
              </a:rPr>
              <a:t>TCP / IP</a:t>
            </a:r>
            <a:r>
              <a:rPr lang="en-GB" b="0" i="0" dirty="0">
                <a:solidFill>
                  <a:srgbClr val="273239"/>
                </a:solidFill>
                <a:effectLst/>
                <a:latin typeface="Nunito" pitchFamily="2" charset="77"/>
              </a:rPr>
              <a:t> world, we call devices “host”) in that network. Continuing with our example of the IP address 192.168.1.32, the host ID will be 32- the unique host ID on the 192.168.1.0 network.</a:t>
            </a:r>
          </a:p>
        </p:txBody>
      </p:sp>
    </p:spTree>
    <p:extLst>
      <p:ext uri="{BB962C8B-B14F-4D97-AF65-F5344CB8AC3E}">
        <p14:creationId xmlns:p14="http://schemas.microsoft.com/office/powerpoint/2010/main" val="1990822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7" name="Freeform: Shape 1741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BEE108D-8759-468B-F5C3-1F3E17C7D3E7}"/>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b="1" kern="1200">
                <a:solidFill>
                  <a:schemeClr val="tx1"/>
                </a:solidFill>
                <a:latin typeface="+mj-lt"/>
                <a:ea typeface="+mj-ea"/>
                <a:cs typeface="+mj-cs"/>
              </a:rPr>
              <a:t>Types of IP Addresses</a:t>
            </a:r>
            <a:br>
              <a:rPr lang="en-US" b="1" kern="1200">
                <a:solidFill>
                  <a:schemeClr val="tx1"/>
                </a:solidFill>
                <a:latin typeface="+mj-lt"/>
                <a:ea typeface="+mj-ea"/>
                <a:cs typeface="+mj-cs"/>
              </a:rPr>
            </a:br>
            <a:endParaRPr lang="en-US" kern="1200">
              <a:solidFill>
                <a:schemeClr val="tx1"/>
              </a:solidFill>
              <a:latin typeface="+mj-lt"/>
              <a:ea typeface="+mj-ea"/>
              <a:cs typeface="+mj-cs"/>
            </a:endParaRPr>
          </a:p>
        </p:txBody>
      </p:sp>
      <p:sp>
        <p:nvSpPr>
          <p:cNvPr id="5" name="TextBox 4">
            <a:extLst>
              <a:ext uri="{FF2B5EF4-FFF2-40B4-BE49-F238E27FC236}">
                <a16:creationId xmlns:a16="http://schemas.microsoft.com/office/drawing/2014/main" id="{2562232E-1AC5-23A3-6A0A-6F86EB2CB035}"/>
              </a:ext>
            </a:extLst>
          </p:cNvPr>
          <p:cNvSpPr txBox="1"/>
          <p:nvPr/>
        </p:nvSpPr>
        <p:spPr>
          <a:xfrm>
            <a:off x="609600" y="2198362"/>
            <a:ext cx="5486400" cy="391777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dirty="0"/>
              <a:t>Private IP:</a:t>
            </a:r>
            <a:r>
              <a:rPr lang="en-US" sz="2000" dirty="0"/>
              <a:t> An address used inside a local network (home, office) to identify devices within that network.</a:t>
            </a:r>
          </a:p>
          <a:p>
            <a:pPr indent="-228600">
              <a:lnSpc>
                <a:spcPct val="90000"/>
              </a:lnSpc>
              <a:spcAft>
                <a:spcPts val="600"/>
              </a:spcAft>
              <a:buFont typeface="Arial" panose="020B0604020202020204" pitchFamily="34" charset="0"/>
              <a:buChar char="•"/>
            </a:pPr>
            <a:r>
              <a:rPr lang="en-US" sz="2000" b="1" dirty="0"/>
              <a:t>Public IP:</a:t>
            </a:r>
            <a:r>
              <a:rPr lang="en-US" sz="2000" dirty="0"/>
              <a:t> An address provided by the Internet Service Provider (ISP) that allows devices to communicate over the internet.</a:t>
            </a:r>
          </a:p>
          <a:p>
            <a:pPr indent="-228600">
              <a:lnSpc>
                <a:spcPct val="90000"/>
              </a:lnSpc>
              <a:spcAft>
                <a:spcPts val="600"/>
              </a:spcAft>
              <a:buFont typeface="Arial" panose="020B0604020202020204" pitchFamily="34" charset="0"/>
              <a:buChar char="•"/>
            </a:pPr>
            <a:r>
              <a:rPr lang="en-US" sz="2000" b="1" dirty="0"/>
              <a:t>Static IP:</a:t>
            </a:r>
            <a:r>
              <a:rPr lang="en-US" sz="2000" dirty="0"/>
              <a:t> A fixed address that never changes, often used for servers or hosting websites.</a:t>
            </a:r>
          </a:p>
          <a:p>
            <a:pPr indent="-228600">
              <a:lnSpc>
                <a:spcPct val="90000"/>
              </a:lnSpc>
              <a:spcAft>
                <a:spcPts val="600"/>
              </a:spcAft>
              <a:buFont typeface="Arial" panose="020B0604020202020204" pitchFamily="34" charset="0"/>
              <a:buChar char="•"/>
            </a:pPr>
            <a:r>
              <a:rPr lang="en-US" sz="2000" b="1" dirty="0"/>
              <a:t>Dynamic IP:</a:t>
            </a:r>
            <a:r>
              <a:rPr lang="en-US" sz="2000" dirty="0"/>
              <a:t> An automatically assigned address that changes whenever a device reconnects to the network.</a:t>
            </a:r>
          </a:p>
        </p:txBody>
      </p:sp>
      <p:pic>
        <p:nvPicPr>
          <p:cNvPr id="17410" name="Picture 2" descr="Types-of-IP-Addresses">
            <a:extLst>
              <a:ext uri="{FF2B5EF4-FFF2-40B4-BE49-F238E27FC236}">
                <a16:creationId xmlns:a16="http://schemas.microsoft.com/office/drawing/2014/main" id="{EA1EA6DE-CA18-B0B1-8A18-624C142BEE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311957" y="1940438"/>
            <a:ext cx="5664085" cy="4049818"/>
          </a:xfrm>
          <a:prstGeom prst="rect">
            <a:avLst/>
          </a:prstGeom>
          <a:noFill/>
          <a:extLst>
            <a:ext uri="{909E8E84-426E-40DD-AFC4-6F175D3DCCD1}">
              <a14:hiddenFill xmlns:a14="http://schemas.microsoft.com/office/drawing/2010/main">
                <a:solidFill>
                  <a:srgbClr val="FFFFFF"/>
                </a:solidFill>
              </a14:hiddenFill>
            </a:ext>
          </a:extLst>
        </p:spPr>
      </p:pic>
      <p:sp>
        <p:nvSpPr>
          <p:cNvPr id="17419" name="Freeform: Shape 1741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83819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9144-5D48-B795-B2CE-BF2A3C12D0D2}"/>
              </a:ext>
            </a:extLst>
          </p:cNvPr>
          <p:cNvSpPr>
            <a:spLocks noGrp="1"/>
          </p:cNvSpPr>
          <p:nvPr>
            <p:ph type="title"/>
          </p:nvPr>
        </p:nvSpPr>
        <p:spPr>
          <a:xfrm>
            <a:off x="0" y="42079"/>
            <a:ext cx="10515600" cy="1325563"/>
          </a:xfrm>
        </p:spPr>
        <p:txBody>
          <a:bodyPr/>
          <a:lstStyle/>
          <a:p>
            <a:r>
              <a:rPr lang="en-GB" b="1" dirty="0"/>
              <a:t>How Does DNS Work?</a:t>
            </a:r>
            <a:br>
              <a:rPr lang="en-GB" b="1" dirty="0"/>
            </a:br>
            <a:endParaRPr lang="en-US" dirty="0"/>
          </a:p>
        </p:txBody>
      </p:sp>
      <p:pic>
        <p:nvPicPr>
          <p:cNvPr id="8194" name="Picture 2" descr="frame_5.webp">
            <a:extLst>
              <a:ext uri="{FF2B5EF4-FFF2-40B4-BE49-F238E27FC236}">
                <a16:creationId xmlns:a16="http://schemas.microsoft.com/office/drawing/2014/main" id="{4563FBA8-5403-C332-07DA-F5912AB7CCC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284" t="8021" r="10119" b="14072"/>
          <a:stretch>
            <a:fillRect/>
          </a:stretch>
        </p:blipFill>
        <p:spPr bwMode="auto">
          <a:xfrm>
            <a:off x="341460" y="870470"/>
            <a:ext cx="5354320" cy="238219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dns_resolver_step3.webp">
            <a:extLst>
              <a:ext uri="{FF2B5EF4-FFF2-40B4-BE49-F238E27FC236}">
                <a16:creationId xmlns:a16="http://schemas.microsoft.com/office/drawing/2014/main" id="{84C1FCE5-5E49-09C0-3758-CF545BDDAF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42" t="9821" r="4077" b="7140"/>
          <a:stretch>
            <a:fillRect/>
          </a:stretch>
        </p:blipFill>
        <p:spPr bwMode="auto">
          <a:xfrm>
            <a:off x="6213940" y="830512"/>
            <a:ext cx="5354320" cy="242215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step_3.webp">
            <a:extLst>
              <a:ext uri="{FF2B5EF4-FFF2-40B4-BE49-F238E27FC236}">
                <a16:creationId xmlns:a16="http://schemas.microsoft.com/office/drawing/2014/main" id="{60D03E17-B588-8A3F-5AA4-5F093462FA8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933" t="9179" r="14144" b="14703"/>
          <a:stretch>
            <a:fillRect/>
          </a:stretch>
        </p:blipFill>
        <p:spPr bwMode="auto">
          <a:xfrm>
            <a:off x="71120" y="4375759"/>
            <a:ext cx="4066184" cy="193627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dns_resolver_step4.webp">
            <a:extLst>
              <a:ext uri="{FF2B5EF4-FFF2-40B4-BE49-F238E27FC236}">
                <a16:creationId xmlns:a16="http://schemas.microsoft.com/office/drawing/2014/main" id="{79E444A3-B095-C3AA-C55E-6F3CC19763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9150" y="3333364"/>
            <a:ext cx="4169580" cy="2084790"/>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step_4.webp">
            <a:extLst>
              <a:ext uri="{FF2B5EF4-FFF2-40B4-BE49-F238E27FC236}">
                <a16:creationId xmlns:a16="http://schemas.microsoft.com/office/drawing/2014/main" id="{C41CF46B-D3A4-1AE7-B5D1-3B947E7FED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679" t="10022" r="4114" b="18717"/>
          <a:stretch>
            <a:fillRect/>
          </a:stretch>
        </p:blipFill>
        <p:spPr bwMode="auto">
          <a:xfrm>
            <a:off x="8640190" y="4534400"/>
            <a:ext cx="3480690" cy="1767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432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029471-1916-3DFC-938E-75EAF561BFA3}"/>
              </a:ext>
            </a:extLst>
          </p:cNvPr>
          <p:cNvSpPr>
            <a:spLocks noGrp="1"/>
          </p:cNvSpPr>
          <p:nvPr>
            <p:ph type="title"/>
          </p:nvPr>
        </p:nvSpPr>
        <p:spPr>
          <a:xfrm>
            <a:off x="793662" y="386930"/>
            <a:ext cx="10066122" cy="1298448"/>
          </a:xfrm>
        </p:spPr>
        <p:txBody>
          <a:bodyPr anchor="b">
            <a:normAutofit/>
          </a:bodyPr>
          <a:lstStyle/>
          <a:p>
            <a:r>
              <a:rPr lang="en-GB" sz="4100" b="1"/>
              <a:t>Structure of DNS</a:t>
            </a:r>
            <a:br>
              <a:rPr lang="en-GB" sz="4100" b="1"/>
            </a:br>
            <a:endParaRPr lang="en-US" sz="4100"/>
          </a:p>
        </p:txBody>
      </p:sp>
      <p:sp>
        <p:nvSpPr>
          <p:cNvPr id="9225" name="Rectangle 92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4CC268-CC4A-A565-2BC7-C512C90C0405}"/>
              </a:ext>
            </a:extLst>
          </p:cNvPr>
          <p:cNvSpPr>
            <a:spLocks noGrp="1"/>
          </p:cNvSpPr>
          <p:nvPr>
            <p:ph idx="1"/>
          </p:nvPr>
        </p:nvSpPr>
        <p:spPr>
          <a:xfrm>
            <a:off x="793661" y="2599509"/>
            <a:ext cx="4530898" cy="3639450"/>
          </a:xfrm>
        </p:spPr>
        <p:txBody>
          <a:bodyPr anchor="ctr">
            <a:normAutofit/>
          </a:bodyPr>
          <a:lstStyle/>
          <a:p>
            <a:pPr marL="0" indent="0" fontAlgn="base">
              <a:buNone/>
            </a:pPr>
            <a:r>
              <a:rPr lang="en-GB" sz="1400"/>
              <a:t>DNS operates through a hierarchical structure, ensuring scalability and reliability across the global internet infrastructure. Here's how it’s organized:</a:t>
            </a:r>
          </a:p>
          <a:p>
            <a:pPr fontAlgn="base"/>
            <a:r>
              <a:rPr lang="en-GB" sz="1400" b="1"/>
              <a:t>Root DNS Servers: </a:t>
            </a:r>
            <a:r>
              <a:rPr lang="en-GB" sz="1400"/>
              <a:t>These are the highest-level DNS servers and know where to find the TLD servers. They are crucial for directing DNS queries to the correct locations.</a:t>
            </a:r>
          </a:p>
          <a:p>
            <a:pPr fontAlgn="base"/>
            <a:r>
              <a:rPr lang="en-GB" sz="1400" b="1"/>
              <a:t>TLD Servers: </a:t>
            </a:r>
            <a:r>
              <a:rPr lang="en-GB" sz="1400"/>
              <a:t>These servers manage domain extensions like .com, .org, .net, .edu, .gov and others. They help route queries to the authoritative DNS servers for specific domains.</a:t>
            </a:r>
          </a:p>
          <a:p>
            <a:pPr fontAlgn="base"/>
            <a:r>
              <a:rPr lang="en-GB" sz="1400" b="1"/>
              <a:t>Authoritative DNS Servers: </a:t>
            </a:r>
            <a:r>
              <a:rPr lang="en-GB" sz="1400"/>
              <a:t>These are the servers that store the actual DNS records for domain names. They are responsible for providing the correct IP addresses that allow users to reach websites.</a:t>
            </a:r>
          </a:p>
          <a:p>
            <a:endParaRPr lang="en-US" sz="1400"/>
          </a:p>
        </p:txBody>
      </p:sp>
      <p:pic>
        <p:nvPicPr>
          <p:cNvPr id="9218" name="Picture 2" descr="Root DNS Server">
            <a:extLst>
              <a:ext uri="{FF2B5EF4-FFF2-40B4-BE49-F238E27FC236}">
                <a16:creationId xmlns:a16="http://schemas.microsoft.com/office/drawing/2014/main" id="{1CC76A66-DFDC-D76D-E131-3F4BBA96F70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047370"/>
            <a:ext cx="5150277" cy="2588014"/>
          </a:xfrm>
          <a:prstGeom prst="rect">
            <a:avLst/>
          </a:prstGeom>
          <a:noFill/>
          <a:extLst>
            <a:ext uri="{909E8E84-426E-40DD-AFC4-6F175D3DCCD1}">
              <a14:hiddenFill xmlns:a14="http://schemas.microsoft.com/office/drawing/2010/main">
                <a:solidFill>
                  <a:srgbClr val="FFFFFF"/>
                </a:solidFill>
              </a14:hiddenFill>
            </a:ext>
          </a:extLst>
        </p:spPr>
      </p:pic>
      <p:sp>
        <p:nvSpPr>
          <p:cNvPr id="9229" name="Rectangle 92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7544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C0E5C3-B881-2E63-8DC8-FABFB19ECB2C}"/>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100" b="1" kern="1200">
                <a:solidFill>
                  <a:schemeClr val="tx1"/>
                </a:solidFill>
                <a:latin typeface="+mj-lt"/>
                <a:ea typeface="+mj-ea"/>
                <a:cs typeface="+mj-cs"/>
              </a:rPr>
              <a:t>Types of Domains</a:t>
            </a:r>
            <a:br>
              <a:rPr lang="en-US" sz="4100" b="1" kern="1200">
                <a:solidFill>
                  <a:schemeClr val="tx1"/>
                </a:solidFill>
                <a:latin typeface="+mj-lt"/>
                <a:ea typeface="+mj-ea"/>
                <a:cs typeface="+mj-cs"/>
              </a:rPr>
            </a:br>
            <a:endParaRPr lang="en-US" sz="4100" kern="1200">
              <a:solidFill>
                <a:schemeClr val="tx1"/>
              </a:solidFill>
              <a:latin typeface="+mj-lt"/>
              <a:ea typeface="+mj-ea"/>
              <a:cs typeface="+mj-cs"/>
            </a:endParaRPr>
          </a:p>
        </p:txBody>
      </p:sp>
      <p:sp>
        <p:nvSpPr>
          <p:cNvPr id="10249" name="Rectangle 1024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Rectangle 1025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8047DC-7F62-AA70-8128-C7D8B13102AA}"/>
              </a:ext>
            </a:extLst>
          </p:cNvPr>
          <p:cNvSpPr txBox="1"/>
          <p:nvPr/>
        </p:nvSpPr>
        <p:spPr>
          <a:xfrm>
            <a:off x="496919" y="2599509"/>
            <a:ext cx="4827640" cy="3639450"/>
          </a:xfrm>
          <a:prstGeom prst="rect">
            <a:avLst/>
          </a:prstGeom>
        </p:spPr>
        <p:txBody>
          <a:bodyPr vert="horz" lIns="91440" tIns="45720" rIns="91440" bIns="45720" rtlCol="0" anchor="ctr">
            <a:normAutofit/>
          </a:bodyPr>
          <a:lstStyle/>
          <a:p>
            <a:pPr indent="-228600" fontAlgn="base">
              <a:lnSpc>
                <a:spcPct val="90000"/>
              </a:lnSpc>
              <a:spcAft>
                <a:spcPts val="750"/>
              </a:spcAft>
              <a:buFont typeface="Arial" panose="020B0604020202020204" pitchFamily="34" charset="0"/>
              <a:buChar char="•"/>
            </a:pPr>
            <a:r>
              <a:rPr lang="en-US" sz="1300" b="0" i="0" dirty="0">
                <a:effectLst/>
              </a:rPr>
              <a:t>DNS helps manage a wide variety of domain types to organize the vast number of websites on the internet. Here are the primary categories:</a:t>
            </a:r>
          </a:p>
          <a:p>
            <a:pPr indent="-228600" fontAlgn="base">
              <a:lnSpc>
                <a:spcPct val="90000"/>
              </a:lnSpc>
              <a:spcAft>
                <a:spcPts val="1800"/>
              </a:spcAft>
              <a:buFont typeface="Arial" panose="020B0604020202020204" pitchFamily="34" charset="0"/>
              <a:buChar char="•"/>
            </a:pPr>
            <a:r>
              <a:rPr lang="en-US" sz="1300" b="1" i="0" dirty="0">
                <a:effectLst/>
              </a:rPr>
              <a:t>Generic Domains: </a:t>
            </a:r>
            <a:r>
              <a:rPr lang="en-US" sz="1300" b="0" i="0" dirty="0">
                <a:effectLst/>
              </a:rPr>
              <a:t>These include top-level domains like .com, .org, </a:t>
            </a:r>
            <a:r>
              <a:rPr lang="en-US" sz="1300" b="0" i="0" dirty="0" err="1">
                <a:effectLst/>
              </a:rPr>
              <a:t>.net</a:t>
            </a:r>
            <a:r>
              <a:rPr lang="en-US" sz="1300" b="0" i="0" dirty="0">
                <a:effectLst/>
              </a:rPr>
              <a:t> and .</a:t>
            </a:r>
            <a:r>
              <a:rPr lang="en-US" sz="1300" b="0" i="0" dirty="0" err="1">
                <a:effectLst/>
              </a:rPr>
              <a:t>edu</a:t>
            </a:r>
            <a:r>
              <a:rPr lang="en-US" sz="1300" b="0" i="0" dirty="0">
                <a:effectLst/>
              </a:rPr>
              <a:t>. These are widely used and recognized across the world.</a:t>
            </a:r>
          </a:p>
          <a:p>
            <a:pPr indent="-228600" fontAlgn="base">
              <a:lnSpc>
                <a:spcPct val="90000"/>
              </a:lnSpc>
              <a:spcAft>
                <a:spcPts val="1800"/>
              </a:spcAft>
              <a:buFont typeface="Arial" panose="020B0604020202020204" pitchFamily="34" charset="0"/>
              <a:buChar char="•"/>
            </a:pPr>
            <a:r>
              <a:rPr lang="en-US" sz="1300" b="1" i="0" dirty="0">
                <a:effectLst/>
              </a:rPr>
              <a:t>Country Code Domains: </a:t>
            </a:r>
            <a:r>
              <a:rPr lang="en-US" sz="1300" b="0" i="0" dirty="0">
                <a:effectLst/>
              </a:rPr>
              <a:t>These domains represent specific countries or regions, such as .in for India, .us for the United States, .</a:t>
            </a:r>
            <a:r>
              <a:rPr lang="en-US" sz="1300" b="0" i="0" dirty="0" err="1">
                <a:effectLst/>
              </a:rPr>
              <a:t>uk</a:t>
            </a:r>
            <a:r>
              <a:rPr lang="en-US" sz="1300" b="0" i="0" dirty="0">
                <a:effectLst/>
              </a:rPr>
              <a:t> for the United Kingdom and .</a:t>
            </a:r>
            <a:r>
              <a:rPr lang="en-US" sz="1300" b="0" i="0" dirty="0" err="1">
                <a:effectLst/>
              </a:rPr>
              <a:t>jp</a:t>
            </a:r>
            <a:r>
              <a:rPr lang="en-US" sz="1300" b="0" i="0" dirty="0">
                <a:effectLst/>
              </a:rPr>
              <a:t> for Japan.</a:t>
            </a:r>
          </a:p>
          <a:p>
            <a:pPr indent="-228600" fontAlgn="base">
              <a:lnSpc>
                <a:spcPct val="90000"/>
              </a:lnSpc>
              <a:spcAft>
                <a:spcPts val="1800"/>
              </a:spcAft>
              <a:buFont typeface="Arial" panose="020B0604020202020204" pitchFamily="34" charset="0"/>
              <a:buChar char="•"/>
            </a:pPr>
            <a:r>
              <a:rPr lang="en-US" sz="1300" b="1" i="0" dirty="0">
                <a:effectLst/>
              </a:rPr>
              <a:t>Inverse Domains: </a:t>
            </a:r>
            <a:r>
              <a:rPr lang="en-US" sz="1300" b="0" i="0" dirty="0">
                <a:effectLst/>
              </a:rPr>
              <a:t>Used for reverse DNS lookups, these domains help map IP addresses back to domain names. Reverse DNS lookups are useful for diagnostics and security purposes, ensuring that the source of network traffic is legitimate. So DNS can provide both the mapping for example to find the IP addresses of </a:t>
            </a:r>
            <a:r>
              <a:rPr lang="en-US" sz="1300" b="0" i="0" dirty="0" err="1">
                <a:effectLst/>
              </a:rPr>
              <a:t>geeksforgeeks.org</a:t>
            </a:r>
            <a:r>
              <a:rPr lang="en-US" sz="1300" b="0" i="0" dirty="0">
                <a:effectLst/>
              </a:rPr>
              <a:t> then we have to type</a:t>
            </a:r>
          </a:p>
        </p:txBody>
      </p:sp>
      <p:pic>
        <p:nvPicPr>
          <p:cNvPr id="10242" name="Picture 2" descr="Types of DNS">
            <a:extLst>
              <a:ext uri="{FF2B5EF4-FFF2-40B4-BE49-F238E27FC236}">
                <a16:creationId xmlns:a16="http://schemas.microsoft.com/office/drawing/2014/main" id="{80F4F7F8-582F-8A5E-23DA-25DE3F15EE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11532" y="3053808"/>
            <a:ext cx="5150277" cy="2575137"/>
          </a:xfrm>
          <a:prstGeom prst="rect">
            <a:avLst/>
          </a:prstGeom>
          <a:noFill/>
          <a:extLst>
            <a:ext uri="{909E8E84-426E-40DD-AFC4-6F175D3DCCD1}">
              <a14:hiddenFill xmlns:a14="http://schemas.microsoft.com/office/drawing/2010/main">
                <a:solidFill>
                  <a:srgbClr val="FFFFFF"/>
                </a:solidFill>
              </a14:hiddenFill>
            </a:ext>
          </a:extLst>
        </p:spPr>
      </p:pic>
      <p:sp>
        <p:nvSpPr>
          <p:cNvPr id="10253" name="Rectangle 1025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9410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39" name="Rectangle 1843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1" name="Freeform: Shape 1844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76569D9-F020-0397-C66D-44580D1FB15D}"/>
              </a:ext>
            </a:extLst>
          </p:cNvPr>
          <p:cNvSpPr>
            <a:spLocks noGrp="1"/>
          </p:cNvSpPr>
          <p:nvPr>
            <p:ph type="title"/>
          </p:nvPr>
        </p:nvSpPr>
        <p:spPr>
          <a:xfrm>
            <a:off x="1137034" y="609597"/>
            <a:ext cx="9392421" cy="1330841"/>
          </a:xfrm>
        </p:spPr>
        <p:txBody>
          <a:bodyPr>
            <a:normAutofit/>
          </a:bodyPr>
          <a:lstStyle/>
          <a:p>
            <a:r>
              <a:rPr lang="en-GB" b="1" dirty="0"/>
              <a:t>What is URL (Uniform Resource Locator) ?</a:t>
            </a:r>
            <a:endParaRPr lang="en-US" dirty="0"/>
          </a:p>
        </p:txBody>
      </p:sp>
      <p:sp>
        <p:nvSpPr>
          <p:cNvPr id="3" name="Content Placeholder 2">
            <a:extLst>
              <a:ext uri="{FF2B5EF4-FFF2-40B4-BE49-F238E27FC236}">
                <a16:creationId xmlns:a16="http://schemas.microsoft.com/office/drawing/2014/main" id="{AB8A69F3-4245-7BDE-C52E-395BB8F1D3D2}"/>
              </a:ext>
            </a:extLst>
          </p:cNvPr>
          <p:cNvSpPr>
            <a:spLocks noGrp="1"/>
          </p:cNvSpPr>
          <p:nvPr>
            <p:ph idx="1"/>
          </p:nvPr>
        </p:nvSpPr>
        <p:spPr>
          <a:xfrm>
            <a:off x="1137034" y="2198362"/>
            <a:ext cx="4958966" cy="3917773"/>
          </a:xfrm>
        </p:spPr>
        <p:txBody>
          <a:bodyPr>
            <a:normAutofit/>
          </a:bodyPr>
          <a:lstStyle/>
          <a:p>
            <a:r>
              <a:rPr lang="en-GB" sz="2000"/>
              <a:t>A URL or Uniform Resource Locator is a Unique identifier that is contained by all the resources available on the internet. It can help to locate a particular resource due to its uniqueness. It is also known as the web address. A URL consists of different parts like protocol, domain name, etc. The users can access the URLs by simply typing them inside the address bar or by clicking any button or link web page.</a:t>
            </a:r>
            <a:endParaRPr lang="en-US" sz="2000"/>
          </a:p>
        </p:txBody>
      </p:sp>
      <p:pic>
        <p:nvPicPr>
          <p:cNvPr id="18434" name="Picture 2" descr="Lightbox">
            <a:extLst>
              <a:ext uri="{FF2B5EF4-FFF2-40B4-BE49-F238E27FC236}">
                <a16:creationId xmlns:a16="http://schemas.microsoft.com/office/drawing/2014/main" id="{A00CF931-02B6-A236-1EB2-0FF206D40F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28" t="12601" r="15472" b="11993"/>
          <a:stretch>
            <a:fillRect/>
          </a:stretch>
        </p:blipFill>
        <p:spPr bwMode="auto">
          <a:xfrm>
            <a:off x="6719367" y="2725530"/>
            <a:ext cx="4788505" cy="2674683"/>
          </a:xfrm>
          <a:prstGeom prst="rect">
            <a:avLst/>
          </a:prstGeom>
          <a:noFill/>
          <a:extLst>
            <a:ext uri="{909E8E84-426E-40DD-AFC4-6F175D3DCCD1}">
              <a14:hiddenFill xmlns:a14="http://schemas.microsoft.com/office/drawing/2010/main">
                <a:solidFill>
                  <a:srgbClr val="FFFFFF"/>
                </a:solidFill>
              </a14:hiddenFill>
            </a:ext>
          </a:extLst>
        </p:spPr>
      </p:pic>
      <p:sp>
        <p:nvSpPr>
          <p:cNvPr id="18443" name="Freeform: Shape 1844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22109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4012A-3532-329F-1CE8-0535F3A59D60}"/>
              </a:ext>
            </a:extLst>
          </p:cNvPr>
          <p:cNvSpPr>
            <a:spLocks noGrp="1"/>
          </p:cNvSpPr>
          <p:nvPr>
            <p:ph type="title"/>
          </p:nvPr>
        </p:nvSpPr>
        <p:spPr/>
        <p:txBody>
          <a:bodyPr/>
          <a:lstStyle/>
          <a:p>
            <a:r>
              <a:rPr lang="en-GB" b="1" dirty="0"/>
              <a:t>Different Parts of a URL</a:t>
            </a:r>
            <a:endParaRPr lang="en-US" dirty="0"/>
          </a:p>
        </p:txBody>
      </p:sp>
      <p:pic>
        <p:nvPicPr>
          <p:cNvPr id="19458" name="Picture 2" descr="Lightbox">
            <a:extLst>
              <a:ext uri="{FF2B5EF4-FFF2-40B4-BE49-F238E27FC236}">
                <a16:creationId xmlns:a16="http://schemas.microsoft.com/office/drawing/2014/main" id="{A3EA7ECE-E773-C9CA-D794-5C49D3443F0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5754" b="21073"/>
          <a:stretch>
            <a:fillRect/>
          </a:stretch>
        </p:blipFill>
        <p:spPr bwMode="auto">
          <a:xfrm>
            <a:off x="1964254" y="2879124"/>
            <a:ext cx="8443568" cy="30891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8231E17-76B1-5CE5-BC8A-D675BE3FD929}"/>
              </a:ext>
            </a:extLst>
          </p:cNvPr>
          <p:cNvSpPr txBox="1"/>
          <p:nvPr/>
        </p:nvSpPr>
        <p:spPr>
          <a:xfrm>
            <a:off x="988540" y="1690688"/>
            <a:ext cx="9774195" cy="646331"/>
          </a:xfrm>
          <a:prstGeom prst="rect">
            <a:avLst/>
          </a:prstGeom>
          <a:noFill/>
        </p:spPr>
        <p:txBody>
          <a:bodyPr wrap="square">
            <a:spAutoFit/>
          </a:bodyPr>
          <a:lstStyle/>
          <a:p>
            <a:r>
              <a:rPr lang="en-GB" b="0" i="0" dirty="0">
                <a:solidFill>
                  <a:srgbClr val="273239"/>
                </a:solidFill>
                <a:effectLst/>
                <a:latin typeface="Nunito" pitchFamily="2" charset="77"/>
              </a:rPr>
              <a:t>A URL consists of </a:t>
            </a:r>
            <a:r>
              <a:rPr lang="en-GB" b="0" i="0" dirty="0" err="1">
                <a:solidFill>
                  <a:srgbClr val="273239"/>
                </a:solidFill>
                <a:effectLst/>
                <a:latin typeface="Nunito" pitchFamily="2" charset="77"/>
              </a:rPr>
              <a:t>mutliple</a:t>
            </a:r>
            <a:r>
              <a:rPr lang="en-GB" b="0" i="0" dirty="0">
                <a:solidFill>
                  <a:srgbClr val="273239"/>
                </a:solidFill>
                <a:effectLst/>
                <a:latin typeface="Nunito" pitchFamily="2" charset="77"/>
              </a:rPr>
              <a:t> parts that can helps you to visit a particular page on the internet. Every part of a URL has its own importance. Let us discuss about the different parts of a URL.</a:t>
            </a:r>
            <a:endParaRPr lang="en-US" dirty="0"/>
          </a:p>
        </p:txBody>
      </p:sp>
    </p:spTree>
    <p:extLst>
      <p:ext uri="{BB962C8B-B14F-4D97-AF65-F5344CB8AC3E}">
        <p14:creationId xmlns:p14="http://schemas.microsoft.com/office/powerpoint/2010/main" val="207241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BCC2-769F-9BB0-DA4D-133D6D5911B7}"/>
              </a:ext>
            </a:extLst>
          </p:cNvPr>
          <p:cNvSpPr>
            <a:spLocks noGrp="1"/>
          </p:cNvSpPr>
          <p:nvPr>
            <p:ph type="title"/>
          </p:nvPr>
        </p:nvSpPr>
        <p:spPr/>
        <p:txBody>
          <a:bodyPr/>
          <a:lstStyle/>
          <a:p>
            <a:r>
              <a:rPr lang="en-US" dirty="0"/>
              <a:t>URL parts</a:t>
            </a:r>
          </a:p>
        </p:txBody>
      </p:sp>
      <p:sp>
        <p:nvSpPr>
          <p:cNvPr id="3" name="Content Placeholder 2">
            <a:extLst>
              <a:ext uri="{FF2B5EF4-FFF2-40B4-BE49-F238E27FC236}">
                <a16:creationId xmlns:a16="http://schemas.microsoft.com/office/drawing/2014/main" id="{D9F24066-AD38-F16F-772F-2C31212DC16D}"/>
              </a:ext>
            </a:extLst>
          </p:cNvPr>
          <p:cNvSpPr>
            <a:spLocks noGrp="1"/>
          </p:cNvSpPr>
          <p:nvPr>
            <p:ph idx="1"/>
          </p:nvPr>
        </p:nvSpPr>
        <p:spPr/>
        <p:txBody>
          <a:bodyPr>
            <a:normAutofit fontScale="70000" lnSpcReduction="20000"/>
          </a:bodyPr>
          <a:lstStyle/>
          <a:p>
            <a:pPr marL="0" indent="0" fontAlgn="base">
              <a:buNone/>
            </a:pPr>
            <a:r>
              <a:rPr lang="en-GB" b="1" dirty="0"/>
              <a:t>The protocol or scheme:</a:t>
            </a:r>
          </a:p>
          <a:p>
            <a:pPr fontAlgn="base"/>
            <a:r>
              <a:rPr lang="en-GB" dirty="0"/>
              <a:t>A URL starts with a protocol that is used to access the resource on the internet. The resource is accessed through the </a:t>
            </a:r>
            <a:r>
              <a:rPr lang="en-GB" u="sng" dirty="0">
                <a:hlinkClick r:id="rId2"/>
              </a:rPr>
              <a:t>Domain Name System</a:t>
            </a:r>
            <a:r>
              <a:rPr lang="en-GB" dirty="0"/>
              <a:t> or DNS. There are multiple protocols </a:t>
            </a:r>
            <a:r>
              <a:rPr lang="en-GB" dirty="0" err="1"/>
              <a:t>avaiable</a:t>
            </a:r>
            <a:r>
              <a:rPr lang="en-GB" dirty="0"/>
              <a:t> to use like </a:t>
            </a:r>
            <a:r>
              <a:rPr lang="en-GB" u="sng" dirty="0">
                <a:hlinkClick r:id="rId3"/>
              </a:rPr>
              <a:t>HTTP</a:t>
            </a:r>
            <a:r>
              <a:rPr lang="en-GB" dirty="0"/>
              <a:t>, </a:t>
            </a:r>
            <a:r>
              <a:rPr lang="en-GB" u="sng" dirty="0">
                <a:hlinkClick r:id="rId4"/>
              </a:rPr>
              <a:t>HTTPS</a:t>
            </a:r>
            <a:r>
              <a:rPr lang="en-GB" dirty="0"/>
              <a:t>, </a:t>
            </a:r>
            <a:r>
              <a:rPr lang="en-GB" u="sng" dirty="0">
                <a:hlinkClick r:id="rId5"/>
              </a:rPr>
              <a:t>FTP</a:t>
            </a:r>
            <a:r>
              <a:rPr lang="en-GB" dirty="0"/>
              <a:t>, </a:t>
            </a:r>
            <a:r>
              <a:rPr lang="en-GB" dirty="0" err="1"/>
              <a:t>mailto</a:t>
            </a:r>
            <a:r>
              <a:rPr lang="en-GB" dirty="0"/>
              <a:t>, </a:t>
            </a:r>
            <a:r>
              <a:rPr lang="en-GB" u="sng" dirty="0">
                <a:hlinkClick r:id="rId6"/>
              </a:rPr>
              <a:t>TELNET</a:t>
            </a:r>
            <a:r>
              <a:rPr lang="en-GB" dirty="0"/>
              <a:t> etc. The protocol used in the above URL is </a:t>
            </a:r>
            <a:r>
              <a:rPr lang="en-GB" b="1" dirty="0"/>
              <a:t>https.</a:t>
            </a:r>
            <a:endParaRPr lang="en-GB" dirty="0"/>
          </a:p>
          <a:p>
            <a:pPr marL="0" indent="0" fontAlgn="base">
              <a:buNone/>
            </a:pPr>
            <a:r>
              <a:rPr lang="en-GB" b="1" dirty="0"/>
              <a:t>Domain or Host Name:</a:t>
            </a:r>
          </a:p>
          <a:p>
            <a:pPr fontAlgn="base"/>
            <a:r>
              <a:rPr lang="en-GB" dirty="0"/>
              <a:t>It is the reference or name of the page that you are going to access on the internet. In this case, the domain name is: </a:t>
            </a:r>
            <a:r>
              <a:rPr lang="en-GB" b="1" dirty="0" err="1"/>
              <a:t>www.geeksforgeeks.org</a:t>
            </a:r>
            <a:r>
              <a:rPr lang="en-GB" b="1" dirty="0"/>
              <a:t>.</a:t>
            </a:r>
            <a:endParaRPr lang="en-GB" dirty="0"/>
          </a:p>
          <a:p>
            <a:pPr marL="0" indent="0" fontAlgn="base">
              <a:buNone/>
            </a:pPr>
            <a:r>
              <a:rPr lang="en-GB" b="1" dirty="0"/>
              <a:t>Port Name:</a:t>
            </a:r>
          </a:p>
          <a:p>
            <a:pPr fontAlgn="base"/>
            <a:r>
              <a:rPr lang="en-GB" dirty="0"/>
              <a:t>It is defined just after the domain name by using the colons between itself and the domain name. Generally, it is not visible in the URL. The </a:t>
            </a:r>
            <a:r>
              <a:rPr lang="en-GB" b="1" dirty="0"/>
              <a:t>domain name </a:t>
            </a:r>
            <a:r>
              <a:rPr lang="en-GB" dirty="0"/>
              <a:t>and the </a:t>
            </a:r>
            <a:r>
              <a:rPr lang="en-GB" b="1" dirty="0"/>
              <a:t>port name</a:t>
            </a:r>
            <a:r>
              <a:rPr lang="en-GB" dirty="0"/>
              <a:t> </a:t>
            </a:r>
            <a:r>
              <a:rPr lang="en-GB" dirty="0" err="1"/>
              <a:t>combinely</a:t>
            </a:r>
            <a:r>
              <a:rPr lang="en-GB" dirty="0"/>
              <a:t> can be known as </a:t>
            </a:r>
            <a:r>
              <a:rPr lang="en-GB" b="1" dirty="0"/>
              <a:t>Authority</a:t>
            </a:r>
            <a:r>
              <a:rPr lang="en-GB" dirty="0"/>
              <a:t>. The default port for web services is </a:t>
            </a:r>
            <a:r>
              <a:rPr lang="en-GB" b="1" dirty="0"/>
              <a:t>port80 (:80).</a:t>
            </a:r>
            <a:endParaRPr lang="en-GB" dirty="0"/>
          </a:p>
          <a:p>
            <a:pPr marL="0" indent="0" fontAlgn="base">
              <a:buNone/>
            </a:pPr>
            <a:r>
              <a:rPr lang="en-GB" b="1" dirty="0"/>
              <a:t>Path:</a:t>
            </a:r>
          </a:p>
          <a:p>
            <a:pPr fontAlgn="base"/>
            <a:r>
              <a:rPr lang="en-GB" dirty="0"/>
              <a:t>It refers to the path or location of a particular file or page stored on the web server to access the content of it. The path used here is:</a:t>
            </a:r>
            <a:r>
              <a:rPr lang="en-GB" b="1" dirty="0"/>
              <a:t> array-data-structure.</a:t>
            </a:r>
            <a:endParaRPr lang="en-GB" dirty="0"/>
          </a:p>
        </p:txBody>
      </p:sp>
    </p:spTree>
    <p:extLst>
      <p:ext uri="{BB962C8B-B14F-4D97-AF65-F5344CB8AC3E}">
        <p14:creationId xmlns:p14="http://schemas.microsoft.com/office/powerpoint/2010/main" val="284149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151C-0AAC-AC2C-9017-3C54ECA08323}"/>
              </a:ext>
            </a:extLst>
          </p:cNvPr>
          <p:cNvSpPr>
            <a:spLocks noGrp="1"/>
          </p:cNvSpPr>
          <p:nvPr>
            <p:ph type="title"/>
          </p:nvPr>
        </p:nvSpPr>
        <p:spPr/>
        <p:txBody>
          <a:bodyPr/>
          <a:lstStyle/>
          <a:p>
            <a:r>
              <a:rPr lang="en-US" dirty="0"/>
              <a:t>URL parts</a:t>
            </a:r>
          </a:p>
        </p:txBody>
      </p:sp>
      <p:sp>
        <p:nvSpPr>
          <p:cNvPr id="3" name="Content Placeholder 2">
            <a:extLst>
              <a:ext uri="{FF2B5EF4-FFF2-40B4-BE49-F238E27FC236}">
                <a16:creationId xmlns:a16="http://schemas.microsoft.com/office/drawing/2014/main" id="{1C0F4FB5-EF56-63BF-47CB-5AE8B93EBF52}"/>
              </a:ext>
            </a:extLst>
          </p:cNvPr>
          <p:cNvSpPr>
            <a:spLocks noGrp="1"/>
          </p:cNvSpPr>
          <p:nvPr>
            <p:ph idx="1"/>
          </p:nvPr>
        </p:nvSpPr>
        <p:spPr/>
        <p:txBody>
          <a:bodyPr>
            <a:normAutofit fontScale="77500" lnSpcReduction="20000"/>
          </a:bodyPr>
          <a:lstStyle/>
          <a:p>
            <a:pPr marL="0" indent="0" fontAlgn="base">
              <a:buNone/>
            </a:pPr>
            <a:r>
              <a:rPr lang="en-GB" b="1" dirty="0"/>
              <a:t>Query:</a:t>
            </a:r>
          </a:p>
          <a:p>
            <a:pPr fontAlgn="base"/>
            <a:r>
              <a:rPr lang="en-GB" dirty="0"/>
              <a:t>A query mainly found in the dynamic pages. It consists of a </a:t>
            </a:r>
            <a:r>
              <a:rPr lang="en-GB" b="1" dirty="0"/>
              <a:t>question mark(?) </a:t>
            </a:r>
            <a:r>
              <a:rPr lang="en-GB" dirty="0"/>
              <a:t>followed by the parameters.</a:t>
            </a:r>
            <a:r>
              <a:rPr lang="en-GB" b="1" dirty="0"/>
              <a:t> </a:t>
            </a:r>
            <a:r>
              <a:rPr lang="en-GB" dirty="0"/>
              <a:t>In above URL query is: </a:t>
            </a:r>
            <a:r>
              <a:rPr lang="en-GB" b="1" dirty="0"/>
              <a:t>?.</a:t>
            </a:r>
            <a:endParaRPr lang="en-GB" dirty="0"/>
          </a:p>
          <a:p>
            <a:pPr marL="0" indent="0" fontAlgn="base">
              <a:buNone/>
            </a:pPr>
            <a:r>
              <a:rPr lang="en-GB" b="1" dirty="0"/>
              <a:t>Parameters:</a:t>
            </a:r>
          </a:p>
          <a:p>
            <a:pPr fontAlgn="base"/>
            <a:r>
              <a:rPr lang="en-GB" dirty="0"/>
              <a:t>These are the pieces of information inside a query string of URL. Multiple parameters can be passed to a URL by using the </a:t>
            </a:r>
            <a:r>
              <a:rPr lang="en-GB" b="1" dirty="0"/>
              <a:t>ampersand(&amp;) </a:t>
            </a:r>
            <a:r>
              <a:rPr lang="en-GB" dirty="0"/>
              <a:t>symbol to separate them. The query parameter in above URL is: </a:t>
            </a:r>
            <a:r>
              <a:rPr lang="en-GB" b="1" dirty="0"/>
              <a:t>ref=home-</a:t>
            </a:r>
            <a:r>
              <a:rPr lang="en-GB" b="1" dirty="0" err="1"/>
              <a:t>articlecards</a:t>
            </a:r>
            <a:r>
              <a:rPr lang="en-GB" b="1" dirty="0"/>
              <a:t>.</a:t>
            </a:r>
            <a:endParaRPr lang="en-GB" dirty="0"/>
          </a:p>
          <a:p>
            <a:pPr marL="0" indent="0" fontAlgn="base">
              <a:buNone/>
            </a:pPr>
            <a:r>
              <a:rPr lang="en-GB" b="1" dirty="0"/>
              <a:t>Fragments:</a:t>
            </a:r>
          </a:p>
          <a:p>
            <a:pPr fontAlgn="base"/>
            <a:r>
              <a:rPr lang="en-GB" dirty="0"/>
              <a:t>The fragments appear at the end of a URL starts with a </a:t>
            </a:r>
            <a:r>
              <a:rPr lang="en-GB" b="1" dirty="0"/>
              <a:t>Hashtag(#)</a:t>
            </a:r>
            <a:r>
              <a:rPr lang="en-GB" dirty="0"/>
              <a:t> symbol. These are the internal page references that refers to a specific section within the page. The fragment in the above URL is: </a:t>
            </a:r>
            <a:r>
              <a:rPr lang="en-GB" b="1" dirty="0"/>
              <a:t>#what-is-array</a:t>
            </a:r>
            <a:r>
              <a:rPr lang="en-GB" dirty="0"/>
              <a:t>.</a:t>
            </a:r>
          </a:p>
          <a:p>
            <a:pPr marL="0" indent="0">
              <a:buNone/>
            </a:pPr>
            <a:br>
              <a:rPr lang="en-GB" dirty="0"/>
            </a:br>
            <a:endParaRPr lang="en-US" dirty="0"/>
          </a:p>
          <a:p>
            <a:endParaRPr lang="en-US" dirty="0"/>
          </a:p>
        </p:txBody>
      </p:sp>
    </p:spTree>
    <p:extLst>
      <p:ext uri="{BB962C8B-B14F-4D97-AF65-F5344CB8AC3E}">
        <p14:creationId xmlns:p14="http://schemas.microsoft.com/office/powerpoint/2010/main" val="172635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Freeform: Shape 615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18CE688-6945-B3C1-A8DC-BB38EFD4C88B}"/>
              </a:ext>
            </a:extLst>
          </p:cNvPr>
          <p:cNvSpPr>
            <a:spLocks noGrp="1"/>
          </p:cNvSpPr>
          <p:nvPr>
            <p:ph type="title"/>
          </p:nvPr>
        </p:nvSpPr>
        <p:spPr>
          <a:xfrm>
            <a:off x="1137034" y="609597"/>
            <a:ext cx="9392421" cy="1330841"/>
          </a:xfrm>
        </p:spPr>
        <p:txBody>
          <a:bodyPr>
            <a:normAutofit/>
          </a:bodyPr>
          <a:lstStyle/>
          <a:p>
            <a:r>
              <a:rPr lang="en-GB" dirty="0"/>
              <a:t>Basics of HTTP request/response cycle</a:t>
            </a:r>
            <a:br>
              <a:rPr lang="en-GB" dirty="0"/>
            </a:br>
            <a:endParaRPr lang="en-US" dirty="0"/>
          </a:p>
        </p:txBody>
      </p:sp>
      <p:sp>
        <p:nvSpPr>
          <p:cNvPr id="6155" name="Freeform: Shape 615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Content Placeholder 4">
            <a:extLst>
              <a:ext uri="{FF2B5EF4-FFF2-40B4-BE49-F238E27FC236}">
                <a16:creationId xmlns:a16="http://schemas.microsoft.com/office/drawing/2014/main" id="{D05E6791-2E46-0A8A-DBEF-515DC20F88F6}"/>
              </a:ext>
            </a:extLst>
          </p:cNvPr>
          <p:cNvSpPr>
            <a:spLocks noGrp="1"/>
          </p:cNvSpPr>
          <p:nvPr>
            <p:ph idx="1"/>
          </p:nvPr>
        </p:nvSpPr>
        <p:spPr>
          <a:xfrm>
            <a:off x="838200" y="1825625"/>
            <a:ext cx="9392421" cy="4351338"/>
          </a:xfrm>
        </p:spPr>
        <p:txBody>
          <a:bodyPr>
            <a:normAutofit/>
          </a:bodyPr>
          <a:lstStyle/>
          <a:p>
            <a:pPr fontAlgn="base"/>
            <a:r>
              <a:rPr lang="en-GB" dirty="0"/>
              <a:t>Web applications run on a </a:t>
            </a:r>
            <a:r>
              <a:rPr lang="en-GB" u="sng" dirty="0">
                <a:hlinkClick r:id="rId2"/>
              </a:rPr>
              <a:t>client-server model</a:t>
            </a:r>
            <a:r>
              <a:rPr lang="en-GB" dirty="0"/>
              <a:t>, meaning users access them through a web browser without needing to download or install anything. They rely on three key components:</a:t>
            </a:r>
          </a:p>
          <a:p>
            <a:pPr fontAlgn="base"/>
            <a:r>
              <a:rPr lang="en-GB" b="1" dirty="0"/>
              <a:t>Web Server</a:t>
            </a:r>
            <a:r>
              <a:rPr lang="en-GB" dirty="0"/>
              <a:t> – Handles user requests and directs them to the right place.</a:t>
            </a:r>
          </a:p>
          <a:p>
            <a:pPr fontAlgn="base"/>
            <a:r>
              <a:rPr lang="en-GB" b="1" dirty="0"/>
              <a:t>Application Server</a:t>
            </a:r>
            <a:r>
              <a:rPr lang="en-GB" dirty="0"/>
              <a:t> – Processes tasks and generates responses.</a:t>
            </a:r>
          </a:p>
          <a:p>
            <a:pPr fontAlgn="base"/>
            <a:r>
              <a:rPr lang="en-GB" b="1" dirty="0"/>
              <a:t>Database </a:t>
            </a:r>
            <a:r>
              <a:rPr lang="en-GB" dirty="0"/>
              <a:t>– Stores and retrieves data as needed.</a:t>
            </a:r>
          </a:p>
          <a:p>
            <a:endParaRPr lang="en-US" dirty="0"/>
          </a:p>
        </p:txBody>
      </p:sp>
    </p:spTree>
    <p:extLst>
      <p:ext uri="{BB962C8B-B14F-4D97-AF65-F5344CB8AC3E}">
        <p14:creationId xmlns:p14="http://schemas.microsoft.com/office/powerpoint/2010/main" val="3315651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2FA16-DAFD-773A-C64F-B1A3AF425FCF}"/>
              </a:ext>
            </a:extLst>
          </p:cNvPr>
          <p:cNvSpPr>
            <a:spLocks noGrp="1"/>
          </p:cNvSpPr>
          <p:nvPr>
            <p:ph type="title"/>
          </p:nvPr>
        </p:nvSpPr>
        <p:spPr/>
        <p:txBody>
          <a:bodyPr/>
          <a:lstStyle/>
          <a:p>
            <a:r>
              <a:rPr lang="en-GB" dirty="0"/>
              <a:t>Basics of HTTP request/response cycle</a:t>
            </a:r>
            <a:endParaRPr lang="en-US" dirty="0"/>
          </a:p>
        </p:txBody>
      </p:sp>
      <p:pic>
        <p:nvPicPr>
          <p:cNvPr id="7170" name="Picture 2" descr="Working-of-Web-Apps-3.webp">
            <a:extLst>
              <a:ext uri="{FF2B5EF4-FFF2-40B4-BE49-F238E27FC236}">
                <a16:creationId xmlns:a16="http://schemas.microsoft.com/office/drawing/2014/main" id="{49521C2E-30BC-CB6F-5CF8-4A74B378B9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5697" y="3429000"/>
            <a:ext cx="508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Working-of-Web-Apps-2.webp">
            <a:extLst>
              <a:ext uri="{FF2B5EF4-FFF2-40B4-BE49-F238E27FC236}">
                <a16:creationId xmlns:a16="http://schemas.microsoft.com/office/drawing/2014/main" id="{2D6208B0-E91A-DC59-1437-51CD1A9D7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8734" y="3590967"/>
            <a:ext cx="4390769" cy="219538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Working-of-Web-Apps.webp">
            <a:extLst>
              <a:ext uri="{FF2B5EF4-FFF2-40B4-BE49-F238E27FC236}">
                <a16:creationId xmlns:a16="http://schemas.microsoft.com/office/drawing/2014/main" id="{34D73440-F27B-1425-3B8B-B536F5AD0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2784" y="1749403"/>
            <a:ext cx="3889632" cy="1944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146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7941-6C34-362B-3E6B-33EB793B8BD4}"/>
              </a:ext>
            </a:extLst>
          </p:cNvPr>
          <p:cNvSpPr>
            <a:spLocks noGrp="1"/>
          </p:cNvSpPr>
          <p:nvPr>
            <p:ph type="title"/>
          </p:nvPr>
        </p:nvSpPr>
        <p:spPr/>
        <p:txBody>
          <a:bodyPr/>
          <a:lstStyle/>
          <a:p>
            <a:r>
              <a:rPr lang="en-GB" b="1" dirty="0"/>
              <a:t>Working:</a:t>
            </a:r>
            <a:endParaRPr lang="en-US" dirty="0"/>
          </a:p>
        </p:txBody>
      </p:sp>
      <p:sp>
        <p:nvSpPr>
          <p:cNvPr id="3" name="Content Placeholder 2">
            <a:extLst>
              <a:ext uri="{FF2B5EF4-FFF2-40B4-BE49-F238E27FC236}">
                <a16:creationId xmlns:a16="http://schemas.microsoft.com/office/drawing/2014/main" id="{E6E43F7D-AE64-B430-205B-426E8D6D850A}"/>
              </a:ext>
            </a:extLst>
          </p:cNvPr>
          <p:cNvSpPr>
            <a:spLocks noGrp="1"/>
          </p:cNvSpPr>
          <p:nvPr>
            <p:ph idx="1"/>
          </p:nvPr>
        </p:nvSpPr>
        <p:spPr/>
        <p:txBody>
          <a:bodyPr/>
          <a:lstStyle/>
          <a:p>
            <a:pPr fontAlgn="base"/>
            <a:r>
              <a:rPr lang="en-GB" b="1" dirty="0"/>
              <a:t>User Request</a:t>
            </a:r>
            <a:r>
              <a:rPr lang="en-GB" dirty="0"/>
              <a:t>: A user accesses the web app, sending a request to the server.</a:t>
            </a:r>
          </a:p>
          <a:p>
            <a:pPr fontAlgn="base"/>
            <a:r>
              <a:rPr lang="en-GB" b="1" dirty="0"/>
              <a:t>Processing</a:t>
            </a:r>
            <a:r>
              <a:rPr lang="en-GB" dirty="0"/>
              <a:t>: The server processes the request, retrieves or updates data if needed.</a:t>
            </a:r>
          </a:p>
          <a:p>
            <a:pPr fontAlgn="base"/>
            <a:r>
              <a:rPr lang="en-GB" b="1" dirty="0"/>
              <a:t>Response</a:t>
            </a:r>
            <a:r>
              <a:rPr lang="en-GB" dirty="0"/>
              <a:t>: The processed data is sent back and displayed in the browser.</a:t>
            </a:r>
          </a:p>
          <a:p>
            <a:endParaRPr lang="en-US" dirty="0"/>
          </a:p>
        </p:txBody>
      </p:sp>
    </p:spTree>
    <p:extLst>
      <p:ext uri="{BB962C8B-B14F-4D97-AF65-F5344CB8AC3E}">
        <p14:creationId xmlns:p14="http://schemas.microsoft.com/office/powerpoint/2010/main" val="7945371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80EB-054B-8693-AA30-6D58AA98B27A}"/>
              </a:ext>
            </a:extLst>
          </p:cNvPr>
          <p:cNvSpPr>
            <a:spLocks noGrp="1"/>
          </p:cNvSpPr>
          <p:nvPr>
            <p:ph type="title"/>
          </p:nvPr>
        </p:nvSpPr>
        <p:spPr/>
        <p:txBody>
          <a:bodyPr/>
          <a:lstStyle/>
          <a:p>
            <a:r>
              <a:rPr lang="en-GB" b="1" dirty="0"/>
              <a:t>Technologies Behind Web Apps</a:t>
            </a:r>
            <a:endParaRPr lang="en-US" dirty="0"/>
          </a:p>
        </p:txBody>
      </p:sp>
      <p:sp>
        <p:nvSpPr>
          <p:cNvPr id="3" name="Content Placeholder 2">
            <a:extLst>
              <a:ext uri="{FF2B5EF4-FFF2-40B4-BE49-F238E27FC236}">
                <a16:creationId xmlns:a16="http://schemas.microsoft.com/office/drawing/2014/main" id="{7A60C5A1-20F5-B39C-3826-65E28931B3D8}"/>
              </a:ext>
            </a:extLst>
          </p:cNvPr>
          <p:cNvSpPr>
            <a:spLocks noGrp="1"/>
          </p:cNvSpPr>
          <p:nvPr>
            <p:ph idx="1"/>
          </p:nvPr>
        </p:nvSpPr>
        <p:spPr/>
        <p:txBody>
          <a:bodyPr/>
          <a:lstStyle/>
          <a:p>
            <a:pPr fontAlgn="base"/>
            <a:r>
              <a:rPr lang="en-GB" b="1" dirty="0"/>
              <a:t>Front-end</a:t>
            </a:r>
            <a:r>
              <a:rPr lang="en-GB" dirty="0"/>
              <a:t> (User Interface): Built using </a:t>
            </a:r>
            <a:r>
              <a:rPr lang="en-GB" u="sng" dirty="0">
                <a:hlinkClick r:id="rId2"/>
              </a:rPr>
              <a:t>HTML</a:t>
            </a:r>
            <a:r>
              <a:rPr lang="en-GB" dirty="0"/>
              <a:t>, </a:t>
            </a:r>
            <a:r>
              <a:rPr lang="en-GB" u="sng" dirty="0">
                <a:hlinkClick r:id="rId3"/>
              </a:rPr>
              <a:t>CSS</a:t>
            </a:r>
            <a:r>
              <a:rPr lang="en-GB" dirty="0"/>
              <a:t>, and </a:t>
            </a:r>
            <a:r>
              <a:rPr lang="en-GB" u="sng" dirty="0">
                <a:hlinkClick r:id="rId4"/>
              </a:rPr>
              <a:t>JavaScript </a:t>
            </a:r>
            <a:r>
              <a:rPr lang="en-GB" dirty="0"/>
              <a:t>for interactive elements.</a:t>
            </a:r>
          </a:p>
          <a:p>
            <a:pPr fontAlgn="base"/>
            <a:r>
              <a:rPr lang="en-GB" b="1" dirty="0"/>
              <a:t>Back-end</a:t>
            </a:r>
            <a:r>
              <a:rPr lang="en-GB" dirty="0"/>
              <a:t> (Server Logic): Uses languages like </a:t>
            </a:r>
            <a:r>
              <a:rPr lang="en-GB" u="sng" dirty="0">
                <a:hlinkClick r:id="rId5"/>
              </a:rPr>
              <a:t>Python</a:t>
            </a:r>
            <a:r>
              <a:rPr lang="en-GB" dirty="0"/>
              <a:t>, </a:t>
            </a:r>
            <a:r>
              <a:rPr lang="en-GB" u="sng" dirty="0">
                <a:hlinkClick r:id="rId6"/>
              </a:rPr>
              <a:t>Java</a:t>
            </a:r>
            <a:r>
              <a:rPr lang="en-GB" dirty="0"/>
              <a:t>, </a:t>
            </a:r>
            <a:r>
              <a:rPr lang="en-GB" u="sng" dirty="0">
                <a:hlinkClick r:id="rId7"/>
              </a:rPr>
              <a:t>Ruby</a:t>
            </a:r>
            <a:r>
              <a:rPr lang="en-GB" dirty="0"/>
              <a:t>, or </a:t>
            </a:r>
            <a:r>
              <a:rPr lang="en-GB" u="sng" dirty="0">
                <a:hlinkClick r:id="rId8"/>
              </a:rPr>
              <a:t>PHP </a:t>
            </a:r>
            <a:r>
              <a:rPr lang="en-GB" dirty="0"/>
              <a:t>to handle logic and database interactions.</a:t>
            </a:r>
          </a:p>
          <a:p>
            <a:pPr fontAlgn="base"/>
            <a:r>
              <a:rPr lang="en-GB" b="1" dirty="0"/>
              <a:t>Data Storage</a:t>
            </a:r>
            <a:r>
              <a:rPr lang="en-GB" dirty="0"/>
              <a:t>: Information is stored in databases, often in cloud-based systems for easy access from any device.</a:t>
            </a:r>
          </a:p>
        </p:txBody>
      </p:sp>
    </p:spTree>
    <p:extLst>
      <p:ext uri="{BB962C8B-B14F-4D97-AF65-F5344CB8AC3E}">
        <p14:creationId xmlns:p14="http://schemas.microsoft.com/office/powerpoint/2010/main" val="31353730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C8D3A-EF41-54DA-99E9-507EE82BBED8}"/>
              </a:ext>
            </a:extLst>
          </p:cNvPr>
          <p:cNvSpPr>
            <a:spLocks noGrp="1"/>
          </p:cNvSpPr>
          <p:nvPr>
            <p:ph type="title"/>
          </p:nvPr>
        </p:nvSpPr>
        <p:spPr/>
        <p:txBody>
          <a:bodyPr/>
          <a:lstStyle/>
          <a:p>
            <a:r>
              <a:rPr lang="en-GB" b="1" dirty="0"/>
              <a:t>Examples of Web Apps</a:t>
            </a:r>
            <a:br>
              <a:rPr lang="en-GB" b="1" dirty="0"/>
            </a:br>
            <a:endParaRPr lang="en-US" dirty="0"/>
          </a:p>
        </p:txBody>
      </p:sp>
      <p:sp>
        <p:nvSpPr>
          <p:cNvPr id="3" name="Content Placeholder 2">
            <a:extLst>
              <a:ext uri="{FF2B5EF4-FFF2-40B4-BE49-F238E27FC236}">
                <a16:creationId xmlns:a16="http://schemas.microsoft.com/office/drawing/2014/main" id="{61D52CC7-F251-8C32-ED60-4F52D40245DA}"/>
              </a:ext>
            </a:extLst>
          </p:cNvPr>
          <p:cNvSpPr>
            <a:spLocks noGrp="1"/>
          </p:cNvSpPr>
          <p:nvPr>
            <p:ph idx="1"/>
          </p:nvPr>
        </p:nvSpPr>
        <p:spPr/>
        <p:txBody>
          <a:bodyPr>
            <a:normAutofit fontScale="85000" lnSpcReduction="20000"/>
          </a:bodyPr>
          <a:lstStyle/>
          <a:p>
            <a:pPr fontAlgn="base"/>
            <a:r>
              <a:rPr lang="en-GB" b="1" dirty="0"/>
              <a:t>Google Docs</a:t>
            </a:r>
            <a:r>
              <a:rPr lang="en-GB" dirty="0"/>
              <a:t>: Think of Google Docs as an online notepad that lets you write, edit, and collaborate in real time. Whether you’re working on a story or making a list, multiple people can edit the same document from anywhere.</a:t>
            </a:r>
          </a:p>
          <a:p>
            <a:pPr fontAlgn="base"/>
            <a:r>
              <a:rPr lang="en-GB" b="1" dirty="0"/>
              <a:t>Trello</a:t>
            </a:r>
            <a:r>
              <a:rPr lang="en-GB" dirty="0"/>
              <a:t>: Trello is like a digital task board that helps you stay organized. Whether you’re planning an event or managing a project, you can create, move, and track tasks using virtual cards. It’s a simple and effective way to manage work, assign tasks, and track progress making it perfect for teams.</a:t>
            </a:r>
          </a:p>
          <a:p>
            <a:pPr fontAlgn="base"/>
            <a:r>
              <a:rPr lang="en-GB" b="1" dirty="0"/>
              <a:t>Gmail</a:t>
            </a:r>
            <a:r>
              <a:rPr lang="en-GB" dirty="0"/>
              <a:t>: Gmail is your online mailbox, letting you send and receive emails from any device. No need for special software, just open your browser, log in, and you’re ready to go. You can even attach files, send images, and chat with friends effortlessly</a:t>
            </a:r>
          </a:p>
          <a:p>
            <a:pPr fontAlgn="base"/>
            <a:r>
              <a:rPr lang="en-GB" b="1" dirty="0"/>
              <a:t>Facebook</a:t>
            </a:r>
            <a:r>
              <a:rPr lang="en-GB" dirty="0"/>
              <a:t>: Facebook is like a virtual hangout where you can connect with friends, share posts, and chat. It’s a space to upload photos, like and comment on updates, and stay connected.</a:t>
            </a:r>
          </a:p>
          <a:p>
            <a:pPr marL="0" indent="0">
              <a:buNone/>
            </a:pPr>
            <a:endParaRPr lang="en-US" dirty="0"/>
          </a:p>
        </p:txBody>
      </p:sp>
    </p:spTree>
    <p:extLst>
      <p:ext uri="{BB962C8B-B14F-4D97-AF65-F5344CB8AC3E}">
        <p14:creationId xmlns:p14="http://schemas.microsoft.com/office/powerpoint/2010/main" val="263323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5D70-CEA0-5020-8C92-59CA82267F59}"/>
              </a:ext>
            </a:extLst>
          </p:cNvPr>
          <p:cNvSpPr>
            <a:spLocks noGrp="1"/>
          </p:cNvSpPr>
          <p:nvPr>
            <p:ph type="title"/>
          </p:nvPr>
        </p:nvSpPr>
        <p:spPr/>
        <p:txBody>
          <a:bodyPr/>
          <a:lstStyle/>
          <a:p>
            <a:r>
              <a:rPr lang="en-GB" b="1" dirty="0"/>
              <a:t>Key Characteristics of Web App</a:t>
            </a:r>
            <a:br>
              <a:rPr lang="en-GB" b="1" dirty="0"/>
            </a:br>
            <a:endParaRPr lang="en-US" dirty="0"/>
          </a:p>
        </p:txBody>
      </p:sp>
      <p:sp>
        <p:nvSpPr>
          <p:cNvPr id="3" name="Content Placeholder 2">
            <a:extLst>
              <a:ext uri="{FF2B5EF4-FFF2-40B4-BE49-F238E27FC236}">
                <a16:creationId xmlns:a16="http://schemas.microsoft.com/office/drawing/2014/main" id="{938B4298-4F83-134B-40C5-462042098A96}"/>
              </a:ext>
            </a:extLst>
          </p:cNvPr>
          <p:cNvSpPr>
            <a:spLocks noGrp="1"/>
          </p:cNvSpPr>
          <p:nvPr>
            <p:ph idx="1"/>
          </p:nvPr>
        </p:nvSpPr>
        <p:spPr/>
        <p:txBody>
          <a:bodyPr>
            <a:normAutofit fontScale="77500" lnSpcReduction="20000"/>
          </a:bodyPr>
          <a:lstStyle/>
          <a:p>
            <a:pPr fontAlgn="base"/>
            <a:r>
              <a:rPr lang="en-GB" b="1" dirty="0"/>
              <a:t>Accessibility</a:t>
            </a:r>
            <a:r>
              <a:rPr lang="en-GB" dirty="0"/>
              <a:t>: Consider having a powerful tool or game that you can access from anywhere. With a web app, you're not limited to a single device. Whether you're on a computer, tablet, or phone, you can use the app directly from your browser, no need for downloads or installations. Just open your browser and get started!</a:t>
            </a:r>
          </a:p>
          <a:p>
            <a:pPr fontAlgn="base"/>
            <a:r>
              <a:rPr lang="en-GB" b="1" dirty="0"/>
              <a:t>Platform Independence</a:t>
            </a:r>
            <a:r>
              <a:rPr lang="en-GB" dirty="0"/>
              <a:t>: One of the best things about web apps is that they work on any operating system. Whether you're using Windows, macOS, or Linux, a web app runs smoothly without compatibility issues.</a:t>
            </a:r>
          </a:p>
          <a:p>
            <a:pPr fontAlgn="base"/>
            <a:r>
              <a:rPr lang="en-GB" b="1" dirty="0"/>
              <a:t>Automatic Updates</a:t>
            </a:r>
            <a:r>
              <a:rPr lang="en-GB" dirty="0"/>
              <a:t>: All of us have experienced the manual effort of updating software. Web apps update automatically because they run on a remote server. That means every time you open the app, you’re using the latest version, without needing to install anything.</a:t>
            </a:r>
          </a:p>
          <a:p>
            <a:pPr fontAlgn="base"/>
            <a:r>
              <a:rPr lang="en-GB" b="1" dirty="0"/>
              <a:t>Collaboration</a:t>
            </a:r>
            <a:r>
              <a:rPr lang="en-GB" dirty="0"/>
              <a:t>: Many web apps allow real-time collaboration, making teamwork easier. Whether you're working on a document, project, or design, multiple people can edit and contribute at the same time, even from different locations.</a:t>
            </a:r>
          </a:p>
        </p:txBody>
      </p:sp>
    </p:spTree>
    <p:extLst>
      <p:ext uri="{BB962C8B-B14F-4D97-AF65-F5344CB8AC3E}">
        <p14:creationId xmlns:p14="http://schemas.microsoft.com/office/powerpoint/2010/main" val="1360591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D3A77-FA81-CB4D-B9E5-F939443240DE}"/>
              </a:ext>
            </a:extLst>
          </p:cNvPr>
          <p:cNvSpPr>
            <a:spLocks noGrp="1"/>
          </p:cNvSpPr>
          <p:nvPr>
            <p:ph type="title"/>
          </p:nvPr>
        </p:nvSpPr>
        <p:spPr/>
        <p:txBody>
          <a:bodyPr/>
          <a:lstStyle/>
          <a:p>
            <a:r>
              <a:rPr lang="en-GB" b="1" dirty="0"/>
              <a:t>Benefits</a:t>
            </a:r>
            <a:br>
              <a:rPr lang="en-GB" b="1" dirty="0"/>
            </a:br>
            <a:endParaRPr lang="en-US" dirty="0"/>
          </a:p>
        </p:txBody>
      </p:sp>
      <p:sp>
        <p:nvSpPr>
          <p:cNvPr id="3" name="Content Placeholder 2">
            <a:extLst>
              <a:ext uri="{FF2B5EF4-FFF2-40B4-BE49-F238E27FC236}">
                <a16:creationId xmlns:a16="http://schemas.microsoft.com/office/drawing/2014/main" id="{2D9A4E72-AEA0-EB19-73B9-FA2DCDC36872}"/>
              </a:ext>
            </a:extLst>
          </p:cNvPr>
          <p:cNvSpPr>
            <a:spLocks noGrp="1"/>
          </p:cNvSpPr>
          <p:nvPr>
            <p:ph idx="1"/>
          </p:nvPr>
        </p:nvSpPr>
        <p:spPr/>
        <p:txBody>
          <a:bodyPr>
            <a:normAutofit fontScale="85000" lnSpcReduction="20000"/>
          </a:bodyPr>
          <a:lstStyle/>
          <a:p>
            <a:pPr fontAlgn="base"/>
            <a:r>
              <a:rPr lang="en-GB" b="1" dirty="0"/>
              <a:t>Cross-Platform Compatibility</a:t>
            </a:r>
            <a:r>
              <a:rPr lang="en-GB" dirty="0"/>
              <a:t>: Web apps run on computers, tablets, and phones without needing different versions. Just open a browser, and you're ready to use it.</a:t>
            </a:r>
          </a:p>
          <a:p>
            <a:pPr fontAlgn="base"/>
            <a:r>
              <a:rPr lang="en-GB" b="1" dirty="0"/>
              <a:t>Automatic Updates</a:t>
            </a:r>
            <a:r>
              <a:rPr lang="en-GB" dirty="0"/>
              <a:t>: No need to manually update apps. Since everything runs on a server, web apps always load the latest version automatically.</a:t>
            </a:r>
          </a:p>
          <a:p>
            <a:pPr fontAlgn="base"/>
            <a:r>
              <a:rPr lang="en-GB" b="1" dirty="0"/>
              <a:t>Cost-Efficiency</a:t>
            </a:r>
            <a:r>
              <a:rPr lang="en-GB" dirty="0"/>
              <a:t>: Developers create a single app that works across all devices, saving time and resources instead of building separate versions for different platforms.</a:t>
            </a:r>
          </a:p>
          <a:p>
            <a:pPr fontAlgn="base"/>
            <a:r>
              <a:rPr lang="en-GB" b="1" dirty="0"/>
              <a:t>Real-Time Collaboration</a:t>
            </a:r>
            <a:r>
              <a:rPr lang="en-GB" dirty="0"/>
              <a:t>: Web apps allow multiple users to work together at the same time, no matter where they are. Changes appear instantly, making teamwork smoother.</a:t>
            </a:r>
          </a:p>
          <a:p>
            <a:pPr fontAlgn="base"/>
            <a:r>
              <a:rPr lang="en-GB" b="1" dirty="0"/>
              <a:t>No Installation Needed</a:t>
            </a:r>
            <a:r>
              <a:rPr lang="en-GB" dirty="0"/>
              <a:t>: Unlike traditional apps, web apps don’t require downloads or installations. Just open the browser, enter the app’s URL, and start using it instantly.</a:t>
            </a:r>
          </a:p>
          <a:p>
            <a:endParaRPr lang="en-US" dirty="0"/>
          </a:p>
        </p:txBody>
      </p:sp>
    </p:spTree>
    <p:extLst>
      <p:ext uri="{BB962C8B-B14F-4D97-AF65-F5344CB8AC3E}">
        <p14:creationId xmlns:p14="http://schemas.microsoft.com/office/powerpoint/2010/main" val="2182015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3884</Words>
  <Application>Microsoft Macintosh PowerPoint</Application>
  <PresentationFormat>Widescreen</PresentationFormat>
  <Paragraphs>210</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Spectral</vt:lpstr>
      <vt:lpstr>Aptos</vt:lpstr>
      <vt:lpstr>Aptos Display</vt:lpstr>
      <vt:lpstr>Arial</vt:lpstr>
      <vt:lpstr>Calibri</vt:lpstr>
      <vt:lpstr>Courier New</vt:lpstr>
      <vt:lpstr>Nunito</vt:lpstr>
      <vt:lpstr>Office Theme</vt:lpstr>
      <vt:lpstr>Web Server Programming</vt:lpstr>
      <vt:lpstr>Content</vt:lpstr>
      <vt:lpstr>WWW history and concepts</vt:lpstr>
      <vt:lpstr>PowerPoint Presentation</vt:lpstr>
      <vt:lpstr>History WWW</vt:lpstr>
      <vt:lpstr>How Web Evolves? </vt:lpstr>
      <vt:lpstr>Working of World Wide Web(WWW) </vt:lpstr>
      <vt:lpstr>World Wide Web (WWW) Vs Internet </vt:lpstr>
      <vt:lpstr>Static websites</vt:lpstr>
      <vt:lpstr>What is Client-Server Architecture? </vt:lpstr>
      <vt:lpstr>Key Components: </vt:lpstr>
      <vt:lpstr>Visiting a Website </vt:lpstr>
      <vt:lpstr>How Client-Server Architecture Works </vt:lpstr>
      <vt:lpstr>Key Technologies Involved </vt:lpstr>
      <vt:lpstr>Types of Client-Server Architectures</vt:lpstr>
      <vt:lpstr>1-Tier Architecture (Monolithic Model) </vt:lpstr>
      <vt:lpstr>2-Tier Architecture</vt:lpstr>
      <vt:lpstr>3-Tier Architecture </vt:lpstr>
      <vt:lpstr>3-Tier Architecture</vt:lpstr>
      <vt:lpstr>N-Tier Architecture </vt:lpstr>
      <vt:lpstr>N-Tier Architecture</vt:lpstr>
      <vt:lpstr>Advantages of Client-Server Architecture </vt:lpstr>
      <vt:lpstr>Real-World Applications </vt:lpstr>
      <vt:lpstr>What is an IP Address?</vt:lpstr>
      <vt:lpstr>Structure and Types of IP Address </vt:lpstr>
      <vt:lpstr>Structure of IP Address </vt:lpstr>
      <vt:lpstr>Types of IP Addresses </vt:lpstr>
      <vt:lpstr>How Does DNS Work? </vt:lpstr>
      <vt:lpstr>Structure of DNS </vt:lpstr>
      <vt:lpstr>Types of Domains </vt:lpstr>
      <vt:lpstr>What is URL (Uniform Resource Locator) ?</vt:lpstr>
      <vt:lpstr>Different Parts of a URL</vt:lpstr>
      <vt:lpstr>URL parts</vt:lpstr>
      <vt:lpstr>URL parts</vt:lpstr>
      <vt:lpstr>Basics of HTTP request/response cycle </vt:lpstr>
      <vt:lpstr>Basics of HTTP request/response cycle</vt:lpstr>
      <vt:lpstr>Working:</vt:lpstr>
      <vt:lpstr>Technologies Behind Web Apps</vt:lpstr>
      <vt:lpstr>Examples of Web Apps </vt:lpstr>
      <vt:lpstr>Key Characteristics of Web App </vt:lpstr>
      <vt:lpstr>Benefits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Shakhnoza Muksimova</dc:creator>
  <cp:lastModifiedBy>Shakhnoza Muksimova</cp:lastModifiedBy>
  <cp:revision>2</cp:revision>
  <dcterms:created xsi:type="dcterms:W3CDTF">2025-09-12T00:07:44Z</dcterms:created>
  <dcterms:modified xsi:type="dcterms:W3CDTF">2025-09-12T03:08:57Z</dcterms:modified>
</cp:coreProperties>
</file>