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67"/>
    <p:restoredTop sz="94632"/>
  </p:normalViewPr>
  <p:slideViewPr>
    <p:cSldViewPr snapToGrid="0">
      <p:cViewPr varScale="1">
        <p:scale>
          <a:sx n="125" d="100"/>
          <a:sy n="125" d="100"/>
        </p:scale>
        <p:origin x="176" y="8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A1E174BF-5BDF-493A-820A-A8189EFB66B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A0DC4EF-A3AC-41AC-A5CB-0526738DE786}">
      <dgm:prSet/>
      <dgm:spPr/>
      <dgm:t>
        <a:bodyPr/>
        <a:lstStyle/>
        <a:p>
          <a:r>
            <a:rPr lang="en-GB"/>
            <a:t>JSP actions are special tags that encapsulate dynamic behavior, enhancing code modularity. For instance, the &lt;jsp:useBean&gt; action simplifies JavaBean integration into JSP pages.</a:t>
          </a:r>
          <a:endParaRPr lang="en-US"/>
        </a:p>
      </dgm:t>
    </dgm:pt>
    <dgm:pt modelId="{FE4863D3-BD30-4E42-B252-9DC5B952E386}" type="parTrans" cxnId="{F992733D-568F-4266-A106-A2ED5FEA6919}">
      <dgm:prSet/>
      <dgm:spPr/>
      <dgm:t>
        <a:bodyPr/>
        <a:lstStyle/>
        <a:p>
          <a:endParaRPr lang="en-US"/>
        </a:p>
      </dgm:t>
    </dgm:pt>
    <dgm:pt modelId="{465543E6-4431-45E1-9575-09D1A75A69C1}" type="sibTrans" cxnId="{F992733D-568F-4266-A106-A2ED5FEA6919}">
      <dgm:prSet/>
      <dgm:spPr/>
      <dgm:t>
        <a:bodyPr/>
        <a:lstStyle/>
        <a:p>
          <a:endParaRPr lang="en-US"/>
        </a:p>
      </dgm:t>
    </dgm:pt>
    <dgm:pt modelId="{8D4EBF9F-29E3-42F8-8BD2-62347C15894E}">
      <dgm:prSet/>
      <dgm:spPr/>
      <dgm:t>
        <a:bodyPr/>
        <a:lstStyle/>
        <a:p>
          <a:r>
            <a:rPr lang="en-GB"/>
            <a:t>&lt;jsp:useBean id="user" class="com.example.User" scope="session" /&gt;</a:t>
          </a:r>
          <a:endParaRPr lang="en-US"/>
        </a:p>
      </dgm:t>
    </dgm:pt>
    <dgm:pt modelId="{BE839D1B-4C52-4E95-B130-F536632B5B95}" type="parTrans" cxnId="{C9CA364A-C2FB-45DB-98A2-E1CA1444F91E}">
      <dgm:prSet/>
      <dgm:spPr/>
      <dgm:t>
        <a:bodyPr/>
        <a:lstStyle/>
        <a:p>
          <a:endParaRPr lang="en-US"/>
        </a:p>
      </dgm:t>
    </dgm:pt>
    <dgm:pt modelId="{36894B6B-F85D-43B0-AB7E-4627138FFB5E}" type="sibTrans" cxnId="{C9CA364A-C2FB-45DB-98A2-E1CA1444F91E}">
      <dgm:prSet/>
      <dgm:spPr/>
      <dgm:t>
        <a:bodyPr/>
        <a:lstStyle/>
        <a:p>
          <a:endParaRPr lang="en-US"/>
        </a:p>
      </dgm:t>
    </dgm:pt>
    <dgm:pt modelId="{8A094B79-EEF4-480C-BB19-8693DA8BD0D4}">
      <dgm:prSet/>
      <dgm:spPr/>
      <dgm:t>
        <a:bodyPr/>
        <a:lstStyle/>
        <a:p>
          <a:r>
            <a:rPr lang="en-GB" dirty="0"/>
            <a:t>This action creates a session-scoped JavaBean named “user.”</a:t>
          </a:r>
          <a:endParaRPr lang="en-US" dirty="0"/>
        </a:p>
      </dgm:t>
    </dgm:pt>
    <dgm:pt modelId="{03030F99-1F96-48B3-8423-F568800A3B6E}" type="parTrans" cxnId="{FE6DB9FD-D6D1-4549-8721-B73D74CA980D}">
      <dgm:prSet/>
      <dgm:spPr/>
      <dgm:t>
        <a:bodyPr/>
        <a:lstStyle/>
        <a:p>
          <a:endParaRPr lang="en-US"/>
        </a:p>
      </dgm:t>
    </dgm:pt>
    <dgm:pt modelId="{97056CDE-31C6-45AA-AC0D-F993A5CB8312}" type="sibTrans" cxnId="{FE6DB9FD-D6D1-4549-8721-B73D74CA980D}">
      <dgm:prSet/>
      <dgm:spPr/>
      <dgm:t>
        <a:bodyPr/>
        <a:lstStyle/>
        <a:p>
          <a:endParaRPr lang="en-US"/>
        </a:p>
      </dgm:t>
    </dgm:pt>
    <dgm:pt modelId="{65406537-807E-4037-B345-0EF479DE7271}" type="pres">
      <dgm:prSet presAssocID="{A1E174BF-5BDF-493A-820A-A8189EFB66BD}" presName="root" presStyleCnt="0">
        <dgm:presLayoutVars>
          <dgm:dir/>
          <dgm:resizeHandles val="exact"/>
        </dgm:presLayoutVars>
      </dgm:prSet>
      <dgm:spPr/>
    </dgm:pt>
    <dgm:pt modelId="{271FDD3B-8D0E-45A1-8626-E6E58FB0D792}" type="pres">
      <dgm:prSet presAssocID="{0A0DC4EF-A3AC-41AC-A5CB-0526738DE786}" presName="compNode" presStyleCnt="0"/>
      <dgm:spPr/>
    </dgm:pt>
    <dgm:pt modelId="{51182219-09C6-46BC-BA30-C20916911984}" type="pres">
      <dgm:prSet presAssocID="{0A0DC4EF-A3AC-41AC-A5CB-0526738DE786}" presName="bgRect" presStyleLbl="bgShp" presStyleIdx="0" presStyleCnt="2"/>
      <dgm:spPr/>
    </dgm:pt>
    <dgm:pt modelId="{BD48AF95-4487-4408-9555-1CB46F1BC338}" type="pres">
      <dgm:prSet presAssocID="{0A0DC4EF-A3AC-41AC-A5CB-0526738DE78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A25EDB51-01CA-49BE-B6B7-E5BBA836BEC9}" type="pres">
      <dgm:prSet presAssocID="{0A0DC4EF-A3AC-41AC-A5CB-0526738DE786}" presName="spaceRect" presStyleCnt="0"/>
      <dgm:spPr/>
    </dgm:pt>
    <dgm:pt modelId="{3D937100-A2B8-408F-8C40-23D7B5684358}" type="pres">
      <dgm:prSet presAssocID="{0A0DC4EF-A3AC-41AC-A5CB-0526738DE786}" presName="parTx" presStyleLbl="revTx" presStyleIdx="0" presStyleCnt="3">
        <dgm:presLayoutVars>
          <dgm:chMax val="0"/>
          <dgm:chPref val="0"/>
        </dgm:presLayoutVars>
      </dgm:prSet>
      <dgm:spPr/>
    </dgm:pt>
    <dgm:pt modelId="{90E07129-C721-4B17-BDFD-1A231D11E2A0}" type="pres">
      <dgm:prSet presAssocID="{465543E6-4431-45E1-9575-09D1A75A69C1}" presName="sibTrans" presStyleCnt="0"/>
      <dgm:spPr/>
    </dgm:pt>
    <dgm:pt modelId="{2E76F88F-941B-4ACF-A569-E933051D99D4}" type="pres">
      <dgm:prSet presAssocID="{8D4EBF9F-29E3-42F8-8BD2-62347C15894E}" presName="compNode" presStyleCnt="0"/>
      <dgm:spPr/>
    </dgm:pt>
    <dgm:pt modelId="{7A3531AC-6E91-4692-96F4-8D888221D9AE}" type="pres">
      <dgm:prSet presAssocID="{8D4EBF9F-29E3-42F8-8BD2-62347C15894E}" presName="bgRect" presStyleLbl="bgShp" presStyleIdx="1" presStyleCnt="2"/>
      <dgm:spPr/>
    </dgm:pt>
    <dgm:pt modelId="{D7282777-CE96-4639-BD42-FBB90EF6392B}" type="pres">
      <dgm:prSet presAssocID="{8D4EBF9F-29E3-42F8-8BD2-62347C15894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C4DC9416-2D15-4045-B217-63755B3EE966}" type="pres">
      <dgm:prSet presAssocID="{8D4EBF9F-29E3-42F8-8BD2-62347C15894E}" presName="spaceRect" presStyleCnt="0"/>
      <dgm:spPr/>
    </dgm:pt>
    <dgm:pt modelId="{AD7DD564-F780-4D0A-A99E-5B08E21C5B13}" type="pres">
      <dgm:prSet presAssocID="{8D4EBF9F-29E3-42F8-8BD2-62347C15894E}" presName="parTx" presStyleLbl="revTx" presStyleIdx="1" presStyleCnt="3">
        <dgm:presLayoutVars>
          <dgm:chMax val="0"/>
          <dgm:chPref val="0"/>
        </dgm:presLayoutVars>
      </dgm:prSet>
      <dgm:spPr/>
    </dgm:pt>
    <dgm:pt modelId="{CF5E0B47-18A2-42A7-B291-C981667CACDC}" type="pres">
      <dgm:prSet presAssocID="{8D4EBF9F-29E3-42F8-8BD2-62347C15894E}" presName="desTx" presStyleLbl="revTx" presStyleIdx="2" presStyleCnt="3">
        <dgm:presLayoutVars/>
      </dgm:prSet>
      <dgm:spPr/>
    </dgm:pt>
  </dgm:ptLst>
  <dgm:cxnLst>
    <dgm:cxn modelId="{51663F1A-6B39-417E-A966-3CFAE22582E4}" type="presOf" srcId="{A1E174BF-5BDF-493A-820A-A8189EFB66BD}" destId="{65406537-807E-4037-B345-0EF479DE7271}" srcOrd="0" destOrd="0" presId="urn:microsoft.com/office/officeart/2018/2/layout/IconVerticalSolidList"/>
    <dgm:cxn modelId="{5D5E8138-B8E6-4BC7-B059-5C6BF0670D5C}" type="presOf" srcId="{0A0DC4EF-A3AC-41AC-A5CB-0526738DE786}" destId="{3D937100-A2B8-408F-8C40-23D7B5684358}" srcOrd="0" destOrd="0" presId="urn:microsoft.com/office/officeart/2018/2/layout/IconVerticalSolidList"/>
    <dgm:cxn modelId="{F992733D-568F-4266-A106-A2ED5FEA6919}" srcId="{A1E174BF-5BDF-493A-820A-A8189EFB66BD}" destId="{0A0DC4EF-A3AC-41AC-A5CB-0526738DE786}" srcOrd="0" destOrd="0" parTransId="{FE4863D3-BD30-4E42-B252-9DC5B952E386}" sibTransId="{465543E6-4431-45E1-9575-09D1A75A69C1}"/>
    <dgm:cxn modelId="{C9CA364A-C2FB-45DB-98A2-E1CA1444F91E}" srcId="{A1E174BF-5BDF-493A-820A-A8189EFB66BD}" destId="{8D4EBF9F-29E3-42F8-8BD2-62347C15894E}" srcOrd="1" destOrd="0" parTransId="{BE839D1B-4C52-4E95-B130-F536632B5B95}" sibTransId="{36894B6B-F85D-43B0-AB7E-4627138FFB5E}"/>
    <dgm:cxn modelId="{61BD0F98-6D67-43B5-B86E-ED10D30DA978}" type="presOf" srcId="{8D4EBF9F-29E3-42F8-8BD2-62347C15894E}" destId="{AD7DD564-F780-4D0A-A99E-5B08E21C5B13}" srcOrd="0" destOrd="0" presId="urn:microsoft.com/office/officeart/2018/2/layout/IconVerticalSolidList"/>
    <dgm:cxn modelId="{C2F1DA9F-DAC7-4055-B1AA-C133B35C985E}" type="presOf" srcId="{8A094B79-EEF4-480C-BB19-8693DA8BD0D4}" destId="{CF5E0B47-18A2-42A7-B291-C981667CACDC}" srcOrd="0" destOrd="0" presId="urn:microsoft.com/office/officeart/2018/2/layout/IconVerticalSolidList"/>
    <dgm:cxn modelId="{FE6DB9FD-D6D1-4549-8721-B73D74CA980D}" srcId="{8D4EBF9F-29E3-42F8-8BD2-62347C15894E}" destId="{8A094B79-EEF4-480C-BB19-8693DA8BD0D4}" srcOrd="0" destOrd="0" parTransId="{03030F99-1F96-48B3-8423-F568800A3B6E}" sibTransId="{97056CDE-31C6-45AA-AC0D-F993A5CB8312}"/>
    <dgm:cxn modelId="{C2F96F32-2207-42DA-8274-C43C6C5B1A6A}" type="presParOf" srcId="{65406537-807E-4037-B345-0EF479DE7271}" destId="{271FDD3B-8D0E-45A1-8626-E6E58FB0D792}" srcOrd="0" destOrd="0" presId="urn:microsoft.com/office/officeart/2018/2/layout/IconVerticalSolidList"/>
    <dgm:cxn modelId="{9309C4E4-3967-4E4A-A8E5-6E6B2934A1D0}" type="presParOf" srcId="{271FDD3B-8D0E-45A1-8626-E6E58FB0D792}" destId="{51182219-09C6-46BC-BA30-C20916911984}" srcOrd="0" destOrd="0" presId="urn:microsoft.com/office/officeart/2018/2/layout/IconVerticalSolidList"/>
    <dgm:cxn modelId="{DBFFDDE8-AEC0-43B5-99DB-4A64C7E87B7E}" type="presParOf" srcId="{271FDD3B-8D0E-45A1-8626-E6E58FB0D792}" destId="{BD48AF95-4487-4408-9555-1CB46F1BC338}" srcOrd="1" destOrd="0" presId="urn:microsoft.com/office/officeart/2018/2/layout/IconVerticalSolidList"/>
    <dgm:cxn modelId="{FC36FBD6-A053-4506-BE15-D7844D762A26}" type="presParOf" srcId="{271FDD3B-8D0E-45A1-8626-E6E58FB0D792}" destId="{A25EDB51-01CA-49BE-B6B7-E5BBA836BEC9}" srcOrd="2" destOrd="0" presId="urn:microsoft.com/office/officeart/2018/2/layout/IconVerticalSolidList"/>
    <dgm:cxn modelId="{BC2C862C-9F5B-4C99-A4CE-0C7DEEEBABA2}" type="presParOf" srcId="{271FDD3B-8D0E-45A1-8626-E6E58FB0D792}" destId="{3D937100-A2B8-408F-8C40-23D7B5684358}" srcOrd="3" destOrd="0" presId="urn:microsoft.com/office/officeart/2018/2/layout/IconVerticalSolidList"/>
    <dgm:cxn modelId="{218B5608-16B7-48D6-92F4-0647C75833E4}" type="presParOf" srcId="{65406537-807E-4037-B345-0EF479DE7271}" destId="{90E07129-C721-4B17-BDFD-1A231D11E2A0}" srcOrd="1" destOrd="0" presId="urn:microsoft.com/office/officeart/2018/2/layout/IconVerticalSolidList"/>
    <dgm:cxn modelId="{82FC61DB-64B6-4524-916A-75BA9E3F07D1}" type="presParOf" srcId="{65406537-807E-4037-B345-0EF479DE7271}" destId="{2E76F88F-941B-4ACF-A569-E933051D99D4}" srcOrd="2" destOrd="0" presId="urn:microsoft.com/office/officeart/2018/2/layout/IconVerticalSolidList"/>
    <dgm:cxn modelId="{B14E5928-3AED-4B27-9042-55C31D126759}" type="presParOf" srcId="{2E76F88F-941B-4ACF-A569-E933051D99D4}" destId="{7A3531AC-6E91-4692-96F4-8D888221D9AE}" srcOrd="0" destOrd="0" presId="urn:microsoft.com/office/officeart/2018/2/layout/IconVerticalSolidList"/>
    <dgm:cxn modelId="{C575F093-1E56-470D-AA7C-9803A193157C}" type="presParOf" srcId="{2E76F88F-941B-4ACF-A569-E933051D99D4}" destId="{D7282777-CE96-4639-BD42-FBB90EF6392B}" srcOrd="1" destOrd="0" presId="urn:microsoft.com/office/officeart/2018/2/layout/IconVerticalSolidList"/>
    <dgm:cxn modelId="{EE339152-DD3A-4327-88DB-9F7D172CE452}" type="presParOf" srcId="{2E76F88F-941B-4ACF-A569-E933051D99D4}" destId="{C4DC9416-2D15-4045-B217-63755B3EE966}" srcOrd="2" destOrd="0" presId="urn:microsoft.com/office/officeart/2018/2/layout/IconVerticalSolidList"/>
    <dgm:cxn modelId="{6ECEB858-567D-45C8-AE0D-5DCC657AA893}" type="presParOf" srcId="{2E76F88F-941B-4ACF-A569-E933051D99D4}" destId="{AD7DD564-F780-4D0A-A99E-5B08E21C5B13}" srcOrd="3" destOrd="0" presId="urn:microsoft.com/office/officeart/2018/2/layout/IconVerticalSolidList"/>
    <dgm:cxn modelId="{D4C9CD8E-5AF4-4014-BC12-3771E551DEF5}" type="presParOf" srcId="{2E76F88F-941B-4ACF-A569-E933051D99D4}" destId="{CF5E0B47-18A2-42A7-B291-C981667CACD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5A9F30-931B-4E88-B46C-F4BCF3B976D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D1EA36F-D7EB-4CFC-9F21-F4ED4B367AED}">
      <dgm:prSet/>
      <dgm:spPr/>
      <dgm:t>
        <a:bodyPr/>
        <a:lstStyle/>
        <a:p>
          <a:r>
            <a:rPr lang="en-GB"/>
            <a:t>Expression Language, or EL, simplifies the retrieval of data from Java objects. It provides an elegant way to access object properties without using scriptlets.</a:t>
          </a:r>
          <a:endParaRPr lang="en-US"/>
        </a:p>
      </dgm:t>
    </dgm:pt>
    <dgm:pt modelId="{2231C375-DDAB-4736-BD4E-8E764B9C9987}" type="parTrans" cxnId="{626DECA3-3022-4C67-AB00-BE25878B9921}">
      <dgm:prSet/>
      <dgm:spPr/>
      <dgm:t>
        <a:bodyPr/>
        <a:lstStyle/>
        <a:p>
          <a:endParaRPr lang="en-US"/>
        </a:p>
      </dgm:t>
    </dgm:pt>
    <dgm:pt modelId="{D6E9E308-344E-4BCD-B67E-EAABC289B478}" type="sibTrans" cxnId="{626DECA3-3022-4C67-AB00-BE25878B9921}">
      <dgm:prSet/>
      <dgm:spPr/>
      <dgm:t>
        <a:bodyPr/>
        <a:lstStyle/>
        <a:p>
          <a:endParaRPr lang="en-US"/>
        </a:p>
      </dgm:t>
    </dgm:pt>
    <dgm:pt modelId="{A7666006-C4B1-4587-893F-6686C689B101}">
      <dgm:prSet/>
      <dgm:spPr/>
      <dgm:t>
        <a:bodyPr/>
        <a:lstStyle/>
        <a:p>
          <a:r>
            <a:rPr lang="en-GB" b="1"/>
            <a:t>&lt;p&gt;Welcome, ${user.name}!&lt;/p&gt;</a:t>
          </a:r>
          <a:endParaRPr lang="en-US"/>
        </a:p>
      </dgm:t>
    </dgm:pt>
    <dgm:pt modelId="{AB54E0B9-5AD1-4C2F-80C5-913A0B6B439B}" type="parTrans" cxnId="{DF3F56B4-6900-4D7E-9197-EABC0B6F2DFF}">
      <dgm:prSet/>
      <dgm:spPr/>
      <dgm:t>
        <a:bodyPr/>
        <a:lstStyle/>
        <a:p>
          <a:endParaRPr lang="en-US"/>
        </a:p>
      </dgm:t>
    </dgm:pt>
    <dgm:pt modelId="{1644ACD1-4F5F-4EDD-A942-711F45E299C8}" type="sibTrans" cxnId="{DF3F56B4-6900-4D7E-9197-EABC0B6F2DFF}">
      <dgm:prSet/>
      <dgm:spPr/>
      <dgm:t>
        <a:bodyPr/>
        <a:lstStyle/>
        <a:p>
          <a:endParaRPr lang="en-US"/>
        </a:p>
      </dgm:t>
    </dgm:pt>
    <dgm:pt modelId="{1948D98C-9C57-4D39-B107-8AD9AA772C40}">
      <dgm:prSet/>
      <dgm:spPr/>
      <dgm:t>
        <a:bodyPr/>
        <a:lstStyle/>
        <a:p>
          <a:r>
            <a:rPr lang="en-GB"/>
            <a:t>Here, EL fetches the “name” property from the “user” JavaBean.</a:t>
          </a:r>
          <a:endParaRPr lang="en-US"/>
        </a:p>
      </dgm:t>
    </dgm:pt>
    <dgm:pt modelId="{5A1C69E5-021E-4EC3-9291-268BB167BB76}" type="parTrans" cxnId="{B5594046-7CD0-4EBF-84C5-6E6597F281B8}">
      <dgm:prSet/>
      <dgm:spPr/>
      <dgm:t>
        <a:bodyPr/>
        <a:lstStyle/>
        <a:p>
          <a:endParaRPr lang="en-US"/>
        </a:p>
      </dgm:t>
    </dgm:pt>
    <dgm:pt modelId="{70BC1DFE-8A92-4A67-8A80-50EBB972C09E}" type="sibTrans" cxnId="{B5594046-7CD0-4EBF-84C5-6E6597F281B8}">
      <dgm:prSet/>
      <dgm:spPr/>
      <dgm:t>
        <a:bodyPr/>
        <a:lstStyle/>
        <a:p>
          <a:endParaRPr lang="en-US"/>
        </a:p>
      </dgm:t>
    </dgm:pt>
    <dgm:pt modelId="{64DF24CF-9466-4F34-8D2B-3926BBFD8E4E}" type="pres">
      <dgm:prSet presAssocID="{4A5A9F30-931B-4E88-B46C-F4BCF3B976DC}" presName="root" presStyleCnt="0">
        <dgm:presLayoutVars>
          <dgm:dir/>
          <dgm:resizeHandles val="exact"/>
        </dgm:presLayoutVars>
      </dgm:prSet>
      <dgm:spPr/>
    </dgm:pt>
    <dgm:pt modelId="{8202EA28-F32E-4218-934E-7B1F163C43F3}" type="pres">
      <dgm:prSet presAssocID="{1D1EA36F-D7EB-4CFC-9F21-F4ED4B367AED}" presName="compNode" presStyleCnt="0"/>
      <dgm:spPr/>
    </dgm:pt>
    <dgm:pt modelId="{7781B310-43FF-46C9-A1CB-694A49C223D0}" type="pres">
      <dgm:prSet presAssocID="{1D1EA36F-D7EB-4CFC-9F21-F4ED4B367AED}" presName="bgRect" presStyleLbl="bgShp" presStyleIdx="0" presStyleCnt="3"/>
      <dgm:spPr/>
    </dgm:pt>
    <dgm:pt modelId="{1FC77D2B-A6E8-427F-99FB-1E6AC0767640}" type="pres">
      <dgm:prSet presAssocID="{1D1EA36F-D7EB-4CFC-9F21-F4ED4B367AE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6D031D8F-DE6E-48B4-AA1A-F3403E1A558A}" type="pres">
      <dgm:prSet presAssocID="{1D1EA36F-D7EB-4CFC-9F21-F4ED4B367AED}" presName="spaceRect" presStyleCnt="0"/>
      <dgm:spPr/>
    </dgm:pt>
    <dgm:pt modelId="{45D6B95A-94D2-465A-892B-5E065DD8E878}" type="pres">
      <dgm:prSet presAssocID="{1D1EA36F-D7EB-4CFC-9F21-F4ED4B367AED}" presName="parTx" presStyleLbl="revTx" presStyleIdx="0" presStyleCnt="3">
        <dgm:presLayoutVars>
          <dgm:chMax val="0"/>
          <dgm:chPref val="0"/>
        </dgm:presLayoutVars>
      </dgm:prSet>
      <dgm:spPr/>
    </dgm:pt>
    <dgm:pt modelId="{3E8B068B-5F4A-4C44-A496-E54EE39986C5}" type="pres">
      <dgm:prSet presAssocID="{D6E9E308-344E-4BCD-B67E-EAABC289B478}" presName="sibTrans" presStyleCnt="0"/>
      <dgm:spPr/>
    </dgm:pt>
    <dgm:pt modelId="{31773AB1-7A02-4D2F-A365-4DAB4F93AD60}" type="pres">
      <dgm:prSet presAssocID="{A7666006-C4B1-4587-893F-6686C689B101}" presName="compNode" presStyleCnt="0"/>
      <dgm:spPr/>
    </dgm:pt>
    <dgm:pt modelId="{5AA154EF-9E4F-4199-B974-3098415F2ECD}" type="pres">
      <dgm:prSet presAssocID="{A7666006-C4B1-4587-893F-6686C689B101}" presName="bgRect" presStyleLbl="bgShp" presStyleIdx="1" presStyleCnt="3"/>
      <dgm:spPr/>
    </dgm:pt>
    <dgm:pt modelId="{B05BBC8C-7AD9-4A3F-9332-53BB8C5F53D4}" type="pres">
      <dgm:prSet presAssocID="{A7666006-C4B1-4587-893F-6686C689B10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osk"/>
        </a:ext>
      </dgm:extLst>
    </dgm:pt>
    <dgm:pt modelId="{71DA7925-1CE1-4011-B903-E7A2BAE99935}" type="pres">
      <dgm:prSet presAssocID="{A7666006-C4B1-4587-893F-6686C689B101}" presName="spaceRect" presStyleCnt="0"/>
      <dgm:spPr/>
    </dgm:pt>
    <dgm:pt modelId="{2AAADFAA-8304-4F83-8B34-9D327CB3BF68}" type="pres">
      <dgm:prSet presAssocID="{A7666006-C4B1-4587-893F-6686C689B101}" presName="parTx" presStyleLbl="revTx" presStyleIdx="1" presStyleCnt="3">
        <dgm:presLayoutVars>
          <dgm:chMax val="0"/>
          <dgm:chPref val="0"/>
        </dgm:presLayoutVars>
      </dgm:prSet>
      <dgm:spPr/>
    </dgm:pt>
    <dgm:pt modelId="{235DC59C-B657-4A87-89CA-96C7661DD20B}" type="pres">
      <dgm:prSet presAssocID="{1644ACD1-4F5F-4EDD-A942-711F45E299C8}" presName="sibTrans" presStyleCnt="0"/>
      <dgm:spPr/>
    </dgm:pt>
    <dgm:pt modelId="{8FD1B9EB-6800-4ACC-BA59-B2E2E8F0CBAF}" type="pres">
      <dgm:prSet presAssocID="{1948D98C-9C57-4D39-B107-8AD9AA772C40}" presName="compNode" presStyleCnt="0"/>
      <dgm:spPr/>
    </dgm:pt>
    <dgm:pt modelId="{82053511-156C-4137-A288-43309B4FD0EB}" type="pres">
      <dgm:prSet presAssocID="{1948D98C-9C57-4D39-B107-8AD9AA772C40}" presName="bgRect" presStyleLbl="bgShp" presStyleIdx="2" presStyleCnt="3"/>
      <dgm:spPr/>
    </dgm:pt>
    <dgm:pt modelId="{79542DF8-8891-4021-BC24-D54DC2ACA971}" type="pres">
      <dgm:prSet presAssocID="{1948D98C-9C57-4D39-B107-8AD9AA772C4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Japanese Dolls"/>
        </a:ext>
      </dgm:extLst>
    </dgm:pt>
    <dgm:pt modelId="{8BF1E17B-B3DB-42EB-8F2A-778FB046C614}" type="pres">
      <dgm:prSet presAssocID="{1948D98C-9C57-4D39-B107-8AD9AA772C40}" presName="spaceRect" presStyleCnt="0"/>
      <dgm:spPr/>
    </dgm:pt>
    <dgm:pt modelId="{CC984299-1B73-456E-B107-87321AF09590}" type="pres">
      <dgm:prSet presAssocID="{1948D98C-9C57-4D39-B107-8AD9AA772C40}" presName="parTx" presStyleLbl="revTx" presStyleIdx="2" presStyleCnt="3">
        <dgm:presLayoutVars>
          <dgm:chMax val="0"/>
          <dgm:chPref val="0"/>
        </dgm:presLayoutVars>
      </dgm:prSet>
      <dgm:spPr/>
    </dgm:pt>
  </dgm:ptLst>
  <dgm:cxnLst>
    <dgm:cxn modelId="{8DFB8839-7C42-4B9C-98A9-FCC8298C93A4}" type="presOf" srcId="{4A5A9F30-931B-4E88-B46C-F4BCF3B976DC}" destId="{64DF24CF-9466-4F34-8D2B-3926BBFD8E4E}" srcOrd="0" destOrd="0" presId="urn:microsoft.com/office/officeart/2018/2/layout/IconVerticalSolidList"/>
    <dgm:cxn modelId="{B5594046-7CD0-4EBF-84C5-6E6597F281B8}" srcId="{4A5A9F30-931B-4E88-B46C-F4BCF3B976DC}" destId="{1948D98C-9C57-4D39-B107-8AD9AA772C40}" srcOrd="2" destOrd="0" parTransId="{5A1C69E5-021E-4EC3-9291-268BB167BB76}" sibTransId="{70BC1DFE-8A92-4A67-8A80-50EBB972C09E}"/>
    <dgm:cxn modelId="{8DC6314B-99AE-4899-8EF4-17002604498A}" type="presOf" srcId="{1D1EA36F-D7EB-4CFC-9F21-F4ED4B367AED}" destId="{45D6B95A-94D2-465A-892B-5E065DD8E878}" srcOrd="0" destOrd="0" presId="urn:microsoft.com/office/officeart/2018/2/layout/IconVerticalSolidList"/>
    <dgm:cxn modelId="{626DECA3-3022-4C67-AB00-BE25878B9921}" srcId="{4A5A9F30-931B-4E88-B46C-F4BCF3B976DC}" destId="{1D1EA36F-D7EB-4CFC-9F21-F4ED4B367AED}" srcOrd="0" destOrd="0" parTransId="{2231C375-DDAB-4736-BD4E-8E764B9C9987}" sibTransId="{D6E9E308-344E-4BCD-B67E-EAABC289B478}"/>
    <dgm:cxn modelId="{452DC8AF-EAE5-49CC-8AC1-61C4374D623C}" type="presOf" srcId="{1948D98C-9C57-4D39-B107-8AD9AA772C40}" destId="{CC984299-1B73-456E-B107-87321AF09590}" srcOrd="0" destOrd="0" presId="urn:microsoft.com/office/officeart/2018/2/layout/IconVerticalSolidList"/>
    <dgm:cxn modelId="{DF3F56B4-6900-4D7E-9197-EABC0B6F2DFF}" srcId="{4A5A9F30-931B-4E88-B46C-F4BCF3B976DC}" destId="{A7666006-C4B1-4587-893F-6686C689B101}" srcOrd="1" destOrd="0" parTransId="{AB54E0B9-5AD1-4C2F-80C5-913A0B6B439B}" sibTransId="{1644ACD1-4F5F-4EDD-A942-711F45E299C8}"/>
    <dgm:cxn modelId="{30DE30B6-469E-4751-827D-07478F28D02D}" type="presOf" srcId="{A7666006-C4B1-4587-893F-6686C689B101}" destId="{2AAADFAA-8304-4F83-8B34-9D327CB3BF68}" srcOrd="0" destOrd="0" presId="urn:microsoft.com/office/officeart/2018/2/layout/IconVerticalSolidList"/>
    <dgm:cxn modelId="{BF9A1E13-AD17-4BF8-932A-90F118E72171}" type="presParOf" srcId="{64DF24CF-9466-4F34-8D2B-3926BBFD8E4E}" destId="{8202EA28-F32E-4218-934E-7B1F163C43F3}" srcOrd="0" destOrd="0" presId="urn:microsoft.com/office/officeart/2018/2/layout/IconVerticalSolidList"/>
    <dgm:cxn modelId="{08B884A1-0CE7-4875-8211-216491F0B32B}" type="presParOf" srcId="{8202EA28-F32E-4218-934E-7B1F163C43F3}" destId="{7781B310-43FF-46C9-A1CB-694A49C223D0}" srcOrd="0" destOrd="0" presId="urn:microsoft.com/office/officeart/2018/2/layout/IconVerticalSolidList"/>
    <dgm:cxn modelId="{7F65213F-B97D-4EA8-83C7-08E103C34B17}" type="presParOf" srcId="{8202EA28-F32E-4218-934E-7B1F163C43F3}" destId="{1FC77D2B-A6E8-427F-99FB-1E6AC0767640}" srcOrd="1" destOrd="0" presId="urn:microsoft.com/office/officeart/2018/2/layout/IconVerticalSolidList"/>
    <dgm:cxn modelId="{7903F04A-988E-4CDA-A155-062B4BFBAAF5}" type="presParOf" srcId="{8202EA28-F32E-4218-934E-7B1F163C43F3}" destId="{6D031D8F-DE6E-48B4-AA1A-F3403E1A558A}" srcOrd="2" destOrd="0" presId="urn:microsoft.com/office/officeart/2018/2/layout/IconVerticalSolidList"/>
    <dgm:cxn modelId="{6E1AEED0-3BBE-4360-A323-32909411386F}" type="presParOf" srcId="{8202EA28-F32E-4218-934E-7B1F163C43F3}" destId="{45D6B95A-94D2-465A-892B-5E065DD8E878}" srcOrd="3" destOrd="0" presId="urn:microsoft.com/office/officeart/2018/2/layout/IconVerticalSolidList"/>
    <dgm:cxn modelId="{9E4899F9-8C71-4794-A147-08A5EEC229BF}" type="presParOf" srcId="{64DF24CF-9466-4F34-8D2B-3926BBFD8E4E}" destId="{3E8B068B-5F4A-4C44-A496-E54EE39986C5}" srcOrd="1" destOrd="0" presId="urn:microsoft.com/office/officeart/2018/2/layout/IconVerticalSolidList"/>
    <dgm:cxn modelId="{61D87718-3659-4742-9EDE-BA665E1E1000}" type="presParOf" srcId="{64DF24CF-9466-4F34-8D2B-3926BBFD8E4E}" destId="{31773AB1-7A02-4D2F-A365-4DAB4F93AD60}" srcOrd="2" destOrd="0" presId="urn:microsoft.com/office/officeart/2018/2/layout/IconVerticalSolidList"/>
    <dgm:cxn modelId="{FF95C400-B4F9-44BA-A28B-BC3A9ECADE65}" type="presParOf" srcId="{31773AB1-7A02-4D2F-A365-4DAB4F93AD60}" destId="{5AA154EF-9E4F-4199-B974-3098415F2ECD}" srcOrd="0" destOrd="0" presId="urn:microsoft.com/office/officeart/2018/2/layout/IconVerticalSolidList"/>
    <dgm:cxn modelId="{49A5B80A-8588-4129-B37F-97A6ACB390D9}" type="presParOf" srcId="{31773AB1-7A02-4D2F-A365-4DAB4F93AD60}" destId="{B05BBC8C-7AD9-4A3F-9332-53BB8C5F53D4}" srcOrd="1" destOrd="0" presId="urn:microsoft.com/office/officeart/2018/2/layout/IconVerticalSolidList"/>
    <dgm:cxn modelId="{B341E241-906E-47F8-9CA7-C47934FD0D58}" type="presParOf" srcId="{31773AB1-7A02-4D2F-A365-4DAB4F93AD60}" destId="{71DA7925-1CE1-4011-B903-E7A2BAE99935}" srcOrd="2" destOrd="0" presId="urn:microsoft.com/office/officeart/2018/2/layout/IconVerticalSolidList"/>
    <dgm:cxn modelId="{F82BF2B3-DBC5-419D-A089-77BF4FBA8AFA}" type="presParOf" srcId="{31773AB1-7A02-4D2F-A365-4DAB4F93AD60}" destId="{2AAADFAA-8304-4F83-8B34-9D327CB3BF68}" srcOrd="3" destOrd="0" presId="urn:microsoft.com/office/officeart/2018/2/layout/IconVerticalSolidList"/>
    <dgm:cxn modelId="{251C6039-C81D-4648-950D-E78EE55EF672}" type="presParOf" srcId="{64DF24CF-9466-4F34-8D2B-3926BBFD8E4E}" destId="{235DC59C-B657-4A87-89CA-96C7661DD20B}" srcOrd="3" destOrd="0" presId="urn:microsoft.com/office/officeart/2018/2/layout/IconVerticalSolidList"/>
    <dgm:cxn modelId="{D40E4576-B209-418A-93AE-85F0A36665FF}" type="presParOf" srcId="{64DF24CF-9466-4F34-8D2B-3926BBFD8E4E}" destId="{8FD1B9EB-6800-4ACC-BA59-B2E2E8F0CBAF}" srcOrd="4" destOrd="0" presId="urn:microsoft.com/office/officeart/2018/2/layout/IconVerticalSolidList"/>
    <dgm:cxn modelId="{7FE784F1-36CB-471C-8245-4AF44CDD1DFF}" type="presParOf" srcId="{8FD1B9EB-6800-4ACC-BA59-B2E2E8F0CBAF}" destId="{82053511-156C-4137-A288-43309B4FD0EB}" srcOrd="0" destOrd="0" presId="urn:microsoft.com/office/officeart/2018/2/layout/IconVerticalSolidList"/>
    <dgm:cxn modelId="{5E37F6ED-273E-4F0E-92A2-F1B543BCE5AC}" type="presParOf" srcId="{8FD1B9EB-6800-4ACC-BA59-B2E2E8F0CBAF}" destId="{79542DF8-8891-4021-BC24-D54DC2ACA971}" srcOrd="1" destOrd="0" presId="urn:microsoft.com/office/officeart/2018/2/layout/IconVerticalSolidList"/>
    <dgm:cxn modelId="{70EF0BD0-D161-4CAD-BE51-EF70366FA171}" type="presParOf" srcId="{8FD1B9EB-6800-4ACC-BA59-B2E2E8F0CBAF}" destId="{8BF1E17B-B3DB-42EB-8F2A-778FB046C614}" srcOrd="2" destOrd="0" presId="urn:microsoft.com/office/officeart/2018/2/layout/IconVerticalSolidList"/>
    <dgm:cxn modelId="{A6A2088E-E40E-46EC-A242-2A971307B857}" type="presParOf" srcId="{8FD1B9EB-6800-4ACC-BA59-B2E2E8F0CBAF}" destId="{CC984299-1B73-456E-B107-87321AF0959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82219-09C6-46BC-BA30-C20916911984}">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48AF95-4487-4408-9555-1CB46F1BC338}">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D937100-A2B8-408F-8C40-23D7B5684358}">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022350">
            <a:lnSpc>
              <a:spcPct val="90000"/>
            </a:lnSpc>
            <a:spcBef>
              <a:spcPct val="0"/>
            </a:spcBef>
            <a:spcAft>
              <a:spcPct val="35000"/>
            </a:spcAft>
            <a:buNone/>
          </a:pPr>
          <a:r>
            <a:rPr lang="en-GB" sz="2300" kern="1200"/>
            <a:t>JSP actions are special tags that encapsulate dynamic behavior, enhancing code modularity. For instance, the &lt;jsp:useBean&gt; action simplifies JavaBean integration into JSP pages.</a:t>
          </a:r>
          <a:endParaRPr lang="en-US" sz="2300" kern="1200"/>
        </a:p>
      </dsp:txBody>
      <dsp:txXfrm>
        <a:off x="1509882" y="708097"/>
        <a:ext cx="9005717" cy="1307257"/>
      </dsp:txXfrm>
    </dsp:sp>
    <dsp:sp modelId="{7A3531AC-6E91-4692-96F4-8D888221D9AE}">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282777-CE96-4639-BD42-FBB90EF6392B}">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7DD564-F780-4D0A-A99E-5B08E21C5B13}">
      <dsp:nvSpPr>
        <dsp:cNvPr id="0" name=""/>
        <dsp:cNvSpPr/>
      </dsp:nvSpPr>
      <dsp:spPr>
        <a:xfrm>
          <a:off x="1509882" y="2342169"/>
          <a:ext cx="4732020"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1022350">
            <a:lnSpc>
              <a:spcPct val="90000"/>
            </a:lnSpc>
            <a:spcBef>
              <a:spcPct val="0"/>
            </a:spcBef>
            <a:spcAft>
              <a:spcPct val="35000"/>
            </a:spcAft>
            <a:buNone/>
          </a:pPr>
          <a:r>
            <a:rPr lang="en-GB" sz="2300" kern="1200"/>
            <a:t>&lt;jsp:useBean id="user" class="com.example.User" scope="session" /&gt;</a:t>
          </a:r>
          <a:endParaRPr lang="en-US" sz="2300" kern="1200"/>
        </a:p>
      </dsp:txBody>
      <dsp:txXfrm>
        <a:off x="1509882" y="2342169"/>
        <a:ext cx="4732020" cy="1307257"/>
      </dsp:txXfrm>
    </dsp:sp>
    <dsp:sp modelId="{CF5E0B47-18A2-42A7-B291-C981667CACDC}">
      <dsp:nvSpPr>
        <dsp:cNvPr id="0" name=""/>
        <dsp:cNvSpPr/>
      </dsp:nvSpPr>
      <dsp:spPr>
        <a:xfrm>
          <a:off x="6241902" y="2342169"/>
          <a:ext cx="427369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755650">
            <a:lnSpc>
              <a:spcPct val="90000"/>
            </a:lnSpc>
            <a:spcBef>
              <a:spcPct val="0"/>
            </a:spcBef>
            <a:spcAft>
              <a:spcPct val="35000"/>
            </a:spcAft>
            <a:buNone/>
          </a:pPr>
          <a:r>
            <a:rPr lang="en-GB" sz="1700" kern="1200" dirty="0"/>
            <a:t>This action creates a session-scoped JavaBean named “user.”</a:t>
          </a:r>
          <a:endParaRPr lang="en-US" sz="1700" kern="1200" dirty="0"/>
        </a:p>
      </dsp:txBody>
      <dsp:txXfrm>
        <a:off x="6241902" y="2342169"/>
        <a:ext cx="427369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81B310-43FF-46C9-A1CB-694A49C223D0}">
      <dsp:nvSpPr>
        <dsp:cNvPr id="0" name=""/>
        <dsp:cNvSpPr/>
      </dsp:nvSpPr>
      <dsp:spPr>
        <a:xfrm>
          <a:off x="0" y="673"/>
          <a:ext cx="6364224" cy="157499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C77D2B-A6E8-427F-99FB-1E6AC0767640}">
      <dsp:nvSpPr>
        <dsp:cNvPr id="0" name=""/>
        <dsp:cNvSpPr/>
      </dsp:nvSpPr>
      <dsp:spPr>
        <a:xfrm>
          <a:off x="476436" y="355047"/>
          <a:ext cx="866247" cy="86624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D6B95A-94D2-465A-892B-5E065DD8E878}">
      <dsp:nvSpPr>
        <dsp:cNvPr id="0" name=""/>
        <dsp:cNvSpPr/>
      </dsp:nvSpPr>
      <dsp:spPr>
        <a:xfrm>
          <a:off x="1819120" y="673"/>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800100">
            <a:lnSpc>
              <a:spcPct val="90000"/>
            </a:lnSpc>
            <a:spcBef>
              <a:spcPct val="0"/>
            </a:spcBef>
            <a:spcAft>
              <a:spcPct val="35000"/>
            </a:spcAft>
            <a:buNone/>
          </a:pPr>
          <a:r>
            <a:rPr lang="en-GB" sz="1800" kern="1200"/>
            <a:t>Expression Language, or EL, simplifies the retrieval of data from Java objects. It provides an elegant way to access object properties without using scriptlets.</a:t>
          </a:r>
          <a:endParaRPr lang="en-US" sz="1800" kern="1200"/>
        </a:p>
      </dsp:txBody>
      <dsp:txXfrm>
        <a:off x="1819120" y="673"/>
        <a:ext cx="4545103" cy="1574995"/>
      </dsp:txXfrm>
    </dsp:sp>
    <dsp:sp modelId="{5AA154EF-9E4F-4199-B974-3098415F2ECD}">
      <dsp:nvSpPr>
        <dsp:cNvPr id="0" name=""/>
        <dsp:cNvSpPr/>
      </dsp:nvSpPr>
      <dsp:spPr>
        <a:xfrm>
          <a:off x="0" y="1969418"/>
          <a:ext cx="6364224" cy="157499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5BBC8C-7AD9-4A3F-9332-53BB8C5F53D4}">
      <dsp:nvSpPr>
        <dsp:cNvPr id="0" name=""/>
        <dsp:cNvSpPr/>
      </dsp:nvSpPr>
      <dsp:spPr>
        <a:xfrm>
          <a:off x="476436" y="2323792"/>
          <a:ext cx="866247" cy="86624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AADFAA-8304-4F83-8B34-9D327CB3BF68}">
      <dsp:nvSpPr>
        <dsp:cNvPr id="0" name=""/>
        <dsp:cNvSpPr/>
      </dsp:nvSpPr>
      <dsp:spPr>
        <a:xfrm>
          <a:off x="1819120" y="1969418"/>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800100">
            <a:lnSpc>
              <a:spcPct val="90000"/>
            </a:lnSpc>
            <a:spcBef>
              <a:spcPct val="0"/>
            </a:spcBef>
            <a:spcAft>
              <a:spcPct val="35000"/>
            </a:spcAft>
            <a:buNone/>
          </a:pPr>
          <a:r>
            <a:rPr lang="en-GB" sz="1800" b="1" kern="1200"/>
            <a:t>&lt;p&gt;Welcome, ${user.name}!&lt;/p&gt;</a:t>
          </a:r>
          <a:endParaRPr lang="en-US" sz="1800" kern="1200"/>
        </a:p>
      </dsp:txBody>
      <dsp:txXfrm>
        <a:off x="1819120" y="1969418"/>
        <a:ext cx="4545103" cy="1574995"/>
      </dsp:txXfrm>
    </dsp:sp>
    <dsp:sp modelId="{82053511-156C-4137-A288-43309B4FD0EB}">
      <dsp:nvSpPr>
        <dsp:cNvPr id="0" name=""/>
        <dsp:cNvSpPr/>
      </dsp:nvSpPr>
      <dsp:spPr>
        <a:xfrm>
          <a:off x="0" y="3938162"/>
          <a:ext cx="6364224" cy="157499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542DF8-8891-4021-BC24-D54DC2ACA971}">
      <dsp:nvSpPr>
        <dsp:cNvPr id="0" name=""/>
        <dsp:cNvSpPr/>
      </dsp:nvSpPr>
      <dsp:spPr>
        <a:xfrm>
          <a:off x="476436" y="4292537"/>
          <a:ext cx="866247" cy="86624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984299-1B73-456E-B107-87321AF09590}">
      <dsp:nvSpPr>
        <dsp:cNvPr id="0" name=""/>
        <dsp:cNvSpPr/>
      </dsp:nvSpPr>
      <dsp:spPr>
        <a:xfrm>
          <a:off x="1819120" y="3938162"/>
          <a:ext cx="4545103" cy="1574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687" tIns="166687" rIns="166687" bIns="166687" numCol="1" spcCol="1270" anchor="ctr" anchorCtr="0">
          <a:noAutofit/>
        </a:bodyPr>
        <a:lstStyle/>
        <a:p>
          <a:pPr marL="0" lvl="0" indent="0" algn="l" defTabSz="800100">
            <a:lnSpc>
              <a:spcPct val="90000"/>
            </a:lnSpc>
            <a:spcBef>
              <a:spcPct val="0"/>
            </a:spcBef>
            <a:spcAft>
              <a:spcPct val="35000"/>
            </a:spcAft>
            <a:buNone/>
          </a:pPr>
          <a:r>
            <a:rPr lang="en-GB" sz="1800" kern="1200"/>
            <a:t>Here, EL fetches the “name” property from the “user” JavaBean.</a:t>
          </a:r>
          <a:endParaRPr lang="en-US" sz="1800" kern="1200"/>
        </a:p>
      </dsp:txBody>
      <dsp:txXfrm>
        <a:off x="1819120" y="3938162"/>
        <a:ext cx="4545103" cy="157499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9BC7-A286-11CF-2977-63C58834010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236C33D-585A-09C8-DAB3-CA07480203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E922B63-E38F-C893-0B58-22626C1E8468}"/>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5" name="Footer Placeholder 4">
            <a:extLst>
              <a:ext uri="{FF2B5EF4-FFF2-40B4-BE49-F238E27FC236}">
                <a16:creationId xmlns:a16="http://schemas.microsoft.com/office/drawing/2014/main" id="{5AB0B39D-D528-40AB-2CCF-D0E26F47B8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AB71C0-6219-4BCF-9854-71682B0673BE}"/>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670766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8E2E-B8F4-4D2C-10D7-C672CF2A65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88C797B-4A5D-C5A2-967A-7F3A63087D5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86695DC-6D0B-1B55-309A-D9D605D6B253}"/>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5" name="Footer Placeholder 4">
            <a:extLst>
              <a:ext uri="{FF2B5EF4-FFF2-40B4-BE49-F238E27FC236}">
                <a16:creationId xmlns:a16="http://schemas.microsoft.com/office/drawing/2014/main" id="{447212FC-C697-D6B2-5A90-CF839AF39B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686B0F-2234-495B-E929-1CD84B62911F}"/>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4291386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5C15A-913A-4933-7C6E-48E8F0F53BC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4570BDB-D0BA-79EC-AFD4-A3729A21E3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1E76386-51E3-B925-BF8C-D2740AE6F8E5}"/>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5" name="Footer Placeholder 4">
            <a:extLst>
              <a:ext uri="{FF2B5EF4-FFF2-40B4-BE49-F238E27FC236}">
                <a16:creationId xmlns:a16="http://schemas.microsoft.com/office/drawing/2014/main" id="{EF3FCE18-24C4-664F-E16B-EF685FBBC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B107D-22CC-4B94-BE71-0D58E3CB3A54}"/>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1285136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14EB6-FE3B-3C85-AAEB-49AD8C7E259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B9AF8A8-86F1-DE36-3EBA-B0E45A1FA88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640835A-26C8-54D6-C1D9-9978240BA77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39776AA-2C35-6F7C-D9D7-85AF382A9D67}"/>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6" name="Footer Placeholder 5">
            <a:extLst>
              <a:ext uri="{FF2B5EF4-FFF2-40B4-BE49-F238E27FC236}">
                <a16:creationId xmlns:a16="http://schemas.microsoft.com/office/drawing/2014/main" id="{279DA9DB-17F6-A0D3-C6D9-6D473623DC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9BD3FB-70B4-B00F-54B4-5F6C246D136B}"/>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1192413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5FB5-7C03-FC0A-0EA8-B937629988B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79B66AD-5D55-80A4-E9BD-60A57524C5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0DFEED6-FEA3-5438-BF93-A801CCDD672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FD53E85-0877-B9FE-059D-1BB367F3BE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18E3A7D-1BBC-F313-7E56-E7C9257C1DA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9D6C4E9-BBB7-D5FA-169B-8D861194B7D5}"/>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8" name="Footer Placeholder 7">
            <a:extLst>
              <a:ext uri="{FF2B5EF4-FFF2-40B4-BE49-F238E27FC236}">
                <a16:creationId xmlns:a16="http://schemas.microsoft.com/office/drawing/2014/main" id="{A85C80D7-767F-6AE9-0878-F656530F3A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896994-8CBC-E01D-402F-F4703782F4D7}"/>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1900439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5F067-CBDD-5DEC-F0E2-4937A121F05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9C6B08D-2E7E-AC59-3CCE-53EDF09E1619}"/>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4" name="Footer Placeholder 3">
            <a:extLst>
              <a:ext uri="{FF2B5EF4-FFF2-40B4-BE49-F238E27FC236}">
                <a16:creationId xmlns:a16="http://schemas.microsoft.com/office/drawing/2014/main" id="{F89D4897-17F4-C889-0ABF-B441C60B0D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DBCC5E-07BD-D17F-7855-BE3CE4096883}"/>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3191978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4408B0-A14B-73C6-DBBC-1155E5086122}"/>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3" name="Footer Placeholder 2">
            <a:extLst>
              <a:ext uri="{FF2B5EF4-FFF2-40B4-BE49-F238E27FC236}">
                <a16:creationId xmlns:a16="http://schemas.microsoft.com/office/drawing/2014/main" id="{09B2E249-0CBD-BFB6-1380-B7226B7EB4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0CC05D-9624-3EFB-54A2-842ED347964C}"/>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619384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7F287-4BF5-262A-2EE4-69BB97CA2F5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19CFA36-DE3A-7423-F211-639AE2C7A1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800F30B-56FD-9125-038C-481B1A377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ECEA54A-27CB-68B7-E75A-0A5BDF458693}"/>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6" name="Footer Placeholder 5">
            <a:extLst>
              <a:ext uri="{FF2B5EF4-FFF2-40B4-BE49-F238E27FC236}">
                <a16:creationId xmlns:a16="http://schemas.microsoft.com/office/drawing/2014/main" id="{6CFA5154-00F0-F6BE-2319-F14967F3D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BC214D-9167-E242-7A7E-4376B59DCC09}"/>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1213360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0E23-82D3-8BA2-378A-70564CC1A03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3D43037-0DED-3ADF-293E-E14E867456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E97038-8174-CEC8-B45D-25651645F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F97F1D0-226C-ECB8-CA05-D86DC90FCAFB}"/>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6" name="Footer Placeholder 5">
            <a:extLst>
              <a:ext uri="{FF2B5EF4-FFF2-40B4-BE49-F238E27FC236}">
                <a16:creationId xmlns:a16="http://schemas.microsoft.com/office/drawing/2014/main" id="{8893BAD6-0F2F-FFA2-96D4-5651652840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C405FF-B772-8533-1ADA-BAE9921E5882}"/>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44600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44FDF-98E2-B239-65F4-5B4CE88D1EE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87FEF3-52F6-4366-4DF6-E1882AB8A2C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82902D3-FD58-BA53-50ED-903BA278CB8C}"/>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5" name="Footer Placeholder 4">
            <a:extLst>
              <a:ext uri="{FF2B5EF4-FFF2-40B4-BE49-F238E27FC236}">
                <a16:creationId xmlns:a16="http://schemas.microsoft.com/office/drawing/2014/main" id="{0D6709E1-882B-9221-9A5A-7370F5987C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06C67-A7C6-D240-B0CD-C146F7A623CF}"/>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1687878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AA9884-0DC6-3213-5097-E3C89F2EAF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0C2D7F2-8792-7345-EB7D-F6DF1DC8EEA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0D9CA7-89BB-42C3-AC47-BFA06D8AC2AA}"/>
              </a:ext>
            </a:extLst>
          </p:cNvPr>
          <p:cNvSpPr>
            <a:spLocks noGrp="1"/>
          </p:cNvSpPr>
          <p:nvPr>
            <p:ph type="dt" sz="half" idx="10"/>
          </p:nvPr>
        </p:nvSpPr>
        <p:spPr/>
        <p:txBody>
          <a:bodyPr/>
          <a:lstStyle/>
          <a:p>
            <a:fld id="{F7E791A0-140C-004C-91B7-2D6643531684}" type="datetimeFigureOut">
              <a:rPr lang="en-US" smtClean="0"/>
              <a:t>10/10/25</a:t>
            </a:fld>
            <a:endParaRPr lang="en-US"/>
          </a:p>
        </p:txBody>
      </p:sp>
      <p:sp>
        <p:nvSpPr>
          <p:cNvPr id="5" name="Footer Placeholder 4">
            <a:extLst>
              <a:ext uri="{FF2B5EF4-FFF2-40B4-BE49-F238E27FC236}">
                <a16:creationId xmlns:a16="http://schemas.microsoft.com/office/drawing/2014/main" id="{7BC3D953-050A-B11D-AF3D-464799C10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2CB003-DB24-43E8-BE84-BD358DBAD22A}"/>
              </a:ext>
            </a:extLst>
          </p:cNvPr>
          <p:cNvSpPr>
            <a:spLocks noGrp="1"/>
          </p:cNvSpPr>
          <p:nvPr>
            <p:ph type="sldNum" sz="quarter" idx="12"/>
          </p:nvPr>
        </p:nvSpPr>
        <p:spPr/>
        <p:txBody>
          <a:bodyPr/>
          <a:lstStyle/>
          <a:p>
            <a:fld id="{65C6778E-1CD4-D140-97D6-416F8441F334}" type="slidenum">
              <a:rPr lang="en-US" smtClean="0"/>
              <a:t>‹#›</a:t>
            </a:fld>
            <a:endParaRPr lang="en-US"/>
          </a:p>
        </p:txBody>
      </p:sp>
    </p:spTree>
    <p:extLst>
      <p:ext uri="{BB962C8B-B14F-4D97-AF65-F5344CB8AC3E}">
        <p14:creationId xmlns:p14="http://schemas.microsoft.com/office/powerpoint/2010/main" val="2937764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035A0-B027-2CE7-D048-7C4F00735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ED88EB1-CCED-F500-B7DC-FFB704C081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83D103-2619-2904-37B0-FB701865A8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E791A0-140C-004C-91B7-2D6643531684}" type="datetimeFigureOut">
              <a:rPr lang="en-US" smtClean="0"/>
              <a:t>10/10/25</a:t>
            </a:fld>
            <a:endParaRPr lang="en-US"/>
          </a:p>
        </p:txBody>
      </p:sp>
      <p:sp>
        <p:nvSpPr>
          <p:cNvPr id="5" name="Footer Placeholder 4">
            <a:extLst>
              <a:ext uri="{FF2B5EF4-FFF2-40B4-BE49-F238E27FC236}">
                <a16:creationId xmlns:a16="http://schemas.microsoft.com/office/drawing/2014/main" id="{7524DC3C-3D30-C4F2-BB79-7CB1D220EA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70EF48-66DD-A87F-DEB6-4425B5F35F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C6778E-1CD4-D140-97D6-416F8441F334}" type="slidenum">
              <a:rPr lang="en-US" smtClean="0"/>
              <a:t>‹#›</a:t>
            </a:fld>
            <a:endParaRPr lang="en-US"/>
          </a:p>
        </p:txBody>
      </p:sp>
    </p:spTree>
    <p:extLst>
      <p:ext uri="{BB962C8B-B14F-4D97-AF65-F5344CB8AC3E}">
        <p14:creationId xmlns:p14="http://schemas.microsoft.com/office/powerpoint/2010/main" val="108307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edureka.co/blog/java-servlets"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devops/how-to-start-tomcat-server/" TargetMode="External"/><Relationship Id="rId2" Type="http://schemas.openxmlformats.org/officeDocument/2006/relationships/hyperlink" Target="https://www.geeksforgeeks.org/installation-guide/download-and-install-jdk-on-windows-mac-and-linux/"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119EC3-1D12-1D83-D0DF-555037E6591A}"/>
              </a:ext>
            </a:extLst>
          </p:cNvPr>
          <p:cNvSpPr>
            <a:spLocks noGrp="1"/>
          </p:cNvSpPr>
          <p:nvPr>
            <p:ph type="ctrTitle"/>
          </p:nvPr>
        </p:nvSpPr>
        <p:spPr>
          <a:xfrm>
            <a:off x="1285241" y="1554480"/>
            <a:ext cx="9231410" cy="2996558"/>
          </a:xfrm>
        </p:spPr>
        <p:txBody>
          <a:bodyPr anchor="b">
            <a:normAutofit fontScale="90000"/>
          </a:bodyPr>
          <a:lstStyle/>
          <a:p>
            <a:r>
              <a:rPr lang="en-US" sz="11500" dirty="0"/>
              <a:t>Java </a:t>
            </a:r>
            <a:br>
              <a:rPr lang="en-US" sz="11500" dirty="0"/>
            </a:br>
            <a:r>
              <a:rPr lang="en-US" sz="11500" dirty="0"/>
              <a:t>Servlets and JSP</a:t>
            </a:r>
          </a:p>
        </p:txBody>
      </p:sp>
      <p:sp>
        <p:nvSpPr>
          <p:cNvPr id="3" name="Subtitle 2">
            <a:extLst>
              <a:ext uri="{FF2B5EF4-FFF2-40B4-BE49-F238E27FC236}">
                <a16:creationId xmlns:a16="http://schemas.microsoft.com/office/drawing/2014/main" id="{5A46C6A1-70C5-FAFD-CE62-FC5A355FCB81}"/>
              </a:ext>
            </a:extLst>
          </p:cNvPr>
          <p:cNvSpPr>
            <a:spLocks noGrp="1"/>
          </p:cNvSpPr>
          <p:nvPr>
            <p:ph type="subTitle" idx="1"/>
          </p:nvPr>
        </p:nvSpPr>
        <p:spPr>
          <a:xfrm>
            <a:off x="722193" y="5598751"/>
            <a:ext cx="7132335" cy="500511"/>
          </a:xfrm>
        </p:spPr>
        <p:txBody>
          <a:bodyPr anchor="t">
            <a:normAutofit/>
          </a:bodyPr>
          <a:lstStyle/>
          <a:p>
            <a:pPr algn="l"/>
            <a:r>
              <a:rPr lang="en-US" dirty="0"/>
              <a:t>Lecturer: Shakhnoza Muksimova </a:t>
            </a:r>
          </a:p>
        </p:txBody>
      </p:sp>
      <p:sp>
        <p:nvSpPr>
          <p:cNvPr id="4" name="TextBox 3">
            <a:extLst>
              <a:ext uri="{FF2B5EF4-FFF2-40B4-BE49-F238E27FC236}">
                <a16:creationId xmlns:a16="http://schemas.microsoft.com/office/drawing/2014/main" id="{1CE65D42-74B3-3ED4-9469-B7938C1E7AF2}"/>
              </a:ext>
            </a:extLst>
          </p:cNvPr>
          <p:cNvSpPr txBox="1"/>
          <p:nvPr/>
        </p:nvSpPr>
        <p:spPr>
          <a:xfrm>
            <a:off x="1285241" y="751840"/>
            <a:ext cx="8559799" cy="523220"/>
          </a:xfrm>
          <a:prstGeom prst="rect">
            <a:avLst/>
          </a:prstGeom>
          <a:noFill/>
        </p:spPr>
        <p:txBody>
          <a:bodyPr wrap="square" rtlCol="0">
            <a:spAutoFit/>
          </a:bodyPr>
          <a:lstStyle/>
          <a:p>
            <a:pPr algn="ctr"/>
            <a:r>
              <a:rPr lang="en-US" sz="2800" dirty="0"/>
              <a:t>Web Server Programming</a:t>
            </a:r>
          </a:p>
        </p:txBody>
      </p:sp>
    </p:spTree>
    <p:extLst>
      <p:ext uri="{BB962C8B-B14F-4D97-AF65-F5344CB8AC3E}">
        <p14:creationId xmlns:p14="http://schemas.microsoft.com/office/powerpoint/2010/main" val="1375886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0B5F9-AF70-892F-33F5-F93A24BFD6B6}"/>
              </a:ext>
            </a:extLst>
          </p:cNvPr>
          <p:cNvSpPr>
            <a:spLocks noGrp="1"/>
          </p:cNvSpPr>
          <p:nvPr>
            <p:ph type="title"/>
          </p:nvPr>
        </p:nvSpPr>
        <p:spPr>
          <a:xfrm>
            <a:off x="630936" y="640080"/>
            <a:ext cx="4818888" cy="1481328"/>
          </a:xfrm>
        </p:spPr>
        <p:txBody>
          <a:bodyPr anchor="b">
            <a:normAutofit/>
          </a:bodyPr>
          <a:lstStyle/>
          <a:p>
            <a:r>
              <a:rPr lang="en-GB" sz="5000" b="1"/>
              <a:t>Understanding Servlets</a:t>
            </a:r>
          </a:p>
        </p:txBody>
      </p:sp>
      <p:sp>
        <p:nvSpPr>
          <p:cNvPr id="1033"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7F758B9-AE2F-9E79-4668-88DE0341B334}"/>
              </a:ext>
            </a:extLst>
          </p:cNvPr>
          <p:cNvSpPr>
            <a:spLocks noGrp="1"/>
          </p:cNvSpPr>
          <p:nvPr>
            <p:ph idx="1"/>
          </p:nvPr>
        </p:nvSpPr>
        <p:spPr>
          <a:xfrm>
            <a:off x="630936" y="2660904"/>
            <a:ext cx="4818888" cy="3547872"/>
          </a:xfrm>
        </p:spPr>
        <p:txBody>
          <a:bodyPr anchor="t">
            <a:normAutofit/>
          </a:bodyPr>
          <a:lstStyle/>
          <a:p>
            <a:r>
              <a:rPr lang="en-GB" sz="2200"/>
              <a:t>Servlets, at their core, are Java classes that extend the capabilities of servers to enhance the functionality of web applications. They provide a server-side component model that is both platform-independent and scalable. Servlets operate on the server side, responding to client requests and generating dynamic content.</a:t>
            </a:r>
            <a:endParaRPr lang="en-US" sz="2200"/>
          </a:p>
        </p:txBody>
      </p:sp>
      <p:pic>
        <p:nvPicPr>
          <p:cNvPr id="1026" name="Picture 2">
            <a:extLst>
              <a:ext uri="{FF2B5EF4-FFF2-40B4-BE49-F238E27FC236}">
                <a16:creationId xmlns:a16="http://schemas.microsoft.com/office/drawing/2014/main" id="{15B75502-7293-96AF-19FA-D2A47E7C29C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9048" y="1893665"/>
            <a:ext cx="5458968" cy="3070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8534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F64E5-F657-5D79-3DDC-1DB1FB1C8FC0}"/>
              </a:ext>
            </a:extLst>
          </p:cNvPr>
          <p:cNvSpPr>
            <a:spLocks noGrp="1"/>
          </p:cNvSpPr>
          <p:nvPr>
            <p:ph type="title"/>
          </p:nvPr>
        </p:nvSpPr>
        <p:spPr/>
        <p:txBody>
          <a:bodyPr/>
          <a:lstStyle/>
          <a:p>
            <a:r>
              <a:rPr lang="en-GB" b="1" dirty="0"/>
              <a:t>Setting Up Your Servlet Environment</a:t>
            </a:r>
            <a:endParaRPr lang="en-US" dirty="0"/>
          </a:p>
        </p:txBody>
      </p:sp>
      <p:sp>
        <p:nvSpPr>
          <p:cNvPr id="3" name="Content Placeholder 2">
            <a:extLst>
              <a:ext uri="{FF2B5EF4-FFF2-40B4-BE49-F238E27FC236}">
                <a16:creationId xmlns:a16="http://schemas.microsoft.com/office/drawing/2014/main" id="{A12E3542-3E9F-A854-E7DA-D04B22D31E2F}"/>
              </a:ext>
            </a:extLst>
          </p:cNvPr>
          <p:cNvSpPr>
            <a:spLocks noGrp="1"/>
          </p:cNvSpPr>
          <p:nvPr>
            <p:ph idx="1"/>
          </p:nvPr>
        </p:nvSpPr>
        <p:spPr/>
        <p:txBody>
          <a:bodyPr/>
          <a:lstStyle/>
          <a:p>
            <a:r>
              <a:rPr lang="en-GB" dirty="0"/>
              <a:t>Before delving into Servlet code, it’s essential to set up a development environment. Ensure you have Java Development Kit (JDK) and an integrated development environment (IDE) like Eclipse or IntelliJ IDEA.</a:t>
            </a:r>
            <a:endParaRPr lang="en-US" dirty="0"/>
          </a:p>
        </p:txBody>
      </p:sp>
    </p:spTree>
    <p:extLst>
      <p:ext uri="{BB962C8B-B14F-4D97-AF65-F5344CB8AC3E}">
        <p14:creationId xmlns:p14="http://schemas.microsoft.com/office/powerpoint/2010/main" val="3700546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FA2FD-A5DF-9E66-60EC-C6ABE192BF0C}"/>
              </a:ext>
            </a:extLst>
          </p:cNvPr>
          <p:cNvSpPr>
            <a:spLocks noGrp="1"/>
          </p:cNvSpPr>
          <p:nvPr>
            <p:ph type="title"/>
          </p:nvPr>
        </p:nvSpPr>
        <p:spPr/>
        <p:txBody>
          <a:bodyPr/>
          <a:lstStyle/>
          <a:p>
            <a:r>
              <a:rPr lang="en-GB" b="1" dirty="0"/>
              <a:t>Creating First Servlet</a:t>
            </a:r>
            <a:endParaRPr lang="en-US" dirty="0"/>
          </a:p>
        </p:txBody>
      </p:sp>
      <p:pic>
        <p:nvPicPr>
          <p:cNvPr id="5" name="Content Placeholder 4" descr="A screen shot of a computer program&#10;&#10;AI-generated content may be incorrect.">
            <a:extLst>
              <a:ext uri="{FF2B5EF4-FFF2-40B4-BE49-F238E27FC236}">
                <a16:creationId xmlns:a16="http://schemas.microsoft.com/office/drawing/2014/main" id="{0C9B9EF3-B7F9-E492-DCDD-769EC806B245}"/>
              </a:ext>
            </a:extLst>
          </p:cNvPr>
          <p:cNvPicPr>
            <a:picLocks noGrp="1" noChangeAspect="1"/>
          </p:cNvPicPr>
          <p:nvPr>
            <p:ph idx="1"/>
          </p:nvPr>
        </p:nvPicPr>
        <p:blipFill>
          <a:blip r:embed="rId2"/>
          <a:stretch>
            <a:fillRect/>
          </a:stretch>
        </p:blipFill>
        <p:spPr>
          <a:xfrm>
            <a:off x="1525772" y="2321055"/>
            <a:ext cx="8458200" cy="3530600"/>
          </a:xfrm>
        </p:spPr>
      </p:pic>
      <p:sp>
        <p:nvSpPr>
          <p:cNvPr id="7" name="TextBox 6">
            <a:extLst>
              <a:ext uri="{FF2B5EF4-FFF2-40B4-BE49-F238E27FC236}">
                <a16:creationId xmlns:a16="http://schemas.microsoft.com/office/drawing/2014/main" id="{F626E9E8-7E5B-BAEF-150E-62BB47EBC313}"/>
              </a:ext>
            </a:extLst>
          </p:cNvPr>
          <p:cNvSpPr txBox="1"/>
          <p:nvPr/>
        </p:nvSpPr>
        <p:spPr>
          <a:xfrm>
            <a:off x="922518" y="1501676"/>
            <a:ext cx="9061454" cy="646331"/>
          </a:xfrm>
          <a:prstGeom prst="rect">
            <a:avLst/>
          </a:prstGeom>
          <a:noFill/>
        </p:spPr>
        <p:txBody>
          <a:bodyPr wrap="square">
            <a:spAutoFit/>
          </a:bodyPr>
          <a:lstStyle/>
          <a:p>
            <a:r>
              <a:rPr lang="en-GB" b="0" i="0" dirty="0">
                <a:solidFill>
                  <a:srgbClr val="242424"/>
                </a:solidFill>
                <a:effectLst/>
                <a:latin typeface="source-serif-pro"/>
              </a:rPr>
              <a:t>In this example, we create a class </a:t>
            </a:r>
            <a:r>
              <a:rPr lang="en-GB" b="0" i="0" dirty="0" err="1">
                <a:solidFill>
                  <a:srgbClr val="242424"/>
                </a:solidFill>
                <a:effectLst/>
                <a:latin typeface="source-code-pro"/>
              </a:rPr>
              <a:t>HelloServlet</a:t>
            </a:r>
            <a:r>
              <a:rPr lang="en-GB" b="0" i="0" dirty="0">
                <a:solidFill>
                  <a:srgbClr val="242424"/>
                </a:solidFill>
                <a:effectLst/>
                <a:latin typeface="source-serif-pro"/>
              </a:rPr>
              <a:t> that extends </a:t>
            </a:r>
            <a:r>
              <a:rPr lang="en-GB" b="0" i="0" dirty="0" err="1">
                <a:solidFill>
                  <a:srgbClr val="242424"/>
                </a:solidFill>
                <a:effectLst/>
                <a:latin typeface="source-code-pro"/>
              </a:rPr>
              <a:t>HttpServlet</a:t>
            </a:r>
            <a:r>
              <a:rPr lang="en-GB" b="0" i="0" dirty="0">
                <a:solidFill>
                  <a:srgbClr val="242424"/>
                </a:solidFill>
                <a:effectLst/>
                <a:latin typeface="source-serif-pro"/>
              </a:rPr>
              <a:t>. The </a:t>
            </a:r>
            <a:r>
              <a:rPr lang="en-GB" b="0" i="0" dirty="0" err="1">
                <a:solidFill>
                  <a:srgbClr val="242424"/>
                </a:solidFill>
                <a:effectLst/>
                <a:latin typeface="source-code-pro"/>
              </a:rPr>
              <a:t>doGet</a:t>
            </a:r>
            <a:r>
              <a:rPr lang="en-GB" b="0" i="0" dirty="0">
                <a:solidFill>
                  <a:srgbClr val="242424"/>
                </a:solidFill>
                <a:effectLst/>
                <a:latin typeface="source-serif-pro"/>
              </a:rPr>
              <a:t> method handles HTTP GET requests, and it simply writes "Hello, Servlets!" to the response.</a:t>
            </a:r>
            <a:endParaRPr lang="en-US" dirty="0"/>
          </a:p>
        </p:txBody>
      </p:sp>
    </p:spTree>
    <p:extLst>
      <p:ext uri="{BB962C8B-B14F-4D97-AF65-F5344CB8AC3E}">
        <p14:creationId xmlns:p14="http://schemas.microsoft.com/office/powerpoint/2010/main" val="1068602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B12D6-8DA6-364F-49A0-07195A143382}"/>
              </a:ext>
            </a:extLst>
          </p:cNvPr>
          <p:cNvSpPr>
            <a:spLocks noGrp="1"/>
          </p:cNvSpPr>
          <p:nvPr>
            <p:ph type="title"/>
          </p:nvPr>
        </p:nvSpPr>
        <p:spPr/>
        <p:txBody>
          <a:bodyPr>
            <a:normAutofit/>
          </a:bodyPr>
          <a:lstStyle/>
          <a:p>
            <a:r>
              <a:rPr lang="en-GB" b="1" dirty="0"/>
              <a:t>Mapping Servlets in the Deployment Descriptor (</a:t>
            </a:r>
            <a:r>
              <a:rPr lang="en-GB" b="1" dirty="0" err="1"/>
              <a:t>web.xml</a:t>
            </a:r>
            <a:r>
              <a:rPr lang="en-GB" b="1" dirty="0"/>
              <a:t>)</a:t>
            </a:r>
            <a:endParaRPr lang="en-US" dirty="0"/>
          </a:p>
        </p:txBody>
      </p:sp>
      <p:sp>
        <p:nvSpPr>
          <p:cNvPr id="3" name="Content Placeholder 2">
            <a:extLst>
              <a:ext uri="{FF2B5EF4-FFF2-40B4-BE49-F238E27FC236}">
                <a16:creationId xmlns:a16="http://schemas.microsoft.com/office/drawing/2014/main" id="{F95CE072-C485-DAC2-B31F-094F93B49292}"/>
              </a:ext>
            </a:extLst>
          </p:cNvPr>
          <p:cNvSpPr>
            <a:spLocks noGrp="1"/>
          </p:cNvSpPr>
          <p:nvPr>
            <p:ph idx="1"/>
          </p:nvPr>
        </p:nvSpPr>
        <p:spPr/>
        <p:txBody>
          <a:bodyPr/>
          <a:lstStyle/>
          <a:p>
            <a:r>
              <a:rPr lang="en-GB" dirty="0"/>
              <a:t>For Servlets to be accessible, they need to be mapped in the </a:t>
            </a:r>
            <a:r>
              <a:rPr lang="en-GB" dirty="0" err="1"/>
              <a:t>web.xml</a:t>
            </a:r>
            <a:r>
              <a:rPr lang="en-GB" dirty="0"/>
              <a:t> deployment descriptor.</a:t>
            </a:r>
            <a:endParaRPr lang="en-US" dirty="0"/>
          </a:p>
        </p:txBody>
      </p:sp>
      <p:pic>
        <p:nvPicPr>
          <p:cNvPr id="5" name="Picture 4" descr="A screen shot of a computer code&#10;&#10;AI-generated content may be incorrect.">
            <a:extLst>
              <a:ext uri="{FF2B5EF4-FFF2-40B4-BE49-F238E27FC236}">
                <a16:creationId xmlns:a16="http://schemas.microsoft.com/office/drawing/2014/main" id="{8FFB44A3-410B-49F3-2C12-D0704F65400C}"/>
              </a:ext>
            </a:extLst>
          </p:cNvPr>
          <p:cNvPicPr>
            <a:picLocks noChangeAspect="1"/>
          </p:cNvPicPr>
          <p:nvPr/>
        </p:nvPicPr>
        <p:blipFill>
          <a:blip r:embed="rId2"/>
          <a:stretch>
            <a:fillRect/>
          </a:stretch>
        </p:blipFill>
        <p:spPr>
          <a:xfrm>
            <a:off x="1742303" y="2786449"/>
            <a:ext cx="8138126" cy="2657006"/>
          </a:xfrm>
          <a:prstGeom prst="rect">
            <a:avLst/>
          </a:prstGeom>
        </p:spPr>
      </p:pic>
      <p:sp>
        <p:nvSpPr>
          <p:cNvPr id="7" name="TextBox 6">
            <a:extLst>
              <a:ext uri="{FF2B5EF4-FFF2-40B4-BE49-F238E27FC236}">
                <a16:creationId xmlns:a16="http://schemas.microsoft.com/office/drawing/2014/main" id="{81259728-8CEB-EB41-39E4-D11F1497E383}"/>
              </a:ext>
            </a:extLst>
          </p:cNvPr>
          <p:cNvSpPr txBox="1"/>
          <p:nvPr/>
        </p:nvSpPr>
        <p:spPr>
          <a:xfrm>
            <a:off x="1078642" y="5578392"/>
            <a:ext cx="10034716" cy="369332"/>
          </a:xfrm>
          <a:prstGeom prst="rect">
            <a:avLst/>
          </a:prstGeom>
          <a:noFill/>
        </p:spPr>
        <p:txBody>
          <a:bodyPr wrap="square">
            <a:spAutoFit/>
          </a:bodyPr>
          <a:lstStyle/>
          <a:p>
            <a:r>
              <a:rPr lang="en-GB" b="0" i="0" dirty="0">
                <a:solidFill>
                  <a:srgbClr val="242424"/>
                </a:solidFill>
                <a:effectLst/>
                <a:latin typeface="source-serif-pro"/>
              </a:rPr>
              <a:t>This XML configuration informs the servlet container about the servlet’s name, class, and URL pattern.</a:t>
            </a:r>
            <a:endParaRPr lang="en-US" dirty="0"/>
          </a:p>
        </p:txBody>
      </p:sp>
    </p:spTree>
    <p:extLst>
      <p:ext uri="{BB962C8B-B14F-4D97-AF65-F5344CB8AC3E}">
        <p14:creationId xmlns:p14="http://schemas.microsoft.com/office/powerpoint/2010/main" val="3852325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90B80AB5-04E5-2C2D-26E9-EF3A3DA3A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0"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955A18-D773-A1F1-E040-3B0FB5FD166A}"/>
              </a:ext>
            </a:extLst>
          </p:cNvPr>
          <p:cNvSpPr>
            <a:spLocks noGrp="1"/>
          </p:cNvSpPr>
          <p:nvPr>
            <p:ph type="title"/>
          </p:nvPr>
        </p:nvSpPr>
        <p:spPr>
          <a:xfrm>
            <a:off x="781878" y="5014525"/>
            <a:ext cx="4572000" cy="1401183"/>
          </a:xfrm>
        </p:spPr>
        <p:txBody>
          <a:bodyPr anchor="t">
            <a:normAutofit/>
          </a:bodyPr>
          <a:lstStyle/>
          <a:p>
            <a:r>
              <a:rPr lang="en-GB" sz="3200" b="1"/>
              <a:t>Servlet Life Cycle</a:t>
            </a:r>
            <a:endParaRPr lang="en-GB" sz="3200"/>
          </a:p>
        </p:txBody>
      </p:sp>
      <p:pic>
        <p:nvPicPr>
          <p:cNvPr id="2050" name="Picture 2" descr="Servlet Life Cycle-Servlet and JSP tutorial- Edureka">
            <a:extLst>
              <a:ext uri="{FF2B5EF4-FFF2-40B4-BE49-F238E27FC236}">
                <a16:creationId xmlns:a16="http://schemas.microsoft.com/office/drawing/2014/main" id="{3A587453-3E12-0DB9-AD98-DAB25DB48B4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1267" y="612086"/>
            <a:ext cx="4061944" cy="4135308"/>
          </a:xfrm>
          <a:prstGeom prst="rect">
            <a:avLst/>
          </a:prstGeom>
          <a:noFill/>
          <a:extLst>
            <a:ext uri="{909E8E84-426E-40DD-AFC4-6F175D3DCCD1}">
              <a14:hiddenFill xmlns:a14="http://schemas.microsoft.com/office/drawing/2010/main">
                <a:solidFill>
                  <a:srgbClr val="FFFFFF"/>
                </a:solidFill>
              </a14:hiddenFill>
            </a:ext>
          </a:extLst>
        </p:spPr>
      </p:pic>
      <p:cxnSp>
        <p:nvCxnSpPr>
          <p:cNvPr id="2057" name="Straight Connector 2056">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3656" y="474740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F4E29F9-330A-316E-A410-D3C5A7DCB6E1}"/>
              </a:ext>
            </a:extLst>
          </p:cNvPr>
          <p:cNvSpPr>
            <a:spLocks noGrp="1"/>
          </p:cNvSpPr>
          <p:nvPr>
            <p:ph idx="1"/>
          </p:nvPr>
        </p:nvSpPr>
        <p:spPr>
          <a:xfrm>
            <a:off x="5257801" y="838200"/>
            <a:ext cx="6312932" cy="5389600"/>
          </a:xfrm>
        </p:spPr>
        <p:txBody>
          <a:bodyPr>
            <a:normAutofit lnSpcReduction="10000"/>
          </a:bodyPr>
          <a:lstStyle/>
          <a:p>
            <a:pPr marL="0" indent="0">
              <a:buNone/>
            </a:pPr>
            <a:r>
              <a:rPr lang="en-GB" sz="1600" dirty="0"/>
              <a:t>The entire life cycle of a </a:t>
            </a:r>
            <a:r>
              <a:rPr lang="en-GB" sz="1600" dirty="0">
                <a:hlinkClick r:id="rId3"/>
              </a:rPr>
              <a:t>servlet</a:t>
            </a:r>
            <a:r>
              <a:rPr lang="en-GB" sz="1600" dirty="0"/>
              <a:t> is managed by the </a:t>
            </a:r>
            <a:r>
              <a:rPr lang="en-GB" sz="1600" i="1" dirty="0"/>
              <a:t>Servlet container</a:t>
            </a:r>
            <a:r>
              <a:rPr lang="en-GB" sz="1600" dirty="0"/>
              <a:t> which uses the </a:t>
            </a:r>
            <a:r>
              <a:rPr lang="en-GB" sz="1600" i="1" dirty="0" err="1"/>
              <a:t>javax.servlet.Servlet</a:t>
            </a:r>
            <a:r>
              <a:rPr lang="en-GB" sz="1600" dirty="0"/>
              <a:t> interface to understand the Servlet object and manage it.</a:t>
            </a:r>
          </a:p>
          <a:p>
            <a:r>
              <a:rPr lang="en-GB" sz="1600" b="1" dirty="0"/>
              <a:t>Loading a Servlet</a:t>
            </a:r>
            <a:endParaRPr lang="en-GB" sz="1600" dirty="0"/>
          </a:p>
          <a:p>
            <a:pPr marL="0" indent="0">
              <a:buNone/>
            </a:pPr>
            <a:r>
              <a:rPr lang="en-GB" sz="1600" dirty="0"/>
              <a:t>When a server starts up, the servlet container deploy and loads all the servlets.</a:t>
            </a:r>
          </a:p>
          <a:p>
            <a:r>
              <a:rPr lang="en-GB" sz="1600" b="1" dirty="0"/>
              <a:t>Initializing the Servlet</a:t>
            </a:r>
            <a:endParaRPr lang="en-GB" sz="1600" dirty="0"/>
          </a:p>
          <a:p>
            <a:pPr marL="0" indent="0">
              <a:buNone/>
            </a:pPr>
            <a:r>
              <a:rPr lang="en-GB" sz="1600" dirty="0"/>
              <a:t>Next, a servlet is initialized by calling the </a:t>
            </a:r>
            <a:r>
              <a:rPr lang="en-GB" sz="1600" dirty="0" err="1"/>
              <a:t>init</a:t>
            </a:r>
            <a:r>
              <a:rPr lang="en-GB" sz="1600" i="1" dirty="0"/>
              <a:t>()</a:t>
            </a:r>
            <a:r>
              <a:rPr lang="en-GB" sz="1600" dirty="0"/>
              <a:t> method. </a:t>
            </a:r>
            <a:r>
              <a:rPr lang="en-GB" sz="1600" i="1" dirty="0" err="1"/>
              <a:t>Servlet.init</a:t>
            </a:r>
            <a:r>
              <a:rPr lang="en-GB" sz="1600" i="1" dirty="0"/>
              <a:t>() </a:t>
            </a:r>
            <a:r>
              <a:rPr lang="en-GB" sz="1600" dirty="0"/>
              <a:t>method is called by the Servlet container to notify that this Servlet instance is instantiated successfully and is about to put into service.</a:t>
            </a:r>
          </a:p>
          <a:p>
            <a:r>
              <a:rPr lang="en-GB" sz="1600" b="1" dirty="0"/>
              <a:t>Request handling</a:t>
            </a:r>
            <a:endParaRPr lang="en-GB" sz="1600" dirty="0"/>
          </a:p>
          <a:p>
            <a:pPr marL="0" indent="0">
              <a:buNone/>
            </a:pPr>
            <a:r>
              <a:rPr lang="en-GB" sz="1600" dirty="0"/>
              <a:t>Then, servlet calls </a:t>
            </a:r>
            <a:r>
              <a:rPr lang="en-GB" sz="1600" i="1" dirty="0"/>
              <a:t>service() </a:t>
            </a:r>
            <a:r>
              <a:rPr lang="en-GB" sz="1600" dirty="0"/>
              <a:t>method to process a client’s request and is invoked to inform the Servlet about the client requests.</a:t>
            </a:r>
          </a:p>
          <a:p>
            <a:r>
              <a:rPr lang="en-GB" sz="1600" b="1" dirty="0"/>
              <a:t>Destroying the servlet</a:t>
            </a:r>
            <a:endParaRPr lang="en-GB" sz="1600" dirty="0"/>
          </a:p>
          <a:p>
            <a:pPr marL="0" indent="0">
              <a:buNone/>
            </a:pPr>
            <a:r>
              <a:rPr lang="en-GB" sz="1600" dirty="0"/>
              <a:t>Finally, a servlet is terminated by calling the </a:t>
            </a:r>
            <a:r>
              <a:rPr lang="en-GB" sz="1600" i="1" dirty="0"/>
              <a:t>destroy(). </a:t>
            </a:r>
            <a:r>
              <a:rPr lang="en-GB" sz="1600" dirty="0"/>
              <a:t>The</a:t>
            </a:r>
            <a:r>
              <a:rPr lang="en-GB" sz="1600" i="1" dirty="0"/>
              <a:t> destroy()</a:t>
            </a:r>
            <a:r>
              <a:rPr lang="en-GB" sz="1600" dirty="0"/>
              <a:t> method runs only once during the lifetime of a Servlet and signals the end of the Servlet instance.</a:t>
            </a:r>
          </a:p>
          <a:p>
            <a:pPr marL="0" indent="0">
              <a:buNone/>
            </a:pPr>
            <a:r>
              <a:rPr lang="en-GB" sz="1600" b="1" dirty="0" err="1"/>
              <a:t>init</a:t>
            </a:r>
            <a:r>
              <a:rPr lang="en-GB" sz="1600" b="1" dirty="0"/>
              <a:t>() </a:t>
            </a:r>
            <a:r>
              <a:rPr lang="en-GB" sz="1600" dirty="0"/>
              <a:t>and </a:t>
            </a:r>
            <a:r>
              <a:rPr lang="en-GB" sz="1600" b="1" dirty="0"/>
              <a:t>destroy() </a:t>
            </a:r>
            <a:r>
              <a:rPr lang="en-GB" sz="1600" dirty="0"/>
              <a:t>methods are called only once. Finally, a servlet is garbage collected by the garbage collector of the JVM. So this concludes the life cycle of a servlet. </a:t>
            </a:r>
            <a:endParaRPr lang="en-US" sz="1100" dirty="0"/>
          </a:p>
        </p:txBody>
      </p:sp>
    </p:spTree>
    <p:extLst>
      <p:ext uri="{BB962C8B-B14F-4D97-AF65-F5344CB8AC3E}">
        <p14:creationId xmlns:p14="http://schemas.microsoft.com/office/powerpoint/2010/main" val="846490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59DB4C-9747-B035-9B03-806984784238}"/>
              </a:ext>
            </a:extLst>
          </p:cNvPr>
          <p:cNvSpPr>
            <a:spLocks noGrp="1"/>
          </p:cNvSpPr>
          <p:nvPr>
            <p:ph type="title"/>
          </p:nvPr>
        </p:nvSpPr>
        <p:spPr>
          <a:xfrm>
            <a:off x="1057025" y="922644"/>
            <a:ext cx="5040285" cy="1169585"/>
          </a:xfrm>
        </p:spPr>
        <p:txBody>
          <a:bodyPr anchor="b">
            <a:normAutofit/>
          </a:bodyPr>
          <a:lstStyle/>
          <a:p>
            <a:r>
              <a:rPr lang="en-GB" sz="3100" b="1"/>
              <a:t>Servlets and Form Handling</a:t>
            </a:r>
            <a:br>
              <a:rPr lang="en-GB" sz="3100" b="1"/>
            </a:br>
            <a:endParaRPr lang="en-US" sz="3100"/>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2DB1055-6E96-EBFA-EDF2-F71C53853808}"/>
              </a:ext>
            </a:extLst>
          </p:cNvPr>
          <p:cNvSpPr>
            <a:spLocks noGrp="1"/>
          </p:cNvSpPr>
          <p:nvPr>
            <p:ph idx="1"/>
          </p:nvPr>
        </p:nvSpPr>
        <p:spPr>
          <a:xfrm>
            <a:off x="1055715" y="2508105"/>
            <a:ext cx="5040285" cy="1904309"/>
          </a:xfrm>
        </p:spPr>
        <p:txBody>
          <a:bodyPr anchor="ctr">
            <a:normAutofit/>
          </a:bodyPr>
          <a:lstStyle/>
          <a:p>
            <a:r>
              <a:rPr lang="en-GB" sz="2000" dirty="0"/>
              <a:t>Servlets play a pivotal role in processing HTML forms. Let’s create a simple form-handling servlet.</a:t>
            </a:r>
            <a:br>
              <a:rPr lang="en-GB" sz="2000" dirty="0"/>
            </a:br>
            <a:endParaRPr lang="en-US" sz="2000" dirty="0"/>
          </a:p>
        </p:txBody>
      </p:sp>
      <p:pic>
        <p:nvPicPr>
          <p:cNvPr id="5" name="Picture 4" descr="A computer screen shot of a code&#10;&#10;AI-generated content may be incorrect.">
            <a:extLst>
              <a:ext uri="{FF2B5EF4-FFF2-40B4-BE49-F238E27FC236}">
                <a16:creationId xmlns:a16="http://schemas.microsoft.com/office/drawing/2014/main" id="{892C5472-0C8A-4585-DE79-3E568588C4E0}"/>
              </a:ext>
            </a:extLst>
          </p:cNvPr>
          <p:cNvPicPr>
            <a:picLocks noChangeAspect="1"/>
          </p:cNvPicPr>
          <p:nvPr/>
        </p:nvPicPr>
        <p:blipFill>
          <a:blip r:embed="rId2"/>
          <a:stretch>
            <a:fillRect/>
          </a:stretch>
        </p:blipFill>
        <p:spPr>
          <a:xfrm>
            <a:off x="6946667" y="1384558"/>
            <a:ext cx="4389120" cy="1360626"/>
          </a:xfrm>
          <a:prstGeom prst="rect">
            <a:avLst/>
          </a:prstGeom>
        </p:spPr>
      </p:pic>
      <p:pic>
        <p:nvPicPr>
          <p:cNvPr id="7" name="Picture 6" descr="A computer code with text&#10;&#10;AI-generated content may be incorrect.">
            <a:extLst>
              <a:ext uri="{FF2B5EF4-FFF2-40B4-BE49-F238E27FC236}">
                <a16:creationId xmlns:a16="http://schemas.microsoft.com/office/drawing/2014/main" id="{DEC6A2A8-4E4A-B8C5-D47B-A9537D67C28B}"/>
              </a:ext>
            </a:extLst>
          </p:cNvPr>
          <p:cNvPicPr>
            <a:picLocks noChangeAspect="1"/>
          </p:cNvPicPr>
          <p:nvPr/>
        </p:nvPicPr>
        <p:blipFill>
          <a:blip r:embed="rId3"/>
          <a:stretch>
            <a:fillRect/>
          </a:stretch>
        </p:blipFill>
        <p:spPr>
          <a:xfrm>
            <a:off x="7017787" y="3263068"/>
            <a:ext cx="4389120" cy="1959172"/>
          </a:xfrm>
          <a:prstGeom prst="rect">
            <a:avLst/>
          </a:prstGeom>
        </p:spPr>
      </p:pic>
    </p:spTree>
    <p:extLst>
      <p:ext uri="{BB962C8B-B14F-4D97-AF65-F5344CB8AC3E}">
        <p14:creationId xmlns:p14="http://schemas.microsoft.com/office/powerpoint/2010/main" val="1837250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131AA5-418C-A814-AE67-D738ED998F17}"/>
              </a:ext>
            </a:extLst>
          </p:cNvPr>
          <p:cNvSpPr>
            <a:spLocks noGrp="1"/>
          </p:cNvSpPr>
          <p:nvPr>
            <p:ph type="title"/>
          </p:nvPr>
        </p:nvSpPr>
        <p:spPr>
          <a:xfrm>
            <a:off x="1171074" y="1396686"/>
            <a:ext cx="3240506" cy="4064628"/>
          </a:xfrm>
        </p:spPr>
        <p:txBody>
          <a:bodyPr>
            <a:normAutofit/>
          </a:bodyPr>
          <a:lstStyle/>
          <a:p>
            <a:r>
              <a:rPr lang="en-GB" sz="3700" b="1">
                <a:solidFill>
                  <a:srgbClr val="FFFFFF"/>
                </a:solidFill>
              </a:rPr>
              <a:t>Understanding RESTful API</a:t>
            </a:r>
            <a:endParaRPr lang="en-US" sz="3700">
              <a:solidFill>
                <a:srgbClr val="FFFFFF"/>
              </a:solidFill>
            </a:endParaRP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E1C4EC6-0217-FBF8-4CE8-A61ACA6D1D19}"/>
              </a:ext>
            </a:extLst>
          </p:cNvPr>
          <p:cNvSpPr>
            <a:spLocks noGrp="1"/>
          </p:cNvSpPr>
          <p:nvPr>
            <p:ph idx="1"/>
          </p:nvPr>
        </p:nvSpPr>
        <p:spPr>
          <a:xfrm>
            <a:off x="5370153" y="1526033"/>
            <a:ext cx="5536397" cy="3935281"/>
          </a:xfrm>
        </p:spPr>
        <p:txBody>
          <a:bodyPr>
            <a:normAutofit/>
          </a:bodyPr>
          <a:lstStyle/>
          <a:p>
            <a:r>
              <a:rPr lang="en-GB" sz="2400"/>
              <a:t>REST (Representational State Transfer) is an architectural style that uses a stateless, client-server communication model. A RESTful API is an interface that allows systems to communicate over HTTP, following REST principles. Key aspects of RESTful APIs include statelessness, resource-based URLs, and support for standard HTTP methods (GET, POST, PUT, DELETE).</a:t>
            </a:r>
            <a:endParaRPr lang="en-US" sz="2400"/>
          </a:p>
        </p:txBody>
      </p:sp>
    </p:spTree>
    <p:extLst>
      <p:ext uri="{BB962C8B-B14F-4D97-AF65-F5344CB8AC3E}">
        <p14:creationId xmlns:p14="http://schemas.microsoft.com/office/powerpoint/2010/main" val="1854365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4111C-4D4E-A7EF-CF86-92B4EE147E1D}"/>
              </a:ext>
            </a:extLst>
          </p:cNvPr>
          <p:cNvSpPr>
            <a:spLocks noGrp="1"/>
          </p:cNvSpPr>
          <p:nvPr>
            <p:ph type="title"/>
          </p:nvPr>
        </p:nvSpPr>
        <p:spPr/>
        <p:txBody>
          <a:bodyPr/>
          <a:lstStyle/>
          <a:p>
            <a:r>
              <a:rPr lang="en-GB" b="1" dirty="0"/>
              <a:t>Why Servlets for RESTful APIs?</a:t>
            </a:r>
            <a:endParaRPr lang="en-US" dirty="0"/>
          </a:p>
        </p:txBody>
      </p:sp>
      <p:sp>
        <p:nvSpPr>
          <p:cNvPr id="3" name="Content Placeholder 2">
            <a:extLst>
              <a:ext uri="{FF2B5EF4-FFF2-40B4-BE49-F238E27FC236}">
                <a16:creationId xmlns:a16="http://schemas.microsoft.com/office/drawing/2014/main" id="{F2CC4B46-BECB-FCD4-49A7-3EB81AC18307}"/>
              </a:ext>
            </a:extLst>
          </p:cNvPr>
          <p:cNvSpPr>
            <a:spLocks noGrp="1"/>
          </p:cNvSpPr>
          <p:nvPr>
            <p:ph idx="1"/>
          </p:nvPr>
        </p:nvSpPr>
        <p:spPr/>
        <p:txBody>
          <a:bodyPr>
            <a:normAutofit lnSpcReduction="10000"/>
          </a:bodyPr>
          <a:lstStyle/>
          <a:p>
            <a:r>
              <a:rPr lang="en-GB" dirty="0"/>
              <a:t>Servlets, a fundamental part of Java EE (Enterprise Edition), are the perfect building blocks for creating RESTful APIs. They offer the following advantages:</a:t>
            </a:r>
          </a:p>
          <a:p>
            <a:r>
              <a:rPr lang="en-GB" b="1" dirty="0"/>
              <a:t>Mature Ecosystem:</a:t>
            </a:r>
            <a:r>
              <a:rPr lang="en-GB" dirty="0"/>
              <a:t> Servlets have been a part of Java EE for a long time, making them a mature and well-supported technology.</a:t>
            </a:r>
          </a:p>
          <a:p>
            <a:r>
              <a:rPr lang="en-GB" b="1" dirty="0"/>
              <a:t>HTTP Handling:</a:t>
            </a:r>
            <a:r>
              <a:rPr lang="en-GB" dirty="0"/>
              <a:t> Servlets are specifically designed to handle HTTP requests and responses, aligning perfectly with the nature of RESTful communication.</a:t>
            </a:r>
          </a:p>
          <a:p>
            <a:r>
              <a:rPr lang="en-GB" b="1" dirty="0"/>
              <a:t>Flexibility:</a:t>
            </a:r>
            <a:r>
              <a:rPr lang="en-GB" dirty="0"/>
              <a:t> Servlets provide the flexibility to handle various aspects of the API, including request parsing, data processing, and response generation.</a:t>
            </a:r>
          </a:p>
          <a:p>
            <a:pPr marL="0" indent="0">
              <a:buNone/>
            </a:pPr>
            <a:endParaRPr lang="en-US" dirty="0"/>
          </a:p>
        </p:txBody>
      </p:sp>
    </p:spTree>
    <p:extLst>
      <p:ext uri="{BB962C8B-B14F-4D97-AF65-F5344CB8AC3E}">
        <p14:creationId xmlns:p14="http://schemas.microsoft.com/office/powerpoint/2010/main" val="2771080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F9A8C1-F494-FBEC-EE14-030AE2F534D1}"/>
              </a:ext>
            </a:extLst>
          </p:cNvPr>
          <p:cNvSpPr>
            <a:spLocks noGrp="1"/>
          </p:cNvSpPr>
          <p:nvPr>
            <p:ph type="title"/>
          </p:nvPr>
        </p:nvSpPr>
        <p:spPr>
          <a:xfrm>
            <a:off x="793662" y="386930"/>
            <a:ext cx="10066122" cy="1298448"/>
          </a:xfrm>
        </p:spPr>
        <p:txBody>
          <a:bodyPr anchor="b">
            <a:normAutofit/>
          </a:bodyPr>
          <a:lstStyle/>
          <a:p>
            <a:r>
              <a:rPr lang="en-GB" sz="4100" b="1"/>
              <a:t>Building a Simple RESTful API with Servlets</a:t>
            </a:r>
            <a:endParaRPr lang="en-US" sz="41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5FD46B-3FB3-7236-73E7-C78904443DEB}"/>
              </a:ext>
            </a:extLst>
          </p:cNvPr>
          <p:cNvSpPr>
            <a:spLocks noGrp="1"/>
          </p:cNvSpPr>
          <p:nvPr>
            <p:ph idx="1"/>
          </p:nvPr>
        </p:nvSpPr>
        <p:spPr>
          <a:xfrm>
            <a:off x="793661" y="2599509"/>
            <a:ext cx="4530898" cy="3639450"/>
          </a:xfrm>
        </p:spPr>
        <p:txBody>
          <a:bodyPr anchor="ctr">
            <a:normAutofit/>
          </a:bodyPr>
          <a:lstStyle/>
          <a:p>
            <a:r>
              <a:rPr lang="en-GB" sz="1700" dirty="0"/>
              <a:t>Let’s create a basic example of a RESTful API using Servlets. Assume we are building an API for managing a collection of books.</a:t>
            </a:r>
          </a:p>
          <a:p>
            <a:pPr marL="0" indent="0">
              <a:buNone/>
            </a:pPr>
            <a:r>
              <a:rPr lang="en-GB" sz="1700" b="1" dirty="0"/>
              <a:t>1. </a:t>
            </a:r>
            <a:r>
              <a:rPr lang="en-GB" sz="1700" dirty="0" err="1"/>
              <a:t>doGet</a:t>
            </a:r>
            <a:r>
              <a:rPr lang="en-GB" sz="1700" b="1" dirty="0"/>
              <a:t> Method:</a:t>
            </a:r>
          </a:p>
          <a:p>
            <a:pPr marL="0" indent="0">
              <a:buNone/>
            </a:pPr>
            <a:r>
              <a:rPr lang="en-GB" sz="1700" dirty="0"/>
              <a:t>Description: Handles HTTP GET requests.</a:t>
            </a:r>
          </a:p>
          <a:p>
            <a:pPr marL="0" indent="0">
              <a:buNone/>
            </a:pPr>
            <a:r>
              <a:rPr lang="en-GB" sz="1700" dirty="0"/>
              <a:t>Use Case: Ideal for retrieving information from the server. Parameters are appended to the URL.</a:t>
            </a:r>
          </a:p>
          <a:p>
            <a:pPr marL="0" indent="0">
              <a:buNone/>
            </a:pPr>
            <a:br>
              <a:rPr lang="en-GB" sz="1700" dirty="0"/>
            </a:br>
            <a:endParaRPr lang="en-GB" sz="1700" dirty="0"/>
          </a:p>
          <a:p>
            <a:endParaRPr lang="en-US" sz="1700" dirty="0"/>
          </a:p>
        </p:txBody>
      </p:sp>
      <p:pic>
        <p:nvPicPr>
          <p:cNvPr id="5" name="Picture 4" descr="A computer screen shot of a program&#10;&#10;AI-generated content may be incorrect.">
            <a:extLst>
              <a:ext uri="{FF2B5EF4-FFF2-40B4-BE49-F238E27FC236}">
                <a16:creationId xmlns:a16="http://schemas.microsoft.com/office/drawing/2014/main" id="{9CA025A6-C103-38F1-5F1A-91611A532145}"/>
              </a:ext>
            </a:extLst>
          </p:cNvPr>
          <p:cNvPicPr>
            <a:picLocks noChangeAspect="1"/>
          </p:cNvPicPr>
          <p:nvPr/>
        </p:nvPicPr>
        <p:blipFill>
          <a:blip r:embed="rId2"/>
          <a:stretch>
            <a:fillRect/>
          </a:stretch>
        </p:blipFill>
        <p:spPr>
          <a:xfrm>
            <a:off x="6023292" y="2889516"/>
            <a:ext cx="5150277" cy="2576563"/>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327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81A974-ECDD-091A-B030-40ED5B1FA93F}"/>
              </a:ext>
            </a:extLst>
          </p:cNvPr>
          <p:cNvSpPr>
            <a:spLocks noGrp="1"/>
          </p:cNvSpPr>
          <p:nvPr>
            <p:ph type="title"/>
          </p:nvPr>
        </p:nvSpPr>
        <p:spPr>
          <a:xfrm>
            <a:off x="630936" y="502920"/>
            <a:ext cx="3419856" cy="1463040"/>
          </a:xfrm>
        </p:spPr>
        <p:txBody>
          <a:bodyPr anchor="ctr">
            <a:normAutofit/>
          </a:bodyPr>
          <a:lstStyle/>
          <a:p>
            <a:r>
              <a:rPr lang="en-GB" sz="3000" b="1"/>
              <a:t>2. </a:t>
            </a:r>
            <a:r>
              <a:rPr lang="en-GB" sz="3000"/>
              <a:t>doPost</a:t>
            </a:r>
            <a:r>
              <a:rPr lang="en-GB" sz="3000" b="1"/>
              <a:t> Method:</a:t>
            </a:r>
            <a:br>
              <a:rPr lang="en-GB" sz="3000" b="1"/>
            </a:br>
            <a:endParaRPr lang="en-US" sz="3000"/>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441B9A-FD13-3330-8F69-A59A7967D74C}"/>
              </a:ext>
            </a:extLst>
          </p:cNvPr>
          <p:cNvSpPr>
            <a:spLocks noGrp="1"/>
          </p:cNvSpPr>
          <p:nvPr>
            <p:ph idx="1"/>
          </p:nvPr>
        </p:nvSpPr>
        <p:spPr>
          <a:xfrm>
            <a:off x="4654295" y="502920"/>
            <a:ext cx="6894576" cy="1463040"/>
          </a:xfrm>
        </p:spPr>
        <p:txBody>
          <a:bodyPr anchor="ctr">
            <a:normAutofit/>
          </a:bodyPr>
          <a:lstStyle/>
          <a:p>
            <a:pPr marL="0" indent="0">
              <a:buNone/>
            </a:pPr>
            <a:r>
              <a:rPr lang="en-GB" sz="2200"/>
              <a:t>Description: Handles HTTP POST requests.</a:t>
            </a:r>
          </a:p>
          <a:p>
            <a:pPr marL="0" indent="0">
              <a:buNone/>
            </a:pPr>
            <a:r>
              <a:rPr lang="en-GB" sz="2200"/>
              <a:t>Use Case: Used for submitting data to be processed to a specified resource. Commonly used for form submissions.</a:t>
            </a:r>
          </a:p>
          <a:p>
            <a:endParaRPr lang="en-US" sz="2200"/>
          </a:p>
        </p:txBody>
      </p:sp>
      <p:pic>
        <p:nvPicPr>
          <p:cNvPr id="5" name="Picture 4" descr="A screen shot of a computer code&#10;&#10;AI-generated content may be incorrect.">
            <a:extLst>
              <a:ext uri="{FF2B5EF4-FFF2-40B4-BE49-F238E27FC236}">
                <a16:creationId xmlns:a16="http://schemas.microsoft.com/office/drawing/2014/main" id="{6E8CA3F8-F229-6A69-F5C4-B388CAD9BCA0}"/>
              </a:ext>
            </a:extLst>
          </p:cNvPr>
          <p:cNvPicPr>
            <a:picLocks noChangeAspect="1"/>
          </p:cNvPicPr>
          <p:nvPr/>
        </p:nvPicPr>
        <p:blipFill>
          <a:blip r:embed="rId2"/>
          <a:stretch>
            <a:fillRect/>
          </a:stretch>
        </p:blipFill>
        <p:spPr>
          <a:xfrm>
            <a:off x="630936" y="2523742"/>
            <a:ext cx="10917936" cy="3493739"/>
          </a:xfrm>
          <a:prstGeom prst="rect">
            <a:avLst/>
          </a:prstGeom>
        </p:spPr>
      </p:pic>
    </p:spTree>
    <p:extLst>
      <p:ext uri="{BB962C8B-B14F-4D97-AF65-F5344CB8AC3E}">
        <p14:creationId xmlns:p14="http://schemas.microsoft.com/office/powerpoint/2010/main" val="3369884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AE0655-4A80-0DAA-1F19-04063F8950F3}"/>
              </a:ext>
            </a:extLst>
          </p:cNvPr>
          <p:cNvSpPr>
            <a:spLocks noGrp="1"/>
          </p:cNvSpPr>
          <p:nvPr>
            <p:ph type="title"/>
          </p:nvPr>
        </p:nvSpPr>
        <p:spPr>
          <a:xfrm>
            <a:off x="630936" y="502920"/>
            <a:ext cx="3419856" cy="1463040"/>
          </a:xfrm>
        </p:spPr>
        <p:txBody>
          <a:bodyPr anchor="ctr">
            <a:normAutofit/>
          </a:bodyPr>
          <a:lstStyle/>
          <a:p>
            <a:r>
              <a:rPr lang="en-GB" sz="3400" b="1"/>
              <a:t>3. </a:t>
            </a:r>
            <a:r>
              <a:rPr lang="en-GB" sz="3400"/>
              <a:t>doPut</a:t>
            </a:r>
            <a:r>
              <a:rPr lang="en-GB" sz="3400" b="1"/>
              <a:t> Method:</a:t>
            </a:r>
            <a:br>
              <a:rPr lang="en-GB" sz="3400" b="1"/>
            </a:br>
            <a:endParaRPr lang="en-US" sz="3400"/>
          </a:p>
        </p:txBody>
      </p:sp>
      <p:sp>
        <p:nvSpPr>
          <p:cNvPr id="23"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42EDC54-6B25-2C78-8414-B74A2D240951}"/>
              </a:ext>
            </a:extLst>
          </p:cNvPr>
          <p:cNvSpPr>
            <a:spLocks noGrp="1"/>
          </p:cNvSpPr>
          <p:nvPr>
            <p:ph idx="1"/>
          </p:nvPr>
        </p:nvSpPr>
        <p:spPr>
          <a:xfrm>
            <a:off x="4654295" y="502920"/>
            <a:ext cx="6894576" cy="1463040"/>
          </a:xfrm>
        </p:spPr>
        <p:txBody>
          <a:bodyPr anchor="ctr">
            <a:normAutofit/>
          </a:bodyPr>
          <a:lstStyle/>
          <a:p>
            <a:pPr marL="0" indent="0">
              <a:buNone/>
            </a:pPr>
            <a:r>
              <a:rPr lang="en-GB" sz="2200"/>
              <a:t>Description: Handles HTTP PUT requests.</a:t>
            </a:r>
          </a:p>
          <a:p>
            <a:pPr marL="0" indent="0">
              <a:buNone/>
            </a:pPr>
            <a:r>
              <a:rPr lang="en-GB" sz="2200"/>
              <a:t>Use Case: Typically used for updating a resource on the server. The entire representation of the resource is sent in the request.</a:t>
            </a:r>
          </a:p>
          <a:p>
            <a:endParaRPr lang="en-US" sz="2200"/>
          </a:p>
        </p:txBody>
      </p:sp>
      <p:pic>
        <p:nvPicPr>
          <p:cNvPr id="5" name="Picture 4" descr="A screen shot of a computer program&#10;&#10;AI-generated content may be incorrect.">
            <a:extLst>
              <a:ext uri="{FF2B5EF4-FFF2-40B4-BE49-F238E27FC236}">
                <a16:creationId xmlns:a16="http://schemas.microsoft.com/office/drawing/2014/main" id="{0A2B1EE7-4D86-C57B-3D67-FC7BA38CB73C}"/>
              </a:ext>
            </a:extLst>
          </p:cNvPr>
          <p:cNvPicPr>
            <a:picLocks noChangeAspect="1"/>
          </p:cNvPicPr>
          <p:nvPr/>
        </p:nvPicPr>
        <p:blipFill>
          <a:blip r:embed="rId2"/>
          <a:stretch>
            <a:fillRect/>
          </a:stretch>
        </p:blipFill>
        <p:spPr>
          <a:xfrm>
            <a:off x="630936" y="2591980"/>
            <a:ext cx="10917936" cy="3357264"/>
          </a:xfrm>
          <a:prstGeom prst="rect">
            <a:avLst/>
          </a:prstGeom>
        </p:spPr>
      </p:pic>
    </p:spTree>
    <p:extLst>
      <p:ext uri="{BB962C8B-B14F-4D97-AF65-F5344CB8AC3E}">
        <p14:creationId xmlns:p14="http://schemas.microsoft.com/office/powerpoint/2010/main" val="3623231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6199D0-3082-528F-F2B9-5CC3C77233F2}"/>
              </a:ext>
            </a:extLst>
          </p:cNvPr>
          <p:cNvSpPr>
            <a:spLocks noGrp="1"/>
          </p:cNvSpPr>
          <p:nvPr>
            <p:ph type="title"/>
          </p:nvPr>
        </p:nvSpPr>
        <p:spPr>
          <a:xfrm>
            <a:off x="835155" y="552906"/>
            <a:ext cx="5165936" cy="1674904"/>
          </a:xfrm>
        </p:spPr>
        <p:txBody>
          <a:bodyPr anchor="ctr">
            <a:normAutofit/>
          </a:bodyPr>
          <a:lstStyle/>
          <a:p>
            <a:r>
              <a:rPr lang="en-GB" sz="4000" b="1"/>
              <a:t>4. </a:t>
            </a:r>
            <a:r>
              <a:rPr lang="en-GB" sz="4000"/>
              <a:t>doDelete</a:t>
            </a:r>
            <a:r>
              <a:rPr lang="en-GB" sz="4000" b="1"/>
              <a:t> Method:</a:t>
            </a:r>
            <a:endParaRPr lang="en-US" sz="4000"/>
          </a:p>
        </p:txBody>
      </p:sp>
      <p:sp>
        <p:nvSpPr>
          <p:cNvPr id="3" name="Content Placeholder 2">
            <a:extLst>
              <a:ext uri="{FF2B5EF4-FFF2-40B4-BE49-F238E27FC236}">
                <a16:creationId xmlns:a16="http://schemas.microsoft.com/office/drawing/2014/main" id="{BA936694-07CE-BAFE-6115-1773EE4EA467}"/>
              </a:ext>
            </a:extLst>
          </p:cNvPr>
          <p:cNvSpPr>
            <a:spLocks noGrp="1"/>
          </p:cNvSpPr>
          <p:nvPr>
            <p:ph idx="1"/>
          </p:nvPr>
        </p:nvSpPr>
        <p:spPr>
          <a:xfrm>
            <a:off x="6190909" y="552906"/>
            <a:ext cx="5159825" cy="1674905"/>
          </a:xfrm>
        </p:spPr>
        <p:txBody>
          <a:bodyPr anchor="ctr">
            <a:normAutofit/>
          </a:bodyPr>
          <a:lstStyle/>
          <a:p>
            <a:pPr marL="0" indent="0">
              <a:buNone/>
            </a:pPr>
            <a:r>
              <a:rPr lang="en-GB" sz="2000"/>
              <a:t>Description: Handles HTTP DELETE requests.</a:t>
            </a:r>
          </a:p>
          <a:p>
            <a:pPr marL="0" indent="0">
              <a:buNone/>
            </a:pPr>
            <a:r>
              <a:rPr lang="en-GB" sz="2000"/>
              <a:t>Use Case: Used to request that a resource be removed. Can delete a specified resource on the server.</a:t>
            </a:r>
          </a:p>
          <a:p>
            <a:endParaRPr lang="en-US" sz="2000"/>
          </a:p>
        </p:txBody>
      </p:sp>
      <p:pic>
        <p:nvPicPr>
          <p:cNvPr id="5" name="Picture 4" descr="A computer screen shot of a program&#10;&#10;AI-generated content may be incorrect.">
            <a:extLst>
              <a:ext uri="{FF2B5EF4-FFF2-40B4-BE49-F238E27FC236}">
                <a16:creationId xmlns:a16="http://schemas.microsoft.com/office/drawing/2014/main" id="{34869468-B020-F276-9966-539241A61076}"/>
              </a:ext>
            </a:extLst>
          </p:cNvPr>
          <p:cNvPicPr>
            <a:picLocks noChangeAspect="1"/>
          </p:cNvPicPr>
          <p:nvPr/>
        </p:nvPicPr>
        <p:blipFill>
          <a:blip r:embed="rId2"/>
          <a:stretch>
            <a:fillRect/>
          </a:stretch>
        </p:blipFill>
        <p:spPr>
          <a:xfrm>
            <a:off x="835166" y="2790656"/>
            <a:ext cx="10515569" cy="3128381"/>
          </a:xfrm>
          <a:prstGeom prst="rect">
            <a:avLst/>
          </a:prstGeom>
        </p:spPr>
      </p:pic>
    </p:spTree>
    <p:extLst>
      <p:ext uri="{BB962C8B-B14F-4D97-AF65-F5344CB8AC3E}">
        <p14:creationId xmlns:p14="http://schemas.microsoft.com/office/powerpoint/2010/main" val="2140695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D766A6-B903-E32D-41D4-F32974B358F2}"/>
              </a:ext>
            </a:extLst>
          </p:cNvPr>
          <p:cNvSpPr>
            <a:spLocks noGrp="1"/>
          </p:cNvSpPr>
          <p:nvPr>
            <p:ph type="title"/>
          </p:nvPr>
        </p:nvSpPr>
        <p:spPr>
          <a:xfrm>
            <a:off x="793662" y="386930"/>
            <a:ext cx="10066122" cy="1298448"/>
          </a:xfrm>
        </p:spPr>
        <p:txBody>
          <a:bodyPr anchor="b">
            <a:normAutofit/>
          </a:bodyPr>
          <a:lstStyle/>
          <a:p>
            <a:r>
              <a:rPr lang="en-GB" sz="4800" b="1"/>
              <a:t>Understanding JavaServer Pages (JSP)</a:t>
            </a:r>
            <a:endParaRPr lang="en-US" sz="4800"/>
          </a:p>
        </p:txBody>
      </p:sp>
      <p:sp>
        <p:nvSpPr>
          <p:cNvPr id="3081" name="Rectangle 308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B3DBC91-4F79-F946-4DEB-3CAB4336F6AB}"/>
              </a:ext>
            </a:extLst>
          </p:cNvPr>
          <p:cNvSpPr>
            <a:spLocks noGrp="1"/>
          </p:cNvSpPr>
          <p:nvPr>
            <p:ph idx="1"/>
          </p:nvPr>
        </p:nvSpPr>
        <p:spPr>
          <a:xfrm>
            <a:off x="793661" y="2599509"/>
            <a:ext cx="4530898" cy="3639450"/>
          </a:xfrm>
        </p:spPr>
        <p:txBody>
          <a:bodyPr anchor="ctr">
            <a:normAutofit/>
          </a:bodyPr>
          <a:lstStyle/>
          <a:p>
            <a:r>
              <a:rPr lang="en-GB" sz="2000"/>
              <a:t>JavaServer Pages, commonly known as JSP, provide a simplified way to create dynamic content for web applications. They are an integral part of the Java EE (Enterprise Edition) technology, enabling developers to embed Java code within HTML pages. JSP pages are ultimately translated into servlets by the web container during runtime.</a:t>
            </a:r>
            <a:endParaRPr lang="en-GB" sz="2000" b="1"/>
          </a:p>
        </p:txBody>
      </p:sp>
      <p:pic>
        <p:nvPicPr>
          <p:cNvPr id="3074" name="Picture 2">
            <a:extLst>
              <a:ext uri="{FF2B5EF4-FFF2-40B4-BE49-F238E27FC236}">
                <a16:creationId xmlns:a16="http://schemas.microsoft.com/office/drawing/2014/main" id="{F31923A4-C0E2-5079-820B-2E70521495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448" t="8855" r="6234" b="16380"/>
          <a:stretch>
            <a:fillRect/>
          </a:stretch>
        </p:blipFill>
        <p:spPr bwMode="auto">
          <a:xfrm>
            <a:off x="5911532" y="3076220"/>
            <a:ext cx="5150277" cy="2530313"/>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308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1257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86C8-DDF2-A951-E8FB-C85A39C4551B}"/>
              </a:ext>
            </a:extLst>
          </p:cNvPr>
          <p:cNvSpPr>
            <a:spLocks noGrp="1"/>
          </p:cNvSpPr>
          <p:nvPr>
            <p:ph type="title"/>
          </p:nvPr>
        </p:nvSpPr>
        <p:spPr/>
        <p:txBody>
          <a:bodyPr/>
          <a:lstStyle/>
          <a:p>
            <a:r>
              <a:rPr lang="en-GB" b="1" dirty="0"/>
              <a:t>Setting Up Your JSP Environment</a:t>
            </a:r>
            <a:br>
              <a:rPr lang="en-GB" b="1" dirty="0"/>
            </a:br>
            <a:endParaRPr lang="en-US" dirty="0"/>
          </a:p>
        </p:txBody>
      </p:sp>
      <p:sp>
        <p:nvSpPr>
          <p:cNvPr id="3" name="Content Placeholder 2">
            <a:extLst>
              <a:ext uri="{FF2B5EF4-FFF2-40B4-BE49-F238E27FC236}">
                <a16:creationId xmlns:a16="http://schemas.microsoft.com/office/drawing/2014/main" id="{9F327DC2-305D-9E72-AD33-BA8494BBE0DA}"/>
              </a:ext>
            </a:extLst>
          </p:cNvPr>
          <p:cNvSpPr>
            <a:spLocks noGrp="1"/>
          </p:cNvSpPr>
          <p:nvPr>
            <p:ph idx="1"/>
          </p:nvPr>
        </p:nvSpPr>
        <p:spPr/>
        <p:txBody>
          <a:bodyPr/>
          <a:lstStyle/>
          <a:p>
            <a:r>
              <a:rPr lang="en-GB" dirty="0"/>
              <a:t>Before diving into JSP development, ensure you have the Java Development Kit (JDK) installed on your system. Additionally, set up a web container like Apache Tomcat to deploy and run your JSP applications.</a:t>
            </a:r>
          </a:p>
          <a:p>
            <a:endParaRPr lang="en-US" dirty="0"/>
          </a:p>
        </p:txBody>
      </p:sp>
      <p:sp>
        <p:nvSpPr>
          <p:cNvPr id="5" name="TextBox 4">
            <a:extLst>
              <a:ext uri="{FF2B5EF4-FFF2-40B4-BE49-F238E27FC236}">
                <a16:creationId xmlns:a16="http://schemas.microsoft.com/office/drawing/2014/main" id="{75BB980F-BB21-EFC0-0F03-55816B5D9CCF}"/>
              </a:ext>
            </a:extLst>
          </p:cNvPr>
          <p:cNvSpPr txBox="1"/>
          <p:nvPr/>
        </p:nvSpPr>
        <p:spPr>
          <a:xfrm>
            <a:off x="1360448" y="4062626"/>
            <a:ext cx="8569712" cy="1200329"/>
          </a:xfrm>
          <a:prstGeom prst="rect">
            <a:avLst/>
          </a:prstGeom>
          <a:noFill/>
        </p:spPr>
        <p:txBody>
          <a:bodyPr wrap="square">
            <a:spAutoFit/>
          </a:bodyPr>
          <a:lstStyle/>
          <a:p>
            <a:r>
              <a:rPr lang="en-US" dirty="0">
                <a:hlinkClick r:id="rId2"/>
              </a:rPr>
              <a:t>https://www.geeksforgeeks.org/installation-guide/download-and-install-jdk-on-windows-mac-and-linux/</a:t>
            </a:r>
            <a:endParaRPr lang="en-US" dirty="0"/>
          </a:p>
          <a:p>
            <a:r>
              <a:rPr lang="en-US" dirty="0">
                <a:hlinkClick r:id="rId3"/>
              </a:rPr>
              <a:t>https://www.geeksforgeeks.org/devops/how-to-start-tomcat-server/</a:t>
            </a:r>
            <a:endParaRPr lang="en-US" dirty="0"/>
          </a:p>
          <a:p>
            <a:endParaRPr lang="en-US" dirty="0"/>
          </a:p>
        </p:txBody>
      </p:sp>
    </p:spTree>
    <p:extLst>
      <p:ext uri="{BB962C8B-B14F-4D97-AF65-F5344CB8AC3E}">
        <p14:creationId xmlns:p14="http://schemas.microsoft.com/office/powerpoint/2010/main" val="1832764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C17904-E89F-3326-DD32-4277A9435BCE}"/>
              </a:ext>
            </a:extLst>
          </p:cNvPr>
          <p:cNvSpPr>
            <a:spLocks noGrp="1"/>
          </p:cNvSpPr>
          <p:nvPr>
            <p:ph type="title"/>
          </p:nvPr>
        </p:nvSpPr>
        <p:spPr>
          <a:xfrm>
            <a:off x="645064" y="525982"/>
            <a:ext cx="4282983" cy="1200361"/>
          </a:xfrm>
        </p:spPr>
        <p:txBody>
          <a:bodyPr anchor="b">
            <a:normAutofit/>
          </a:bodyPr>
          <a:lstStyle/>
          <a:p>
            <a:r>
              <a:rPr lang="en-GB" sz="3600" b="1"/>
              <a:t>The Anatomy of a JSP Page</a:t>
            </a:r>
            <a:endParaRPr lang="en-US" sz="3600"/>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1E7E54-9659-732B-1498-BD9F04EF3D58}"/>
              </a:ext>
            </a:extLst>
          </p:cNvPr>
          <p:cNvSpPr>
            <a:spLocks noGrp="1"/>
          </p:cNvSpPr>
          <p:nvPr>
            <p:ph idx="1"/>
          </p:nvPr>
        </p:nvSpPr>
        <p:spPr>
          <a:xfrm>
            <a:off x="645066" y="2031101"/>
            <a:ext cx="4282984" cy="3511943"/>
          </a:xfrm>
        </p:spPr>
        <p:txBody>
          <a:bodyPr anchor="ctr">
            <a:normAutofit/>
          </a:bodyPr>
          <a:lstStyle/>
          <a:p>
            <a:r>
              <a:rPr lang="en-GB" sz="1800"/>
              <a:t>A JSP page combines HTML and Java code to create dynamic content. The Java code in JSP is enclosed within &lt;% %&gt; tags.</a:t>
            </a:r>
            <a:endParaRPr lang="en-US" sz="1800"/>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screen shot of a code&#10;&#10;AI-generated content may be incorrect.">
            <a:extLst>
              <a:ext uri="{FF2B5EF4-FFF2-40B4-BE49-F238E27FC236}">
                <a16:creationId xmlns:a16="http://schemas.microsoft.com/office/drawing/2014/main" id="{49179C00-143F-B4BA-821E-0E438012578B}"/>
              </a:ext>
            </a:extLst>
          </p:cNvPr>
          <p:cNvPicPr>
            <a:picLocks noChangeAspect="1"/>
          </p:cNvPicPr>
          <p:nvPr/>
        </p:nvPicPr>
        <p:blipFill>
          <a:blip r:embed="rId2"/>
          <a:stretch>
            <a:fillRect/>
          </a:stretch>
        </p:blipFill>
        <p:spPr>
          <a:xfrm>
            <a:off x="5987738" y="2081436"/>
            <a:ext cx="5628018" cy="2462257"/>
          </a:xfrm>
          <a:prstGeom prst="rect">
            <a:avLst/>
          </a:prstGeom>
        </p:spPr>
      </p:pic>
      <p:sp>
        <p:nvSpPr>
          <p:cNvPr id="7" name="TextBox 6">
            <a:extLst>
              <a:ext uri="{FF2B5EF4-FFF2-40B4-BE49-F238E27FC236}">
                <a16:creationId xmlns:a16="http://schemas.microsoft.com/office/drawing/2014/main" id="{7DE5B007-F9CF-9053-5E7B-C146875FD516}"/>
              </a:ext>
            </a:extLst>
          </p:cNvPr>
          <p:cNvSpPr txBox="1"/>
          <p:nvPr/>
        </p:nvSpPr>
        <p:spPr>
          <a:xfrm>
            <a:off x="616533" y="4401471"/>
            <a:ext cx="4741496" cy="1200329"/>
          </a:xfrm>
          <a:prstGeom prst="rect">
            <a:avLst/>
          </a:prstGeom>
          <a:noFill/>
        </p:spPr>
        <p:txBody>
          <a:bodyPr wrap="square">
            <a:spAutoFit/>
          </a:bodyPr>
          <a:lstStyle/>
          <a:p>
            <a:r>
              <a:rPr lang="en-GB" b="0" i="0" dirty="0">
                <a:solidFill>
                  <a:srgbClr val="242424"/>
                </a:solidFill>
                <a:effectLst/>
                <a:latin typeface="source-serif-pro"/>
              </a:rPr>
              <a:t>In this example, we declare the page’s language as Java, set the character encoding, and then use Java code to dynamically generate content within the HTML structure.</a:t>
            </a:r>
            <a:endParaRPr lang="en-US" dirty="0"/>
          </a:p>
        </p:txBody>
      </p:sp>
    </p:spTree>
    <p:extLst>
      <p:ext uri="{BB962C8B-B14F-4D97-AF65-F5344CB8AC3E}">
        <p14:creationId xmlns:p14="http://schemas.microsoft.com/office/powerpoint/2010/main" val="1522297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BB3942-DCE2-9943-C064-61C966FB4636}"/>
              </a:ext>
            </a:extLst>
          </p:cNvPr>
          <p:cNvSpPr>
            <a:spLocks noGrp="1"/>
          </p:cNvSpPr>
          <p:nvPr>
            <p:ph type="title"/>
          </p:nvPr>
        </p:nvSpPr>
        <p:spPr>
          <a:xfrm>
            <a:off x="841248" y="548640"/>
            <a:ext cx="3600860" cy="5431536"/>
          </a:xfrm>
        </p:spPr>
        <p:txBody>
          <a:bodyPr>
            <a:normAutofit/>
          </a:bodyPr>
          <a:lstStyle/>
          <a:p>
            <a:r>
              <a:rPr lang="en-GB" sz="5400" b="1"/>
              <a:t>JSP Directives: Enhancing Control</a:t>
            </a:r>
            <a:endParaRPr lang="en-US" sz="5400"/>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A119F2-C31C-2C2F-8378-BB83C6983F83}"/>
              </a:ext>
            </a:extLst>
          </p:cNvPr>
          <p:cNvSpPr>
            <a:spLocks noGrp="1"/>
          </p:cNvSpPr>
          <p:nvPr>
            <p:ph idx="1"/>
          </p:nvPr>
        </p:nvSpPr>
        <p:spPr>
          <a:xfrm>
            <a:off x="5126418" y="552091"/>
            <a:ext cx="6224335" cy="5431536"/>
          </a:xfrm>
        </p:spPr>
        <p:txBody>
          <a:bodyPr anchor="ctr">
            <a:normAutofit/>
          </a:bodyPr>
          <a:lstStyle/>
          <a:p>
            <a:r>
              <a:rPr lang="en-GB" sz="2200"/>
              <a:t>JSP directives provide additional information to the container during the translation phase. The &lt;%@ page %&gt; directive, seen in the previous example, is commonly used. Another useful directive is &lt;%@ include %&gt;, which allows including external files in the JSP page.</a:t>
            </a:r>
            <a:endParaRPr lang="en-US" sz="2200"/>
          </a:p>
        </p:txBody>
      </p:sp>
    </p:spTree>
    <p:extLst>
      <p:ext uri="{BB962C8B-B14F-4D97-AF65-F5344CB8AC3E}">
        <p14:creationId xmlns:p14="http://schemas.microsoft.com/office/powerpoint/2010/main" val="969617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A6FF76-4D26-CEE1-61BD-BE11470634F2}"/>
              </a:ext>
            </a:extLst>
          </p:cNvPr>
          <p:cNvSpPr>
            <a:spLocks noGrp="1"/>
          </p:cNvSpPr>
          <p:nvPr>
            <p:ph type="title"/>
          </p:nvPr>
        </p:nvSpPr>
        <p:spPr>
          <a:xfrm>
            <a:off x="841248" y="256032"/>
            <a:ext cx="10506456" cy="1014984"/>
          </a:xfrm>
        </p:spPr>
        <p:txBody>
          <a:bodyPr anchor="b">
            <a:normAutofit/>
          </a:bodyPr>
          <a:lstStyle/>
          <a:p>
            <a:r>
              <a:rPr lang="en-GB" sz="3100" b="1"/>
              <a:t>JSP Actions: Encapsulating Dynamic </a:t>
            </a:r>
            <a:r>
              <a:rPr lang="en-GB" sz="3100" b="1" err="1"/>
              <a:t>Behavior</a:t>
            </a:r>
            <a:br>
              <a:rPr lang="en-GB" sz="3100" b="1"/>
            </a:br>
            <a:endParaRPr lang="en-US" sz="310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D920948-4661-00DE-1843-C8705896D323}"/>
              </a:ext>
            </a:extLst>
          </p:cNvPr>
          <p:cNvGraphicFramePr>
            <a:graphicFrameLocks noGrp="1"/>
          </p:cNvGraphicFramePr>
          <p:nvPr>
            <p:ph idx="1"/>
            <p:extLst>
              <p:ext uri="{D42A27DB-BD31-4B8C-83A1-F6EECF244321}">
                <p14:modId xmlns:p14="http://schemas.microsoft.com/office/powerpoint/2010/main" val="371349013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5664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3DE99F8-6FDD-2BA1-F090-CD3311F72F83}"/>
              </a:ext>
            </a:extLst>
          </p:cNvPr>
          <p:cNvSpPr>
            <a:spLocks noGrp="1"/>
          </p:cNvSpPr>
          <p:nvPr>
            <p:ph type="title"/>
          </p:nvPr>
        </p:nvSpPr>
        <p:spPr>
          <a:xfrm>
            <a:off x="621792" y="1161288"/>
            <a:ext cx="3602736" cy="4526280"/>
          </a:xfrm>
        </p:spPr>
        <p:txBody>
          <a:bodyPr>
            <a:normAutofit/>
          </a:bodyPr>
          <a:lstStyle/>
          <a:p>
            <a:r>
              <a:rPr lang="en-GB" sz="4000" b="1"/>
              <a:t>Expression Language (EL): Streamlining Data Access</a:t>
            </a:r>
            <a:endParaRPr lang="en-US" sz="4000"/>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13D1087-E49E-F68E-F721-A78F118864E2}"/>
              </a:ext>
            </a:extLst>
          </p:cNvPr>
          <p:cNvGraphicFramePr>
            <a:graphicFrameLocks noGrp="1"/>
          </p:cNvGraphicFramePr>
          <p:nvPr>
            <p:ph idx="1"/>
            <p:extLst>
              <p:ext uri="{D42A27DB-BD31-4B8C-83A1-F6EECF244321}">
                <p14:modId xmlns:p14="http://schemas.microsoft.com/office/powerpoint/2010/main" val="186304133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1007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14" name="Rectangle 411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B68F8-3C23-295C-D136-5CDD93719974}"/>
              </a:ext>
            </a:extLst>
          </p:cNvPr>
          <p:cNvSpPr>
            <a:spLocks noGrp="1"/>
          </p:cNvSpPr>
          <p:nvPr>
            <p:ph type="title"/>
          </p:nvPr>
        </p:nvSpPr>
        <p:spPr>
          <a:xfrm>
            <a:off x="630936" y="502920"/>
            <a:ext cx="3419856" cy="1463040"/>
          </a:xfrm>
        </p:spPr>
        <p:txBody>
          <a:bodyPr anchor="ctr">
            <a:normAutofit/>
          </a:bodyPr>
          <a:lstStyle/>
          <a:p>
            <a:r>
              <a:rPr lang="en-GB" b="1"/>
              <a:t>JSP and MVC Architecture</a:t>
            </a:r>
            <a:endParaRPr lang="en-US"/>
          </a:p>
        </p:txBody>
      </p:sp>
      <p:sp>
        <p:nvSpPr>
          <p:cNvPr id="4115"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B402A00-AE43-A9A6-3E3A-BB93921168F6}"/>
              </a:ext>
            </a:extLst>
          </p:cNvPr>
          <p:cNvSpPr>
            <a:spLocks noGrp="1"/>
          </p:cNvSpPr>
          <p:nvPr>
            <p:ph idx="1"/>
          </p:nvPr>
        </p:nvSpPr>
        <p:spPr>
          <a:xfrm>
            <a:off x="4654295" y="502920"/>
            <a:ext cx="6894576" cy="1463040"/>
          </a:xfrm>
        </p:spPr>
        <p:txBody>
          <a:bodyPr anchor="ctr">
            <a:normAutofit/>
          </a:bodyPr>
          <a:lstStyle/>
          <a:p>
            <a:r>
              <a:rPr lang="en-GB" sz="1500"/>
              <a:t>JSP plays a crucial role in the Model-View-Controller (MVC) architecture. It is often employed as the view component, responsible for presenting data to users. Combined with servlets (controller) and JavaBeans (model), JSP facilitates the creation of scalable and maintainable web applications.</a:t>
            </a:r>
            <a:br>
              <a:rPr lang="en-GB" sz="1500">
                <a:effectLst/>
              </a:rPr>
            </a:br>
            <a:endParaRPr lang="en-GB" sz="1500">
              <a:effectLst/>
            </a:endParaRPr>
          </a:p>
          <a:p>
            <a:endParaRPr lang="en-US" sz="1500"/>
          </a:p>
        </p:txBody>
      </p:sp>
      <p:pic>
        <p:nvPicPr>
          <p:cNvPr id="4098" name="Picture 2">
            <a:extLst>
              <a:ext uri="{FF2B5EF4-FFF2-40B4-BE49-F238E27FC236}">
                <a16:creationId xmlns:a16="http://schemas.microsoft.com/office/drawing/2014/main" id="{1E883935-1B3E-4825-7D00-10B695152EC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64" t="6977" r="8941" b="9396"/>
          <a:stretch>
            <a:fillRect/>
          </a:stretch>
        </p:blipFill>
        <p:spPr bwMode="auto">
          <a:xfrm>
            <a:off x="2335652" y="2290936"/>
            <a:ext cx="7508503" cy="3959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0487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8296-E651-F5E8-F4C2-B3E22506D06E}"/>
              </a:ext>
            </a:extLst>
          </p:cNvPr>
          <p:cNvSpPr>
            <a:spLocks noGrp="1"/>
          </p:cNvSpPr>
          <p:nvPr>
            <p:ph type="title"/>
          </p:nvPr>
        </p:nvSpPr>
        <p:spPr/>
        <p:txBody>
          <a:bodyPr/>
          <a:lstStyle/>
          <a:p>
            <a:r>
              <a:rPr lang="en-GB" b="1" dirty="0"/>
              <a:t>Integrating Servlets and JSP</a:t>
            </a:r>
            <a:endParaRPr lang="en-US" dirty="0"/>
          </a:p>
        </p:txBody>
      </p:sp>
      <p:pic>
        <p:nvPicPr>
          <p:cNvPr id="5122" name="Picture 2">
            <a:extLst>
              <a:ext uri="{FF2B5EF4-FFF2-40B4-BE49-F238E27FC236}">
                <a16:creationId xmlns:a16="http://schemas.microsoft.com/office/drawing/2014/main" id="{805670FD-51FB-386C-CB3A-4719E4F71B2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4098" y="1825625"/>
            <a:ext cx="8303803"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914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37D490-1BDD-946F-DDE0-8F05AE6D5604}"/>
              </a:ext>
            </a:extLst>
          </p:cNvPr>
          <p:cNvSpPr>
            <a:spLocks noGrp="1"/>
          </p:cNvSpPr>
          <p:nvPr>
            <p:ph type="title"/>
          </p:nvPr>
        </p:nvSpPr>
        <p:spPr>
          <a:xfrm>
            <a:off x="630936" y="502920"/>
            <a:ext cx="3419856" cy="1463040"/>
          </a:xfrm>
        </p:spPr>
        <p:txBody>
          <a:bodyPr anchor="ctr">
            <a:normAutofit/>
          </a:bodyPr>
          <a:lstStyle/>
          <a:p>
            <a:r>
              <a:rPr lang="en-GB" sz="3000" b="1"/>
              <a:t>1. Servlet Dispatching to JSP</a:t>
            </a:r>
            <a:endParaRPr lang="en-US" sz="3000"/>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1F76A6-6FF9-4B64-A57F-109D1B89C928}"/>
              </a:ext>
            </a:extLst>
          </p:cNvPr>
          <p:cNvSpPr>
            <a:spLocks noGrp="1"/>
          </p:cNvSpPr>
          <p:nvPr>
            <p:ph idx="1"/>
          </p:nvPr>
        </p:nvSpPr>
        <p:spPr>
          <a:xfrm>
            <a:off x="4654295" y="502920"/>
            <a:ext cx="6894576" cy="1463040"/>
          </a:xfrm>
        </p:spPr>
        <p:txBody>
          <a:bodyPr anchor="ctr">
            <a:normAutofit/>
          </a:bodyPr>
          <a:lstStyle/>
          <a:p>
            <a:r>
              <a:rPr lang="en-GB" sz="2200"/>
              <a:t>Servlets can dispatch requests to JSP pages, allowing for the separation of concerns in web application development.</a:t>
            </a:r>
            <a:endParaRPr lang="en-US" sz="2200"/>
          </a:p>
        </p:txBody>
      </p:sp>
      <p:pic>
        <p:nvPicPr>
          <p:cNvPr id="5" name="Picture 4" descr="A screen shot of a computer code&#10;&#10;AI-generated content may be incorrect.">
            <a:extLst>
              <a:ext uri="{FF2B5EF4-FFF2-40B4-BE49-F238E27FC236}">
                <a16:creationId xmlns:a16="http://schemas.microsoft.com/office/drawing/2014/main" id="{A756AB43-EE9F-7C9D-314B-27CC75142A90}"/>
              </a:ext>
            </a:extLst>
          </p:cNvPr>
          <p:cNvPicPr>
            <a:picLocks noChangeAspect="1"/>
          </p:cNvPicPr>
          <p:nvPr/>
        </p:nvPicPr>
        <p:blipFill>
          <a:blip r:embed="rId2"/>
          <a:stretch>
            <a:fillRect/>
          </a:stretch>
        </p:blipFill>
        <p:spPr>
          <a:xfrm>
            <a:off x="1564929" y="2290936"/>
            <a:ext cx="9049949" cy="3959352"/>
          </a:xfrm>
          <a:prstGeom prst="rect">
            <a:avLst/>
          </a:prstGeom>
        </p:spPr>
      </p:pic>
    </p:spTree>
    <p:extLst>
      <p:ext uri="{BB962C8B-B14F-4D97-AF65-F5344CB8AC3E}">
        <p14:creationId xmlns:p14="http://schemas.microsoft.com/office/powerpoint/2010/main" val="1742820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4321D6-6D86-C0B1-2B07-11A0D3D510D7}"/>
              </a:ext>
            </a:extLst>
          </p:cNvPr>
          <p:cNvSpPr>
            <a:spLocks noGrp="1"/>
          </p:cNvSpPr>
          <p:nvPr>
            <p:ph type="title"/>
          </p:nvPr>
        </p:nvSpPr>
        <p:spPr>
          <a:xfrm>
            <a:off x="630936" y="502920"/>
            <a:ext cx="3419856" cy="1463040"/>
          </a:xfrm>
        </p:spPr>
        <p:txBody>
          <a:bodyPr anchor="ctr">
            <a:normAutofit/>
          </a:bodyPr>
          <a:lstStyle/>
          <a:p>
            <a:r>
              <a:rPr lang="en-GB" sz="3400" b="1"/>
              <a:t>2. JSP Accessing Servlet Attributes</a:t>
            </a:r>
            <a:endParaRPr lang="en-US" sz="3400"/>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6CD06D-8F41-3FF8-4370-6D8E381DCEE9}"/>
              </a:ext>
            </a:extLst>
          </p:cNvPr>
          <p:cNvSpPr>
            <a:spLocks noGrp="1"/>
          </p:cNvSpPr>
          <p:nvPr>
            <p:ph idx="1"/>
          </p:nvPr>
        </p:nvSpPr>
        <p:spPr>
          <a:xfrm>
            <a:off x="4654295" y="502920"/>
            <a:ext cx="6894576" cy="1463040"/>
          </a:xfrm>
        </p:spPr>
        <p:txBody>
          <a:bodyPr anchor="ctr">
            <a:normAutofit/>
          </a:bodyPr>
          <a:lstStyle/>
          <a:p>
            <a:r>
              <a:rPr lang="en-GB" sz="2200"/>
              <a:t>In the JSP page, we can access the attributes set by the servlet and dynamically render content based on the provided data.</a:t>
            </a:r>
            <a:endParaRPr lang="en-US" sz="2200"/>
          </a:p>
        </p:txBody>
      </p:sp>
      <p:pic>
        <p:nvPicPr>
          <p:cNvPr id="5" name="Picture 4" descr="A screenshot of a computer code&#10;&#10;AI-generated content may be incorrect.">
            <a:extLst>
              <a:ext uri="{FF2B5EF4-FFF2-40B4-BE49-F238E27FC236}">
                <a16:creationId xmlns:a16="http://schemas.microsoft.com/office/drawing/2014/main" id="{F6138A1F-9861-E4D2-42DE-3951783AAC43}"/>
              </a:ext>
            </a:extLst>
          </p:cNvPr>
          <p:cNvPicPr>
            <a:picLocks noChangeAspect="1"/>
          </p:cNvPicPr>
          <p:nvPr/>
        </p:nvPicPr>
        <p:blipFill>
          <a:blip r:embed="rId2"/>
          <a:stretch>
            <a:fillRect/>
          </a:stretch>
        </p:blipFill>
        <p:spPr>
          <a:xfrm>
            <a:off x="2245872" y="2290936"/>
            <a:ext cx="7688064" cy="3959352"/>
          </a:xfrm>
          <a:prstGeom prst="rect">
            <a:avLst/>
          </a:prstGeom>
        </p:spPr>
      </p:pic>
    </p:spTree>
    <p:extLst>
      <p:ext uri="{BB962C8B-B14F-4D97-AF65-F5344CB8AC3E}">
        <p14:creationId xmlns:p14="http://schemas.microsoft.com/office/powerpoint/2010/main" val="114110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EC8A5-4105-5559-E013-097CB9DFDD1D}"/>
              </a:ext>
            </a:extLst>
          </p:cNvPr>
          <p:cNvSpPr>
            <a:spLocks noGrp="1"/>
          </p:cNvSpPr>
          <p:nvPr>
            <p:ph type="title"/>
          </p:nvPr>
        </p:nvSpPr>
        <p:spPr/>
        <p:txBody>
          <a:bodyPr>
            <a:normAutofit/>
          </a:bodyPr>
          <a:lstStyle/>
          <a:p>
            <a:r>
              <a:rPr lang="en-GB" b="1" dirty="0"/>
              <a:t>Advantages of Using Servlets and JSP Together</a:t>
            </a:r>
            <a:endParaRPr lang="en-US" dirty="0"/>
          </a:p>
        </p:txBody>
      </p:sp>
      <p:sp>
        <p:nvSpPr>
          <p:cNvPr id="3" name="Content Placeholder 2">
            <a:extLst>
              <a:ext uri="{FF2B5EF4-FFF2-40B4-BE49-F238E27FC236}">
                <a16:creationId xmlns:a16="http://schemas.microsoft.com/office/drawing/2014/main" id="{5A773ACA-A8D3-E6F8-52F0-0363407936C9}"/>
              </a:ext>
            </a:extLst>
          </p:cNvPr>
          <p:cNvSpPr>
            <a:spLocks noGrp="1"/>
          </p:cNvSpPr>
          <p:nvPr>
            <p:ph idx="1"/>
          </p:nvPr>
        </p:nvSpPr>
        <p:spPr/>
        <p:txBody>
          <a:bodyPr/>
          <a:lstStyle/>
          <a:p>
            <a:r>
              <a:rPr lang="en-GB" b="1" dirty="0"/>
              <a:t>Clear Separation of Concerns:</a:t>
            </a:r>
            <a:r>
              <a:rPr lang="en-GB" dirty="0"/>
              <a:t> Servlets handle business logic and data processing, while JSP focuses on presenting the data to users. This separation enhances maintainability.</a:t>
            </a:r>
          </a:p>
          <a:p>
            <a:r>
              <a:rPr lang="en-GB" b="1" dirty="0"/>
              <a:t>Reusability:</a:t>
            </a:r>
            <a:r>
              <a:rPr lang="en-GB" dirty="0"/>
              <a:t> Servlets can be reused for different views, and JSP pages can be shared among multiple servlets.</a:t>
            </a:r>
          </a:p>
          <a:p>
            <a:r>
              <a:rPr lang="en-GB" b="1" dirty="0"/>
              <a:t>Simplified Development:</a:t>
            </a:r>
            <a:r>
              <a:rPr lang="en-GB" dirty="0"/>
              <a:t> JSP simplifies the integration of Java code with HTML, providing a more natural way to create dynamic content.</a:t>
            </a:r>
          </a:p>
          <a:p>
            <a:r>
              <a:rPr lang="en-GB" b="1" dirty="0"/>
              <a:t>Scalability:</a:t>
            </a:r>
            <a:r>
              <a:rPr lang="en-GB" dirty="0"/>
              <a:t> The MVC architecture facilitated by Servlets and JSP allows for scalable and modular web application development.</a:t>
            </a:r>
          </a:p>
          <a:p>
            <a:endParaRPr lang="en-US" dirty="0"/>
          </a:p>
        </p:txBody>
      </p:sp>
    </p:spTree>
    <p:extLst>
      <p:ext uri="{BB962C8B-B14F-4D97-AF65-F5344CB8AC3E}">
        <p14:creationId xmlns:p14="http://schemas.microsoft.com/office/powerpoint/2010/main" val="301293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300CC0-78D9-8734-2A56-FB5D4461E2C0}"/>
              </a:ext>
            </a:extLst>
          </p:cNvPr>
          <p:cNvSpPr>
            <a:spLocks noGrp="1"/>
          </p:cNvSpPr>
          <p:nvPr>
            <p:ph type="title"/>
          </p:nvPr>
        </p:nvSpPr>
        <p:spPr>
          <a:xfrm>
            <a:off x="1115568" y="548640"/>
            <a:ext cx="10168128" cy="1179576"/>
          </a:xfrm>
        </p:spPr>
        <p:txBody>
          <a:bodyPr>
            <a:normAutofit/>
          </a:bodyPr>
          <a:lstStyle/>
          <a:p>
            <a:r>
              <a:rPr lang="en-GB" sz="4000" b="1"/>
              <a:t>Conclusion</a:t>
            </a:r>
            <a:endParaRPr lang="en-US"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6E38BA1-4509-B7FB-754D-F1E9BF00C380}"/>
              </a:ext>
            </a:extLst>
          </p:cNvPr>
          <p:cNvSpPr>
            <a:spLocks noGrp="1"/>
          </p:cNvSpPr>
          <p:nvPr>
            <p:ph idx="1"/>
          </p:nvPr>
        </p:nvSpPr>
        <p:spPr>
          <a:xfrm>
            <a:off x="1115568" y="2481943"/>
            <a:ext cx="10168128" cy="3695020"/>
          </a:xfrm>
        </p:spPr>
        <p:txBody>
          <a:bodyPr>
            <a:normAutofit/>
          </a:bodyPr>
          <a:lstStyle/>
          <a:p>
            <a:r>
              <a:rPr lang="en-GB" sz="2200"/>
              <a:t>The integration of Servlets and JSP brings a powerful combination to web development. Servlets handle the back-end logic and data processing, while JSP pages provide a flexible and dynamic way to present information to users. By mastering the collaboration of these technologies, developers can create web applications that are not only robust and scalable but also maintainable and efficient. Embrace the synergy of Servlets and JSP to unlock the full potential of Java in web development.</a:t>
            </a:r>
            <a:endParaRPr lang="en-US" sz="2200"/>
          </a:p>
        </p:txBody>
      </p:sp>
    </p:spTree>
    <p:extLst>
      <p:ext uri="{BB962C8B-B14F-4D97-AF65-F5344CB8AC3E}">
        <p14:creationId xmlns:p14="http://schemas.microsoft.com/office/powerpoint/2010/main" val="31282160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1427</Words>
  <Application>Microsoft Macintosh PowerPoint</Application>
  <PresentationFormat>Widescreen</PresentationFormat>
  <Paragraphs>80</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source-code-pro</vt:lpstr>
      <vt:lpstr>source-serif-pro</vt:lpstr>
      <vt:lpstr>Aptos</vt:lpstr>
      <vt:lpstr>Aptos Display</vt:lpstr>
      <vt:lpstr>Arial</vt:lpstr>
      <vt:lpstr>Calibri</vt:lpstr>
      <vt:lpstr>Office Theme</vt:lpstr>
      <vt:lpstr>Java  Servlets and JSP</vt:lpstr>
      <vt:lpstr>Understanding Servlets</vt:lpstr>
      <vt:lpstr>Setting Up Your Servlet Environment</vt:lpstr>
      <vt:lpstr>Creating First Servlet</vt:lpstr>
      <vt:lpstr>Mapping Servlets in the Deployment Descriptor (web.xml)</vt:lpstr>
      <vt:lpstr>Servlet Life Cycle</vt:lpstr>
      <vt:lpstr>Servlets and Form Handling </vt:lpstr>
      <vt:lpstr>Understanding RESTful API</vt:lpstr>
      <vt:lpstr>Why Servlets for RESTful APIs?</vt:lpstr>
      <vt:lpstr>Building a Simple RESTful API with Servlets</vt:lpstr>
      <vt:lpstr>2. doPost Method: </vt:lpstr>
      <vt:lpstr>3. doPut Method: </vt:lpstr>
      <vt:lpstr>4. doDelete Method:</vt:lpstr>
      <vt:lpstr>Understanding JavaServer Pages (JSP)</vt:lpstr>
      <vt:lpstr>Setting Up Your JSP Environment </vt:lpstr>
      <vt:lpstr>The Anatomy of a JSP Page</vt:lpstr>
      <vt:lpstr>JSP Directives: Enhancing Control</vt:lpstr>
      <vt:lpstr>JSP Actions: Encapsulating Dynamic Behavior </vt:lpstr>
      <vt:lpstr>Expression Language (EL): Streamlining Data Access</vt:lpstr>
      <vt:lpstr>JSP and MVC Architecture</vt:lpstr>
      <vt:lpstr>Integrating Servlets and JSP</vt:lpstr>
      <vt:lpstr>1. Servlet Dispatching to JSP</vt:lpstr>
      <vt:lpstr>2. JSP Accessing Servlet Attributes</vt:lpstr>
      <vt:lpstr>Advantages of Using Servlets and JSP Together</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Shakhnoza Muksimova</dc:creator>
  <cp:lastModifiedBy>Shakhnoza Muksimova</cp:lastModifiedBy>
  <cp:revision>1</cp:revision>
  <dcterms:created xsi:type="dcterms:W3CDTF">2025-10-10T02:41:39Z</dcterms:created>
  <dcterms:modified xsi:type="dcterms:W3CDTF">2025-10-10T03:15:35Z</dcterms:modified>
</cp:coreProperties>
</file>