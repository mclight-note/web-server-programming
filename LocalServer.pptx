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60" r:id="rId5"/>
    <p:sldId id="259" r:id="rId6"/>
    <p:sldId id="261" r:id="rId7"/>
    <p:sldId id="262" r:id="rId8"/>
    <p:sldId id="269" r:id="rId9"/>
    <p:sldId id="270" r:id="rId10"/>
  </p:sldIdLst>
  <p:sldSz cx="9144000" cy="6858000" type="screen4x3"/>
  <p:notesSz cx="6858000" cy="9144000"/>
  <p:embeddedFontLst>
    <p:embeddedFont>
      <p:font typeface="Calibri" panose="020F0502020204030204" pitchFamily="2" charset="0"/>
      <p:regular r:id="rId16"/>
    </p:embeddedFont>
    <p:embeddedFont>
      <p:font typeface="MS PGothic" panose="020B0600070205080204" pitchFamily="2" charset="-128"/>
      <p:regular r:id="rId17"/>
    </p:embeddedFont>
  </p:embeddedFontLst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anose="020F0502020204030204" pitchFamily="2" charset="0"/>
        <a:ea typeface="MS PGothic" panose="020B0600070205080204" pitchFamily="2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1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4" d="100"/>
          <a:sy n="64" d="100"/>
        </p:scale>
        <p:origin x="804" y="52"/>
      </p:cViewPr>
      <p:guideLst>
        <p:guide orient="horz" pos="2170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2" charset="0"/>
                <a:ea typeface="MS PGothic" panose="020B0600070205080204" pitchFamily="2" charset="-128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2" charset="0"/>
                <a:ea typeface="MS PGothic" panose="020B0600070205080204" pitchFamily="2" charset="-128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2" charset="0"/>
                <a:ea typeface="MS PGothic" panose="020B0600070205080204" pitchFamily="2" charset="-128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2" charset="0"/>
                <a:ea typeface="MS PGothic" panose="020B0600070205080204" pitchFamily="2" charset="-128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2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2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2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2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2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>
              <a:latin typeface="Calibri" panose="020F0502020204030204" pitchFamily="2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strike="noStrike" noProof="1">
              <a:latin typeface="Calibri" panose="020F05020202040302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Calibri" panose="020F0502020204030204" pitchFamily="2" charset="0"/>
                <a:ea typeface="MS PGothic" panose="020B0600070205080204" pitchFamily="2" charset="-128"/>
                <a:cs typeface="+mn-cs"/>
              </a:rPr>
            </a:fld>
            <a:endParaRPr lang="en-US" strike="noStrike" noProof="1">
              <a:latin typeface="Calibri" panose="020F0502020204030204" pitchFamily="2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zh-CN"/>
              <a:t>Click to edit Master text styles</a:t>
            </a:r>
            <a:endParaRPr lang="en-US" altLang="zh-CN"/>
          </a:p>
          <a:p>
            <a:pPr lvl="1" indent="-285750"/>
            <a:r>
              <a:rPr lang="en-US" altLang="zh-CN"/>
              <a:t>Second level</a:t>
            </a:r>
            <a:endParaRPr lang="en-US" altLang="zh-CN"/>
          </a:p>
          <a:p>
            <a:pPr lvl="2" indent="-228600"/>
            <a:r>
              <a:rPr lang="en-US" altLang="zh-CN"/>
              <a:t>Third level</a:t>
            </a:r>
            <a:endParaRPr lang="en-US" altLang="zh-CN"/>
          </a:p>
          <a:p>
            <a:pPr lvl="3" indent="-228600"/>
            <a:r>
              <a:rPr lang="en-US" altLang="zh-CN"/>
              <a:t>Fourth level</a:t>
            </a:r>
            <a:endParaRPr lang="en-US" altLang="zh-CN"/>
          </a:p>
          <a:p>
            <a:pPr lvl="4" indent="-228600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>
              <a:defRPr sz="1200">
                <a:solidFill>
                  <a:srgbClr val="8B8B8B"/>
                </a:solidFill>
              </a:defRPr>
            </a:lvl1pPr>
          </a:lstStyle>
          <a:p>
            <a:pPr lvl="0" fontAlgn="base"/>
            <a:endParaRPr lang="en-US" strike="noStrike" noProof="1">
              <a:latin typeface="Calibri" panose="020F0502020204030204" pitchFamily="2" charset="0"/>
            </a:endParaRPr>
          </a:p>
        </p:txBody>
      </p:sp>
      <p:sp>
        <p:nvSpPr>
          <p:cNvPr id="102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ctr">
              <a:defRPr sz="1200">
                <a:solidFill>
                  <a:srgbClr val="8B8B8B"/>
                </a:solidFill>
              </a:defRPr>
            </a:lvl1pPr>
          </a:lstStyle>
          <a:p>
            <a:pPr lvl="0" fontAlgn="base"/>
            <a:endParaRPr strike="noStrike" noProof="1">
              <a:latin typeface="Calibri" panose="020F0502020204030204" pitchFamily="2" charset="0"/>
            </a:endParaRPr>
          </a:p>
        </p:txBody>
      </p:sp>
      <p:sp>
        <p:nvSpPr>
          <p:cNvPr id="103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r">
              <a:defRPr sz="1200">
                <a:solidFill>
                  <a:srgbClr val="8B8B8B"/>
                </a:solidFill>
              </a:defRPr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Calibri" panose="020F0502020204030204" pitchFamily="2" charset="0"/>
                <a:ea typeface="MS PGothic" panose="020B0600070205080204" pitchFamily="2" charset="-128"/>
                <a:cs typeface="+mn-cs"/>
              </a:rPr>
            </a:fld>
            <a:endParaRPr lang="en-US" strike="noStrike" noProof="1">
              <a:latin typeface="Calibri" panose="020F05020202040302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lvl="0" indent="0" algn="ctr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4572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2pPr>
      <a:lvl3pPr marL="914400" lvl="2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3pPr>
      <a:lvl4pPr marL="1371600" lvl="3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4pPr>
      <a:lvl5pPr marL="1828800" lvl="4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5pPr>
      <a:lvl6pPr marL="2286000" lvl="5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6pPr>
      <a:lvl7pPr marL="2743200" lvl="6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7pPr>
      <a:lvl8pPr marL="3200400" lvl="7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8pPr>
      <a:lvl9pPr marL="3657600" lvl="8" indent="0" algn="l" defTabSz="457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Calibri" panose="020F0502020204030204" pitchFamily="2" charset="0"/>
          <a:ea typeface="MS PGothic" panose="020B0600070205080204" pitchFamily="2" charset="-128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5-09-26 at 2.40.07 PM"/>
          <p:cNvPicPr>
            <a:picLocks noChangeAspect="1"/>
          </p:cNvPicPr>
          <p:nvPr/>
        </p:nvPicPr>
        <p:blipFill>
          <a:blip r:embed="rId1"/>
          <a:srcRect l="11342" t="7907" r="40315" b="26792"/>
          <a:stretch>
            <a:fillRect/>
          </a:stretch>
        </p:blipFill>
        <p:spPr>
          <a:xfrm>
            <a:off x="5209540" y="1071880"/>
            <a:ext cx="3705225" cy="3644900"/>
          </a:xfrm>
          <a:prstGeom prst="rect">
            <a:avLst/>
          </a:prstGeom>
        </p:spPr>
      </p:pic>
      <p:sp>
        <p:nvSpPr>
          <p:cNvPr id="3075" name="TextBox 3"/>
          <p:cNvSpPr txBox="1"/>
          <p:nvPr/>
        </p:nvSpPr>
        <p:spPr>
          <a:xfrm>
            <a:off x="285433" y="1617345"/>
            <a:ext cx="5281612" cy="25533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8000">
                <a:ea typeface="Arial" panose="020B0604020202090204" pitchFamily="34" charset="0"/>
              </a:rPr>
              <a:t>Running local server</a:t>
            </a:r>
            <a:endParaRPr lang="en-US" altLang="zh-CN" sz="8000">
              <a:ea typeface="Arial" panose="020B0604020202090204" pitchFamily="34" charset="0"/>
            </a:endParaRPr>
          </a:p>
        </p:txBody>
      </p:sp>
      <p:sp>
        <p:nvSpPr>
          <p:cNvPr id="3076" name="TextBox 4"/>
          <p:cNvSpPr txBox="1"/>
          <p:nvPr/>
        </p:nvSpPr>
        <p:spPr>
          <a:xfrm>
            <a:off x="285750" y="6334125"/>
            <a:ext cx="78873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sz="2000" dirty="0">
                <a:latin typeface="Arial" panose="020B0604020202090204" pitchFamily="34" charset="0"/>
                <a:ea typeface="Calibri" panose="020F0502020204030204" pitchFamily="2" charset="0"/>
                <a:cs typeface="Arial" panose="020B0604020202090204" pitchFamily="34" charset="0"/>
              </a:rPr>
              <a:t>Student: Shukirilaev Mukhammad			ID: 202438379</a:t>
            </a:r>
            <a:endParaRPr lang="en-US" sz="2000" dirty="0">
              <a:latin typeface="Arial" panose="020B0604020202090204" pitchFamily="34" charset="0"/>
              <a:ea typeface="Calibri" panose="020F0502020204030204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307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/>
          <p:cNvSpPr txBox="1"/>
          <p:nvPr/>
        </p:nvSpPr>
        <p:spPr>
          <a:xfrm>
            <a:off x="228600" y="128905"/>
            <a:ext cx="6739255" cy="1091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6500">
                <a:ea typeface="Arial" panose="020B0604020202090204" pitchFamily="34" charset="0"/>
              </a:rPr>
              <a:t>Installing VS Code</a:t>
            </a:r>
            <a:endParaRPr lang="en-US" altLang="zh-CN" sz="6500">
              <a:ea typeface="Arial" panose="020B0604020202090204" pitchFamily="34" charset="0"/>
            </a:endParaRPr>
          </a:p>
        </p:txBody>
      </p:sp>
      <p:grpSp>
        <p:nvGrpSpPr>
          <p:cNvPr id="5129" name="Group 5"/>
          <p:cNvGrpSpPr>
            <a:grpSpLocks noChangeAspect="1"/>
          </p:cNvGrpSpPr>
          <p:nvPr/>
        </p:nvGrpSpPr>
        <p:grpSpPr>
          <a:xfrm>
            <a:off x="0" y="5686425"/>
            <a:ext cx="9144000" cy="357188"/>
            <a:chOff x="0" y="0"/>
            <a:chExt cx="9143999" cy="357617"/>
          </a:xfrm>
        </p:grpSpPr>
        <p:pic>
          <p:nvPicPr>
            <p:cNvPr id="5130" name="Picture 14" descr="nav-back.png">
              <a:hlinkClick r:id="" action="ppaction://hlinkshowjump?jump=previous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64427" cy="3506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1" name="Picture 15" descr="nav-forward.png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358" y="9477"/>
              <a:ext cx="451641" cy="34814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135" name="TextBox 19"/>
          <p:cNvSpPr txBox="1"/>
          <p:nvPr/>
        </p:nvSpPr>
        <p:spPr>
          <a:xfrm>
            <a:off x="7496175" y="6099175"/>
            <a:ext cx="388938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</a:rPr>
              <a:t>2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sp>
        <p:nvSpPr>
          <p:cNvPr id="5136" name="TextBox 20"/>
          <p:cNvSpPr txBox="1"/>
          <p:nvPr/>
        </p:nvSpPr>
        <p:spPr>
          <a:xfrm>
            <a:off x="7829550" y="6073775"/>
            <a:ext cx="654050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 i="1">
                <a:solidFill>
                  <a:srgbClr val="FFFFFF"/>
                </a:solidFill>
              </a:rPr>
              <a:t>of</a:t>
            </a:r>
            <a:endParaRPr lang="en-US" altLang="zh-CN" sz="3800" i="1">
              <a:solidFill>
                <a:srgbClr val="FFFFFF"/>
              </a:solidFill>
              <a:ea typeface="Georgia" panose="02040502050405090303" pitchFamily="2" charset="0"/>
            </a:endParaRPr>
          </a:p>
        </p:txBody>
      </p:sp>
      <p:sp>
        <p:nvSpPr>
          <p:cNvPr id="5137" name="TextBox 21"/>
          <p:cNvSpPr txBox="1"/>
          <p:nvPr/>
        </p:nvSpPr>
        <p:spPr>
          <a:xfrm>
            <a:off x="8426450" y="6103938"/>
            <a:ext cx="688975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pic>
        <p:nvPicPr>
          <p:cNvPr id="2" name="Picture 1" descr="Screenshot 2025-09-26 at 2.38.55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" y="1080770"/>
            <a:ext cx="4189730" cy="4399280"/>
          </a:xfrm>
          <a:prstGeom prst="rect">
            <a:avLst/>
          </a:prstGeom>
        </p:spPr>
      </p:pic>
      <p:pic>
        <p:nvPicPr>
          <p:cNvPr id="3" name="Picture 2" descr="Screenshot 2025-09-26 at 2.39.25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090" y="1679575"/>
            <a:ext cx="4439920" cy="32251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334385" y="54800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Install through these websites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3"/>
          <p:cNvSpPr txBox="1"/>
          <p:nvPr/>
        </p:nvSpPr>
        <p:spPr>
          <a:xfrm>
            <a:off x="228600" y="128905"/>
            <a:ext cx="7623810" cy="1091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6500">
                <a:ea typeface="Arial" panose="020B0604020202090204" pitchFamily="34" charset="0"/>
              </a:rPr>
              <a:t>Installing XAMP</a:t>
            </a:r>
            <a:endParaRPr lang="en-US" altLang="zh-CN" sz="6500">
              <a:ea typeface="Arial" panose="020B0604020202090204" pitchFamily="34" charset="0"/>
            </a:endParaRPr>
          </a:p>
        </p:txBody>
      </p:sp>
      <p:sp>
        <p:nvSpPr>
          <p:cNvPr id="8198" name="TextBox 36"/>
          <p:cNvSpPr txBox="1"/>
          <p:nvPr/>
        </p:nvSpPr>
        <p:spPr>
          <a:xfrm>
            <a:off x="7496175" y="6099175"/>
            <a:ext cx="388938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3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sp>
        <p:nvSpPr>
          <p:cNvPr id="8199" name="TextBox 37"/>
          <p:cNvSpPr txBox="1"/>
          <p:nvPr/>
        </p:nvSpPr>
        <p:spPr>
          <a:xfrm>
            <a:off x="7829550" y="6073775"/>
            <a:ext cx="654050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 i="1">
                <a:solidFill>
                  <a:srgbClr val="FFFFFF"/>
                </a:solidFill>
              </a:rPr>
              <a:t>of</a:t>
            </a:r>
            <a:endParaRPr lang="en-US" altLang="zh-CN" sz="3800" i="1">
              <a:solidFill>
                <a:srgbClr val="FFFFFF"/>
              </a:solidFill>
              <a:ea typeface="Georgia" panose="02040502050405090303" pitchFamily="2" charset="0"/>
            </a:endParaRPr>
          </a:p>
        </p:txBody>
      </p:sp>
      <p:sp>
        <p:nvSpPr>
          <p:cNvPr id="8200" name="TextBox 38"/>
          <p:cNvSpPr txBox="1"/>
          <p:nvPr/>
        </p:nvSpPr>
        <p:spPr>
          <a:xfrm>
            <a:off x="8426450" y="6103938"/>
            <a:ext cx="688975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grpSp>
        <p:nvGrpSpPr>
          <p:cNvPr id="8207" name="Group 22"/>
          <p:cNvGrpSpPr>
            <a:grpSpLocks noChangeAspect="1"/>
          </p:cNvGrpSpPr>
          <p:nvPr/>
        </p:nvGrpSpPr>
        <p:grpSpPr>
          <a:xfrm>
            <a:off x="0" y="5686425"/>
            <a:ext cx="9144000" cy="357188"/>
            <a:chOff x="0" y="0"/>
            <a:chExt cx="9143999" cy="357617"/>
          </a:xfrm>
        </p:grpSpPr>
        <p:pic>
          <p:nvPicPr>
            <p:cNvPr id="8208" name="Picture 23" descr="nav-back.png">
              <a:hlinkClick r:id="" action="ppaction://hlinkshowjump?jump=previous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64427" cy="3506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9" name="Picture 24" descr="nav-forward.png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358" y="9477"/>
              <a:ext cx="451641" cy="34814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" name="Picture 1" descr="Screenshot 2025-09-26 at 2.47.05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" y="1318895"/>
            <a:ext cx="4871085" cy="4074795"/>
          </a:xfrm>
          <a:prstGeom prst="rect">
            <a:avLst/>
          </a:prstGeom>
        </p:spPr>
      </p:pic>
      <p:pic>
        <p:nvPicPr>
          <p:cNvPr id="3" name="Picture 2" descr="Screenshot 2025-09-26 at 2.47.28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940" y="2543175"/>
            <a:ext cx="4854575" cy="2992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3"/>
          <p:cNvSpPr txBox="1"/>
          <p:nvPr/>
        </p:nvSpPr>
        <p:spPr>
          <a:xfrm>
            <a:off x="228600" y="128905"/>
            <a:ext cx="857821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5400"/>
              <a:t>Write some code on VS Code</a:t>
            </a:r>
            <a:endParaRPr lang="en-US" altLang="zh-CN" sz="5400">
              <a:ea typeface="Arial" panose="020B0604020202090204" pitchFamily="34" charset="0"/>
            </a:endParaRPr>
          </a:p>
        </p:txBody>
      </p:sp>
      <p:sp>
        <p:nvSpPr>
          <p:cNvPr id="6147" name="TextBox 4"/>
          <p:cNvSpPr txBox="1"/>
          <p:nvPr/>
        </p:nvSpPr>
        <p:spPr>
          <a:xfrm>
            <a:off x="274955" y="1158875"/>
            <a:ext cx="450596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140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+mj-lt"/>
                <a:ea typeface="Georgia" panose="02040502050405090303" pitchFamily="2" charset="0"/>
                <a:cs typeface="+mj-lt"/>
              </a:rPr>
              <a:t>Here is the simple connected HTML, CSS &amp; JavaScript code</a:t>
            </a:r>
            <a:endParaRPr lang="en-US" altLang="zh-CN" sz="140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+mj-lt"/>
              <a:ea typeface="Georgia" panose="02040502050405090303" pitchFamily="2" charset="0"/>
              <a:cs typeface="+mj-lt"/>
            </a:endParaRPr>
          </a:p>
        </p:txBody>
      </p:sp>
      <p:sp>
        <p:nvSpPr>
          <p:cNvPr id="7174" name="TextBox 36"/>
          <p:cNvSpPr txBox="1"/>
          <p:nvPr/>
        </p:nvSpPr>
        <p:spPr>
          <a:xfrm>
            <a:off x="7496175" y="6099175"/>
            <a:ext cx="388938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</a:rPr>
              <a:t>4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sp>
        <p:nvSpPr>
          <p:cNvPr id="7175" name="TextBox 37"/>
          <p:cNvSpPr txBox="1"/>
          <p:nvPr/>
        </p:nvSpPr>
        <p:spPr>
          <a:xfrm>
            <a:off x="7829550" y="6073775"/>
            <a:ext cx="654050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 i="1">
                <a:solidFill>
                  <a:srgbClr val="FFFFFF"/>
                </a:solidFill>
              </a:rPr>
              <a:t>of</a:t>
            </a:r>
            <a:endParaRPr lang="en-US" altLang="zh-CN" sz="3800" i="1">
              <a:solidFill>
                <a:srgbClr val="FFFFFF"/>
              </a:solidFill>
              <a:ea typeface="Georgia" panose="02040502050405090303" pitchFamily="2" charset="0"/>
            </a:endParaRPr>
          </a:p>
        </p:txBody>
      </p:sp>
      <p:sp>
        <p:nvSpPr>
          <p:cNvPr id="7176" name="TextBox 38"/>
          <p:cNvSpPr txBox="1"/>
          <p:nvPr/>
        </p:nvSpPr>
        <p:spPr>
          <a:xfrm>
            <a:off x="8426450" y="6103938"/>
            <a:ext cx="688975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grpSp>
        <p:nvGrpSpPr>
          <p:cNvPr id="7189" name="Group 24"/>
          <p:cNvGrpSpPr>
            <a:grpSpLocks noChangeAspect="1"/>
          </p:cNvGrpSpPr>
          <p:nvPr/>
        </p:nvGrpSpPr>
        <p:grpSpPr>
          <a:xfrm>
            <a:off x="0" y="5686425"/>
            <a:ext cx="9144000" cy="357188"/>
            <a:chOff x="0" y="0"/>
            <a:chExt cx="9143999" cy="357617"/>
          </a:xfrm>
        </p:grpSpPr>
        <p:pic>
          <p:nvPicPr>
            <p:cNvPr id="7190" name="Picture 25" descr="nav-back.png">
              <a:hlinkClick r:id="" action="ppaction://hlinkshowjump?jump=previous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64427" cy="3506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1" name="Picture 26" descr="nav-forward.png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358" y="9477"/>
              <a:ext cx="451641" cy="34814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" name="Picture 1" descr="Screenshot 2025-09-26 at 2.43.28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5" y="1951990"/>
            <a:ext cx="8930640" cy="2910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3"/>
          <p:cNvSpPr txBox="1"/>
          <p:nvPr/>
        </p:nvSpPr>
        <p:spPr>
          <a:xfrm>
            <a:off x="228600" y="128905"/>
            <a:ext cx="8296275" cy="1091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6500">
                <a:ea typeface="Arial" panose="020B0604020202090204" pitchFamily="34" charset="0"/>
              </a:rPr>
              <a:t>Starting XAMP</a:t>
            </a:r>
            <a:endParaRPr lang="en-US" altLang="zh-CN" sz="6500">
              <a:ea typeface="Arial" panose="020B0604020202090204" pitchFamily="34" charset="0"/>
            </a:endParaRPr>
          </a:p>
        </p:txBody>
      </p:sp>
      <p:sp>
        <p:nvSpPr>
          <p:cNvPr id="9222" name="TextBox 36"/>
          <p:cNvSpPr txBox="1"/>
          <p:nvPr/>
        </p:nvSpPr>
        <p:spPr>
          <a:xfrm>
            <a:off x="7496175" y="6099175"/>
            <a:ext cx="388938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5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sp>
        <p:nvSpPr>
          <p:cNvPr id="9223" name="TextBox 37"/>
          <p:cNvSpPr txBox="1"/>
          <p:nvPr/>
        </p:nvSpPr>
        <p:spPr>
          <a:xfrm>
            <a:off x="7829550" y="6073775"/>
            <a:ext cx="654050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 i="1">
                <a:solidFill>
                  <a:srgbClr val="FFFFFF"/>
                </a:solidFill>
              </a:rPr>
              <a:t>of</a:t>
            </a:r>
            <a:endParaRPr lang="en-US" altLang="zh-CN" sz="3800" i="1">
              <a:solidFill>
                <a:srgbClr val="FFFFFF"/>
              </a:solidFill>
              <a:ea typeface="Georgia" panose="02040502050405090303" pitchFamily="2" charset="0"/>
            </a:endParaRPr>
          </a:p>
        </p:txBody>
      </p:sp>
      <p:sp>
        <p:nvSpPr>
          <p:cNvPr id="9224" name="TextBox 38"/>
          <p:cNvSpPr txBox="1"/>
          <p:nvPr/>
        </p:nvSpPr>
        <p:spPr>
          <a:xfrm>
            <a:off x="8426450" y="6103938"/>
            <a:ext cx="688975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grpSp>
        <p:nvGrpSpPr>
          <p:cNvPr id="9230" name="Group 19"/>
          <p:cNvGrpSpPr>
            <a:grpSpLocks noChangeAspect="1"/>
          </p:cNvGrpSpPr>
          <p:nvPr/>
        </p:nvGrpSpPr>
        <p:grpSpPr>
          <a:xfrm>
            <a:off x="0" y="5686425"/>
            <a:ext cx="9144000" cy="357188"/>
            <a:chOff x="0" y="0"/>
            <a:chExt cx="9143999" cy="357617"/>
          </a:xfrm>
        </p:grpSpPr>
        <p:pic>
          <p:nvPicPr>
            <p:cNvPr id="9231" name="Picture 20" descr="nav-back.png">
              <a:hlinkClick r:id="" action="ppaction://hlinkshowjump?jump=previous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64427" cy="3506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2" name="Picture 21" descr="nav-forward.png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358" y="9477"/>
              <a:ext cx="451641" cy="34814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" name="Picture 1" descr="Screenshot 2025-09-26 at 2.49.51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5" y="1044575"/>
            <a:ext cx="4561205" cy="44107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020435" y="1985010"/>
            <a:ext cx="3048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/>
              <a:t>It asks for the password due to the security measures;</a:t>
            </a:r>
            <a:endParaRPr lang="en-US"/>
          </a:p>
          <a:p>
            <a:endParaRPr lang="en-US"/>
          </a:p>
          <a:p>
            <a:pPr indent="457200"/>
            <a:r>
              <a:rPr lang="en-US" altLang="ko-KR"/>
              <a:t>After typing the password it starts the local server;</a:t>
            </a:r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3"/>
          <p:cNvSpPr txBox="1"/>
          <p:nvPr/>
        </p:nvSpPr>
        <p:spPr>
          <a:xfrm>
            <a:off x="228600" y="128905"/>
            <a:ext cx="659955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4800"/>
              <a:t>Local server has started</a:t>
            </a:r>
            <a:endParaRPr lang="en-US" altLang="zh-CN" sz="4800">
              <a:ea typeface="Arial" panose="020B0604020202090204" pitchFamily="34" charset="0"/>
            </a:endParaRPr>
          </a:p>
        </p:txBody>
      </p:sp>
      <p:sp>
        <p:nvSpPr>
          <p:cNvPr id="10243" name="TextBox 36"/>
          <p:cNvSpPr txBox="1"/>
          <p:nvPr/>
        </p:nvSpPr>
        <p:spPr>
          <a:xfrm>
            <a:off x="7496175" y="6099175"/>
            <a:ext cx="388938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6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sp>
        <p:nvSpPr>
          <p:cNvPr id="10244" name="TextBox 37"/>
          <p:cNvSpPr txBox="1"/>
          <p:nvPr/>
        </p:nvSpPr>
        <p:spPr>
          <a:xfrm>
            <a:off x="7829550" y="6073775"/>
            <a:ext cx="654050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 i="1">
                <a:solidFill>
                  <a:srgbClr val="FFFFFF"/>
                </a:solidFill>
              </a:rPr>
              <a:t>of</a:t>
            </a:r>
            <a:endParaRPr lang="en-US" altLang="zh-CN" sz="3800" i="1">
              <a:solidFill>
                <a:srgbClr val="FFFFFF"/>
              </a:solidFill>
              <a:ea typeface="Georgia" panose="02040502050405090303" pitchFamily="2" charset="0"/>
            </a:endParaRPr>
          </a:p>
        </p:txBody>
      </p:sp>
      <p:sp>
        <p:nvSpPr>
          <p:cNvPr id="10245" name="TextBox 38"/>
          <p:cNvSpPr txBox="1"/>
          <p:nvPr/>
        </p:nvSpPr>
        <p:spPr>
          <a:xfrm>
            <a:off x="8426450" y="6103938"/>
            <a:ext cx="688975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grpSp>
        <p:nvGrpSpPr>
          <p:cNvPr id="10251" name="Group 19"/>
          <p:cNvGrpSpPr>
            <a:grpSpLocks noChangeAspect="1"/>
          </p:cNvGrpSpPr>
          <p:nvPr/>
        </p:nvGrpSpPr>
        <p:grpSpPr>
          <a:xfrm>
            <a:off x="0" y="5686425"/>
            <a:ext cx="9144000" cy="357188"/>
            <a:chOff x="0" y="0"/>
            <a:chExt cx="9143999" cy="357617"/>
          </a:xfrm>
        </p:grpSpPr>
        <p:pic>
          <p:nvPicPr>
            <p:cNvPr id="10252" name="Picture 20" descr="nav-back.png">
              <a:hlinkClick r:id="" action="ppaction://hlinkshowjump?jump=previous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64427" cy="3506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3" name="Picture 21" descr="nav-forward.png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358" y="9477"/>
              <a:ext cx="451641" cy="34814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" name="Picture 1" descr="Screenshot 2025-09-26 at 2.52.10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15" y="1017905"/>
            <a:ext cx="6821170" cy="4822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3"/>
          <p:cNvSpPr txBox="1"/>
          <p:nvPr/>
        </p:nvSpPr>
        <p:spPr>
          <a:xfrm>
            <a:off x="1208405" y="2330450"/>
            <a:ext cx="7251065" cy="1091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6500"/>
              <a:t>ANY QUESTIONS?</a:t>
            </a:r>
            <a:endParaRPr lang="en-US" altLang="zh-CN" sz="6500">
              <a:ea typeface="Arial" panose="020B0604020202090204" pitchFamily="34" charset="0"/>
            </a:endParaRPr>
          </a:p>
        </p:txBody>
      </p:sp>
      <p:grpSp>
        <p:nvGrpSpPr>
          <p:cNvPr id="17412" name="Group 18"/>
          <p:cNvGrpSpPr/>
          <p:nvPr/>
        </p:nvGrpSpPr>
        <p:grpSpPr>
          <a:xfrm>
            <a:off x="254000" y="6030913"/>
            <a:ext cx="1685925" cy="758825"/>
            <a:chOff x="0" y="0"/>
            <a:chExt cx="1685395" cy="759011"/>
          </a:xfrm>
        </p:grpSpPr>
        <p:sp>
          <p:nvSpPr>
            <p:cNvPr id="17413" name="TextBox 16"/>
            <p:cNvSpPr txBox="1"/>
            <p:nvPr/>
          </p:nvSpPr>
          <p:spPr>
            <a:xfrm>
              <a:off x="0" y="0"/>
              <a:ext cx="1685395" cy="6309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3500" dirty="0">
                  <a:solidFill>
                    <a:srgbClr val="FFFFFF"/>
                  </a:solidFill>
                  <a:ea typeface="Calibri" panose="020F0502020204030204" pitchFamily="2" charset="0"/>
                </a:rPr>
                <a:t>WPS</a:t>
              </a:r>
              <a:endParaRPr lang="zh-CN" altLang="en-US" sz="3500" dirty="0">
                <a:solidFill>
                  <a:srgbClr val="FFFFFF"/>
                </a:solidFill>
                <a:ea typeface="Calibri" panose="020F0502020204030204" pitchFamily="2" charset="0"/>
              </a:endParaRPr>
            </a:p>
          </p:txBody>
        </p:sp>
        <p:sp>
          <p:nvSpPr>
            <p:cNvPr id="17414" name="TextBox 17"/>
            <p:cNvSpPr txBox="1"/>
            <p:nvPr/>
          </p:nvSpPr>
          <p:spPr>
            <a:xfrm>
              <a:off x="15463" y="512790"/>
              <a:ext cx="1435970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000">
                  <a:solidFill>
                    <a:srgbClr val="FFFFFF"/>
                  </a:solidFill>
                </a:rPr>
                <a:t>Company Slogan</a:t>
              </a:r>
              <a:endParaRPr lang="en-US" altLang="zh-CN" sz="1000" i="1">
                <a:solidFill>
                  <a:srgbClr val="FFFFFF"/>
                </a:solidFill>
                <a:ea typeface="Georgia" panose="02040502050405090303" pitchFamily="2" charset="0"/>
              </a:endParaRPr>
            </a:p>
          </p:txBody>
        </p:sp>
      </p:grpSp>
      <p:sp>
        <p:nvSpPr>
          <p:cNvPr id="17415" name="TextBox 23"/>
          <p:cNvSpPr txBox="1"/>
          <p:nvPr/>
        </p:nvSpPr>
        <p:spPr>
          <a:xfrm>
            <a:off x="7364413" y="6099175"/>
            <a:ext cx="768350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sp>
        <p:nvSpPr>
          <p:cNvPr id="17416" name="TextBox 24"/>
          <p:cNvSpPr txBox="1"/>
          <p:nvPr/>
        </p:nvSpPr>
        <p:spPr>
          <a:xfrm>
            <a:off x="7829550" y="6073775"/>
            <a:ext cx="654050" cy="669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 i="1">
                <a:solidFill>
                  <a:srgbClr val="FFFFFF"/>
                </a:solidFill>
              </a:rPr>
              <a:t>of</a:t>
            </a:r>
            <a:endParaRPr lang="en-US" altLang="zh-CN" sz="3800" i="1">
              <a:solidFill>
                <a:srgbClr val="FFFFFF"/>
              </a:solidFill>
              <a:ea typeface="Georgia" panose="02040502050405090303" pitchFamily="2" charset="0"/>
            </a:endParaRPr>
          </a:p>
        </p:txBody>
      </p:sp>
      <p:sp>
        <p:nvSpPr>
          <p:cNvPr id="17417" name="TextBox 25"/>
          <p:cNvSpPr txBox="1"/>
          <p:nvPr/>
        </p:nvSpPr>
        <p:spPr>
          <a:xfrm>
            <a:off x="8426450" y="6103938"/>
            <a:ext cx="688975" cy="67564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800">
                <a:solidFill>
                  <a:srgbClr val="FFFFFF"/>
                </a:solidFill>
                <a:ea typeface="Arial" panose="020B0604020202090204" pitchFamily="34" charset="0"/>
              </a:rPr>
              <a:t>7</a:t>
            </a:r>
            <a:endParaRPr lang="en-US" altLang="zh-CN" sz="3800">
              <a:solidFill>
                <a:srgbClr val="FFFFFF"/>
              </a:solidFill>
              <a:ea typeface="Arial" panose="020B0604020202090204" pitchFamily="34" charset="0"/>
            </a:endParaRPr>
          </a:p>
        </p:txBody>
      </p:sp>
      <p:grpSp>
        <p:nvGrpSpPr>
          <p:cNvPr id="17423" name="Group 27"/>
          <p:cNvGrpSpPr>
            <a:grpSpLocks noChangeAspect="1"/>
          </p:cNvGrpSpPr>
          <p:nvPr/>
        </p:nvGrpSpPr>
        <p:grpSpPr>
          <a:xfrm>
            <a:off x="0" y="5686425"/>
            <a:ext cx="9144000" cy="357188"/>
            <a:chOff x="0" y="0"/>
            <a:chExt cx="9143999" cy="357617"/>
          </a:xfrm>
        </p:grpSpPr>
        <p:pic>
          <p:nvPicPr>
            <p:cNvPr id="17424" name="Picture 28" descr="nav-back.png">
              <a:hlinkClick r:id="" action="ppaction://hlinkshowjump?jump=previous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64427" cy="3506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5" name="Picture 29" descr="nav-forward.png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358" y="9477"/>
              <a:ext cx="451641" cy="34814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/>
          <p:cNvSpPr txBox="1"/>
          <p:nvPr/>
        </p:nvSpPr>
        <p:spPr>
          <a:xfrm>
            <a:off x="0" y="2227263"/>
            <a:ext cx="9144000" cy="13096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8000"/>
              <a:t>THANKS FOR WATCHING</a:t>
            </a:r>
            <a:endParaRPr lang="en-US" altLang="zh-CN" sz="8000">
              <a:ea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theme/theme1.xml><?xml version="1.0" encoding="utf-8"?>
<a:theme xmlns:a="http://schemas.openxmlformats.org/drawingml/2006/main" name="Office Theme">
  <a:themeElements>
    <a:clrScheme name="">
      <a:dk1>
        <a:srgbClr val="1B1B1B"/>
      </a:dk1>
      <a:lt1>
        <a:srgbClr val="ED145B"/>
      </a:lt1>
      <a:dk2>
        <a:srgbClr val="6E6E6E"/>
      </a:dk2>
      <a:lt2>
        <a:srgbClr val="EEECE1"/>
      </a:lt2>
      <a:accent1>
        <a:srgbClr val="4F81BD"/>
      </a:accent1>
      <a:accent2>
        <a:srgbClr val="C0504D"/>
      </a:accent2>
      <a:accent3>
        <a:srgbClr val="F4AAB6"/>
      </a:accent3>
      <a:accent4>
        <a:srgbClr val="151515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1B1B1B"/>
        </a:dk1>
        <a:lt1>
          <a:srgbClr val="ED145B"/>
        </a:lt1>
        <a:dk2>
          <a:srgbClr val="6E6E6E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4AAB6"/>
        </a:accent3>
        <a:accent4>
          <a:srgbClr val="151515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WPS Writer</Application>
  <PresentationFormat>全屏显示(4:3)</PresentationFormat>
  <Paragraphs>66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MS PGothic</vt:lpstr>
      <vt:lpstr>Georgia</vt:lpstr>
      <vt:lpstr>Microsoft YaHei</vt:lpstr>
      <vt:lpstr>汉仪旗黑</vt:lpstr>
      <vt:lpstr>Arial Unicode MS</vt:lpstr>
      <vt:lpstr>SimSun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Silver Ink</dc:creator>
  <cp:lastModifiedBy>Muhammadsodiq Shukurillayev</cp:lastModifiedBy>
  <cp:revision>74</cp:revision>
  <dcterms:created xsi:type="dcterms:W3CDTF">2025-10-22T07:44:42Z</dcterms:created>
  <dcterms:modified xsi:type="dcterms:W3CDTF">2025-10-22T07:44:42Z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C164F5FA37870C8D7E24D668485C1FD4_41</vt:lpwstr>
  </property>
</Properties>
</file>