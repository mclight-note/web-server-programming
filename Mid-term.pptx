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3"/>
    <p:sldId id="263" r:id="rId4"/>
    <p:sldId id="291" r:id="rId5"/>
    <p:sldId id="301" r:id="rId6"/>
    <p:sldId id="302" r:id="rId7"/>
    <p:sldId id="303" r:id="rId8"/>
    <p:sldId id="304" r:id="rId9"/>
    <p:sldId id="305" r:id="rId10"/>
    <p:sldId id="306" r:id="rId11"/>
    <p:sldId id="307" r:id="rId12"/>
    <p:sldId id="308" r:id="rId13"/>
    <p:sldId id="309" r:id="rId14"/>
    <p:sldId id="311" r:id="rId15"/>
    <p:sldId id="310" r:id="rId16"/>
    <p:sldId id="285" r:id="rId17"/>
  </p:sldIdLst>
  <p:sldSz cx="12192000" cy="6858000"/>
  <p:notesSz cx="9144000" cy="6858000"/>
  <p:defaultTextStyle>
    <a:defPPr>
      <a:defRPr lang="zh-CN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napToGrid="0" showGuides="1">
      <p:cViewPr>
        <p:scale>
          <a:sx n="66" d="100"/>
          <a:sy n="66" d="100"/>
        </p:scale>
        <p:origin x="222" y="-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 showFormatting="0">
    <p:cViewPr>
      <p:scale>
        <a:sx n="100" d="100"/>
        <a:sy n="100" d="100"/>
      </p:scale>
      <p:origin x="0" y="-1106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handoutMaster" Target="handoutMasters/handoutMaster1.xml"/><Relationship Id="rId18" Type="http://schemas.openxmlformats.org/officeDocument/2006/relationships/notesMaster" Target="notesMasters/notesMaster1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600"/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600"/>
            </a:lvl1pPr>
          </a:lstStyle>
          <a:p>
            <a:pPr fontAlgn="base"/>
            <a:fld id="{0F9B84EA-7D68-4D60-9CB1-D50884785D1C}" type="datetimeFigureOut">
              <a:rPr lang="zh-CN" altLang="en-US" strike="noStrike" noProof="1" smtClean="0">
                <a:latin typeface="Calibri" panose="020F0502020204030204" pitchFamily="34" charset="0"/>
                <a:ea typeface="SimSun" pitchFamily="2" charset="-122"/>
                <a:cs typeface="+mn-cs"/>
              </a:rPr>
            </a:fld>
            <a:endParaRPr lang="zh-CN" altLang="en-US" strike="noStrike" noProof="1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600"/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179484" y="651391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600"/>
            </a:lvl1pPr>
          </a:lstStyle>
          <a:p>
            <a:pPr fontAlgn="base"/>
            <a:fld id="{8D4E0FC9-F1F8-4FAE-9988-3BA365CFD46F}" type="slidenum">
              <a:rPr lang="zh-CN" altLang="en-US" strike="noStrike" noProof="1" smtClean="0">
                <a:latin typeface="Calibri" panose="020F0502020204030204" pitchFamily="34" charset="0"/>
                <a:ea typeface="SimSun" pitchFamily="2" charset="-122"/>
                <a:cs typeface="+mn-cs"/>
              </a:rPr>
            </a:fld>
            <a:endParaRPr lang="zh-CN" alt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fontAlgn="base"/>
            <a:fld id="{D2A48B96-639E-45A3-A0BA-2464DFDB1FAA}" type="datetimeFigureOut">
              <a:rPr lang="zh-CN" altLang="en-US" strike="noStrike" noProof="1" smtClean="0">
                <a:latin typeface="Calibri" panose="020F0502020204030204" pitchFamily="34" charset="0"/>
                <a:ea typeface="SimSun" pitchFamily="2" charset="-122"/>
                <a:cs typeface="+mn-cs"/>
              </a:rPr>
            </a:fld>
            <a:endParaRPr lang="zh-CN" altLang="en-US" strike="noStrike" noProof="1"/>
          </a:p>
        </p:txBody>
      </p:sp>
      <p:sp>
        <p:nvSpPr>
          <p:cNvPr id="3076" name="幻灯片图像占位符 3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77" name="备注占位符 4"/>
          <p:cNvSpPr>
            <a:spLocks noGrp="1"/>
          </p:cNvSpPr>
          <p:nvPr>
            <p:ph type="body" sz="quarter"/>
          </p:nvPr>
        </p:nvSpPr>
        <p:spPr>
          <a:xfrm>
            <a:off x="914400" y="3300413"/>
            <a:ext cx="7315200" cy="2700338"/>
          </a:xfrm>
          <a:prstGeom prst="rect">
            <a:avLst/>
          </a:prstGeom>
          <a:noFill/>
          <a:ln w="9525">
            <a:noFill/>
          </a:ln>
        </p:spPr>
        <p:txBody>
          <a:bodyPr lIns="91440" tIns="45720" rIns="91440" bIns="45720" anchor="t"/>
          <a:p>
            <a:pPr lvl="0"/>
            <a:r>
              <a:rPr lang="zh-CN" altLang="en-US" dirty="0"/>
              <a:t>Click to edit Master text style</a:t>
            </a:r>
            <a:endParaRPr lang="zh-CN" altLang="en-US" dirty="0"/>
          </a:p>
          <a:p>
            <a:pPr lvl="1" indent="0"/>
            <a:r>
              <a:rPr lang="zh-CN" altLang="en-US" dirty="0"/>
              <a:t>Second level</a:t>
            </a:r>
            <a:endParaRPr lang="zh-CN" altLang="en-US" dirty="0"/>
          </a:p>
          <a:p>
            <a:pPr lvl="2" indent="0"/>
            <a:r>
              <a:rPr lang="zh-CN" altLang="en-US" dirty="0"/>
              <a:t>Third level</a:t>
            </a:r>
            <a:endParaRPr lang="zh-CN" altLang="en-US" dirty="0"/>
          </a:p>
          <a:p>
            <a:pPr lvl="3" indent="0"/>
            <a:r>
              <a:rPr lang="zh-CN" altLang="en-US" dirty="0"/>
              <a:t>Fourth level</a:t>
            </a:r>
            <a:endParaRPr lang="zh-CN" altLang="en-US" dirty="0"/>
          </a:p>
          <a:p>
            <a:pPr lvl="4" indent="0"/>
            <a:r>
              <a:rPr lang="zh-CN" altLang="en-US" dirty="0"/>
              <a:t>Fifth level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fontAlgn="base"/>
            <a:fld id="{A6837353-30EB-4A48-80EB-173D804AEFBD}" type="slidenum">
              <a:rPr lang="zh-CN" altLang="en-US" strike="noStrike" noProof="1" smtClean="0">
                <a:latin typeface="Calibri" panose="020F0502020204030204" pitchFamily="34" charset="0"/>
                <a:ea typeface="SimSun" pitchFamily="2" charset="-122"/>
                <a:cs typeface="+mn-cs"/>
              </a:rPr>
            </a:fld>
            <a:endParaRPr lang="zh-CN" alt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auto"/>
            <a:r>
              <a:rPr lang="zh-CN" altLang="en-US" strike="noStrike" noProof="1" smtClean="0"/>
              <a:t>Click to edit Master title style</a:t>
            </a:r>
            <a:endParaRPr lang="zh-CN" altLang="en-US" strike="noStrike" noProof="1" smtClean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auto"/>
            <a:r>
              <a:rPr lang="zh-CN" altLang="en-US" strike="noStrike" noProof="1" smtClean="0"/>
              <a:t>Click to edit Master title style</a:t>
            </a:r>
            <a:endParaRPr lang="zh-CN" altLang="en-US" strike="noStrike" noProof="1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BEF05245-1089-431C-9CB9-1C9E798A99A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1026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p>
            <a:pPr lvl="0"/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1027" name="文本占位符 2"/>
          <p:cNvSpPr>
            <a:spLocks noGrp="1"/>
          </p:cNvSpPr>
          <p:nvPr>
            <p:ph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9525">
            <a:noFill/>
          </a:ln>
        </p:spPr>
        <p:txBody>
          <a:bodyPr anchor="t"/>
          <a:p>
            <a:pPr lvl="0" indent="-228600"/>
            <a:r>
              <a:rPr lang="zh-CN" altLang="en-US" dirty="0"/>
              <a:t>Click to edit Master text style</a:t>
            </a:r>
            <a:endParaRPr lang="zh-CN" altLang="en-US" dirty="0"/>
          </a:p>
          <a:p>
            <a:pPr lvl="1" indent="-228600"/>
            <a:r>
              <a:rPr lang="zh-CN" altLang="en-US" dirty="0"/>
              <a:t>Second level</a:t>
            </a:r>
            <a:endParaRPr lang="zh-CN" altLang="en-US" dirty="0"/>
          </a:p>
          <a:p>
            <a:pPr lvl="2" indent="-228600"/>
            <a:r>
              <a:rPr lang="zh-CN" altLang="en-US" dirty="0"/>
              <a:t>Third level</a:t>
            </a:r>
            <a:endParaRPr lang="zh-CN" altLang="en-US" dirty="0"/>
          </a:p>
          <a:p>
            <a:pPr lvl="3" indent="-228600"/>
            <a:r>
              <a:rPr lang="zh-CN" altLang="en-US" dirty="0"/>
              <a:t>Fourth level</a:t>
            </a:r>
            <a:endParaRPr lang="zh-CN" altLang="en-US" dirty="0"/>
          </a:p>
          <a:p>
            <a:pPr lvl="4" indent="-228600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BEF05245-1089-431C-9CB9-1C9E798A99A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ransition spd="slow">
    <p:wipe/>
  </p:transition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097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-762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4098" name="组合 4"/>
          <p:cNvGrpSpPr/>
          <p:nvPr/>
        </p:nvGrpSpPr>
        <p:grpSpPr>
          <a:xfrm>
            <a:off x="2430780" y="989965"/>
            <a:ext cx="7280276" cy="4449445"/>
            <a:chOff x="2655655" y="744096"/>
            <a:chExt cx="6701164" cy="4093888"/>
          </a:xfrm>
        </p:grpSpPr>
        <p:grpSp>
          <p:nvGrpSpPr>
            <p:cNvPr id="4099" name="组合 5"/>
            <p:cNvGrpSpPr/>
            <p:nvPr/>
          </p:nvGrpSpPr>
          <p:grpSpPr>
            <a:xfrm>
              <a:off x="3590925" y="1980069"/>
              <a:ext cx="5010150" cy="679906"/>
              <a:chOff x="4324350" y="2295525"/>
              <a:chExt cx="3733800" cy="679906"/>
            </a:xfrm>
          </p:grpSpPr>
          <p:cxnSp>
            <p:nvCxnSpPr>
              <p:cNvPr id="15" name="直接连接符 14"/>
              <p:cNvCxnSpPr/>
              <p:nvPr/>
            </p:nvCxnSpPr>
            <p:spPr>
              <a:xfrm>
                <a:off x="4325257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接连接符 15"/>
              <p:cNvCxnSpPr/>
              <p:nvPr/>
            </p:nvCxnSpPr>
            <p:spPr>
              <a:xfrm>
                <a:off x="4324350" y="2295525"/>
                <a:ext cx="3600450" cy="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接连接符 16"/>
              <p:cNvCxnSpPr/>
              <p:nvPr/>
            </p:nvCxnSpPr>
            <p:spPr>
              <a:xfrm>
                <a:off x="7916182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接连接符 17"/>
              <p:cNvCxnSpPr/>
              <p:nvPr/>
            </p:nvCxnSpPr>
            <p:spPr>
              <a:xfrm flipV="1">
                <a:off x="7915275" y="2886075"/>
                <a:ext cx="142875" cy="8935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04" name="组合 6"/>
            <p:cNvGrpSpPr/>
            <p:nvPr/>
          </p:nvGrpSpPr>
          <p:grpSpPr>
            <a:xfrm flipH="1" flipV="1">
              <a:off x="3457574" y="3370824"/>
              <a:ext cx="4951785" cy="726031"/>
              <a:chOff x="4324350" y="2295525"/>
              <a:chExt cx="3733800" cy="679906"/>
            </a:xfrm>
          </p:grpSpPr>
          <p:cxnSp>
            <p:nvCxnSpPr>
              <p:cNvPr id="11" name="直接连接符 10"/>
              <p:cNvCxnSpPr/>
              <p:nvPr/>
            </p:nvCxnSpPr>
            <p:spPr>
              <a:xfrm>
                <a:off x="4325257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接连接符 11"/>
              <p:cNvCxnSpPr/>
              <p:nvPr/>
            </p:nvCxnSpPr>
            <p:spPr>
              <a:xfrm>
                <a:off x="4324350" y="2295525"/>
                <a:ext cx="3600450" cy="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接连接符 12"/>
              <p:cNvCxnSpPr/>
              <p:nvPr/>
            </p:nvCxnSpPr>
            <p:spPr>
              <a:xfrm>
                <a:off x="7916182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直接连接符 13"/>
              <p:cNvCxnSpPr/>
              <p:nvPr/>
            </p:nvCxnSpPr>
            <p:spPr>
              <a:xfrm flipV="1">
                <a:off x="7915275" y="2886075"/>
                <a:ext cx="142875" cy="8935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10" name="文本框 8"/>
            <p:cNvSpPr txBox="1"/>
            <p:nvPr/>
          </p:nvSpPr>
          <p:spPr>
            <a:xfrm>
              <a:off x="2655655" y="4414398"/>
              <a:ext cx="6701164" cy="4235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 algn="ctr" defTabSz="914400"/>
              <a:endParaRPr lang="en-US" sz="2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endParaRPr>
            </a:p>
          </p:txBody>
        </p:sp>
        <p:sp>
          <p:nvSpPr>
            <p:cNvPr id="4111" name="文本框 9"/>
            <p:cNvSpPr txBox="1"/>
            <p:nvPr/>
          </p:nvSpPr>
          <p:spPr>
            <a:xfrm>
              <a:off x="4495261" y="744096"/>
              <a:ext cx="3316567" cy="763624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 algn="ctr" defTabSz="914400"/>
              <a:r>
                <a:rPr lang="en-US" altLang="zh-CN" sz="2400" dirty="0">
                  <a:solidFill>
                    <a:srgbClr val="404040"/>
                  </a:solidFill>
                  <a:ea typeface="Calibri" panose="020F0502020204030204" pitchFamily="34" charset="0"/>
                  <a:sym typeface="Arial" panose="020B0604020202090204" pitchFamily="34" charset="0"/>
                </a:rPr>
                <a:t>Web Server Programming</a:t>
              </a:r>
              <a:endParaRPr lang="en-US" altLang="zh-CN" sz="2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endParaRPr>
            </a:p>
          </p:txBody>
        </p:sp>
      </p:grpSp>
      <p:sp>
        <p:nvSpPr>
          <p:cNvPr id="3" name="Rectangles 2"/>
          <p:cNvSpPr/>
          <p:nvPr/>
        </p:nvSpPr>
        <p:spPr>
          <a:xfrm>
            <a:off x="3625850" y="2513965"/>
            <a:ext cx="4852670" cy="1986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GB" sz="4400" dirty="0">
                <a:solidFill>
                  <a:schemeClr val="tx1"/>
                </a:solidFill>
                <a:sym typeface="+mn-ea"/>
              </a:rPr>
              <a:t>Mid-Term</a:t>
            </a:r>
            <a:endParaRPr lang="en-US" altLang="en-GB" sz="4400" dirty="0">
              <a:solidFill>
                <a:schemeClr val="tx1"/>
              </a:solidFill>
              <a:sym typeface="+mn-ea"/>
            </a:endParaRPr>
          </a:p>
        </p:txBody>
      </p:sp>
      <p:sp>
        <p:nvSpPr>
          <p:cNvPr id="2" name="文本框 9"/>
          <p:cNvSpPr txBox="1"/>
          <p:nvPr/>
        </p:nvSpPr>
        <p:spPr>
          <a:xfrm>
            <a:off x="467995" y="5784215"/>
            <a:ext cx="11544935" cy="46037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 algn="ctr" defTabSz="914400"/>
            <a:r>
              <a:rPr lang="en-US" altLang="zh-CN" sz="2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Student: Shukirillaev Mukhammadsodik			ID:202438379</a:t>
            </a:r>
            <a:endParaRPr lang="en-US" altLang="zh-CN" sz="2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3450590" y="329565"/>
            <a:ext cx="4799330" cy="94678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>
              <a:buFont typeface="Arial" panose="020B0604020202090204" pitchFamily="34" charset="0"/>
            </a:pPr>
            <a:endParaRPr lang="en-US" altLang="en-US" sz="32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55905" y="329565"/>
            <a:ext cx="11500485" cy="61321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文本框 28"/>
          <p:cNvSpPr txBox="1"/>
          <p:nvPr/>
        </p:nvSpPr>
        <p:spPr>
          <a:xfrm>
            <a:off x="956310" y="1156335"/>
            <a:ext cx="362585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Question 1: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3" name="文本框 28"/>
          <p:cNvSpPr txBox="1"/>
          <p:nvPr/>
        </p:nvSpPr>
        <p:spPr>
          <a:xfrm>
            <a:off x="1489075" y="2251710"/>
            <a:ext cx="8722360" cy="183070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 indent="457200"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What are the main components of a RESTful architecture? Explain the 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principles of REST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1452880" y="212090"/>
            <a:ext cx="2790825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Answer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28675" y="1135380"/>
            <a:ext cx="10515600" cy="52470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255" name="矩形 8"/>
          <p:cNvSpPr/>
          <p:nvPr/>
        </p:nvSpPr>
        <p:spPr>
          <a:xfrm>
            <a:off x="1082675" y="1437005"/>
            <a:ext cx="9545955" cy="485457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An architectural style for designing networked APIs, not a strict standard. APIs that follow it are "RESTful.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1. Client-Server: Separation of concerns. Client handles UI, server handles data/logic. They evolve independently.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2. Stateless: Every request must contain all info needed to process it. No client session stored on the server.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3. Cacheable: Server responses must say if they can be cached. Improves performance and scalability.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4. Uniform Interface (The Key Principle):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Resources in URIs: Everything is a resource (e.g., /users/123).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HTTP Verbs: Use GET (read), POST (create), PUT (update), DELETE.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Self-Descriptive Messages: Use HTTP status codes (200 OK, 404 Not Found) and headers.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Responses include links to related actions (e.g., “next_page” URL).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5. Layered System: Architecture can have layers (like load balancers, security). Client doesn't need to know.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</p:spTree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3450590" y="329565"/>
            <a:ext cx="4799330" cy="94678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>
              <a:buFont typeface="Arial" panose="020B0604020202090204" pitchFamily="34" charset="0"/>
            </a:pPr>
            <a:endParaRPr lang="en-US" altLang="en-US" sz="32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55905" y="329565"/>
            <a:ext cx="11500485" cy="61321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文本框 28"/>
          <p:cNvSpPr txBox="1"/>
          <p:nvPr/>
        </p:nvSpPr>
        <p:spPr>
          <a:xfrm>
            <a:off x="956310" y="1156335"/>
            <a:ext cx="362585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Question 2: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3" name="文本框 28"/>
          <p:cNvSpPr txBox="1"/>
          <p:nvPr/>
        </p:nvSpPr>
        <p:spPr>
          <a:xfrm>
            <a:off x="1489075" y="2251710"/>
            <a:ext cx="8722360" cy="183070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 indent="457200"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Explain the concept of statelessness in HTTP and why it is important in web applications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</p:spTree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1452880" y="212090"/>
            <a:ext cx="2790825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Answer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28675" y="1135380"/>
            <a:ext cx="10515600" cy="52470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255" name="矩形 8"/>
          <p:cNvSpPr/>
          <p:nvPr/>
        </p:nvSpPr>
        <p:spPr>
          <a:xfrm>
            <a:off x="1082675" y="1247140"/>
            <a:ext cx="9545955" cy="513524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Each HTTP request is independent and self-contained. Server doesn't remember anything between requests. Every request must include all necessary information (auth, data, etc.), which are authentication and data management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1. Scalability: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Easy to add more servers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Any server can handle any request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2. Reliability: 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No single point of failure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If one server crashes, others can continue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3. Simplicity: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Servers don't manage session storage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Clean, predictable architecture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(Example) handling “state” (like login):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Tokens (JWT) in headers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Cookies with session IDs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Client-side storage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3450590" y="329565"/>
            <a:ext cx="4799330" cy="94678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>
              <a:buFont typeface="Arial" panose="020B0604020202090204" pitchFamily="34" charset="0"/>
            </a:pPr>
            <a:endParaRPr lang="en-US" altLang="en-US" sz="32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55905" y="329565"/>
            <a:ext cx="11500485" cy="61321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文本框 28"/>
          <p:cNvSpPr txBox="1"/>
          <p:nvPr/>
        </p:nvSpPr>
        <p:spPr>
          <a:xfrm>
            <a:off x="956310" y="1156335"/>
            <a:ext cx="362585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Question 3: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3" name="文本框 28"/>
          <p:cNvSpPr txBox="1"/>
          <p:nvPr/>
        </p:nvSpPr>
        <p:spPr>
          <a:xfrm>
            <a:off x="1489075" y="2251710"/>
            <a:ext cx="8722360" cy="282384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 indent="457200"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Write a Spring Boot controller that accepts a POST request at /register with a JSON body containing name and email, and returns a confirmation message.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758190" y="5941695"/>
            <a:ext cx="1026604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20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https://github.com/McLight-Note/Web-Server-Programming/tree/main/Mid-term</a:t>
            </a:r>
            <a:endParaRPr lang="en-US" altLang="en-US" sz="20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0" y="0"/>
            <a:ext cx="170180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Code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pic>
        <p:nvPicPr>
          <p:cNvPr id="2" name="Picture 1" descr="Screenshot 2025-10-24 at 1.40.42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75" y="5276215"/>
            <a:ext cx="9055735" cy="1294765"/>
          </a:xfrm>
          <a:prstGeom prst="rect">
            <a:avLst/>
          </a:prstGeom>
        </p:spPr>
      </p:pic>
      <p:pic>
        <p:nvPicPr>
          <p:cNvPr id="3" name="Picture 2" descr="Screenshot 2025-10-24 at 1.42.15 P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" y="645160"/>
            <a:ext cx="5257800" cy="2957195"/>
          </a:xfrm>
          <a:prstGeom prst="rect">
            <a:avLst/>
          </a:prstGeom>
        </p:spPr>
      </p:pic>
      <p:pic>
        <p:nvPicPr>
          <p:cNvPr id="4" name="Picture 3" descr="Screenshot 2025-10-24 at 1.42.52 P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9275" y="645160"/>
            <a:ext cx="4203700" cy="2159000"/>
          </a:xfrm>
          <a:prstGeom prst="rect">
            <a:avLst/>
          </a:prstGeom>
        </p:spPr>
      </p:pic>
      <p:sp>
        <p:nvSpPr>
          <p:cNvPr id="5" name="矩形 8"/>
          <p:cNvSpPr/>
          <p:nvPr/>
        </p:nvSpPr>
        <p:spPr>
          <a:xfrm>
            <a:off x="1543050" y="290830"/>
            <a:ext cx="2912110" cy="35433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Main controller code: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  <p:sp>
        <p:nvSpPr>
          <p:cNvPr id="6" name="矩形 8"/>
          <p:cNvSpPr/>
          <p:nvPr/>
        </p:nvSpPr>
        <p:spPr>
          <a:xfrm>
            <a:off x="5979795" y="290830"/>
            <a:ext cx="3686175" cy="35433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Request DTO (Input validation)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  <p:pic>
        <p:nvPicPr>
          <p:cNvPr id="7" name="Picture 6" descr="Screenshot 2025-10-24 at 1.44.39 PM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550" y="3429000"/>
            <a:ext cx="4203065" cy="1741170"/>
          </a:xfrm>
          <a:prstGeom prst="rect">
            <a:avLst/>
          </a:prstGeom>
        </p:spPr>
      </p:pic>
      <p:pic>
        <p:nvPicPr>
          <p:cNvPr id="10" name="Picture 9" descr="Screenshot 2025-10-24 at 1.45.32 PM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4730" y="2633980"/>
            <a:ext cx="4053205" cy="2642235"/>
          </a:xfrm>
          <a:prstGeom prst="rect">
            <a:avLst/>
          </a:prstGeom>
        </p:spPr>
      </p:pic>
      <p:sp>
        <p:nvSpPr>
          <p:cNvPr id="11" name="矩形 8"/>
          <p:cNvSpPr/>
          <p:nvPr/>
        </p:nvSpPr>
        <p:spPr>
          <a:xfrm>
            <a:off x="109220" y="6600190"/>
            <a:ext cx="11511280" cy="35433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Here are all the codes for this application: https://github.com/McLight-Note/Web-Server-Programming/tree/main/Mid-term</a:t>
            </a:r>
            <a:endParaRPr lang="en-US" altLang="en-US" sz="1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3450590" y="329565"/>
            <a:ext cx="4799330" cy="94678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>
              <a:buFont typeface="Arial" panose="020B0604020202090204" pitchFamily="34" charset="0"/>
            </a:pPr>
            <a:endParaRPr lang="en-US" altLang="en-US" sz="32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55905" y="329565"/>
            <a:ext cx="11500485" cy="61321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文本框 28"/>
          <p:cNvSpPr txBox="1"/>
          <p:nvPr/>
        </p:nvSpPr>
        <p:spPr>
          <a:xfrm>
            <a:off x="956310" y="1156335"/>
            <a:ext cx="362585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Question 4: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3" name="文本框 28"/>
          <p:cNvSpPr txBox="1"/>
          <p:nvPr/>
        </p:nvSpPr>
        <p:spPr>
          <a:xfrm>
            <a:off x="1489075" y="2251710"/>
            <a:ext cx="8722360" cy="282384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 indent="457200"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Create a simple HTML form to register a new user (fields: name, email) that sends the data to /register using fetch () and JSON.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3048000" y="525462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/>
              <a:t>https://github.com/McLight-Note/Web-Server-Programming/blob/main/Mid-term/Task-2.html</a:t>
            </a:r>
            <a:endParaRPr lang="en-US"/>
          </a:p>
        </p:txBody>
      </p:sp>
    </p:spTree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0" y="0"/>
            <a:ext cx="1105916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Code samples: Please Check the git.rep as well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1" name="矩形 8"/>
          <p:cNvSpPr/>
          <p:nvPr/>
        </p:nvSpPr>
        <p:spPr>
          <a:xfrm>
            <a:off x="109220" y="6600190"/>
            <a:ext cx="11511280" cy="35433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Here are all the codes for this application: </a:t>
            </a:r>
            <a:r>
              <a:rPr lang="en-US" altLang="en-US" sz="1400">
                <a:sym typeface="+mn-ea"/>
              </a:rPr>
              <a:t>https://github.com/McLight-Note/Web-Server-Programming/blob/main/Mid-term/Task-2.html</a:t>
            </a:r>
            <a:endParaRPr lang="en-US" altLang="en-US" sz="1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  <p:pic>
        <p:nvPicPr>
          <p:cNvPr id="8" name="Picture 7" descr="Screenshot 2025-10-24 at 1.53.22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35" y="676275"/>
            <a:ext cx="5961380" cy="4458335"/>
          </a:xfrm>
          <a:prstGeom prst="rect">
            <a:avLst/>
          </a:prstGeom>
        </p:spPr>
      </p:pic>
      <p:pic>
        <p:nvPicPr>
          <p:cNvPr id="9" name="Picture 8" descr="Screenshot 2025-10-24 at 1.53.40 P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515" y="676275"/>
            <a:ext cx="5591175" cy="4690745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0" y="0"/>
            <a:ext cx="170180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Result: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1" name="矩形 8"/>
          <p:cNvSpPr/>
          <p:nvPr/>
        </p:nvSpPr>
        <p:spPr>
          <a:xfrm>
            <a:off x="109220" y="6600190"/>
            <a:ext cx="11511280" cy="35433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Here are all the codes for this application: </a:t>
            </a:r>
            <a:r>
              <a:rPr lang="en-US" altLang="en-US" sz="1400">
                <a:sym typeface="+mn-ea"/>
              </a:rPr>
              <a:t>https://github.com/McLight-Note/Web-Server-Programming/blob/main/Mid-term/Task-2.html</a:t>
            </a:r>
            <a:endParaRPr lang="en-US" altLang="en-US" sz="1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  <p:pic>
        <p:nvPicPr>
          <p:cNvPr id="2" name="Picture 1" descr="Screenshot 2025-10-24 at 1.54.43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680" y="645160"/>
            <a:ext cx="7163435" cy="3691890"/>
          </a:xfrm>
          <a:prstGeom prst="rect">
            <a:avLst/>
          </a:prstGeom>
        </p:spPr>
      </p:pic>
      <p:pic>
        <p:nvPicPr>
          <p:cNvPr id="3" name="Picture 2" descr="Screenshot 2025-10-24 at 1.54.57 P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8950" y="2936240"/>
            <a:ext cx="4518025" cy="277495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3450590" y="329565"/>
            <a:ext cx="4799330" cy="94678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>
              <a:buFont typeface="Arial" panose="020B0604020202090204" pitchFamily="34" charset="0"/>
            </a:pPr>
            <a:endParaRPr lang="en-US" altLang="en-US" sz="32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55905" y="329565"/>
            <a:ext cx="11500485" cy="61321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文本框 28"/>
          <p:cNvSpPr txBox="1"/>
          <p:nvPr/>
        </p:nvSpPr>
        <p:spPr>
          <a:xfrm>
            <a:off x="956310" y="1156335"/>
            <a:ext cx="362585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Question 5: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3" name="文本框 28"/>
          <p:cNvSpPr txBox="1"/>
          <p:nvPr/>
        </p:nvSpPr>
        <p:spPr>
          <a:xfrm>
            <a:off x="1489075" y="2251710"/>
            <a:ext cx="8722360" cy="282384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 indent="457200"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Implement server-side validation: return error message if email is missing or invalid.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3048000" y="525462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/>
              <a:t>https://github.com/McLight-Note/Web-Server-Programming/blob/main/Mid-term/Task-3.html</a:t>
            </a:r>
            <a:endParaRPr lang="en-US"/>
          </a:p>
        </p:txBody>
      </p:sp>
    </p:spTree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0" y="0"/>
            <a:ext cx="396621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Code samples: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1" name="矩形 8"/>
          <p:cNvSpPr/>
          <p:nvPr/>
        </p:nvSpPr>
        <p:spPr>
          <a:xfrm>
            <a:off x="109220" y="6600190"/>
            <a:ext cx="11511280" cy="35433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Here are all the codes for this application: </a:t>
            </a:r>
            <a:r>
              <a:rPr lang="en-US" altLang="en-US" sz="1400">
                <a:sym typeface="+mn-ea"/>
              </a:rPr>
              <a:t>https://github.com/McLight-Note/Web-Server-Programming/blob/main/Mid-term/Task-3.html</a:t>
            </a:r>
            <a:endParaRPr lang="en-US" altLang="en-US" sz="1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  <p:pic>
        <p:nvPicPr>
          <p:cNvPr id="4" name="Picture 3" descr="Screenshot 2025-10-24 at 1.57.16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0" y="645160"/>
            <a:ext cx="6530340" cy="5485130"/>
          </a:xfrm>
          <a:prstGeom prst="rect">
            <a:avLst/>
          </a:prstGeom>
        </p:spPr>
      </p:pic>
      <p:pic>
        <p:nvPicPr>
          <p:cNvPr id="3" name="Picture 2" descr="Screenshot 2025-10-24 at 2.01.10 P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0265" y="2114550"/>
            <a:ext cx="5970905" cy="2181225"/>
          </a:xfrm>
          <a:prstGeom prst="rect">
            <a:avLst/>
          </a:prstGeom>
        </p:spPr>
      </p:pic>
      <p:sp>
        <p:nvSpPr>
          <p:cNvPr id="5" name="矩形 8"/>
          <p:cNvSpPr/>
          <p:nvPr/>
        </p:nvSpPr>
        <p:spPr>
          <a:xfrm>
            <a:off x="6757670" y="4645025"/>
            <a:ext cx="5093970" cy="115316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we have to import:</a:t>
            </a:r>
            <a:br>
              <a:rPr lang="en-US" altLang="en-US" sz="1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</a:br>
            <a:r>
              <a:rPr lang="en-US" altLang="en-US" sz="1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	org.springframework.web.bind.MethodArgumentNotValidException</a:t>
            </a:r>
            <a:br>
              <a:rPr lang="en-US" altLang="en-US" sz="1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</a:br>
            <a:r>
              <a:rPr lang="en-US" altLang="en-US" sz="1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	this one as well in order to handle the not valid arguments!</a:t>
            </a:r>
            <a:endParaRPr lang="en-US" altLang="en-US" sz="1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  <p:sp>
        <p:nvSpPr>
          <p:cNvPr id="6" name="Rectangles 5"/>
          <p:cNvSpPr/>
          <p:nvPr/>
        </p:nvSpPr>
        <p:spPr>
          <a:xfrm>
            <a:off x="6295390" y="3409950"/>
            <a:ext cx="5133340" cy="278765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0" y="0"/>
            <a:ext cx="396621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Code samples: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1" name="矩形 8"/>
          <p:cNvSpPr/>
          <p:nvPr/>
        </p:nvSpPr>
        <p:spPr>
          <a:xfrm>
            <a:off x="109220" y="6600190"/>
            <a:ext cx="11511280" cy="35433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Here are all the codes for this application: </a:t>
            </a:r>
            <a:r>
              <a:rPr lang="en-US" altLang="en-US" sz="1400">
                <a:sym typeface="+mn-ea"/>
              </a:rPr>
              <a:t>https://github.com/McLight-Note/Web-Server-Programming/blob/main/Mid-term/Task-3.html</a:t>
            </a:r>
            <a:endParaRPr lang="en-US" altLang="en-US" sz="1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  <p:pic>
        <p:nvPicPr>
          <p:cNvPr id="2" name="Picture 1" descr="Screenshot 2025-10-24 at 1.58.14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0830" y="985520"/>
            <a:ext cx="9262110" cy="515874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0" y="0"/>
            <a:ext cx="170180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Result: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1" name="矩形 8"/>
          <p:cNvSpPr/>
          <p:nvPr/>
        </p:nvSpPr>
        <p:spPr>
          <a:xfrm>
            <a:off x="109220" y="6600190"/>
            <a:ext cx="11511280" cy="35433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Here are all the codes for this application: </a:t>
            </a:r>
            <a:r>
              <a:rPr lang="en-US" altLang="en-US" sz="1400">
                <a:sym typeface="+mn-ea"/>
              </a:rPr>
              <a:t>https://github.com/McLight-Note/Web-Server-Programming/blob/main/Mid-term/Task-3.html</a:t>
            </a:r>
            <a:endParaRPr lang="en-US" altLang="en-US" sz="1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  <p:pic>
        <p:nvPicPr>
          <p:cNvPr id="5" name="Picture 4" descr="Screenshot 2025-10-24 at 1.59.58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920" y="877570"/>
            <a:ext cx="5700395" cy="349186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6" name="Picture 5" descr="Screenshot 2025-10-24 at 2.03.38 P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095" y="1758950"/>
            <a:ext cx="6953885" cy="452564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9697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635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29698" name="组合 4"/>
          <p:cNvGrpSpPr/>
          <p:nvPr/>
        </p:nvGrpSpPr>
        <p:grpSpPr>
          <a:xfrm>
            <a:off x="2434173" y="1840865"/>
            <a:ext cx="7693442" cy="3779927"/>
            <a:chOff x="3457574" y="1980015"/>
            <a:chExt cx="5143501" cy="2116840"/>
          </a:xfrm>
        </p:grpSpPr>
        <p:grpSp>
          <p:nvGrpSpPr>
            <p:cNvPr id="29699" name="组合 5"/>
            <p:cNvGrpSpPr/>
            <p:nvPr/>
          </p:nvGrpSpPr>
          <p:grpSpPr>
            <a:xfrm>
              <a:off x="3590925" y="1980069"/>
              <a:ext cx="5010150" cy="679906"/>
              <a:chOff x="4324350" y="2295525"/>
              <a:chExt cx="3733800" cy="679906"/>
            </a:xfrm>
          </p:grpSpPr>
          <p:cxnSp>
            <p:nvCxnSpPr>
              <p:cNvPr id="15" name="直接连接符 14"/>
              <p:cNvCxnSpPr/>
              <p:nvPr/>
            </p:nvCxnSpPr>
            <p:spPr>
              <a:xfrm>
                <a:off x="4325257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接连接符 15"/>
              <p:cNvCxnSpPr/>
              <p:nvPr/>
            </p:nvCxnSpPr>
            <p:spPr>
              <a:xfrm>
                <a:off x="4324350" y="2295525"/>
                <a:ext cx="3600450" cy="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接连接符 16"/>
              <p:cNvCxnSpPr/>
              <p:nvPr/>
            </p:nvCxnSpPr>
            <p:spPr>
              <a:xfrm>
                <a:off x="7916182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接连接符 17"/>
              <p:cNvCxnSpPr/>
              <p:nvPr/>
            </p:nvCxnSpPr>
            <p:spPr>
              <a:xfrm flipV="1">
                <a:off x="7915275" y="2886075"/>
                <a:ext cx="142875" cy="8935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704" name="组合 6"/>
            <p:cNvGrpSpPr/>
            <p:nvPr/>
          </p:nvGrpSpPr>
          <p:grpSpPr>
            <a:xfrm flipH="1" flipV="1">
              <a:off x="3457574" y="3370824"/>
              <a:ext cx="4951785" cy="726031"/>
              <a:chOff x="4324350" y="2295525"/>
              <a:chExt cx="3733800" cy="679906"/>
            </a:xfrm>
          </p:grpSpPr>
          <p:cxnSp>
            <p:nvCxnSpPr>
              <p:cNvPr id="11" name="直接连接符 10"/>
              <p:cNvCxnSpPr/>
              <p:nvPr/>
            </p:nvCxnSpPr>
            <p:spPr>
              <a:xfrm>
                <a:off x="4325257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接连接符 11"/>
              <p:cNvCxnSpPr/>
              <p:nvPr/>
            </p:nvCxnSpPr>
            <p:spPr>
              <a:xfrm>
                <a:off x="4324350" y="2295525"/>
                <a:ext cx="3600450" cy="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接连接符 12"/>
              <p:cNvCxnSpPr/>
              <p:nvPr/>
            </p:nvCxnSpPr>
            <p:spPr>
              <a:xfrm>
                <a:off x="7916182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直接连接符 13"/>
              <p:cNvCxnSpPr/>
              <p:nvPr/>
            </p:nvCxnSpPr>
            <p:spPr>
              <a:xfrm flipV="1">
                <a:off x="7915275" y="2886075"/>
                <a:ext cx="142875" cy="8935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709" name="文本框 7"/>
            <p:cNvSpPr txBox="1"/>
            <p:nvPr/>
          </p:nvSpPr>
          <p:spPr>
            <a:xfrm>
              <a:off x="3753328" y="1980015"/>
              <a:ext cx="4495699" cy="203339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 algn="ctr" defTabSz="914400"/>
              <a:r>
                <a:rPr lang="en-US" altLang="zh-CN" sz="11500" i="1" dirty="0">
                  <a:solidFill>
                    <a:srgbClr val="404040"/>
                  </a:solidFill>
                  <a:ea typeface="Calibri" panose="020F0502020204030204" pitchFamily="34" charset="0"/>
                </a:rPr>
                <a:t>THANK YOU!</a:t>
              </a:r>
              <a:endParaRPr lang="en-US" altLang="zh-CN" sz="11500" i="1" dirty="0">
                <a:solidFill>
                  <a:srgbClr val="404040"/>
                </a:solidFill>
                <a:ea typeface="Calibri" panose="020F0502020204030204" pitchFamily="34" charset="0"/>
              </a:endParaRPr>
            </a:p>
          </p:txBody>
        </p:sp>
      </p:grp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3444</Words>
  <Application>WPS Presentation</Application>
  <PresentationFormat>宽屏</PresentationFormat>
  <Paragraphs>98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7" baseType="lpstr">
      <vt:lpstr>Arial</vt:lpstr>
      <vt:lpstr>SimSun</vt:lpstr>
      <vt:lpstr>Wingdings</vt:lpstr>
      <vt:lpstr>Calibri</vt:lpstr>
      <vt:lpstr>Helvetica Neue</vt:lpstr>
      <vt:lpstr>宋体-简</vt:lpstr>
      <vt:lpstr>Microsoft YaHei</vt:lpstr>
      <vt:lpstr>汉仪旗黑</vt:lpstr>
      <vt:lpstr>Arial Unicode MS</vt:lpstr>
      <vt:lpstr>Calibri Light</vt:lpstr>
      <vt:lpstr>SimSun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ZhuLong</dc:creator>
  <cp:lastModifiedBy>mclight</cp:lastModifiedBy>
  <cp:revision>38</cp:revision>
  <dcterms:created xsi:type="dcterms:W3CDTF">2025-10-24T05:05:47Z</dcterms:created>
  <dcterms:modified xsi:type="dcterms:W3CDTF">2025-10-24T05:05:47Z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1033-12.1.23143.23143</vt:lpwstr>
  </property>
  <property fmtid="{D5CDD505-2E9C-101B-9397-08002B2CF9AE}" pid="3" name="ICV">
    <vt:lpwstr>FA7876DA7827B79423FDFA68EB89D22A_43</vt:lpwstr>
  </property>
</Properties>
</file>