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handoutMasterIdLst>
    <p:handoutMasterId r:id="rId21"/>
  </p:handoutMasterIdLst>
  <p:sldIdLst>
    <p:sldId id="256" r:id="rId3"/>
    <p:sldId id="263" r:id="rId4"/>
    <p:sldId id="291" r:id="rId5"/>
    <p:sldId id="301" r:id="rId6"/>
    <p:sldId id="302" r:id="rId7"/>
    <p:sldId id="303" r:id="rId8"/>
    <p:sldId id="304" r:id="rId9"/>
    <p:sldId id="292" r:id="rId10"/>
    <p:sldId id="293" r:id="rId11"/>
    <p:sldId id="294" r:id="rId12"/>
    <p:sldId id="300" r:id="rId13"/>
    <p:sldId id="296" r:id="rId14"/>
    <p:sldId id="295" r:id="rId15"/>
    <p:sldId id="297" r:id="rId16"/>
    <p:sldId id="299" r:id="rId17"/>
    <p:sldId id="298" r:id="rId18"/>
    <p:sldId id="285" r:id="rId19"/>
  </p:sldIdLst>
  <p:sldSz cx="12192000" cy="6858000"/>
  <p:notesSz cx="9144000" cy="6858000"/>
  <p:defaultTextStyle>
    <a:defPPr>
      <a:defRPr lang="zh-CN"/>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SimSun"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p:scale>
          <a:sx n="66" d="100"/>
          <a:sy n="66" d="100"/>
        </p:scale>
        <p:origin x="222" y="-6"/>
      </p:cViewPr>
      <p:guideLst>
        <p:guide orient="horz" pos="2160"/>
        <p:guide pos="3840"/>
      </p:guideLst>
    </p:cSldViewPr>
  </p:slideViewPr>
  <p:notesTextViewPr>
    <p:cViewPr>
      <p:scale>
        <a:sx n="1" d="1"/>
        <a:sy n="1" d="1"/>
      </p:scale>
      <p:origin x="0" y="0"/>
    </p:cViewPr>
  </p:notesTextViewPr>
  <p:sorterViewPr showFormatting="0">
    <p:cViewPr>
      <p:scale>
        <a:sx n="100" d="100"/>
        <a:sy n="100" d="100"/>
      </p:scale>
      <p:origin x="0" y="-1106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pPr fontAlgn="base"/>
            <a:endParaRPr lang="zh-CN" altLang="en-US" strike="noStrike" noProof="1"/>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pPr fontAlgn="base"/>
            <a:fld id="{0F9B84EA-7D68-4D60-9CB1-D50884785D1C}" type="datetimeFigureOut">
              <a:rPr lang="zh-CN" altLang="en-US" strike="noStrike" noProof="1" smtClean="0">
                <a:latin typeface="Calibri" panose="020F0502020204030204" pitchFamily="34" charset="0"/>
                <a:ea typeface="SimSun" pitchFamily="2" charset="-122"/>
                <a:cs typeface="+mn-cs"/>
              </a:rPr>
            </a:fld>
            <a:endParaRPr lang="zh-CN" altLang="en-US" strike="noStrike" noProof="1"/>
          </a:p>
        </p:txBody>
      </p:sp>
      <p:sp>
        <p:nvSpPr>
          <p:cNvPr id="4" name="页脚占位符 3"/>
          <p:cNvSpPr>
            <a:spLocks noGrp="1"/>
          </p:cNvSpPr>
          <p:nvPr>
            <p:ph type="ftr" sz="quarter" idx="2"/>
          </p:nvPr>
        </p:nvSpPr>
        <p:spPr>
          <a:xfrm>
            <a:off x="0" y="6513910"/>
            <a:ext cx="3962400" cy="344091"/>
          </a:xfrm>
          <a:prstGeom prst="rect">
            <a:avLst/>
          </a:prstGeom>
        </p:spPr>
        <p:txBody>
          <a:bodyPr vert="horz" lIns="91440" tIns="45720" rIns="91440" bIns="45720" rtlCol="0" anchor="b"/>
          <a:lstStyle>
            <a:lvl1pPr algn="l">
              <a:defRPr sz="1600"/>
            </a:lvl1pPr>
          </a:lstStyle>
          <a:p>
            <a:pPr fontAlgn="base"/>
            <a:endParaRPr lang="zh-CN" altLang="en-US" strike="noStrike" noProof="1"/>
          </a:p>
        </p:txBody>
      </p:sp>
      <p:sp>
        <p:nvSpPr>
          <p:cNvPr id="5" name="灯片编号占位符 4"/>
          <p:cNvSpPr>
            <a:spLocks noGrp="1"/>
          </p:cNvSpPr>
          <p:nvPr>
            <p:ph type="sldNum" sz="quarter" idx="3"/>
          </p:nvPr>
        </p:nvSpPr>
        <p:spPr>
          <a:xfrm>
            <a:off x="5179484" y="6513910"/>
            <a:ext cx="3962400" cy="344091"/>
          </a:xfrm>
          <a:prstGeom prst="rect">
            <a:avLst/>
          </a:prstGeom>
        </p:spPr>
        <p:txBody>
          <a:bodyPr vert="horz" lIns="91440" tIns="45720" rIns="91440" bIns="45720" rtlCol="0" anchor="b"/>
          <a:lstStyle>
            <a:lvl1pPr algn="r">
              <a:defRPr sz="1600"/>
            </a:lvl1pPr>
          </a:lstStyle>
          <a:p>
            <a:pPr fontAlgn="base"/>
            <a:fld id="{8D4E0FC9-F1F8-4FAE-9988-3BA365CFD46F}" type="slidenum">
              <a:rPr lang="zh-CN" altLang="en-US" strike="noStrike" noProof="1" smtClean="0">
                <a:latin typeface="Calibri" panose="020F0502020204030204"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SimSun" pitchFamily="2" charset="-122"/>
                <a:cs typeface="+mn-cs"/>
              </a:rPr>
            </a:fld>
            <a:endParaRPr lang="zh-CN" altLang="en-US" strike="noStrike" noProof="1"/>
          </a:p>
        </p:txBody>
      </p:sp>
      <p:sp>
        <p:nvSpPr>
          <p:cNvPr id="3076" name="幻灯片图像占位符 3"/>
          <p:cNvSpPr>
            <a:spLocks noGrp="1" noRot="1" noChangeAspect="1"/>
          </p:cNvSpPr>
          <p:nvPr>
            <p:ph type="sldImg"/>
          </p:nvPr>
        </p:nvSpPr>
        <p:spPr>
          <a:xfrm>
            <a:off x="2514600" y="857250"/>
            <a:ext cx="4114800" cy="2314575"/>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914400" y="3300413"/>
            <a:ext cx="7315200" cy="2700338"/>
          </a:xfrm>
          <a:prstGeom prst="rect">
            <a:avLst/>
          </a:prstGeom>
          <a:noFill/>
          <a:ln w="9525">
            <a:noFill/>
          </a:ln>
        </p:spPr>
        <p:txBody>
          <a:bodyPr lIns="91440" tIns="45720" rIns="91440" bIns="45720" anchor="t"/>
          <a:p>
            <a:pPr lvl="0"/>
            <a:r>
              <a:rPr lang="zh-CN" altLang="en-US" dirty="0"/>
              <a:t>Click to edit Master text style</a:t>
            </a:r>
            <a:endParaRPr lang="zh-CN" altLang="en-US" dirty="0"/>
          </a:p>
          <a:p>
            <a:pPr lvl="1" indent="0"/>
            <a:r>
              <a:rPr lang="zh-CN" altLang="en-US" dirty="0"/>
              <a:t>Second level</a:t>
            </a:r>
            <a:endParaRPr lang="zh-CN" altLang="en-US" dirty="0"/>
          </a:p>
          <a:p>
            <a:pPr lvl="2" indent="0"/>
            <a:r>
              <a:rPr lang="zh-CN" altLang="en-US" dirty="0"/>
              <a:t>Third level</a:t>
            </a:r>
            <a:endParaRPr lang="zh-CN" altLang="en-US" dirty="0"/>
          </a:p>
          <a:p>
            <a:pPr lvl="3" indent="0"/>
            <a:r>
              <a:rPr lang="zh-CN" altLang="en-US" dirty="0"/>
              <a:t>Fourth level</a:t>
            </a:r>
            <a:endParaRPr lang="zh-CN" altLang="en-US" dirty="0"/>
          </a:p>
          <a:p>
            <a:pPr lvl="4" indent="0"/>
            <a:r>
              <a:rPr lang="zh-CN" altLang="en-US" dirty="0"/>
              <a:t>Fifth level</a:t>
            </a:r>
            <a:endParaRPr lang="zh-CN" altLang="en-US"/>
          </a:p>
        </p:txBody>
      </p:sp>
      <p:sp>
        <p:nvSpPr>
          <p:cNvPr id="6" name="页脚占位符 5"/>
          <p:cNvSpPr>
            <a:spLocks noGrp="1"/>
          </p:cNvSpPr>
          <p:nvPr>
            <p:ph type="ftr" sz="quarter" idx="4"/>
          </p:nvPr>
        </p:nvSpPr>
        <p:spPr>
          <a:xfrm>
            <a:off x="0" y="6513910"/>
            <a:ext cx="3962400" cy="344091"/>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5179484" y="6513910"/>
            <a:ext cx="3962400" cy="344091"/>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SimSun"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endParaRPr lang="zh-CN" altLang="en-US" strike="noStrike" noProof="1"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smtClean="0"/>
              <a:t>Click to edit Master title style</a:t>
            </a:r>
            <a:endParaRPr lang="zh-CN" altLang="en-US" strike="noStrike" noProof="1" smtClean="0"/>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p>
            <a:pPr lvl="0"/>
            <a:r>
              <a:rPr lang="zh-CN" altLang="en-US" dirty="0"/>
              <a:t>Click to edit Master title style</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p>
            <a:pPr lvl="0" indent="-228600"/>
            <a:r>
              <a:rPr lang="zh-CN" altLang="en-US" dirty="0"/>
              <a:t>Click to edit Master text style</a:t>
            </a:r>
            <a:endParaRPr lang="zh-CN" altLang="en-US" dirty="0"/>
          </a:p>
          <a:p>
            <a:pPr lvl="1" indent="-228600"/>
            <a:r>
              <a:rPr lang="zh-CN" altLang="en-US" dirty="0"/>
              <a:t>Second level</a:t>
            </a:r>
            <a:endParaRPr lang="zh-CN" altLang="en-US" dirty="0"/>
          </a:p>
          <a:p>
            <a:pPr lvl="2" indent="-228600"/>
            <a:r>
              <a:rPr lang="zh-CN" altLang="en-US" dirty="0"/>
              <a:t>Third level</a:t>
            </a:r>
            <a:endParaRPr lang="zh-CN" altLang="en-US" dirty="0"/>
          </a:p>
          <a:p>
            <a:pPr lvl="3" indent="-228600"/>
            <a:r>
              <a:rPr lang="zh-CN" altLang="en-US" dirty="0"/>
              <a:t>Fourth level</a:t>
            </a:r>
            <a:endParaRPr lang="zh-CN" altLang="en-US" dirty="0"/>
          </a:p>
          <a:p>
            <a:pPr lvl="4" indent="-228600"/>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BEF05245-1089-431C-9CB9-1C9E798A99A0}"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ransition spd="slow">
    <p:wipe/>
  </p:transition>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7" name="图片 3"/>
          <p:cNvPicPr>
            <a:picLocks noChangeAspect="1"/>
          </p:cNvPicPr>
          <p:nvPr/>
        </p:nvPicPr>
        <p:blipFill>
          <a:blip r:embed="rId1"/>
          <a:srcRect l="5727" r="16841" b="26530"/>
          <a:stretch>
            <a:fillRect/>
          </a:stretch>
        </p:blipFill>
        <p:spPr>
          <a:xfrm>
            <a:off x="-7620" y="0"/>
            <a:ext cx="12192000" cy="6858000"/>
          </a:xfrm>
          <a:prstGeom prst="rect">
            <a:avLst/>
          </a:prstGeom>
          <a:noFill/>
          <a:ln w="9525">
            <a:noFill/>
          </a:ln>
        </p:spPr>
      </p:pic>
      <p:grpSp>
        <p:nvGrpSpPr>
          <p:cNvPr id="4098" name="组合 4"/>
          <p:cNvGrpSpPr/>
          <p:nvPr/>
        </p:nvGrpSpPr>
        <p:grpSpPr>
          <a:xfrm>
            <a:off x="2430780" y="989965"/>
            <a:ext cx="7280276" cy="4449445"/>
            <a:chOff x="2655655" y="744096"/>
            <a:chExt cx="6701164" cy="4093888"/>
          </a:xfrm>
        </p:grpSpPr>
        <p:grpSp>
          <p:nvGrpSpPr>
            <p:cNvPr id="4099" name="组合 5"/>
            <p:cNvGrpSpPr/>
            <p:nvPr/>
          </p:nvGrpSpPr>
          <p:grpSpPr>
            <a:xfrm>
              <a:off x="3590925" y="1980069"/>
              <a:ext cx="5010150" cy="679906"/>
              <a:chOff x="4324350" y="2295525"/>
              <a:chExt cx="3733800" cy="679906"/>
            </a:xfrm>
          </p:grpSpPr>
          <p:cxnSp>
            <p:nvCxnSpPr>
              <p:cNvPr id="15" name="直接连接符 14"/>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4104" name="组合 6"/>
            <p:cNvGrpSpPr/>
            <p:nvPr/>
          </p:nvGrpSpPr>
          <p:grpSpPr>
            <a:xfrm flipH="1" flipV="1">
              <a:off x="3457574" y="3370824"/>
              <a:ext cx="4951785" cy="726031"/>
              <a:chOff x="4324350" y="2295525"/>
              <a:chExt cx="3733800" cy="679906"/>
            </a:xfrm>
          </p:grpSpPr>
          <p:cxnSp>
            <p:nvCxnSpPr>
              <p:cNvPr id="11" name="直接连接符 10"/>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4110" name="文本框 8"/>
            <p:cNvSpPr txBox="1"/>
            <p:nvPr/>
          </p:nvSpPr>
          <p:spPr>
            <a:xfrm>
              <a:off x="2655655" y="4414398"/>
              <a:ext cx="6701164" cy="423586"/>
            </a:xfrm>
            <a:prstGeom prst="rect">
              <a:avLst/>
            </a:prstGeom>
            <a:noFill/>
            <a:ln w="9525">
              <a:noFill/>
            </a:ln>
          </p:spPr>
          <p:txBody>
            <a:bodyPr wrap="square" anchor="t">
              <a:spAutoFit/>
            </a:bodyPr>
            <a:p>
              <a:pPr algn="ctr" defTabSz="914400"/>
              <a:endParaRPr lang="en-US" sz="2400" dirty="0">
                <a:solidFill>
                  <a:srgbClr val="404040"/>
                </a:solidFill>
                <a:ea typeface="Calibri" panose="020F0502020204030204" pitchFamily="34" charset="0"/>
                <a:sym typeface="Arial" panose="020B0604020202090204" pitchFamily="34" charset="0"/>
              </a:endParaRPr>
            </a:p>
          </p:txBody>
        </p:sp>
        <p:sp>
          <p:nvSpPr>
            <p:cNvPr id="4111" name="文本框 9"/>
            <p:cNvSpPr txBox="1"/>
            <p:nvPr/>
          </p:nvSpPr>
          <p:spPr>
            <a:xfrm>
              <a:off x="4495261" y="744096"/>
              <a:ext cx="3316567" cy="763624"/>
            </a:xfrm>
            <a:prstGeom prst="rect">
              <a:avLst/>
            </a:prstGeom>
            <a:noFill/>
            <a:ln w="9525">
              <a:noFill/>
            </a:ln>
          </p:spPr>
          <p:txBody>
            <a:bodyPr wrap="square" anchor="t">
              <a:spAutoFit/>
            </a:bodyPr>
            <a:p>
              <a:pPr algn="ctr" defTabSz="914400"/>
              <a:r>
                <a:rPr lang="en-US" altLang="zh-CN" sz="2400" dirty="0">
                  <a:solidFill>
                    <a:srgbClr val="404040"/>
                  </a:solidFill>
                  <a:ea typeface="Calibri" panose="020F0502020204030204" pitchFamily="34" charset="0"/>
                  <a:sym typeface="Arial" panose="020B0604020202090204" pitchFamily="34" charset="0"/>
                </a:rPr>
                <a:t>Web Server Programming</a:t>
              </a:r>
              <a:endParaRPr lang="en-US" altLang="zh-CN" sz="2400" dirty="0">
                <a:solidFill>
                  <a:srgbClr val="404040"/>
                </a:solidFill>
                <a:ea typeface="Calibri" panose="020F0502020204030204" pitchFamily="34" charset="0"/>
                <a:sym typeface="Arial" panose="020B0604020202090204" pitchFamily="34" charset="0"/>
              </a:endParaRPr>
            </a:p>
          </p:txBody>
        </p:sp>
      </p:grpSp>
      <p:sp>
        <p:nvSpPr>
          <p:cNvPr id="3" name="Rectangles 2"/>
          <p:cNvSpPr/>
          <p:nvPr/>
        </p:nvSpPr>
        <p:spPr>
          <a:xfrm>
            <a:off x="3625850" y="2513965"/>
            <a:ext cx="4852670" cy="198691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GB" sz="4400" dirty="0">
                <a:solidFill>
                  <a:schemeClr val="tx1"/>
                </a:solidFill>
                <a:sym typeface="+mn-ea"/>
              </a:rPr>
              <a:t>Mid-Term</a:t>
            </a:r>
            <a:endParaRPr lang="en-US" altLang="en-GB" sz="4400" dirty="0">
              <a:solidFill>
                <a:schemeClr val="tx1"/>
              </a:solidFill>
              <a:sym typeface="+mn-ea"/>
            </a:endParaRP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3450590" y="329565"/>
            <a:ext cx="4799330" cy="94678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2" name="矩形 11"/>
          <p:cNvSpPr/>
          <p:nvPr/>
        </p:nvSpPr>
        <p:spPr>
          <a:xfrm>
            <a:off x="255905" y="329565"/>
            <a:ext cx="11500485" cy="6132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文本框 28"/>
          <p:cNvSpPr txBox="1"/>
          <p:nvPr/>
        </p:nvSpPr>
        <p:spPr>
          <a:xfrm>
            <a:off x="956310" y="1156335"/>
            <a:ext cx="362585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Question 1:</a:t>
            </a:r>
            <a:endParaRPr lang="en-US" altLang="en-US" sz="3600" b="1" dirty="0">
              <a:solidFill>
                <a:srgbClr val="404040"/>
              </a:solidFill>
              <a:ea typeface="Calibri" panose="020F0502020204030204" pitchFamily="34" charset="0"/>
            </a:endParaRPr>
          </a:p>
        </p:txBody>
      </p:sp>
      <p:sp>
        <p:nvSpPr>
          <p:cNvPr id="3" name="文本框 28"/>
          <p:cNvSpPr txBox="1"/>
          <p:nvPr/>
        </p:nvSpPr>
        <p:spPr>
          <a:xfrm>
            <a:off x="1489075" y="2251710"/>
            <a:ext cx="8722360" cy="1830705"/>
          </a:xfrm>
          <a:prstGeom prst="rect">
            <a:avLst/>
          </a:prstGeom>
          <a:noFill/>
          <a:ln w="9525">
            <a:noFill/>
          </a:ln>
        </p:spPr>
        <p:txBody>
          <a:bodyPr wrap="square" anchor="t">
            <a:noAutofit/>
          </a:bodyPr>
          <a:p>
            <a:pPr indent="457200">
              <a:buFont typeface="Arial" panose="020B0604020202090204" pitchFamily="34" charset="0"/>
            </a:pPr>
            <a:r>
              <a:rPr lang="en-US" altLang="en-US" sz="3600" b="1" dirty="0">
                <a:solidFill>
                  <a:srgbClr val="404040"/>
                </a:solidFill>
                <a:ea typeface="Calibri" panose="020F0502020204030204" pitchFamily="34" charset="0"/>
              </a:rPr>
              <a:t>What are the main components of a RESTful architecture? Explain the </a:t>
            </a:r>
            <a:endParaRPr lang="en-US" altLang="en-US" sz="3600" b="1" dirty="0">
              <a:solidFill>
                <a:srgbClr val="404040"/>
              </a:solidFill>
              <a:ea typeface="Calibri" panose="020F0502020204030204" pitchFamily="34" charset="0"/>
            </a:endParaRPr>
          </a:p>
          <a:p>
            <a:pPr>
              <a:buFont typeface="Arial" panose="020B0604020202090204" pitchFamily="34" charset="0"/>
            </a:pPr>
            <a:r>
              <a:rPr lang="en-US" altLang="en-US" sz="3600" b="1" dirty="0">
                <a:solidFill>
                  <a:srgbClr val="404040"/>
                </a:solidFill>
                <a:ea typeface="Calibri" panose="020F0502020204030204" pitchFamily="34" charset="0"/>
              </a:rPr>
              <a:t>principles of REST</a:t>
            </a:r>
            <a:endParaRPr lang="en-US" altLang="en-US" sz="3600" b="1" dirty="0">
              <a:solidFill>
                <a:srgbClr val="404040"/>
              </a:solidFill>
              <a:ea typeface="Calibri" panose="020F0502020204030204" pitchFamily="34" charset="0"/>
            </a:endParaRP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452880" y="212090"/>
            <a:ext cx="2790825"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Answer</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135380"/>
            <a:ext cx="10515600" cy="52470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1082675" y="1437005"/>
            <a:ext cx="9545955" cy="4854575"/>
          </a:xfrm>
          <a:prstGeom prst="rect">
            <a:avLst/>
          </a:prstGeom>
          <a:noFill/>
          <a:ln w="9525">
            <a:noFill/>
          </a:ln>
        </p:spPr>
        <p:txBody>
          <a:bodyPr wrap="square" lIns="0" tIns="0" rIns="0" bIns="0" anchor="t">
            <a:noAutofit/>
          </a:bodyPr>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An architectural style for designing networked APIs, not a strict standard. APIs that follow it are "RESTful.</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1. Client-Server: Separation of concerns. Client handles UI, server handles data/logic. They evolve independently.</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2. Stateless: Every request must contain all info needed to process it. No client session stored on the server.</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3. Cacheable: Server responses must say if they can be cached. Improves performance and scalability.</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4. Uniform Interface (The Key Principle):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Resources in URIs: Everything is a resource (e.g., /users/123).</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HTTP Verbs: Use GET (read), POST (create), PUT (update), DELETE.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Self-Descriptive Messages: Use HTTP status codes (200 OK, 404 Not Found) and headers.</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Responses include links to related actions (e.g., “next_page” URL).</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5. Layered System: Architecture can have layers (like load balancers, security). Client doesn't need to know.</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endParaRPr lang="en-US" altLang="en-US" sz="1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3450590" y="329565"/>
            <a:ext cx="4799330" cy="94678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2" name="矩形 11"/>
          <p:cNvSpPr/>
          <p:nvPr/>
        </p:nvSpPr>
        <p:spPr>
          <a:xfrm>
            <a:off x="255905" y="329565"/>
            <a:ext cx="11500485" cy="6132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文本框 28"/>
          <p:cNvSpPr txBox="1"/>
          <p:nvPr/>
        </p:nvSpPr>
        <p:spPr>
          <a:xfrm>
            <a:off x="956310" y="1156335"/>
            <a:ext cx="362585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Question 2:</a:t>
            </a:r>
            <a:endParaRPr lang="en-US" altLang="en-US" sz="3600" b="1" dirty="0">
              <a:solidFill>
                <a:srgbClr val="404040"/>
              </a:solidFill>
              <a:ea typeface="Calibri" panose="020F0502020204030204" pitchFamily="34" charset="0"/>
            </a:endParaRPr>
          </a:p>
        </p:txBody>
      </p:sp>
      <p:sp>
        <p:nvSpPr>
          <p:cNvPr id="3" name="文本框 28"/>
          <p:cNvSpPr txBox="1"/>
          <p:nvPr/>
        </p:nvSpPr>
        <p:spPr>
          <a:xfrm>
            <a:off x="1489075" y="2251710"/>
            <a:ext cx="8722360" cy="1830705"/>
          </a:xfrm>
          <a:prstGeom prst="rect">
            <a:avLst/>
          </a:prstGeom>
          <a:noFill/>
          <a:ln w="9525">
            <a:noFill/>
          </a:ln>
        </p:spPr>
        <p:txBody>
          <a:bodyPr wrap="square" anchor="t">
            <a:noAutofit/>
          </a:bodyPr>
          <a:p>
            <a:pPr indent="457200">
              <a:buFont typeface="Arial" panose="020B0604020202090204" pitchFamily="34" charset="0"/>
            </a:pPr>
            <a:r>
              <a:rPr lang="en-US" altLang="en-US" sz="3600" b="1" dirty="0">
                <a:solidFill>
                  <a:srgbClr val="404040"/>
                </a:solidFill>
                <a:ea typeface="Calibri" panose="020F0502020204030204" pitchFamily="34" charset="0"/>
              </a:rPr>
              <a:t>Explain the concept of statelessness in HTTP and why it is important in web applications</a:t>
            </a:r>
            <a:endParaRPr lang="en-US" altLang="en-US" sz="3600" b="1" dirty="0">
              <a:solidFill>
                <a:srgbClr val="404040"/>
              </a:solidFill>
              <a:ea typeface="Calibri" panose="020F0502020204030204" pitchFamily="34" charset="0"/>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452880" y="212090"/>
            <a:ext cx="2790825"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Answer</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135380"/>
            <a:ext cx="10515600" cy="52470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1082675" y="1247140"/>
            <a:ext cx="9545955" cy="5135245"/>
          </a:xfrm>
          <a:prstGeom prst="rect">
            <a:avLst/>
          </a:prstGeom>
          <a:noFill/>
          <a:ln w="9525">
            <a:noFill/>
          </a:ln>
        </p:spPr>
        <p:txBody>
          <a:bodyPr wrap="square" lIns="0" tIns="0" rIns="0" bIns="0" anchor="t">
            <a:noAutofit/>
          </a:bodyPr>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Each HTTP request is independent and self-contained. Server doesn't remember anything between requests. Every request must include all necessary information (auth, data, etc.), which are authentication and data management</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1. Scalability:</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Easy to add more servers</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Any server can handle any request</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2. Reliability: </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No single point of failure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If one server crashes, others can continue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3. Simplicity:</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Servers don't manage session storage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Clean, predictable architecture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(Example) handling “state” (like login):</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Tokens (JWT) in headers</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Cookies with session IDs</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 Client-side storage</a:t>
            </a:r>
            <a:endParaRPr lang="en-US" altLang="en-US" sz="1800" dirty="0">
              <a:solidFill>
                <a:srgbClr val="404040"/>
              </a:solidFill>
              <a:ea typeface="Calibri" panose="020F0502020204030204" pitchFamily="34" charset="0"/>
              <a:sym typeface="Arial" panose="020B0604020202090204" pitchFamily="34" charset="0"/>
            </a:endParaRPr>
          </a:p>
          <a:p>
            <a:pPr indent="457200" algn="l" defTabSz="1216025">
              <a:lnSpc>
                <a:spcPct val="90000"/>
              </a:lnSpc>
              <a:spcBef>
                <a:spcPct val="20000"/>
              </a:spcBef>
              <a:buFont typeface="Arial" panose="020B0604020202090204" pitchFamily="34" charset="0"/>
            </a:pPr>
            <a:endParaRPr lang="en-US" altLang="en-US" sz="18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3450590" y="329565"/>
            <a:ext cx="4799330" cy="946785"/>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2" name="矩形 11"/>
          <p:cNvSpPr/>
          <p:nvPr/>
        </p:nvSpPr>
        <p:spPr>
          <a:xfrm>
            <a:off x="255905" y="329565"/>
            <a:ext cx="11500485" cy="61321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文本框 28"/>
          <p:cNvSpPr txBox="1"/>
          <p:nvPr/>
        </p:nvSpPr>
        <p:spPr>
          <a:xfrm>
            <a:off x="956310" y="1156335"/>
            <a:ext cx="362585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Question 3:</a:t>
            </a:r>
            <a:endParaRPr lang="en-US" altLang="en-US" sz="3600" b="1" dirty="0">
              <a:solidFill>
                <a:srgbClr val="404040"/>
              </a:solidFill>
              <a:ea typeface="Calibri" panose="020F0502020204030204" pitchFamily="34" charset="0"/>
            </a:endParaRPr>
          </a:p>
        </p:txBody>
      </p:sp>
      <p:sp>
        <p:nvSpPr>
          <p:cNvPr id="3" name="文本框 28"/>
          <p:cNvSpPr txBox="1"/>
          <p:nvPr/>
        </p:nvSpPr>
        <p:spPr>
          <a:xfrm>
            <a:off x="1489075" y="2251710"/>
            <a:ext cx="8722360" cy="2823845"/>
          </a:xfrm>
          <a:prstGeom prst="rect">
            <a:avLst/>
          </a:prstGeom>
          <a:noFill/>
          <a:ln w="9525">
            <a:noFill/>
          </a:ln>
        </p:spPr>
        <p:txBody>
          <a:bodyPr wrap="square" anchor="t">
            <a:noAutofit/>
          </a:bodyPr>
          <a:p>
            <a:pPr indent="457200">
              <a:buFont typeface="Arial" panose="020B0604020202090204" pitchFamily="34" charset="0"/>
            </a:pPr>
            <a:r>
              <a:rPr lang="en-US" altLang="en-US" sz="3600" b="1" dirty="0">
                <a:solidFill>
                  <a:srgbClr val="404040"/>
                </a:solidFill>
                <a:ea typeface="Calibri" panose="020F0502020204030204" pitchFamily="34" charset="0"/>
              </a:rPr>
              <a:t>Write a Spring Boot controller that accepts a POST request at /register with a JSON body containing name and email, and returns a confirmation message.</a:t>
            </a:r>
            <a:endParaRPr lang="en-US" altLang="en-US" sz="3600" b="1" dirty="0">
              <a:solidFill>
                <a:srgbClr val="404040"/>
              </a:solidFill>
              <a:ea typeface="Calibri" panose="020F0502020204030204" pitchFamily="34" charset="0"/>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0" y="0"/>
            <a:ext cx="170180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Code</a:t>
            </a:r>
            <a:endParaRPr lang="en-US" altLang="en-US" sz="3600" b="1" dirty="0">
              <a:solidFill>
                <a:srgbClr val="404040"/>
              </a:solidFill>
              <a:ea typeface="Calibri" panose="020F0502020204030204" pitchFamily="34" charset="0"/>
            </a:endParaRPr>
          </a:p>
        </p:txBody>
      </p:sp>
      <p:pic>
        <p:nvPicPr>
          <p:cNvPr id="2" name="Picture 1" descr="Screenshot 2025-10-24 at 1.40.42 PM"/>
          <p:cNvPicPr>
            <a:picLocks noChangeAspect="1"/>
          </p:cNvPicPr>
          <p:nvPr/>
        </p:nvPicPr>
        <p:blipFill>
          <a:blip r:embed="rId2"/>
          <a:stretch>
            <a:fillRect/>
          </a:stretch>
        </p:blipFill>
        <p:spPr>
          <a:xfrm>
            <a:off x="193675" y="5276215"/>
            <a:ext cx="9055735" cy="1294765"/>
          </a:xfrm>
          <a:prstGeom prst="rect">
            <a:avLst/>
          </a:prstGeom>
        </p:spPr>
      </p:pic>
      <p:pic>
        <p:nvPicPr>
          <p:cNvPr id="3" name="Picture 2" descr="Screenshot 2025-10-24 at 1.42.15 PM"/>
          <p:cNvPicPr>
            <a:picLocks noChangeAspect="1"/>
          </p:cNvPicPr>
          <p:nvPr/>
        </p:nvPicPr>
        <p:blipFill>
          <a:blip r:embed="rId3"/>
          <a:stretch>
            <a:fillRect/>
          </a:stretch>
        </p:blipFill>
        <p:spPr>
          <a:xfrm>
            <a:off x="109220" y="645160"/>
            <a:ext cx="5257800" cy="2957195"/>
          </a:xfrm>
          <a:prstGeom prst="rect">
            <a:avLst/>
          </a:prstGeom>
        </p:spPr>
      </p:pic>
      <p:pic>
        <p:nvPicPr>
          <p:cNvPr id="4" name="Picture 3" descr="Screenshot 2025-10-24 at 1.42.52 PM"/>
          <p:cNvPicPr>
            <a:picLocks noChangeAspect="1"/>
          </p:cNvPicPr>
          <p:nvPr/>
        </p:nvPicPr>
        <p:blipFill>
          <a:blip r:embed="rId4"/>
          <a:stretch>
            <a:fillRect/>
          </a:stretch>
        </p:blipFill>
        <p:spPr>
          <a:xfrm>
            <a:off x="5629275" y="645160"/>
            <a:ext cx="4203700" cy="2159000"/>
          </a:xfrm>
          <a:prstGeom prst="rect">
            <a:avLst/>
          </a:prstGeom>
        </p:spPr>
      </p:pic>
      <p:sp>
        <p:nvSpPr>
          <p:cNvPr id="5" name="矩形 8"/>
          <p:cNvSpPr/>
          <p:nvPr/>
        </p:nvSpPr>
        <p:spPr>
          <a:xfrm>
            <a:off x="1543050" y="290830"/>
            <a:ext cx="2912110" cy="354330"/>
          </a:xfrm>
          <a:prstGeom prst="rect">
            <a:avLst/>
          </a:prstGeom>
          <a:noFill/>
          <a:ln w="9525">
            <a:noFill/>
          </a:ln>
        </p:spPr>
        <p:txBody>
          <a:bodyPr wrap="square" lIns="0" tIns="0" rIns="0" bIns="0" anchor="t">
            <a:noAutofit/>
          </a:bodyPr>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Main controller code:</a:t>
            </a:r>
            <a:endParaRPr lang="en-US" altLang="en-US" sz="1800" dirty="0">
              <a:solidFill>
                <a:srgbClr val="404040"/>
              </a:solidFill>
              <a:ea typeface="Calibri" panose="020F0502020204030204" pitchFamily="34" charset="0"/>
              <a:sym typeface="Arial" panose="020B0604020202090204" pitchFamily="34" charset="0"/>
            </a:endParaRPr>
          </a:p>
        </p:txBody>
      </p:sp>
      <p:sp>
        <p:nvSpPr>
          <p:cNvPr id="6" name="矩形 8"/>
          <p:cNvSpPr/>
          <p:nvPr/>
        </p:nvSpPr>
        <p:spPr>
          <a:xfrm>
            <a:off x="5979795" y="290830"/>
            <a:ext cx="3686175" cy="354330"/>
          </a:xfrm>
          <a:prstGeom prst="rect">
            <a:avLst/>
          </a:prstGeom>
          <a:noFill/>
          <a:ln w="9525">
            <a:noFill/>
          </a:ln>
        </p:spPr>
        <p:txBody>
          <a:bodyPr wrap="square" lIns="0" tIns="0" rIns="0" bIns="0" anchor="t">
            <a:noAutofit/>
          </a:bodyPr>
          <a:p>
            <a:pPr indent="457200" algn="l" defTabSz="1216025">
              <a:lnSpc>
                <a:spcPct val="90000"/>
              </a:lnSpc>
              <a:spcBef>
                <a:spcPct val="20000"/>
              </a:spcBef>
              <a:buFont typeface="Arial" panose="020B0604020202090204" pitchFamily="34" charset="0"/>
            </a:pPr>
            <a:r>
              <a:rPr lang="en-US" altLang="en-US" sz="1800" dirty="0">
                <a:solidFill>
                  <a:srgbClr val="404040"/>
                </a:solidFill>
                <a:ea typeface="Calibri" panose="020F0502020204030204" pitchFamily="34" charset="0"/>
                <a:sym typeface="Arial" panose="020B0604020202090204" pitchFamily="34" charset="0"/>
              </a:rPr>
              <a:t>Request DTO (Input validation)</a:t>
            </a:r>
            <a:endParaRPr lang="en-US" altLang="en-US" sz="1800" dirty="0">
              <a:solidFill>
                <a:srgbClr val="404040"/>
              </a:solidFill>
              <a:ea typeface="Calibri" panose="020F0502020204030204" pitchFamily="34" charset="0"/>
              <a:sym typeface="Arial" panose="020B0604020202090204" pitchFamily="34" charset="0"/>
            </a:endParaRPr>
          </a:p>
        </p:txBody>
      </p:sp>
      <p:pic>
        <p:nvPicPr>
          <p:cNvPr id="7" name="Picture 6" descr="Screenshot 2025-10-24 at 1.44.39 PM"/>
          <p:cNvPicPr>
            <a:picLocks noChangeAspect="1"/>
          </p:cNvPicPr>
          <p:nvPr/>
        </p:nvPicPr>
        <p:blipFill>
          <a:blip r:embed="rId5"/>
          <a:stretch>
            <a:fillRect/>
          </a:stretch>
        </p:blipFill>
        <p:spPr>
          <a:xfrm>
            <a:off x="844550" y="3429000"/>
            <a:ext cx="4203065" cy="1741170"/>
          </a:xfrm>
          <a:prstGeom prst="rect">
            <a:avLst/>
          </a:prstGeom>
        </p:spPr>
      </p:pic>
      <p:pic>
        <p:nvPicPr>
          <p:cNvPr id="10" name="Picture 9" descr="Screenshot 2025-10-24 at 1.45.32 PM"/>
          <p:cNvPicPr>
            <a:picLocks noChangeAspect="1"/>
          </p:cNvPicPr>
          <p:nvPr/>
        </p:nvPicPr>
        <p:blipFill>
          <a:blip r:embed="rId6"/>
          <a:stretch>
            <a:fillRect/>
          </a:stretch>
        </p:blipFill>
        <p:spPr>
          <a:xfrm>
            <a:off x="6094730" y="2633980"/>
            <a:ext cx="4053205" cy="2642235"/>
          </a:xfrm>
          <a:prstGeom prst="rect">
            <a:avLst/>
          </a:prstGeom>
        </p:spPr>
      </p:pic>
      <p:sp>
        <p:nvSpPr>
          <p:cNvPr id="11" name="矩形 8"/>
          <p:cNvSpPr/>
          <p:nvPr/>
        </p:nvSpPr>
        <p:spPr>
          <a:xfrm>
            <a:off x="109220" y="6600190"/>
            <a:ext cx="11511280" cy="354330"/>
          </a:xfrm>
          <a:prstGeom prst="rect">
            <a:avLst/>
          </a:prstGeom>
          <a:noFill/>
          <a:ln w="9525">
            <a:noFill/>
          </a:ln>
        </p:spPr>
        <p:txBody>
          <a:bodyPr wrap="square" lIns="0" tIns="0" rIns="0" bIns="0" anchor="t">
            <a:noAutofit/>
          </a:bodyPr>
          <a:p>
            <a:pPr indent="457200" algn="l" defTabSz="1216025">
              <a:lnSpc>
                <a:spcPct val="90000"/>
              </a:lnSpc>
              <a:spcBef>
                <a:spcPct val="20000"/>
              </a:spcBef>
              <a:buFont typeface="Arial" panose="020B0604020202090204" pitchFamily="34" charset="0"/>
            </a:pPr>
            <a:r>
              <a:rPr lang="en-US" altLang="en-US" sz="1400" dirty="0">
                <a:solidFill>
                  <a:srgbClr val="404040"/>
                </a:solidFill>
                <a:ea typeface="Calibri" panose="020F0502020204030204" pitchFamily="34" charset="0"/>
                <a:sym typeface="Arial" panose="020B0604020202090204" pitchFamily="34" charset="0"/>
              </a:rPr>
              <a:t>Here are all the codes for this application: https://github.com/McLight-Note/Web-Server-Programming/tree/main/Mid-term</a:t>
            </a:r>
            <a:endParaRPr lang="en-US" altLang="en-US" sz="1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610360" y="405765"/>
            <a:ext cx="792353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Design</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729105"/>
            <a:ext cx="10515600" cy="4653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729105"/>
            <a:ext cx="9671685" cy="929640"/>
          </a:xfrm>
          <a:prstGeom prst="rect">
            <a:avLst/>
          </a:prstGeom>
          <a:noFill/>
          <a:ln w="9525">
            <a:noFill/>
          </a:ln>
        </p:spPr>
        <p:txBody>
          <a:bodyPr wrap="square" anchor="t">
            <a:noAutofit/>
          </a:bodyPr>
          <a:p>
            <a:pPr>
              <a:buFont typeface="Arial" panose="020B0604020202090204" pitchFamily="34" charset="0"/>
            </a:pPr>
            <a:r>
              <a:rPr lang="en-US" altLang="en-US" sz="3200" b="1" dirty="0">
                <a:solidFill>
                  <a:srgbClr val="404040"/>
                </a:solidFill>
                <a:ea typeface="Calibri" panose="020F0502020204030204" pitchFamily="34" charset="0"/>
              </a:rPr>
              <a:t>The program follows 4 main functions:</a:t>
            </a:r>
            <a:endParaRPr lang="en-US" altLang="en-US" sz="3200" b="1" dirty="0">
              <a:solidFill>
                <a:srgbClr val="404040"/>
              </a:solidFill>
              <a:ea typeface="Calibri" panose="020F0502020204030204" pitchFamily="34" charset="0"/>
            </a:endParaRPr>
          </a:p>
        </p:txBody>
      </p:sp>
      <p:sp>
        <p:nvSpPr>
          <p:cNvPr id="10255" name="矩形 8"/>
          <p:cNvSpPr/>
          <p:nvPr/>
        </p:nvSpPr>
        <p:spPr>
          <a:xfrm>
            <a:off x="1082675" y="3111500"/>
            <a:ext cx="9545955" cy="2361565"/>
          </a:xfrm>
          <a:prstGeom prst="rect">
            <a:avLst/>
          </a:prstGeom>
          <a:noFill/>
          <a:ln w="9525">
            <a:noFill/>
          </a:ln>
        </p:spPr>
        <p:txBody>
          <a:bodyPr wrap="square" lIns="0" tIns="0" rIns="0" bIns="0" anchor="t">
            <a:sp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A simple layout/mockup is created.</a:t>
            </a:r>
            <a:endParaRPr lang="en-US" altLang="en-US" sz="24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endParaRPr lang="en-US" altLang="en-US" sz="2400" b="1"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r>
              <a:rPr lang="en-US" altLang="en-US" sz="2400" b="1" dirty="0">
                <a:solidFill>
                  <a:srgbClr val="404040"/>
                </a:solidFill>
                <a:ea typeface="Calibri" panose="020F0502020204030204" pitchFamily="34" charset="0"/>
                <a:sym typeface="Arial" panose="020B0604020202090204" pitchFamily="34" charset="0"/>
              </a:rPr>
              <a:t>Components:</a:t>
            </a:r>
            <a:endParaRPr lang="en-US" altLang="en-US" sz="2400" b="1" dirty="0">
              <a:solidFill>
                <a:srgbClr val="404040"/>
              </a:solidFill>
              <a:ea typeface="Calibri" panose="020F0502020204030204" pitchFamily="34" charset="0"/>
              <a:sym typeface="Arial" panose="020B0604020202090204" pitchFamily="34" charset="0"/>
            </a:endParaRPr>
          </a:p>
          <a:p>
            <a:pPr marL="1371600" lvl="3" indent="457200" algn="l" defTabSz="1216025">
              <a:lnSpc>
                <a:spcPct val="90000"/>
              </a:lnSpc>
              <a:spcBef>
                <a:spcPct val="20000"/>
              </a:spcBef>
              <a:buFont typeface="Arial" panose="020B0604020202090204" pitchFamily="34" charset="0"/>
            </a:pPr>
            <a:r>
              <a:rPr lang="en-US" altLang="en-US" sz="2400" b="1" dirty="0">
                <a:solidFill>
                  <a:srgbClr val="404040"/>
                </a:solidFill>
                <a:ea typeface="Calibri" panose="020F0502020204030204" pitchFamily="34" charset="0"/>
                <a:sym typeface="Arial" panose="020B0604020202090204" pitchFamily="34" charset="0"/>
              </a:rPr>
              <a:t>- </a:t>
            </a:r>
            <a:r>
              <a:rPr lang="en-US" altLang="en-US" sz="2400" dirty="0">
                <a:solidFill>
                  <a:srgbClr val="404040"/>
                </a:solidFill>
                <a:ea typeface="Calibri" panose="020F0502020204030204" pitchFamily="34" charset="0"/>
                <a:sym typeface="Arial" panose="020B0604020202090204" pitchFamily="34" charset="0"/>
              </a:rPr>
              <a:t>Patient Registration Form;</a:t>
            </a:r>
            <a:endParaRPr lang="en-US" altLang="en-US" sz="2400" dirty="0">
              <a:solidFill>
                <a:srgbClr val="404040"/>
              </a:solidFill>
              <a:ea typeface="Calibri" panose="020F0502020204030204" pitchFamily="34" charset="0"/>
              <a:sym typeface="Arial" panose="020B0604020202090204" pitchFamily="34" charset="0"/>
            </a:endParaRPr>
          </a:p>
          <a:p>
            <a:pPr marL="1371600" lvl="3"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 Appointment Calendar;</a:t>
            </a:r>
            <a:endParaRPr lang="en-US" altLang="en-US" sz="2400" dirty="0">
              <a:solidFill>
                <a:srgbClr val="404040"/>
              </a:solidFill>
              <a:ea typeface="Calibri" panose="020F0502020204030204" pitchFamily="34" charset="0"/>
              <a:sym typeface="Arial" panose="020B0604020202090204" pitchFamily="34" charset="0"/>
            </a:endParaRPr>
          </a:p>
          <a:p>
            <a:pPr marL="1371600" lvl="3"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 Dummy Billing Interface</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610360" y="405765"/>
            <a:ext cx="792353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Build Prototype</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729105"/>
            <a:ext cx="10515600" cy="4653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729105"/>
            <a:ext cx="9671685" cy="929640"/>
          </a:xfrm>
          <a:prstGeom prst="rect">
            <a:avLst/>
          </a:prstGeom>
          <a:noFill/>
          <a:ln w="9525">
            <a:noFill/>
          </a:ln>
        </p:spPr>
        <p:txBody>
          <a:bodyPr wrap="square" anchor="t">
            <a:noAutofit/>
          </a:bodyPr>
          <a:p>
            <a:pPr>
              <a:buFont typeface="Arial" panose="020B0604020202090204" pitchFamily="34" charset="0"/>
            </a:pPr>
            <a:r>
              <a:rPr lang="en-US" altLang="en-US" sz="3200" b="1" dirty="0">
                <a:solidFill>
                  <a:srgbClr val="404040"/>
                </a:solidFill>
                <a:ea typeface="Calibri" panose="020F0502020204030204" pitchFamily="34" charset="0"/>
              </a:rPr>
              <a:t>The program is written in Python and follows these steps:</a:t>
            </a:r>
            <a:endParaRPr lang="en-US" altLang="en-US" sz="3200" b="1" dirty="0">
              <a:solidFill>
                <a:srgbClr val="404040"/>
              </a:solidFill>
              <a:ea typeface="Calibri" panose="020F0502020204030204" pitchFamily="34" charset="0"/>
            </a:endParaRPr>
          </a:p>
        </p:txBody>
      </p:sp>
      <p:sp>
        <p:nvSpPr>
          <p:cNvPr id="10255" name="矩形 8"/>
          <p:cNvSpPr/>
          <p:nvPr/>
        </p:nvSpPr>
        <p:spPr>
          <a:xfrm>
            <a:off x="1082675" y="3087370"/>
            <a:ext cx="9545955" cy="1605280"/>
          </a:xfrm>
          <a:prstGeom prst="rect">
            <a:avLst/>
          </a:prstGeom>
          <a:noFill/>
          <a:ln w="9525">
            <a:noFill/>
          </a:ln>
        </p:spPr>
        <p:txBody>
          <a:bodyPr wrap="square" lIns="0" tIns="0" rIns="0" bIns="0" anchor="t">
            <a:no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 A working demo is coded (in Python).</a:t>
            </a:r>
            <a:endParaRPr lang="en-US" altLang="en-US" sz="24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(Used Libraries: FastAPI, PyDantic, SQLAlchemy)</a:t>
            </a:r>
            <a:endParaRPr lang="en-US" altLang="en-US" sz="2400" dirty="0">
              <a:solidFill>
                <a:srgbClr val="404040"/>
              </a:solidFill>
              <a:ea typeface="Calibri" panose="020F0502020204030204" pitchFamily="34" charset="0"/>
              <a:sym typeface="Arial" panose="020B0604020202090204" pitchFamily="34" charset="0"/>
            </a:endParaRPr>
          </a:p>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	No real database or final design — just enough to test key functionality.</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2" name="矩形 11"/>
          <p:cNvSpPr/>
          <p:nvPr/>
        </p:nvSpPr>
        <p:spPr>
          <a:xfrm>
            <a:off x="0" y="0"/>
            <a:ext cx="5006975" cy="1216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cs"/>
              </a:rPr>
              <a:t>CODE: INPUT</a:t>
            </a:r>
            <a:endParaRPr kumimoji="0" lang="en-US" altLang="zh-CN" sz="3200" b="1" i="0" u="none" strike="noStrike" kern="1200" cap="none" spc="0" normalizeH="0" baseline="0" noProof="0">
              <a:ln>
                <a:noFill/>
              </a:ln>
              <a:solidFill>
                <a:schemeClr val="tx1"/>
              </a:solidFill>
              <a:effectLst/>
              <a:uLnTx/>
              <a:uFillTx/>
              <a:latin typeface="+mn-lt"/>
              <a:ea typeface="+mn-ea"/>
              <a:cs typeface="+mn-cs"/>
            </a:endParaRPr>
          </a:p>
        </p:txBody>
      </p:sp>
      <p:pic>
        <p:nvPicPr>
          <p:cNvPr id="4" name="Picture 3" descr="IMAGE 2025-04-29 13:30:34"/>
          <p:cNvPicPr>
            <a:picLocks noChangeAspect="1"/>
          </p:cNvPicPr>
          <p:nvPr/>
        </p:nvPicPr>
        <p:blipFill>
          <a:blip r:embed="rId2"/>
          <a:stretch>
            <a:fillRect/>
          </a:stretch>
        </p:blipFill>
        <p:spPr>
          <a:xfrm>
            <a:off x="156210" y="2794635"/>
            <a:ext cx="5638800" cy="2824480"/>
          </a:xfrm>
          <a:prstGeom prst="rect">
            <a:avLst/>
          </a:prstGeom>
        </p:spPr>
      </p:pic>
      <p:pic>
        <p:nvPicPr>
          <p:cNvPr id="5" name="Picture 4" descr="IMAGE 2025-04-29 13:32:44"/>
          <p:cNvPicPr>
            <a:picLocks noChangeAspect="1"/>
          </p:cNvPicPr>
          <p:nvPr/>
        </p:nvPicPr>
        <p:blipFill>
          <a:blip r:embed="rId3"/>
          <a:stretch>
            <a:fillRect/>
          </a:stretch>
        </p:blipFill>
        <p:spPr>
          <a:xfrm>
            <a:off x="2863215" y="156845"/>
            <a:ext cx="6878955" cy="2235835"/>
          </a:xfrm>
          <a:prstGeom prst="rect">
            <a:avLst/>
          </a:prstGeom>
        </p:spPr>
      </p:pic>
      <p:pic>
        <p:nvPicPr>
          <p:cNvPr id="6" name="Picture 5" descr="IMAGE 2025-04-29 13:33:19"/>
          <p:cNvPicPr>
            <a:picLocks noChangeAspect="1"/>
          </p:cNvPicPr>
          <p:nvPr/>
        </p:nvPicPr>
        <p:blipFill>
          <a:blip r:embed="rId4"/>
          <a:stretch>
            <a:fillRect/>
          </a:stretch>
        </p:blipFill>
        <p:spPr>
          <a:xfrm>
            <a:off x="5956300" y="2794635"/>
            <a:ext cx="6058535" cy="2589530"/>
          </a:xfrm>
          <a:prstGeom prst="rect">
            <a:avLst/>
          </a:prstGeom>
        </p:spPr>
      </p:pic>
      <p:sp>
        <p:nvSpPr>
          <p:cNvPr id="7" name="Rectangles 6"/>
          <p:cNvSpPr/>
          <p:nvPr/>
        </p:nvSpPr>
        <p:spPr>
          <a:xfrm>
            <a:off x="10191750" y="387350"/>
            <a:ext cx="1557020" cy="15843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Adding Patients</a:t>
            </a:r>
            <a:endParaRPr lang="en-US"/>
          </a:p>
        </p:txBody>
      </p:sp>
      <p:cxnSp>
        <p:nvCxnSpPr>
          <p:cNvPr id="8" name="Straight Arrow Connector 7"/>
          <p:cNvCxnSpPr>
            <a:stCxn id="7" idx="1"/>
            <a:endCxn id="5" idx="3"/>
          </p:cNvCxnSpPr>
          <p:nvPr/>
        </p:nvCxnSpPr>
        <p:spPr>
          <a:xfrm flipH="1">
            <a:off x="9742170" y="1179830"/>
            <a:ext cx="449580" cy="952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 name="Rectangles 8"/>
          <p:cNvSpPr/>
          <p:nvPr/>
        </p:nvSpPr>
        <p:spPr>
          <a:xfrm>
            <a:off x="1781175" y="6021070"/>
            <a:ext cx="2388870" cy="710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Patient Registration</a:t>
            </a:r>
            <a:endParaRPr lang="en-US"/>
          </a:p>
        </p:txBody>
      </p:sp>
      <p:cxnSp>
        <p:nvCxnSpPr>
          <p:cNvPr id="10" name="Straight Arrow Connector 9"/>
          <p:cNvCxnSpPr>
            <a:stCxn id="9" idx="0"/>
            <a:endCxn id="4" idx="2"/>
          </p:cNvCxnSpPr>
          <p:nvPr/>
        </p:nvCxnSpPr>
        <p:spPr>
          <a:xfrm flipV="1">
            <a:off x="2975610" y="5619115"/>
            <a:ext cx="0" cy="40195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Rectangles 10"/>
          <p:cNvSpPr/>
          <p:nvPr/>
        </p:nvSpPr>
        <p:spPr>
          <a:xfrm>
            <a:off x="7512050" y="5904865"/>
            <a:ext cx="2947670" cy="7105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Confirmation of appointment</a:t>
            </a:r>
            <a:endParaRPr lang="en-US"/>
          </a:p>
        </p:txBody>
      </p:sp>
      <p:cxnSp>
        <p:nvCxnSpPr>
          <p:cNvPr id="13" name="Straight Arrow Connector 12"/>
          <p:cNvCxnSpPr>
            <a:stCxn id="11" idx="0"/>
            <a:endCxn id="6" idx="2"/>
          </p:cNvCxnSpPr>
          <p:nvPr/>
        </p:nvCxnSpPr>
        <p:spPr>
          <a:xfrm flipV="1">
            <a:off x="8985885" y="5384165"/>
            <a:ext cx="0" cy="5207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2" name="矩形 11"/>
          <p:cNvSpPr/>
          <p:nvPr/>
        </p:nvSpPr>
        <p:spPr>
          <a:xfrm>
            <a:off x="0" y="0"/>
            <a:ext cx="5006975" cy="1216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cs"/>
              </a:rPr>
              <a:t>CODE: INPUT</a:t>
            </a:r>
            <a:endParaRPr kumimoji="0" lang="en-US" altLang="zh-CN" sz="3200" b="1" i="0" u="none" strike="noStrike" kern="1200" cap="none" spc="0" normalizeH="0" baseline="0" noProof="0">
              <a:ln>
                <a:noFill/>
              </a:ln>
              <a:solidFill>
                <a:schemeClr val="tx1"/>
              </a:solidFill>
              <a:effectLst/>
              <a:uLnTx/>
              <a:uFillTx/>
              <a:latin typeface="+mn-lt"/>
              <a:ea typeface="+mn-ea"/>
              <a:cs typeface="+mn-cs"/>
            </a:endParaRPr>
          </a:p>
        </p:txBody>
      </p:sp>
      <p:sp>
        <p:nvSpPr>
          <p:cNvPr id="7" name="Rectangles 6"/>
          <p:cNvSpPr/>
          <p:nvPr/>
        </p:nvSpPr>
        <p:spPr>
          <a:xfrm>
            <a:off x="10191750" y="2637155"/>
            <a:ext cx="1557020" cy="15843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t>Billing confirmation</a:t>
            </a:r>
            <a:endParaRPr lang="en-US"/>
          </a:p>
        </p:txBody>
      </p:sp>
      <p:cxnSp>
        <p:nvCxnSpPr>
          <p:cNvPr id="8" name="Straight Arrow Connector 7"/>
          <p:cNvCxnSpPr>
            <a:stCxn id="7" idx="1"/>
            <a:endCxn id="2" idx="3"/>
          </p:cNvCxnSpPr>
          <p:nvPr/>
        </p:nvCxnSpPr>
        <p:spPr>
          <a:xfrm flipH="1">
            <a:off x="8388350" y="3429635"/>
            <a:ext cx="1803400" cy="4305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2" name="Picture 1" descr="IMAGE 2025-04-29 13:35:46"/>
          <p:cNvPicPr>
            <a:picLocks noChangeAspect="1"/>
          </p:cNvPicPr>
          <p:nvPr/>
        </p:nvPicPr>
        <p:blipFill>
          <a:blip r:embed="rId2"/>
          <a:stretch>
            <a:fillRect/>
          </a:stretch>
        </p:blipFill>
        <p:spPr>
          <a:xfrm>
            <a:off x="2312035" y="1106805"/>
            <a:ext cx="6076315" cy="5506720"/>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2" name="矩形 11"/>
          <p:cNvSpPr/>
          <p:nvPr/>
        </p:nvSpPr>
        <p:spPr>
          <a:xfrm>
            <a:off x="0" y="0"/>
            <a:ext cx="4946015" cy="1216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a:ln>
                  <a:noFill/>
                </a:ln>
                <a:solidFill>
                  <a:schemeClr val="tx1"/>
                </a:solidFill>
                <a:effectLst/>
                <a:uLnTx/>
                <a:uFillTx/>
                <a:latin typeface="+mn-lt"/>
                <a:ea typeface="+mn-ea"/>
                <a:cs typeface="+mn-cs"/>
              </a:rPr>
              <a:t>CODE: OUTPUT</a:t>
            </a:r>
            <a:endParaRPr kumimoji="0" lang="en-US" altLang="zh-CN" sz="3200" b="1" i="0" u="none" strike="noStrike" kern="1200" cap="none" spc="0" normalizeH="0" baseline="0" noProof="0">
              <a:ln>
                <a:noFill/>
              </a:ln>
              <a:solidFill>
                <a:schemeClr val="tx1"/>
              </a:solidFill>
              <a:effectLst/>
              <a:uLnTx/>
              <a:uFillTx/>
              <a:latin typeface="+mn-lt"/>
              <a:ea typeface="+mn-ea"/>
              <a:cs typeface="+mn-cs"/>
            </a:endParaRPr>
          </a:p>
        </p:txBody>
      </p:sp>
      <p:pic>
        <p:nvPicPr>
          <p:cNvPr id="3" name="Picture 2" descr="IMAGE 2025-04-29 13:30:51"/>
          <p:cNvPicPr>
            <a:picLocks noChangeAspect="1"/>
          </p:cNvPicPr>
          <p:nvPr/>
        </p:nvPicPr>
        <p:blipFill>
          <a:blip r:embed="rId2"/>
          <a:stretch>
            <a:fillRect/>
          </a:stretch>
        </p:blipFill>
        <p:spPr>
          <a:xfrm>
            <a:off x="1593215" y="1300480"/>
            <a:ext cx="8562975" cy="4823460"/>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610360" y="405765"/>
            <a:ext cx="792353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User Evaluation</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729105"/>
            <a:ext cx="10515600" cy="4653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5" name="矩形 8"/>
          <p:cNvSpPr/>
          <p:nvPr/>
        </p:nvSpPr>
        <p:spPr>
          <a:xfrm>
            <a:off x="1012190" y="2572385"/>
            <a:ext cx="9545955" cy="1992630"/>
          </a:xfrm>
          <a:prstGeom prst="rect">
            <a:avLst/>
          </a:prstGeom>
          <a:noFill/>
          <a:ln w="9525">
            <a:noFill/>
          </a:ln>
        </p:spPr>
        <p:txBody>
          <a:bodyPr wrap="square" lIns="0" tIns="0" rIns="0" bIns="0" anchor="t">
            <a:sp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The prototype is demonstrated to the real users — doctors, nurses, and administrative personnel — for practical testing. They work with the system, test its features, and offer insightful feedback based on their everyday workflow and real-world requirements. This feedback is essential because it identifies what is good and what should be changed.</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610360" y="405765"/>
            <a:ext cx="792353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Refinement</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729105"/>
            <a:ext cx="10515600" cy="4653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729105"/>
            <a:ext cx="9671685" cy="929640"/>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1082675" y="2924175"/>
            <a:ext cx="9545955" cy="1992630"/>
          </a:xfrm>
          <a:prstGeom prst="rect">
            <a:avLst/>
          </a:prstGeom>
          <a:noFill/>
          <a:ln w="9525">
            <a:noFill/>
          </a:ln>
        </p:spPr>
        <p:txBody>
          <a:bodyPr wrap="square" lIns="0" tIns="0" rIns="0" bIns="0" anchor="t">
            <a:sp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Developers come back with the feedback and make changes to the prototype. This could include fixing usability issues, adding new features, or removing unnecessary ones. This can happen several times within a cycle until users are satisfied with the functionality and design. Every iteration brings the final system nearer.</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610360" y="405765"/>
            <a:ext cx="792353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Final Product</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1729105"/>
            <a:ext cx="10515600" cy="46532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729105"/>
            <a:ext cx="9671685" cy="929640"/>
          </a:xfrm>
          <a:prstGeom prst="rect">
            <a:avLst/>
          </a:prstGeom>
          <a:noFill/>
          <a:ln w="9525">
            <a:noFill/>
          </a:ln>
        </p:spPr>
        <p:txBody>
          <a:bodyPr wrap="square" anchor="t">
            <a:noAutofit/>
          </a:bodyPr>
          <a:p>
            <a:pPr>
              <a:buFont typeface="Arial" panose="020B0604020202090204" pitchFamily="34" charset="0"/>
            </a:pPr>
            <a:endParaRPr lang="en-US" altLang="en-US" sz="3200" b="1" dirty="0">
              <a:solidFill>
                <a:srgbClr val="404040"/>
              </a:solidFill>
              <a:ea typeface="Calibri" panose="020F0502020204030204" pitchFamily="34" charset="0"/>
            </a:endParaRPr>
          </a:p>
        </p:txBody>
      </p:sp>
      <p:sp>
        <p:nvSpPr>
          <p:cNvPr id="10255" name="矩形 8"/>
          <p:cNvSpPr/>
          <p:nvPr/>
        </p:nvSpPr>
        <p:spPr>
          <a:xfrm>
            <a:off x="1082675" y="2760980"/>
            <a:ext cx="9545955" cy="2324735"/>
          </a:xfrm>
          <a:prstGeom prst="rect">
            <a:avLst/>
          </a:prstGeom>
          <a:noFill/>
          <a:ln w="9525">
            <a:noFill/>
          </a:ln>
        </p:spPr>
        <p:txBody>
          <a:bodyPr wrap="square" lIns="0" tIns="0" rIns="0" bIns="0" anchor="t">
            <a:spAutoFit/>
          </a:bodyPr>
          <a:p>
            <a:pPr marL="457200" lvl="1" indent="457200" algn="l" defTabSz="1216025">
              <a:lnSpc>
                <a:spcPct val="90000"/>
              </a:lnSpc>
              <a:spcBef>
                <a:spcPct val="20000"/>
              </a:spcBef>
              <a:buFont typeface="Arial" panose="020B0604020202090204" pitchFamily="34" charset="0"/>
            </a:pPr>
            <a:r>
              <a:rPr lang="en-US" altLang="en-US" sz="2400" dirty="0">
                <a:solidFill>
                  <a:srgbClr val="404040"/>
                </a:solidFill>
                <a:ea typeface="Calibri" panose="020F0502020204030204" pitchFamily="34" charset="0"/>
                <a:sym typeface="Arial" panose="020B0604020202090204" pitchFamily="34" charset="0"/>
              </a:rPr>
              <a:t>Once all the issues in the feedback are addressed and the prototype has lived up to expectations, the team proceeds with creating the final system. The final system includes all the technical requirements like a secure database, interface-friendly interface, and full functionality. The final product is now ready to be fully deployed in the hospital environment to enhance patient care and administrative effectiveness.</a:t>
            </a:r>
            <a:endParaRPr lang="en-US" altLang="en-US" sz="2400" dirty="0">
              <a:solidFill>
                <a:srgbClr val="404040"/>
              </a:solidFill>
              <a:ea typeface="Calibri" panose="020F0502020204030204" pitchFamily="34" charset="0"/>
              <a:sym typeface="Arial" panose="020B0604020202090204" pitchFamily="34" charset="0"/>
            </a:endParaRP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1" name="图片 3"/>
          <p:cNvPicPr>
            <a:picLocks noChangeAspect="1"/>
          </p:cNvPicPr>
          <p:nvPr/>
        </p:nvPicPr>
        <p:blipFill>
          <a:blip r:embed="rId1"/>
          <a:srcRect l="5727" r="16841" b="26530"/>
          <a:stretch>
            <a:fillRect/>
          </a:stretch>
        </p:blipFill>
        <p:spPr>
          <a:xfrm>
            <a:off x="0" y="0"/>
            <a:ext cx="12192000" cy="6858000"/>
          </a:xfrm>
          <a:prstGeom prst="rect">
            <a:avLst/>
          </a:prstGeom>
          <a:noFill/>
          <a:ln w="9525">
            <a:noFill/>
          </a:ln>
        </p:spPr>
      </p:pic>
      <p:sp>
        <p:nvSpPr>
          <p:cNvPr id="10250" name="文本框 28"/>
          <p:cNvSpPr txBox="1"/>
          <p:nvPr/>
        </p:nvSpPr>
        <p:spPr>
          <a:xfrm>
            <a:off x="1610360" y="405765"/>
            <a:ext cx="7923530" cy="645160"/>
          </a:xfrm>
          <a:prstGeom prst="rect">
            <a:avLst/>
          </a:prstGeom>
          <a:noFill/>
          <a:ln w="9525">
            <a:noFill/>
          </a:ln>
        </p:spPr>
        <p:txBody>
          <a:bodyPr wrap="square" anchor="t">
            <a:spAutoFit/>
          </a:bodyPr>
          <a:p>
            <a:pPr>
              <a:buFont typeface="Arial" panose="020B0604020202090204" pitchFamily="34" charset="0"/>
            </a:pPr>
            <a:r>
              <a:rPr lang="en-US" altLang="en-US" sz="3600" b="1" dirty="0">
                <a:solidFill>
                  <a:srgbClr val="404040"/>
                </a:solidFill>
                <a:ea typeface="Calibri" panose="020F0502020204030204" pitchFamily="34" charset="0"/>
              </a:rPr>
              <a:t>Conclusion</a:t>
            </a:r>
            <a:endParaRPr lang="en-US" altLang="en-US" sz="3600" b="1" dirty="0">
              <a:solidFill>
                <a:srgbClr val="404040"/>
              </a:solidFill>
              <a:ea typeface="Calibri" panose="020F0502020204030204" pitchFamily="34" charset="0"/>
            </a:endParaRPr>
          </a:p>
        </p:txBody>
      </p:sp>
      <p:sp>
        <p:nvSpPr>
          <p:cNvPr id="12" name="矩形 11"/>
          <p:cNvSpPr/>
          <p:nvPr/>
        </p:nvSpPr>
        <p:spPr>
          <a:xfrm>
            <a:off x="828675" y="247650"/>
            <a:ext cx="10515600" cy="61347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53" name="文本框 6"/>
          <p:cNvSpPr txBox="1"/>
          <p:nvPr/>
        </p:nvSpPr>
        <p:spPr>
          <a:xfrm>
            <a:off x="956945" y="1356995"/>
            <a:ext cx="10119360" cy="4553585"/>
          </a:xfrm>
          <a:prstGeom prst="rect">
            <a:avLst/>
          </a:prstGeom>
          <a:noFill/>
          <a:ln w="9525">
            <a:noFill/>
          </a:ln>
        </p:spPr>
        <p:txBody>
          <a:bodyPr wrap="square" anchor="t">
            <a:noAutofit/>
          </a:bodyPr>
          <a:p>
            <a:pPr indent="457200">
              <a:buFont typeface="Arial" panose="020B0604020202090204" pitchFamily="34" charset="0"/>
            </a:pPr>
            <a:r>
              <a:rPr lang="en-US" altLang="en-US" sz="2800" dirty="0">
                <a:solidFill>
                  <a:srgbClr val="404040"/>
                </a:solidFill>
                <a:ea typeface="Calibri" panose="020F0502020204030204" pitchFamily="34" charset="0"/>
              </a:rPr>
              <a:t>Using the </a:t>
            </a:r>
            <a:r>
              <a:rPr lang="en-US" altLang="en-US" sz="2800" b="1" dirty="0">
                <a:solidFill>
                  <a:srgbClr val="404040"/>
                </a:solidFill>
                <a:ea typeface="Calibri" panose="020F0502020204030204" pitchFamily="34" charset="0"/>
              </a:rPr>
              <a:t>Prototype Model</a:t>
            </a:r>
            <a:r>
              <a:rPr lang="en-US" altLang="en-US" sz="2800" dirty="0">
                <a:solidFill>
                  <a:srgbClr val="404040"/>
                </a:solidFill>
                <a:ea typeface="Calibri" panose="020F0502020204030204" pitchFamily="34" charset="0"/>
              </a:rPr>
              <a:t> helped the team quickly build a basic hospital system with patient registration, appointment scheduling, and billing features. Doctors, nurses, and admin staff tested it and gave feedback early on. Thanks to their suggestions, the system could be improved before making the final version. This way, the developers made sure the system fits real hospital needs and avoided bigger problems later.</a:t>
            </a:r>
            <a:endParaRPr lang="en-US" altLang="en-US" sz="2800" dirty="0">
              <a:solidFill>
                <a:srgbClr val="404040"/>
              </a:solidFill>
              <a:ea typeface="Calibri" panose="020F0502020204030204" pitchFamily="34" charset="0"/>
            </a:endParaRPr>
          </a:p>
          <a:p>
            <a:pPr indent="457200">
              <a:buFont typeface="Arial" panose="020B0604020202090204" pitchFamily="34" charset="0"/>
            </a:pPr>
            <a:endParaRPr lang="en-US" altLang="en-US" sz="2800" dirty="0">
              <a:solidFill>
                <a:srgbClr val="404040"/>
              </a:solidFill>
              <a:ea typeface="Calibri" panose="020F0502020204030204" pitchFamily="34" charset="0"/>
            </a:endParaRPr>
          </a:p>
          <a:p>
            <a:pPr indent="457200">
              <a:buFont typeface="Arial" panose="020B0604020202090204" pitchFamily="34" charset="0"/>
            </a:pPr>
            <a:r>
              <a:rPr lang="en-US" altLang="en-US" sz="2800" b="1" dirty="0">
                <a:solidFill>
                  <a:srgbClr val="404040"/>
                </a:solidFill>
                <a:ea typeface="Calibri" panose="020F0502020204030204" pitchFamily="34" charset="0"/>
              </a:rPr>
              <a:t>The Prototype Model</a:t>
            </a:r>
            <a:r>
              <a:rPr lang="en-US" altLang="en-US" sz="2800" dirty="0">
                <a:solidFill>
                  <a:srgbClr val="404040"/>
                </a:solidFill>
                <a:ea typeface="Calibri" panose="020F0502020204030204" pitchFamily="34" charset="0"/>
              </a:rPr>
              <a:t> made the whole process smoother and helped create a system that’s more useful and ready for real use.</a:t>
            </a:r>
            <a:endParaRPr lang="en-US" altLang="en-US" sz="2800" dirty="0">
              <a:solidFill>
                <a:srgbClr val="404040"/>
              </a:solidFill>
              <a:ea typeface="Calibri" panose="020F0502020204030204" pitchFamily="34" charset="0"/>
            </a:endParaRP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图片 3"/>
          <p:cNvPicPr>
            <a:picLocks noChangeAspect="1"/>
          </p:cNvPicPr>
          <p:nvPr/>
        </p:nvPicPr>
        <p:blipFill>
          <a:blip r:embed="rId1"/>
          <a:srcRect l="5727" r="16841" b="26530"/>
          <a:stretch>
            <a:fillRect/>
          </a:stretch>
        </p:blipFill>
        <p:spPr>
          <a:xfrm>
            <a:off x="635" y="0"/>
            <a:ext cx="12192000" cy="6858000"/>
          </a:xfrm>
          <a:prstGeom prst="rect">
            <a:avLst/>
          </a:prstGeom>
          <a:noFill/>
          <a:ln w="9525">
            <a:noFill/>
          </a:ln>
        </p:spPr>
      </p:pic>
      <p:grpSp>
        <p:nvGrpSpPr>
          <p:cNvPr id="29698" name="组合 4"/>
          <p:cNvGrpSpPr/>
          <p:nvPr/>
        </p:nvGrpSpPr>
        <p:grpSpPr>
          <a:xfrm>
            <a:off x="2434173" y="1840865"/>
            <a:ext cx="7693442" cy="3779927"/>
            <a:chOff x="3457574" y="1980015"/>
            <a:chExt cx="5143501" cy="2116840"/>
          </a:xfrm>
        </p:grpSpPr>
        <p:grpSp>
          <p:nvGrpSpPr>
            <p:cNvPr id="29699" name="组合 5"/>
            <p:cNvGrpSpPr/>
            <p:nvPr/>
          </p:nvGrpSpPr>
          <p:grpSpPr>
            <a:xfrm>
              <a:off x="3590925" y="1980069"/>
              <a:ext cx="5010150" cy="679906"/>
              <a:chOff x="4324350" y="2295525"/>
              <a:chExt cx="3733800" cy="679906"/>
            </a:xfrm>
          </p:grpSpPr>
          <p:cxnSp>
            <p:nvCxnSpPr>
              <p:cNvPr id="15" name="直接连接符 14"/>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grpSp>
          <p:nvGrpSpPr>
            <p:cNvPr id="29704" name="组合 6"/>
            <p:cNvGrpSpPr/>
            <p:nvPr/>
          </p:nvGrpSpPr>
          <p:grpSpPr>
            <a:xfrm flipH="1" flipV="1">
              <a:off x="3457574" y="3370824"/>
              <a:ext cx="4951785" cy="726031"/>
              <a:chOff x="4324350" y="2295525"/>
              <a:chExt cx="3733800" cy="679906"/>
            </a:xfrm>
          </p:grpSpPr>
          <p:cxnSp>
            <p:nvCxnSpPr>
              <p:cNvPr id="11" name="直接连接符 10"/>
              <p:cNvCxnSpPr/>
              <p:nvPr/>
            </p:nvCxnSpPr>
            <p:spPr>
              <a:xfrm>
                <a:off x="4325257"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324350" y="2295525"/>
                <a:ext cx="360045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7916182" y="2295525"/>
                <a:ext cx="0" cy="679904"/>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7915275" y="2886075"/>
                <a:ext cx="142875" cy="89356"/>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9709" name="文本框 7"/>
            <p:cNvSpPr txBox="1"/>
            <p:nvPr/>
          </p:nvSpPr>
          <p:spPr>
            <a:xfrm>
              <a:off x="3753328" y="1980015"/>
              <a:ext cx="4495699" cy="2033399"/>
            </a:xfrm>
            <a:prstGeom prst="rect">
              <a:avLst/>
            </a:prstGeom>
            <a:noFill/>
            <a:ln w="9525">
              <a:noFill/>
            </a:ln>
          </p:spPr>
          <p:txBody>
            <a:bodyPr wrap="square" anchor="t">
              <a:spAutoFit/>
            </a:bodyPr>
            <a:p>
              <a:pPr algn="ctr" defTabSz="914400"/>
              <a:r>
                <a:rPr lang="en-US" altLang="zh-CN" sz="11500" i="1" dirty="0">
                  <a:solidFill>
                    <a:srgbClr val="404040"/>
                  </a:solidFill>
                  <a:ea typeface="Calibri" panose="020F0502020204030204" pitchFamily="34" charset="0"/>
                </a:rPr>
                <a:t>THANK YOU!</a:t>
              </a:r>
              <a:endParaRPr lang="en-US" altLang="zh-CN" sz="11500" i="1" dirty="0">
                <a:solidFill>
                  <a:srgbClr val="404040"/>
                </a:solidFill>
                <a:ea typeface="Calibri" panose="020F0502020204030204" pitchFamily="34" charset="0"/>
              </a:endParaRPr>
            </a:p>
          </p:txBody>
        </p:sp>
      </p:gr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4227</Words>
  <Application>WPS Presentation</Application>
  <PresentationFormat>宽屏</PresentationFormat>
  <Paragraphs>111</Paragraphs>
  <Slides>17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Calibri</vt:lpstr>
      <vt:lpstr>Helvetica Neue</vt:lpstr>
      <vt:lpstr>宋体-简</vt:lpstr>
      <vt:lpstr>Microsoft YaHei</vt:lpstr>
      <vt:lpstr>汉仪旗黑</vt:lpstr>
      <vt:lpstr>Arial Unicode MS</vt:lpstr>
      <vt:lpstr>Calibri Light</vt:lpstr>
      <vt:lpstr>SimSun</vt:lpstr>
      <vt:lpstr>Apple Color Emoji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ZhuLong</dc:creator>
  <cp:lastModifiedBy>mclight</cp:lastModifiedBy>
  <cp:revision>32</cp:revision>
  <dcterms:created xsi:type="dcterms:W3CDTF">2025-10-24T04:49:44Z</dcterms:created>
  <dcterms:modified xsi:type="dcterms:W3CDTF">2025-10-24T04:49:44Z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1033-12.1.23143.23143</vt:lpwstr>
  </property>
  <property fmtid="{D5CDD505-2E9C-101B-9397-08002B2CF9AE}" pid="3" name="ICV">
    <vt:lpwstr>FA7876DA7827B79423FDFA68EB89D22A_43</vt:lpwstr>
  </property>
</Properties>
</file>