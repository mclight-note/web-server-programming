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1" r:id="rId5"/>
    <p:sldId id="270" r:id="rId6"/>
    <p:sldId id="272" r:id="rId7"/>
    <p:sldId id="280" r:id="rId8"/>
    <p:sldId id="273" r:id="rId9"/>
    <p:sldId id="281" r:id="rId10"/>
    <p:sldId id="274" r:id="rId11"/>
    <p:sldId id="275" r:id="rId12"/>
    <p:sldId id="276" r:id="rId13"/>
    <p:sldId id="277" r:id="rId14"/>
    <p:sldId id="278" r:id="rId15"/>
    <p:sldId id="279" r:id="rId16"/>
    <p:sldId id="259" r:id="rId17"/>
    <p:sldId id="260" r:id="rId18"/>
    <p:sldId id="261" r:id="rId19"/>
    <p:sldId id="262" r:id="rId20"/>
    <p:sldId id="263" r:id="rId21"/>
    <p:sldId id="264" r:id="rId22"/>
    <p:sldId id="265" r:id="rId23"/>
    <p:sldId id="266" r:id="rId24"/>
    <p:sldId id="267" r:id="rId25"/>
    <p:sldId id="268" r:id="rId26"/>
    <p:sldId id="26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05"/>
    <p:restoredTop sz="94658"/>
  </p:normalViewPr>
  <p:slideViewPr>
    <p:cSldViewPr snapToGrid="0">
      <p:cViewPr varScale="1">
        <p:scale>
          <a:sx n="102" d="100"/>
          <a:sy n="102" d="100"/>
        </p:scale>
        <p:origin x="224" y="5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4" Type="http://schemas.openxmlformats.org/officeDocument/2006/relationships/image" Target="../media/image2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A6BB31-D453-46B1-B6C6-752AA151A55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DF2E0C6-8376-4DD6-AED9-C917F9FF7B0C}">
      <dgm:prSet/>
      <dgm:spPr/>
      <dgm:t>
        <a:bodyPr/>
        <a:lstStyle/>
        <a:p>
          <a:pPr>
            <a:lnSpc>
              <a:spcPct val="100000"/>
            </a:lnSpc>
          </a:pPr>
          <a:r>
            <a:rPr lang="en-GB"/>
            <a:t>Web servers (Apache, Nginx, IIS)</a:t>
          </a:r>
          <a:endParaRPr lang="en-US"/>
        </a:p>
      </dgm:t>
    </dgm:pt>
    <dgm:pt modelId="{04B2F26D-BE4F-4EE7-A272-1188FDB9395C}" type="parTrans" cxnId="{CE2824AF-47EE-4DA2-9C87-33A113CDF521}">
      <dgm:prSet/>
      <dgm:spPr/>
      <dgm:t>
        <a:bodyPr/>
        <a:lstStyle/>
        <a:p>
          <a:endParaRPr lang="en-US"/>
        </a:p>
      </dgm:t>
    </dgm:pt>
    <dgm:pt modelId="{E633BF28-7BF5-4D4E-AFB8-424983FE71D3}" type="sibTrans" cxnId="{CE2824AF-47EE-4DA2-9C87-33A113CDF521}">
      <dgm:prSet/>
      <dgm:spPr/>
      <dgm:t>
        <a:bodyPr/>
        <a:lstStyle/>
        <a:p>
          <a:endParaRPr lang="en-US"/>
        </a:p>
      </dgm:t>
    </dgm:pt>
    <dgm:pt modelId="{112E5488-C139-41F3-91CA-0E066C423F1E}">
      <dgm:prSet/>
      <dgm:spPr/>
      <dgm:t>
        <a:bodyPr/>
        <a:lstStyle/>
        <a:p>
          <a:pPr>
            <a:lnSpc>
              <a:spcPct val="100000"/>
            </a:lnSpc>
          </a:pPr>
          <a:r>
            <a:rPr lang="en-GB"/>
            <a:t>Static vs Dynamic content</a:t>
          </a:r>
          <a:endParaRPr lang="en-US"/>
        </a:p>
      </dgm:t>
    </dgm:pt>
    <dgm:pt modelId="{C417BB9C-A414-4C0F-A07A-641CF4EC7DC7}" type="parTrans" cxnId="{38056CC3-3C0F-4080-B2C4-3A2306A15879}">
      <dgm:prSet/>
      <dgm:spPr/>
      <dgm:t>
        <a:bodyPr/>
        <a:lstStyle/>
        <a:p>
          <a:endParaRPr lang="en-US"/>
        </a:p>
      </dgm:t>
    </dgm:pt>
    <dgm:pt modelId="{85B52D1A-3A1D-449F-BD13-E23086948F80}" type="sibTrans" cxnId="{38056CC3-3C0F-4080-B2C4-3A2306A15879}">
      <dgm:prSet/>
      <dgm:spPr/>
      <dgm:t>
        <a:bodyPr/>
        <a:lstStyle/>
        <a:p>
          <a:endParaRPr lang="en-US"/>
        </a:p>
      </dgm:t>
    </dgm:pt>
    <dgm:pt modelId="{17D38A6A-9B99-4852-A21C-65CE98230521}">
      <dgm:prSet/>
      <dgm:spPr/>
      <dgm:t>
        <a:bodyPr/>
        <a:lstStyle/>
        <a:p>
          <a:pPr>
            <a:lnSpc>
              <a:spcPct val="100000"/>
            </a:lnSpc>
          </a:pPr>
          <a:r>
            <a:rPr lang="en-GB"/>
            <a:t>Installing and configuring a local development server</a:t>
          </a:r>
          <a:endParaRPr lang="en-US"/>
        </a:p>
      </dgm:t>
    </dgm:pt>
    <dgm:pt modelId="{68A5740A-9D81-406E-A584-F24D36956F78}" type="parTrans" cxnId="{A22FB0F9-732D-43CD-892D-C6017C081942}">
      <dgm:prSet/>
      <dgm:spPr/>
      <dgm:t>
        <a:bodyPr/>
        <a:lstStyle/>
        <a:p>
          <a:endParaRPr lang="en-US"/>
        </a:p>
      </dgm:t>
    </dgm:pt>
    <dgm:pt modelId="{45458DE2-334A-476F-A916-9E6F63FCB140}" type="sibTrans" cxnId="{A22FB0F9-732D-43CD-892D-C6017C081942}">
      <dgm:prSet/>
      <dgm:spPr/>
      <dgm:t>
        <a:bodyPr/>
        <a:lstStyle/>
        <a:p>
          <a:endParaRPr lang="en-US"/>
        </a:p>
      </dgm:t>
    </dgm:pt>
    <dgm:pt modelId="{3D59F3BF-2824-4E74-847B-CB238FC35622}" type="pres">
      <dgm:prSet presAssocID="{BDA6BB31-D453-46B1-B6C6-752AA151A556}" presName="root" presStyleCnt="0">
        <dgm:presLayoutVars>
          <dgm:dir/>
          <dgm:resizeHandles val="exact"/>
        </dgm:presLayoutVars>
      </dgm:prSet>
      <dgm:spPr/>
    </dgm:pt>
    <dgm:pt modelId="{2EE923D3-9DA6-46D6-B469-7BC329627F9D}" type="pres">
      <dgm:prSet presAssocID="{9DF2E0C6-8376-4DD6-AED9-C917F9FF7B0C}" presName="compNode" presStyleCnt="0"/>
      <dgm:spPr/>
    </dgm:pt>
    <dgm:pt modelId="{48128F7A-AF10-452C-B5F8-68076CDFB4B9}" type="pres">
      <dgm:prSet presAssocID="{9DF2E0C6-8376-4DD6-AED9-C917F9FF7B0C}" presName="bgRect" presStyleLbl="bgShp" presStyleIdx="0" presStyleCnt="3"/>
      <dgm:spPr/>
    </dgm:pt>
    <dgm:pt modelId="{C4F26A4B-5D83-492D-AEED-66CFDE0AA28E}" type="pres">
      <dgm:prSet presAssocID="{9DF2E0C6-8376-4DD6-AED9-C917F9FF7B0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FA2EC227-B700-416E-986F-9DA85A2FB322}" type="pres">
      <dgm:prSet presAssocID="{9DF2E0C6-8376-4DD6-AED9-C917F9FF7B0C}" presName="spaceRect" presStyleCnt="0"/>
      <dgm:spPr/>
    </dgm:pt>
    <dgm:pt modelId="{1B193A90-5FB4-431E-89C7-28AA8C3CAF8F}" type="pres">
      <dgm:prSet presAssocID="{9DF2E0C6-8376-4DD6-AED9-C917F9FF7B0C}" presName="parTx" presStyleLbl="revTx" presStyleIdx="0" presStyleCnt="3">
        <dgm:presLayoutVars>
          <dgm:chMax val="0"/>
          <dgm:chPref val="0"/>
        </dgm:presLayoutVars>
      </dgm:prSet>
      <dgm:spPr/>
    </dgm:pt>
    <dgm:pt modelId="{2CC3ED00-BB4E-4839-B95D-F9BD7143B77A}" type="pres">
      <dgm:prSet presAssocID="{E633BF28-7BF5-4D4E-AFB8-424983FE71D3}" presName="sibTrans" presStyleCnt="0"/>
      <dgm:spPr/>
    </dgm:pt>
    <dgm:pt modelId="{DB0FF6BC-E7D1-4081-92BC-BF82336732DD}" type="pres">
      <dgm:prSet presAssocID="{112E5488-C139-41F3-91CA-0E066C423F1E}" presName="compNode" presStyleCnt="0"/>
      <dgm:spPr/>
    </dgm:pt>
    <dgm:pt modelId="{C32FC9DA-A1C9-4915-9C25-9ADB21FF7D38}" type="pres">
      <dgm:prSet presAssocID="{112E5488-C139-41F3-91CA-0E066C423F1E}" presName="bgRect" presStyleLbl="bgShp" presStyleIdx="1" presStyleCnt="3"/>
      <dgm:spPr/>
    </dgm:pt>
    <dgm:pt modelId="{55DFE063-83EB-453D-896E-BFDE81EF13DA}" type="pres">
      <dgm:prSet presAssocID="{112E5488-C139-41F3-91CA-0E066C423F1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ick"/>
        </a:ext>
      </dgm:extLst>
    </dgm:pt>
    <dgm:pt modelId="{AC661267-75F1-47F8-AD8F-95919C565D87}" type="pres">
      <dgm:prSet presAssocID="{112E5488-C139-41F3-91CA-0E066C423F1E}" presName="spaceRect" presStyleCnt="0"/>
      <dgm:spPr/>
    </dgm:pt>
    <dgm:pt modelId="{9DB8D4F0-B071-4FC2-B891-84AFDA7D4F55}" type="pres">
      <dgm:prSet presAssocID="{112E5488-C139-41F3-91CA-0E066C423F1E}" presName="parTx" presStyleLbl="revTx" presStyleIdx="1" presStyleCnt="3">
        <dgm:presLayoutVars>
          <dgm:chMax val="0"/>
          <dgm:chPref val="0"/>
        </dgm:presLayoutVars>
      </dgm:prSet>
      <dgm:spPr/>
    </dgm:pt>
    <dgm:pt modelId="{D1DDCA61-660A-4184-9A93-8DC165EF97B2}" type="pres">
      <dgm:prSet presAssocID="{85B52D1A-3A1D-449F-BD13-E23086948F80}" presName="sibTrans" presStyleCnt="0"/>
      <dgm:spPr/>
    </dgm:pt>
    <dgm:pt modelId="{6C1EA5B0-EDA2-46B9-821E-AA7D12219AE8}" type="pres">
      <dgm:prSet presAssocID="{17D38A6A-9B99-4852-A21C-65CE98230521}" presName="compNode" presStyleCnt="0"/>
      <dgm:spPr/>
    </dgm:pt>
    <dgm:pt modelId="{66C6DAC1-58FF-46B9-9562-9A88C2F3C30B}" type="pres">
      <dgm:prSet presAssocID="{17D38A6A-9B99-4852-A21C-65CE98230521}" presName="bgRect" presStyleLbl="bgShp" presStyleIdx="2" presStyleCnt="3"/>
      <dgm:spPr/>
    </dgm:pt>
    <dgm:pt modelId="{970DD3BB-2EB2-4782-A892-982CEADF3B68}" type="pres">
      <dgm:prSet presAssocID="{17D38A6A-9B99-4852-A21C-65CE9823052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omputer"/>
        </a:ext>
      </dgm:extLst>
    </dgm:pt>
    <dgm:pt modelId="{C07B25E8-5202-4F32-8762-C8EBDCF37747}" type="pres">
      <dgm:prSet presAssocID="{17D38A6A-9B99-4852-A21C-65CE98230521}" presName="spaceRect" presStyleCnt="0"/>
      <dgm:spPr/>
    </dgm:pt>
    <dgm:pt modelId="{65D52F9B-5A1E-4AB6-BE9A-84A295668FCB}" type="pres">
      <dgm:prSet presAssocID="{17D38A6A-9B99-4852-A21C-65CE98230521}" presName="parTx" presStyleLbl="revTx" presStyleIdx="2" presStyleCnt="3">
        <dgm:presLayoutVars>
          <dgm:chMax val="0"/>
          <dgm:chPref val="0"/>
        </dgm:presLayoutVars>
      </dgm:prSet>
      <dgm:spPr/>
    </dgm:pt>
  </dgm:ptLst>
  <dgm:cxnLst>
    <dgm:cxn modelId="{6099F82C-84CE-4717-99C8-A75126B959D6}" type="presOf" srcId="{BDA6BB31-D453-46B1-B6C6-752AA151A556}" destId="{3D59F3BF-2824-4E74-847B-CB238FC35622}" srcOrd="0" destOrd="0" presId="urn:microsoft.com/office/officeart/2018/2/layout/IconVerticalSolidList"/>
    <dgm:cxn modelId="{13B88F37-F74D-427D-942F-0A970EDE44F6}" type="presOf" srcId="{112E5488-C139-41F3-91CA-0E066C423F1E}" destId="{9DB8D4F0-B071-4FC2-B891-84AFDA7D4F55}" srcOrd="0" destOrd="0" presId="urn:microsoft.com/office/officeart/2018/2/layout/IconVerticalSolidList"/>
    <dgm:cxn modelId="{740F4B4A-09A0-4F2F-9D78-41A1D20D946E}" type="presOf" srcId="{9DF2E0C6-8376-4DD6-AED9-C917F9FF7B0C}" destId="{1B193A90-5FB4-431E-89C7-28AA8C3CAF8F}" srcOrd="0" destOrd="0" presId="urn:microsoft.com/office/officeart/2018/2/layout/IconVerticalSolidList"/>
    <dgm:cxn modelId="{E7AABE5B-200A-4DE5-A954-A48993E72620}" type="presOf" srcId="{17D38A6A-9B99-4852-A21C-65CE98230521}" destId="{65D52F9B-5A1E-4AB6-BE9A-84A295668FCB}" srcOrd="0" destOrd="0" presId="urn:microsoft.com/office/officeart/2018/2/layout/IconVerticalSolidList"/>
    <dgm:cxn modelId="{CE2824AF-47EE-4DA2-9C87-33A113CDF521}" srcId="{BDA6BB31-D453-46B1-B6C6-752AA151A556}" destId="{9DF2E0C6-8376-4DD6-AED9-C917F9FF7B0C}" srcOrd="0" destOrd="0" parTransId="{04B2F26D-BE4F-4EE7-A272-1188FDB9395C}" sibTransId="{E633BF28-7BF5-4D4E-AFB8-424983FE71D3}"/>
    <dgm:cxn modelId="{38056CC3-3C0F-4080-B2C4-3A2306A15879}" srcId="{BDA6BB31-D453-46B1-B6C6-752AA151A556}" destId="{112E5488-C139-41F3-91CA-0E066C423F1E}" srcOrd="1" destOrd="0" parTransId="{C417BB9C-A414-4C0F-A07A-641CF4EC7DC7}" sibTransId="{85B52D1A-3A1D-449F-BD13-E23086948F80}"/>
    <dgm:cxn modelId="{A22FB0F9-732D-43CD-892D-C6017C081942}" srcId="{BDA6BB31-D453-46B1-B6C6-752AA151A556}" destId="{17D38A6A-9B99-4852-A21C-65CE98230521}" srcOrd="2" destOrd="0" parTransId="{68A5740A-9D81-406E-A584-F24D36956F78}" sibTransId="{45458DE2-334A-476F-A916-9E6F63FCB140}"/>
    <dgm:cxn modelId="{C6CFC431-65B0-403D-BABF-1C3C96F16F9C}" type="presParOf" srcId="{3D59F3BF-2824-4E74-847B-CB238FC35622}" destId="{2EE923D3-9DA6-46D6-B469-7BC329627F9D}" srcOrd="0" destOrd="0" presId="urn:microsoft.com/office/officeart/2018/2/layout/IconVerticalSolidList"/>
    <dgm:cxn modelId="{CD0926AA-9BA4-4884-8E31-652278521D12}" type="presParOf" srcId="{2EE923D3-9DA6-46D6-B469-7BC329627F9D}" destId="{48128F7A-AF10-452C-B5F8-68076CDFB4B9}" srcOrd="0" destOrd="0" presId="urn:microsoft.com/office/officeart/2018/2/layout/IconVerticalSolidList"/>
    <dgm:cxn modelId="{93F65780-EB00-4B65-A6E8-A2D21E9EB0D4}" type="presParOf" srcId="{2EE923D3-9DA6-46D6-B469-7BC329627F9D}" destId="{C4F26A4B-5D83-492D-AEED-66CFDE0AA28E}" srcOrd="1" destOrd="0" presId="urn:microsoft.com/office/officeart/2018/2/layout/IconVerticalSolidList"/>
    <dgm:cxn modelId="{0494D172-C9C9-4AB0-ACE2-B3EE15ADDCF9}" type="presParOf" srcId="{2EE923D3-9DA6-46D6-B469-7BC329627F9D}" destId="{FA2EC227-B700-416E-986F-9DA85A2FB322}" srcOrd="2" destOrd="0" presId="urn:microsoft.com/office/officeart/2018/2/layout/IconVerticalSolidList"/>
    <dgm:cxn modelId="{9BCAF4F5-5FD6-4072-B83E-4F758824C9CC}" type="presParOf" srcId="{2EE923D3-9DA6-46D6-B469-7BC329627F9D}" destId="{1B193A90-5FB4-431E-89C7-28AA8C3CAF8F}" srcOrd="3" destOrd="0" presId="urn:microsoft.com/office/officeart/2018/2/layout/IconVerticalSolidList"/>
    <dgm:cxn modelId="{2B8620B8-1F72-4FA0-B4E1-D9B3DD4E1DD7}" type="presParOf" srcId="{3D59F3BF-2824-4E74-847B-CB238FC35622}" destId="{2CC3ED00-BB4E-4839-B95D-F9BD7143B77A}" srcOrd="1" destOrd="0" presId="urn:microsoft.com/office/officeart/2018/2/layout/IconVerticalSolidList"/>
    <dgm:cxn modelId="{1160AC9D-6C2B-44CC-BB7A-9324683B63AD}" type="presParOf" srcId="{3D59F3BF-2824-4E74-847B-CB238FC35622}" destId="{DB0FF6BC-E7D1-4081-92BC-BF82336732DD}" srcOrd="2" destOrd="0" presId="urn:microsoft.com/office/officeart/2018/2/layout/IconVerticalSolidList"/>
    <dgm:cxn modelId="{81792DDA-0311-42D5-B6BA-B747B4839D7F}" type="presParOf" srcId="{DB0FF6BC-E7D1-4081-92BC-BF82336732DD}" destId="{C32FC9DA-A1C9-4915-9C25-9ADB21FF7D38}" srcOrd="0" destOrd="0" presId="urn:microsoft.com/office/officeart/2018/2/layout/IconVerticalSolidList"/>
    <dgm:cxn modelId="{A385F04A-2DAE-4D11-A573-C51D803CFF25}" type="presParOf" srcId="{DB0FF6BC-E7D1-4081-92BC-BF82336732DD}" destId="{55DFE063-83EB-453D-896E-BFDE81EF13DA}" srcOrd="1" destOrd="0" presId="urn:microsoft.com/office/officeart/2018/2/layout/IconVerticalSolidList"/>
    <dgm:cxn modelId="{3E664CD4-543D-4632-B78B-7EB39CD6FA20}" type="presParOf" srcId="{DB0FF6BC-E7D1-4081-92BC-BF82336732DD}" destId="{AC661267-75F1-47F8-AD8F-95919C565D87}" srcOrd="2" destOrd="0" presId="urn:microsoft.com/office/officeart/2018/2/layout/IconVerticalSolidList"/>
    <dgm:cxn modelId="{EF98CE03-1029-4A51-8D92-9A0427FA096F}" type="presParOf" srcId="{DB0FF6BC-E7D1-4081-92BC-BF82336732DD}" destId="{9DB8D4F0-B071-4FC2-B891-84AFDA7D4F55}" srcOrd="3" destOrd="0" presId="urn:microsoft.com/office/officeart/2018/2/layout/IconVerticalSolidList"/>
    <dgm:cxn modelId="{2C622DCA-6329-4763-9DE7-FD19CABB8BD6}" type="presParOf" srcId="{3D59F3BF-2824-4E74-847B-CB238FC35622}" destId="{D1DDCA61-660A-4184-9A93-8DC165EF97B2}" srcOrd="3" destOrd="0" presId="urn:microsoft.com/office/officeart/2018/2/layout/IconVerticalSolidList"/>
    <dgm:cxn modelId="{4FF0EE20-CB25-4830-B686-3CEF5E106A07}" type="presParOf" srcId="{3D59F3BF-2824-4E74-847B-CB238FC35622}" destId="{6C1EA5B0-EDA2-46B9-821E-AA7D12219AE8}" srcOrd="4" destOrd="0" presId="urn:microsoft.com/office/officeart/2018/2/layout/IconVerticalSolidList"/>
    <dgm:cxn modelId="{A542D015-A6D6-4360-963C-6C4CA1EF9107}" type="presParOf" srcId="{6C1EA5B0-EDA2-46B9-821E-AA7D12219AE8}" destId="{66C6DAC1-58FF-46B9-9562-9A88C2F3C30B}" srcOrd="0" destOrd="0" presId="urn:microsoft.com/office/officeart/2018/2/layout/IconVerticalSolidList"/>
    <dgm:cxn modelId="{8BF5C19B-9B9C-40EF-92FC-AC6261F0CE79}" type="presParOf" srcId="{6C1EA5B0-EDA2-46B9-821E-AA7D12219AE8}" destId="{970DD3BB-2EB2-4782-A892-982CEADF3B68}" srcOrd="1" destOrd="0" presId="urn:microsoft.com/office/officeart/2018/2/layout/IconVerticalSolidList"/>
    <dgm:cxn modelId="{93DBCDD2-D870-4405-9460-2AD913E36622}" type="presParOf" srcId="{6C1EA5B0-EDA2-46B9-821E-AA7D12219AE8}" destId="{C07B25E8-5202-4F32-8762-C8EBDCF37747}" srcOrd="2" destOrd="0" presId="urn:microsoft.com/office/officeart/2018/2/layout/IconVerticalSolidList"/>
    <dgm:cxn modelId="{DDD3A7AD-68E5-460C-8CFE-041E29D44E27}" type="presParOf" srcId="{6C1EA5B0-EDA2-46B9-821E-AA7D12219AE8}" destId="{65D52F9B-5A1E-4AB6-BE9A-84A295668FC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30E33DB-7122-403D-ACDC-5264FFC6B4B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7CDE300-C9C8-4903-BE12-3FD2AFCEDAB5}">
      <dgm:prSet/>
      <dgm:spPr/>
      <dgm:t>
        <a:bodyPr/>
        <a:lstStyle/>
        <a:p>
          <a:r>
            <a:rPr lang="en-GB"/>
            <a:t>Static Website</a:t>
          </a:r>
          <a:endParaRPr lang="en-US"/>
        </a:p>
      </dgm:t>
    </dgm:pt>
    <dgm:pt modelId="{682DC5BF-4C3A-42A2-8F92-4B6DB9EF5D8A}" type="parTrans" cxnId="{F308C714-7DBF-4AA6-AC87-1253DD2B2D11}">
      <dgm:prSet/>
      <dgm:spPr/>
      <dgm:t>
        <a:bodyPr/>
        <a:lstStyle/>
        <a:p>
          <a:endParaRPr lang="en-US"/>
        </a:p>
      </dgm:t>
    </dgm:pt>
    <dgm:pt modelId="{86848494-55F7-46AF-BF4F-273293D193A2}" type="sibTrans" cxnId="{F308C714-7DBF-4AA6-AC87-1253DD2B2D11}">
      <dgm:prSet/>
      <dgm:spPr/>
      <dgm:t>
        <a:bodyPr/>
        <a:lstStyle/>
        <a:p>
          <a:endParaRPr lang="en-US"/>
        </a:p>
      </dgm:t>
    </dgm:pt>
    <dgm:pt modelId="{62C1F962-EFBA-45EA-A481-BC8ED7018B37}">
      <dgm:prSet/>
      <dgm:spPr/>
      <dgm:t>
        <a:bodyPr/>
        <a:lstStyle/>
        <a:p>
          <a:r>
            <a:rPr lang="en-GB"/>
            <a:t>Dynamic Website</a:t>
          </a:r>
          <a:endParaRPr lang="en-US"/>
        </a:p>
      </dgm:t>
    </dgm:pt>
    <dgm:pt modelId="{07C0C6D0-D1B7-46DF-AF6E-83A5240FD4C4}" type="parTrans" cxnId="{4FF68FE9-F64D-4CE8-A0E4-23FBB96C7EBE}">
      <dgm:prSet/>
      <dgm:spPr/>
      <dgm:t>
        <a:bodyPr/>
        <a:lstStyle/>
        <a:p>
          <a:endParaRPr lang="en-US"/>
        </a:p>
      </dgm:t>
    </dgm:pt>
    <dgm:pt modelId="{1541F7C5-E04B-4507-BD4C-65652CB4A094}" type="sibTrans" cxnId="{4FF68FE9-F64D-4CE8-A0E4-23FBB96C7EBE}">
      <dgm:prSet/>
      <dgm:spPr/>
      <dgm:t>
        <a:bodyPr/>
        <a:lstStyle/>
        <a:p>
          <a:endParaRPr lang="en-US"/>
        </a:p>
      </dgm:t>
    </dgm:pt>
    <dgm:pt modelId="{BAB479CA-2082-49B5-A589-CD9DF6EBD506}" type="pres">
      <dgm:prSet presAssocID="{730E33DB-7122-403D-ACDC-5264FFC6B4BE}" presName="root" presStyleCnt="0">
        <dgm:presLayoutVars>
          <dgm:dir/>
          <dgm:resizeHandles val="exact"/>
        </dgm:presLayoutVars>
      </dgm:prSet>
      <dgm:spPr/>
    </dgm:pt>
    <dgm:pt modelId="{DA0C4953-A2AE-4C75-BED4-3CEB5BC32428}" type="pres">
      <dgm:prSet presAssocID="{87CDE300-C9C8-4903-BE12-3FD2AFCEDAB5}" presName="compNode" presStyleCnt="0"/>
      <dgm:spPr/>
    </dgm:pt>
    <dgm:pt modelId="{5A7818C6-0D04-426A-90AA-CCCF12D2AA25}" type="pres">
      <dgm:prSet presAssocID="{87CDE300-C9C8-4903-BE12-3FD2AFCEDAB5}" presName="bgRect" presStyleLbl="bgShp" presStyleIdx="0" presStyleCnt="2"/>
      <dgm:spPr/>
    </dgm:pt>
    <dgm:pt modelId="{5B932A81-7CF3-44F2-AD05-347DA1DE76B1}" type="pres">
      <dgm:prSet presAssocID="{87CDE300-C9C8-4903-BE12-3FD2AFCEDAB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itor"/>
        </a:ext>
      </dgm:extLst>
    </dgm:pt>
    <dgm:pt modelId="{E41FF61B-E2AB-40F9-90C1-D52ADCA24FB5}" type="pres">
      <dgm:prSet presAssocID="{87CDE300-C9C8-4903-BE12-3FD2AFCEDAB5}" presName="spaceRect" presStyleCnt="0"/>
      <dgm:spPr/>
    </dgm:pt>
    <dgm:pt modelId="{3303D021-4527-4040-B4FA-2CE42BAFD9B6}" type="pres">
      <dgm:prSet presAssocID="{87CDE300-C9C8-4903-BE12-3FD2AFCEDAB5}" presName="parTx" presStyleLbl="revTx" presStyleIdx="0" presStyleCnt="2">
        <dgm:presLayoutVars>
          <dgm:chMax val="0"/>
          <dgm:chPref val="0"/>
        </dgm:presLayoutVars>
      </dgm:prSet>
      <dgm:spPr/>
    </dgm:pt>
    <dgm:pt modelId="{864E4F3F-0F2F-45BF-977B-7BA3CBFF917B}" type="pres">
      <dgm:prSet presAssocID="{86848494-55F7-46AF-BF4F-273293D193A2}" presName="sibTrans" presStyleCnt="0"/>
      <dgm:spPr/>
    </dgm:pt>
    <dgm:pt modelId="{F2ADF979-7485-4678-B02C-BA55DCC1A019}" type="pres">
      <dgm:prSet presAssocID="{62C1F962-EFBA-45EA-A481-BC8ED7018B37}" presName="compNode" presStyleCnt="0"/>
      <dgm:spPr/>
    </dgm:pt>
    <dgm:pt modelId="{C44B8B5B-30F7-4E33-9B7A-A60F21029E16}" type="pres">
      <dgm:prSet presAssocID="{62C1F962-EFBA-45EA-A481-BC8ED7018B37}" presName="bgRect" presStyleLbl="bgShp" presStyleIdx="1" presStyleCnt="2"/>
      <dgm:spPr/>
    </dgm:pt>
    <dgm:pt modelId="{A45A1876-E285-497D-8D72-8CDD4482146B}" type="pres">
      <dgm:prSet presAssocID="{62C1F962-EFBA-45EA-A481-BC8ED7018B3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aptop"/>
        </a:ext>
      </dgm:extLst>
    </dgm:pt>
    <dgm:pt modelId="{19E6471B-2E37-4050-85A8-26668C0EBD81}" type="pres">
      <dgm:prSet presAssocID="{62C1F962-EFBA-45EA-A481-BC8ED7018B37}" presName="spaceRect" presStyleCnt="0"/>
      <dgm:spPr/>
    </dgm:pt>
    <dgm:pt modelId="{B7391791-0831-477F-AEF7-FAD2D246DE58}" type="pres">
      <dgm:prSet presAssocID="{62C1F962-EFBA-45EA-A481-BC8ED7018B37}" presName="parTx" presStyleLbl="revTx" presStyleIdx="1" presStyleCnt="2">
        <dgm:presLayoutVars>
          <dgm:chMax val="0"/>
          <dgm:chPref val="0"/>
        </dgm:presLayoutVars>
      </dgm:prSet>
      <dgm:spPr/>
    </dgm:pt>
  </dgm:ptLst>
  <dgm:cxnLst>
    <dgm:cxn modelId="{F308C714-7DBF-4AA6-AC87-1253DD2B2D11}" srcId="{730E33DB-7122-403D-ACDC-5264FFC6B4BE}" destId="{87CDE300-C9C8-4903-BE12-3FD2AFCEDAB5}" srcOrd="0" destOrd="0" parTransId="{682DC5BF-4C3A-42A2-8F92-4B6DB9EF5D8A}" sibTransId="{86848494-55F7-46AF-BF4F-273293D193A2}"/>
    <dgm:cxn modelId="{2E0D8217-20FA-4BA1-BF2F-6C4D8EAFB461}" type="presOf" srcId="{62C1F962-EFBA-45EA-A481-BC8ED7018B37}" destId="{B7391791-0831-477F-AEF7-FAD2D246DE58}" srcOrd="0" destOrd="0" presId="urn:microsoft.com/office/officeart/2018/2/layout/IconVerticalSolidList"/>
    <dgm:cxn modelId="{9085B060-4BC1-42C9-9A97-298A7B094616}" type="presOf" srcId="{87CDE300-C9C8-4903-BE12-3FD2AFCEDAB5}" destId="{3303D021-4527-4040-B4FA-2CE42BAFD9B6}" srcOrd="0" destOrd="0" presId="urn:microsoft.com/office/officeart/2018/2/layout/IconVerticalSolidList"/>
    <dgm:cxn modelId="{354435A0-90FA-4FA4-BCDB-2470169155C7}" type="presOf" srcId="{730E33DB-7122-403D-ACDC-5264FFC6B4BE}" destId="{BAB479CA-2082-49B5-A589-CD9DF6EBD506}" srcOrd="0" destOrd="0" presId="urn:microsoft.com/office/officeart/2018/2/layout/IconVerticalSolidList"/>
    <dgm:cxn modelId="{4FF68FE9-F64D-4CE8-A0E4-23FBB96C7EBE}" srcId="{730E33DB-7122-403D-ACDC-5264FFC6B4BE}" destId="{62C1F962-EFBA-45EA-A481-BC8ED7018B37}" srcOrd="1" destOrd="0" parTransId="{07C0C6D0-D1B7-46DF-AF6E-83A5240FD4C4}" sibTransId="{1541F7C5-E04B-4507-BD4C-65652CB4A094}"/>
    <dgm:cxn modelId="{6D5F808D-AD28-42FC-BEE4-44291B009CD3}" type="presParOf" srcId="{BAB479CA-2082-49B5-A589-CD9DF6EBD506}" destId="{DA0C4953-A2AE-4C75-BED4-3CEB5BC32428}" srcOrd="0" destOrd="0" presId="urn:microsoft.com/office/officeart/2018/2/layout/IconVerticalSolidList"/>
    <dgm:cxn modelId="{0F06A8A1-5F80-4AD2-9421-471C50721346}" type="presParOf" srcId="{DA0C4953-A2AE-4C75-BED4-3CEB5BC32428}" destId="{5A7818C6-0D04-426A-90AA-CCCF12D2AA25}" srcOrd="0" destOrd="0" presId="urn:microsoft.com/office/officeart/2018/2/layout/IconVerticalSolidList"/>
    <dgm:cxn modelId="{AEFF233B-40CC-4FC3-9335-FBE94D0CD542}" type="presParOf" srcId="{DA0C4953-A2AE-4C75-BED4-3CEB5BC32428}" destId="{5B932A81-7CF3-44F2-AD05-347DA1DE76B1}" srcOrd="1" destOrd="0" presId="urn:microsoft.com/office/officeart/2018/2/layout/IconVerticalSolidList"/>
    <dgm:cxn modelId="{60486195-4641-4508-87A3-13849E6CCD62}" type="presParOf" srcId="{DA0C4953-A2AE-4C75-BED4-3CEB5BC32428}" destId="{E41FF61B-E2AB-40F9-90C1-D52ADCA24FB5}" srcOrd="2" destOrd="0" presId="urn:microsoft.com/office/officeart/2018/2/layout/IconVerticalSolidList"/>
    <dgm:cxn modelId="{B1893105-853B-4E35-9C4C-813AAAA73EF8}" type="presParOf" srcId="{DA0C4953-A2AE-4C75-BED4-3CEB5BC32428}" destId="{3303D021-4527-4040-B4FA-2CE42BAFD9B6}" srcOrd="3" destOrd="0" presId="urn:microsoft.com/office/officeart/2018/2/layout/IconVerticalSolidList"/>
    <dgm:cxn modelId="{68D9C3F1-7677-4569-A1B9-B73E69879BE4}" type="presParOf" srcId="{BAB479CA-2082-49B5-A589-CD9DF6EBD506}" destId="{864E4F3F-0F2F-45BF-977B-7BA3CBFF917B}" srcOrd="1" destOrd="0" presId="urn:microsoft.com/office/officeart/2018/2/layout/IconVerticalSolidList"/>
    <dgm:cxn modelId="{31DF76F3-46DC-4A7A-A562-783DC7CDB6E7}" type="presParOf" srcId="{BAB479CA-2082-49B5-A589-CD9DF6EBD506}" destId="{F2ADF979-7485-4678-B02C-BA55DCC1A019}" srcOrd="2" destOrd="0" presId="urn:microsoft.com/office/officeart/2018/2/layout/IconVerticalSolidList"/>
    <dgm:cxn modelId="{C3625E7F-8B6B-4C0C-9866-A7EB98818CAA}" type="presParOf" srcId="{F2ADF979-7485-4678-B02C-BA55DCC1A019}" destId="{C44B8B5B-30F7-4E33-9B7A-A60F21029E16}" srcOrd="0" destOrd="0" presId="urn:microsoft.com/office/officeart/2018/2/layout/IconVerticalSolidList"/>
    <dgm:cxn modelId="{9035D480-6036-4EE9-92A7-6BFEB02D6B94}" type="presParOf" srcId="{F2ADF979-7485-4678-B02C-BA55DCC1A019}" destId="{A45A1876-E285-497D-8D72-8CDD4482146B}" srcOrd="1" destOrd="0" presId="urn:microsoft.com/office/officeart/2018/2/layout/IconVerticalSolidList"/>
    <dgm:cxn modelId="{BCAC9558-7C39-4779-A9F4-5584CD29FFFC}" type="presParOf" srcId="{F2ADF979-7485-4678-B02C-BA55DCC1A019}" destId="{19E6471B-2E37-4050-85A8-26668C0EBD81}" srcOrd="2" destOrd="0" presId="urn:microsoft.com/office/officeart/2018/2/layout/IconVerticalSolidList"/>
    <dgm:cxn modelId="{1346D4FE-A480-43B9-89C4-450CA0273BC0}" type="presParOf" srcId="{F2ADF979-7485-4678-B02C-BA55DCC1A019}" destId="{B7391791-0831-477F-AEF7-FAD2D246DE5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128F7A-AF10-452C-B5F8-68076CDFB4B9}">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F26A4B-5D83-492D-AEED-66CFDE0AA28E}">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193A90-5FB4-431E-89C7-28AA8C3CAF8F}">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GB" sz="2500" kern="1200"/>
            <a:t>Web servers (Apache, Nginx, IIS)</a:t>
          </a:r>
          <a:endParaRPr lang="en-US" sz="2500" kern="1200"/>
        </a:p>
      </dsp:txBody>
      <dsp:txXfrm>
        <a:off x="1435590" y="531"/>
        <a:ext cx="9080009" cy="1242935"/>
      </dsp:txXfrm>
    </dsp:sp>
    <dsp:sp modelId="{C32FC9DA-A1C9-4915-9C25-9ADB21FF7D38}">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DFE063-83EB-453D-896E-BFDE81EF13DA}">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B8D4F0-B071-4FC2-B891-84AFDA7D4F55}">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GB" sz="2500" kern="1200"/>
            <a:t>Static vs Dynamic content</a:t>
          </a:r>
          <a:endParaRPr lang="en-US" sz="2500" kern="1200"/>
        </a:p>
      </dsp:txBody>
      <dsp:txXfrm>
        <a:off x="1435590" y="1554201"/>
        <a:ext cx="9080009" cy="1242935"/>
      </dsp:txXfrm>
    </dsp:sp>
    <dsp:sp modelId="{66C6DAC1-58FF-46B9-9562-9A88C2F3C30B}">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0DD3BB-2EB2-4782-A892-982CEADF3B68}">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D52F9B-5A1E-4AB6-BE9A-84A295668FCB}">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GB" sz="2500" kern="1200"/>
            <a:t>Installing and configuring a local development server</a:t>
          </a:r>
          <a:endParaRPr lang="en-US" sz="2500" kern="1200"/>
        </a:p>
      </dsp:txBody>
      <dsp:txXfrm>
        <a:off x="1435590" y="3107870"/>
        <a:ext cx="9080009" cy="12429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7818C6-0D04-426A-90AA-CCCF12D2AA25}">
      <dsp:nvSpPr>
        <dsp:cNvPr id="0" name=""/>
        <dsp:cNvSpPr/>
      </dsp:nvSpPr>
      <dsp:spPr>
        <a:xfrm>
          <a:off x="0" y="908268"/>
          <a:ext cx="6245265" cy="167680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932A81-7CF3-44F2-AD05-347DA1DE76B1}">
      <dsp:nvSpPr>
        <dsp:cNvPr id="0" name=""/>
        <dsp:cNvSpPr/>
      </dsp:nvSpPr>
      <dsp:spPr>
        <a:xfrm>
          <a:off x="507233" y="1285549"/>
          <a:ext cx="922242" cy="92224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03D021-4527-4040-B4FA-2CE42BAFD9B6}">
      <dsp:nvSpPr>
        <dsp:cNvPr id="0" name=""/>
        <dsp:cNvSpPr/>
      </dsp:nvSpPr>
      <dsp:spPr>
        <a:xfrm>
          <a:off x="1936708" y="908268"/>
          <a:ext cx="4308556" cy="1676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462" tIns="177462" rIns="177462" bIns="177462" numCol="1" spcCol="1270" anchor="ctr" anchorCtr="0">
          <a:noAutofit/>
        </a:bodyPr>
        <a:lstStyle/>
        <a:p>
          <a:pPr marL="0" lvl="0" indent="0" algn="l" defTabSz="1111250">
            <a:lnSpc>
              <a:spcPct val="90000"/>
            </a:lnSpc>
            <a:spcBef>
              <a:spcPct val="0"/>
            </a:spcBef>
            <a:spcAft>
              <a:spcPct val="35000"/>
            </a:spcAft>
            <a:buNone/>
          </a:pPr>
          <a:r>
            <a:rPr lang="en-GB" sz="2500" kern="1200"/>
            <a:t>Static Website</a:t>
          </a:r>
          <a:endParaRPr lang="en-US" sz="2500" kern="1200"/>
        </a:p>
      </dsp:txBody>
      <dsp:txXfrm>
        <a:off x="1936708" y="908268"/>
        <a:ext cx="4308556" cy="1676804"/>
      </dsp:txXfrm>
    </dsp:sp>
    <dsp:sp modelId="{C44B8B5B-30F7-4E33-9B7A-A60F21029E16}">
      <dsp:nvSpPr>
        <dsp:cNvPr id="0" name=""/>
        <dsp:cNvSpPr/>
      </dsp:nvSpPr>
      <dsp:spPr>
        <a:xfrm>
          <a:off x="0" y="3004274"/>
          <a:ext cx="6245265" cy="167680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5A1876-E285-497D-8D72-8CDD4482146B}">
      <dsp:nvSpPr>
        <dsp:cNvPr id="0" name=""/>
        <dsp:cNvSpPr/>
      </dsp:nvSpPr>
      <dsp:spPr>
        <a:xfrm>
          <a:off x="507233" y="3381554"/>
          <a:ext cx="922242" cy="92224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391791-0831-477F-AEF7-FAD2D246DE58}">
      <dsp:nvSpPr>
        <dsp:cNvPr id="0" name=""/>
        <dsp:cNvSpPr/>
      </dsp:nvSpPr>
      <dsp:spPr>
        <a:xfrm>
          <a:off x="1936708" y="3004274"/>
          <a:ext cx="4308556" cy="1676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462" tIns="177462" rIns="177462" bIns="177462" numCol="1" spcCol="1270" anchor="ctr" anchorCtr="0">
          <a:noAutofit/>
        </a:bodyPr>
        <a:lstStyle/>
        <a:p>
          <a:pPr marL="0" lvl="0" indent="0" algn="l" defTabSz="1111250">
            <a:lnSpc>
              <a:spcPct val="90000"/>
            </a:lnSpc>
            <a:spcBef>
              <a:spcPct val="0"/>
            </a:spcBef>
            <a:spcAft>
              <a:spcPct val="35000"/>
            </a:spcAft>
            <a:buNone/>
          </a:pPr>
          <a:r>
            <a:rPr lang="en-GB" sz="2500" kern="1200"/>
            <a:t>Dynamic Website</a:t>
          </a:r>
          <a:endParaRPr lang="en-US" sz="2500" kern="1200"/>
        </a:p>
      </dsp:txBody>
      <dsp:txXfrm>
        <a:off x="1936708" y="3004274"/>
        <a:ext cx="4308556" cy="167680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9DA5-7FB1-F82F-8040-128BA7116EB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F993D0D-94F4-318F-7541-BE2EE2317A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C8018B7-55F2-EC29-19A3-37BF346C8A0A}"/>
              </a:ext>
            </a:extLst>
          </p:cNvPr>
          <p:cNvSpPr>
            <a:spLocks noGrp="1"/>
          </p:cNvSpPr>
          <p:nvPr>
            <p:ph type="dt" sz="half" idx="10"/>
          </p:nvPr>
        </p:nvSpPr>
        <p:spPr/>
        <p:txBody>
          <a:bodyPr/>
          <a:lstStyle/>
          <a:p>
            <a:fld id="{EBF515E6-245F-1E48-A522-DCC1D06C7F93}" type="datetimeFigureOut">
              <a:rPr lang="en-US" smtClean="0"/>
              <a:t>9/26/25</a:t>
            </a:fld>
            <a:endParaRPr lang="en-US"/>
          </a:p>
        </p:txBody>
      </p:sp>
      <p:sp>
        <p:nvSpPr>
          <p:cNvPr id="5" name="Footer Placeholder 4">
            <a:extLst>
              <a:ext uri="{FF2B5EF4-FFF2-40B4-BE49-F238E27FC236}">
                <a16:creationId xmlns:a16="http://schemas.microsoft.com/office/drawing/2014/main" id="{AEE8B63A-5687-40EF-9DFC-83506FD865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C80D48-0E0E-33C2-39A0-F9E1A00A80D1}"/>
              </a:ext>
            </a:extLst>
          </p:cNvPr>
          <p:cNvSpPr>
            <a:spLocks noGrp="1"/>
          </p:cNvSpPr>
          <p:nvPr>
            <p:ph type="sldNum" sz="quarter" idx="12"/>
          </p:nvPr>
        </p:nvSpPr>
        <p:spPr/>
        <p:txBody>
          <a:bodyPr/>
          <a:lstStyle/>
          <a:p>
            <a:fld id="{CDE4C335-AD1E-304C-9292-556ECE521B94}" type="slidenum">
              <a:rPr lang="en-US" smtClean="0"/>
              <a:t>‹#›</a:t>
            </a:fld>
            <a:endParaRPr lang="en-US"/>
          </a:p>
        </p:txBody>
      </p:sp>
    </p:spTree>
    <p:extLst>
      <p:ext uri="{BB962C8B-B14F-4D97-AF65-F5344CB8AC3E}">
        <p14:creationId xmlns:p14="http://schemas.microsoft.com/office/powerpoint/2010/main" val="2394017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BA52C-392D-0C79-229E-BA33DC00203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FD7C440-56E4-6BDD-BD4B-0807FE28BC6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82453EB-017F-4FF9-3CD9-3DC8183AB8E7}"/>
              </a:ext>
            </a:extLst>
          </p:cNvPr>
          <p:cNvSpPr>
            <a:spLocks noGrp="1"/>
          </p:cNvSpPr>
          <p:nvPr>
            <p:ph type="dt" sz="half" idx="10"/>
          </p:nvPr>
        </p:nvSpPr>
        <p:spPr/>
        <p:txBody>
          <a:bodyPr/>
          <a:lstStyle/>
          <a:p>
            <a:fld id="{EBF515E6-245F-1E48-A522-DCC1D06C7F93}" type="datetimeFigureOut">
              <a:rPr lang="en-US" smtClean="0"/>
              <a:t>9/26/25</a:t>
            </a:fld>
            <a:endParaRPr lang="en-US"/>
          </a:p>
        </p:txBody>
      </p:sp>
      <p:sp>
        <p:nvSpPr>
          <p:cNvPr id="5" name="Footer Placeholder 4">
            <a:extLst>
              <a:ext uri="{FF2B5EF4-FFF2-40B4-BE49-F238E27FC236}">
                <a16:creationId xmlns:a16="http://schemas.microsoft.com/office/drawing/2014/main" id="{41CB5CD5-7AA5-CC1D-26FB-CDFDF7D1E8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51A804-8FB7-7C50-32D9-397B158E1408}"/>
              </a:ext>
            </a:extLst>
          </p:cNvPr>
          <p:cNvSpPr>
            <a:spLocks noGrp="1"/>
          </p:cNvSpPr>
          <p:nvPr>
            <p:ph type="sldNum" sz="quarter" idx="12"/>
          </p:nvPr>
        </p:nvSpPr>
        <p:spPr/>
        <p:txBody>
          <a:bodyPr/>
          <a:lstStyle/>
          <a:p>
            <a:fld id="{CDE4C335-AD1E-304C-9292-556ECE521B94}" type="slidenum">
              <a:rPr lang="en-US" smtClean="0"/>
              <a:t>‹#›</a:t>
            </a:fld>
            <a:endParaRPr lang="en-US"/>
          </a:p>
        </p:txBody>
      </p:sp>
    </p:spTree>
    <p:extLst>
      <p:ext uri="{BB962C8B-B14F-4D97-AF65-F5344CB8AC3E}">
        <p14:creationId xmlns:p14="http://schemas.microsoft.com/office/powerpoint/2010/main" val="241475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BCD08-99D1-112E-FB08-0083D5F5D39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022390E-E534-A096-9C36-FF3B458D77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9C64F8B-B6D2-F002-6DC0-0206535EF7B7}"/>
              </a:ext>
            </a:extLst>
          </p:cNvPr>
          <p:cNvSpPr>
            <a:spLocks noGrp="1"/>
          </p:cNvSpPr>
          <p:nvPr>
            <p:ph type="dt" sz="half" idx="10"/>
          </p:nvPr>
        </p:nvSpPr>
        <p:spPr/>
        <p:txBody>
          <a:bodyPr/>
          <a:lstStyle/>
          <a:p>
            <a:fld id="{EBF515E6-245F-1E48-A522-DCC1D06C7F93}" type="datetimeFigureOut">
              <a:rPr lang="en-US" smtClean="0"/>
              <a:t>9/26/25</a:t>
            </a:fld>
            <a:endParaRPr lang="en-US"/>
          </a:p>
        </p:txBody>
      </p:sp>
      <p:sp>
        <p:nvSpPr>
          <p:cNvPr id="5" name="Footer Placeholder 4">
            <a:extLst>
              <a:ext uri="{FF2B5EF4-FFF2-40B4-BE49-F238E27FC236}">
                <a16:creationId xmlns:a16="http://schemas.microsoft.com/office/drawing/2014/main" id="{A40F008E-E6B3-7C4B-9BA0-14BC288921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24AD7B-EF69-2EB5-77A8-DD5B664E5F40}"/>
              </a:ext>
            </a:extLst>
          </p:cNvPr>
          <p:cNvSpPr>
            <a:spLocks noGrp="1"/>
          </p:cNvSpPr>
          <p:nvPr>
            <p:ph type="sldNum" sz="quarter" idx="12"/>
          </p:nvPr>
        </p:nvSpPr>
        <p:spPr/>
        <p:txBody>
          <a:bodyPr/>
          <a:lstStyle/>
          <a:p>
            <a:fld id="{CDE4C335-AD1E-304C-9292-556ECE521B94}" type="slidenum">
              <a:rPr lang="en-US" smtClean="0"/>
              <a:t>‹#›</a:t>
            </a:fld>
            <a:endParaRPr lang="en-US"/>
          </a:p>
        </p:txBody>
      </p:sp>
    </p:spTree>
    <p:extLst>
      <p:ext uri="{BB962C8B-B14F-4D97-AF65-F5344CB8AC3E}">
        <p14:creationId xmlns:p14="http://schemas.microsoft.com/office/powerpoint/2010/main" val="713916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121F7-C7A8-93E8-1725-02A0727C57B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4CFDE5E-0F6C-303B-7D22-73DA5E085A5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1E9B11E-FE71-0E87-052F-B249559F13A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4FFD2BD-246D-14DA-5FBF-0B7F5D90CF2F}"/>
              </a:ext>
            </a:extLst>
          </p:cNvPr>
          <p:cNvSpPr>
            <a:spLocks noGrp="1"/>
          </p:cNvSpPr>
          <p:nvPr>
            <p:ph type="dt" sz="half" idx="10"/>
          </p:nvPr>
        </p:nvSpPr>
        <p:spPr/>
        <p:txBody>
          <a:bodyPr/>
          <a:lstStyle/>
          <a:p>
            <a:fld id="{EBF515E6-245F-1E48-A522-DCC1D06C7F93}" type="datetimeFigureOut">
              <a:rPr lang="en-US" smtClean="0"/>
              <a:t>9/26/25</a:t>
            </a:fld>
            <a:endParaRPr lang="en-US"/>
          </a:p>
        </p:txBody>
      </p:sp>
      <p:sp>
        <p:nvSpPr>
          <p:cNvPr id="6" name="Footer Placeholder 5">
            <a:extLst>
              <a:ext uri="{FF2B5EF4-FFF2-40B4-BE49-F238E27FC236}">
                <a16:creationId xmlns:a16="http://schemas.microsoft.com/office/drawing/2014/main" id="{685FE9B3-41E4-8726-11A5-A987503A02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0D50BA-3A45-A1C2-EEF4-A1AC269AE370}"/>
              </a:ext>
            </a:extLst>
          </p:cNvPr>
          <p:cNvSpPr>
            <a:spLocks noGrp="1"/>
          </p:cNvSpPr>
          <p:nvPr>
            <p:ph type="sldNum" sz="quarter" idx="12"/>
          </p:nvPr>
        </p:nvSpPr>
        <p:spPr/>
        <p:txBody>
          <a:bodyPr/>
          <a:lstStyle/>
          <a:p>
            <a:fld id="{CDE4C335-AD1E-304C-9292-556ECE521B94}" type="slidenum">
              <a:rPr lang="en-US" smtClean="0"/>
              <a:t>‹#›</a:t>
            </a:fld>
            <a:endParaRPr lang="en-US"/>
          </a:p>
        </p:txBody>
      </p:sp>
    </p:spTree>
    <p:extLst>
      <p:ext uri="{BB962C8B-B14F-4D97-AF65-F5344CB8AC3E}">
        <p14:creationId xmlns:p14="http://schemas.microsoft.com/office/powerpoint/2010/main" val="3202973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DC524-0CCC-ECE6-FFF4-E0A316E5480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B7AB854-BA80-C9F9-010A-B9BDBAF1E4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0BAC621-9265-D7B7-2F3D-D1081433A31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1C1CC82-9A05-D521-D4C3-0C3C21319C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0857B27-C845-7DE1-F6DD-EB4383DA68D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61B10F6-C2C9-4B44-79BC-28EF57A84F72}"/>
              </a:ext>
            </a:extLst>
          </p:cNvPr>
          <p:cNvSpPr>
            <a:spLocks noGrp="1"/>
          </p:cNvSpPr>
          <p:nvPr>
            <p:ph type="dt" sz="half" idx="10"/>
          </p:nvPr>
        </p:nvSpPr>
        <p:spPr/>
        <p:txBody>
          <a:bodyPr/>
          <a:lstStyle/>
          <a:p>
            <a:fld id="{EBF515E6-245F-1E48-A522-DCC1D06C7F93}" type="datetimeFigureOut">
              <a:rPr lang="en-US" smtClean="0"/>
              <a:t>9/26/25</a:t>
            </a:fld>
            <a:endParaRPr lang="en-US"/>
          </a:p>
        </p:txBody>
      </p:sp>
      <p:sp>
        <p:nvSpPr>
          <p:cNvPr id="8" name="Footer Placeholder 7">
            <a:extLst>
              <a:ext uri="{FF2B5EF4-FFF2-40B4-BE49-F238E27FC236}">
                <a16:creationId xmlns:a16="http://schemas.microsoft.com/office/drawing/2014/main" id="{7AC26024-81F3-D241-AA1C-EFE67D39AE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79D392-AA43-0383-0B1E-E0074CB48DE5}"/>
              </a:ext>
            </a:extLst>
          </p:cNvPr>
          <p:cNvSpPr>
            <a:spLocks noGrp="1"/>
          </p:cNvSpPr>
          <p:nvPr>
            <p:ph type="sldNum" sz="quarter" idx="12"/>
          </p:nvPr>
        </p:nvSpPr>
        <p:spPr/>
        <p:txBody>
          <a:bodyPr/>
          <a:lstStyle/>
          <a:p>
            <a:fld id="{CDE4C335-AD1E-304C-9292-556ECE521B94}" type="slidenum">
              <a:rPr lang="en-US" smtClean="0"/>
              <a:t>‹#›</a:t>
            </a:fld>
            <a:endParaRPr lang="en-US"/>
          </a:p>
        </p:txBody>
      </p:sp>
    </p:spTree>
    <p:extLst>
      <p:ext uri="{BB962C8B-B14F-4D97-AF65-F5344CB8AC3E}">
        <p14:creationId xmlns:p14="http://schemas.microsoft.com/office/powerpoint/2010/main" val="1030536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1ED2B-972C-26FC-D6ED-391BCDC150A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A8CE382-E18A-8392-249E-75804FA0ED13}"/>
              </a:ext>
            </a:extLst>
          </p:cNvPr>
          <p:cNvSpPr>
            <a:spLocks noGrp="1"/>
          </p:cNvSpPr>
          <p:nvPr>
            <p:ph type="dt" sz="half" idx="10"/>
          </p:nvPr>
        </p:nvSpPr>
        <p:spPr/>
        <p:txBody>
          <a:bodyPr/>
          <a:lstStyle/>
          <a:p>
            <a:fld id="{EBF515E6-245F-1E48-A522-DCC1D06C7F93}" type="datetimeFigureOut">
              <a:rPr lang="en-US" smtClean="0"/>
              <a:t>9/26/25</a:t>
            </a:fld>
            <a:endParaRPr lang="en-US"/>
          </a:p>
        </p:txBody>
      </p:sp>
      <p:sp>
        <p:nvSpPr>
          <p:cNvPr id="4" name="Footer Placeholder 3">
            <a:extLst>
              <a:ext uri="{FF2B5EF4-FFF2-40B4-BE49-F238E27FC236}">
                <a16:creationId xmlns:a16="http://schemas.microsoft.com/office/drawing/2014/main" id="{1CD04B7F-2701-B74F-247B-B47D18F97B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5EA91A-DEC4-E17A-69DC-40F12E6397D0}"/>
              </a:ext>
            </a:extLst>
          </p:cNvPr>
          <p:cNvSpPr>
            <a:spLocks noGrp="1"/>
          </p:cNvSpPr>
          <p:nvPr>
            <p:ph type="sldNum" sz="quarter" idx="12"/>
          </p:nvPr>
        </p:nvSpPr>
        <p:spPr/>
        <p:txBody>
          <a:bodyPr/>
          <a:lstStyle/>
          <a:p>
            <a:fld id="{CDE4C335-AD1E-304C-9292-556ECE521B94}" type="slidenum">
              <a:rPr lang="en-US" smtClean="0"/>
              <a:t>‹#›</a:t>
            </a:fld>
            <a:endParaRPr lang="en-US"/>
          </a:p>
        </p:txBody>
      </p:sp>
    </p:spTree>
    <p:extLst>
      <p:ext uri="{BB962C8B-B14F-4D97-AF65-F5344CB8AC3E}">
        <p14:creationId xmlns:p14="http://schemas.microsoft.com/office/powerpoint/2010/main" val="3865482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733D1F-5696-ADD8-4255-FEEA79F293F6}"/>
              </a:ext>
            </a:extLst>
          </p:cNvPr>
          <p:cNvSpPr>
            <a:spLocks noGrp="1"/>
          </p:cNvSpPr>
          <p:nvPr>
            <p:ph type="dt" sz="half" idx="10"/>
          </p:nvPr>
        </p:nvSpPr>
        <p:spPr/>
        <p:txBody>
          <a:bodyPr/>
          <a:lstStyle/>
          <a:p>
            <a:fld id="{EBF515E6-245F-1E48-A522-DCC1D06C7F93}" type="datetimeFigureOut">
              <a:rPr lang="en-US" smtClean="0"/>
              <a:t>9/26/25</a:t>
            </a:fld>
            <a:endParaRPr lang="en-US"/>
          </a:p>
        </p:txBody>
      </p:sp>
      <p:sp>
        <p:nvSpPr>
          <p:cNvPr id="3" name="Footer Placeholder 2">
            <a:extLst>
              <a:ext uri="{FF2B5EF4-FFF2-40B4-BE49-F238E27FC236}">
                <a16:creationId xmlns:a16="http://schemas.microsoft.com/office/drawing/2014/main" id="{1CA51B0E-A5C6-10BB-9A9E-0E06CEF3DE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2333FD3-044D-A1BB-78AC-4A6EFCD10176}"/>
              </a:ext>
            </a:extLst>
          </p:cNvPr>
          <p:cNvSpPr>
            <a:spLocks noGrp="1"/>
          </p:cNvSpPr>
          <p:nvPr>
            <p:ph type="sldNum" sz="quarter" idx="12"/>
          </p:nvPr>
        </p:nvSpPr>
        <p:spPr/>
        <p:txBody>
          <a:bodyPr/>
          <a:lstStyle/>
          <a:p>
            <a:fld id="{CDE4C335-AD1E-304C-9292-556ECE521B94}" type="slidenum">
              <a:rPr lang="en-US" smtClean="0"/>
              <a:t>‹#›</a:t>
            </a:fld>
            <a:endParaRPr lang="en-US"/>
          </a:p>
        </p:txBody>
      </p:sp>
    </p:spTree>
    <p:extLst>
      <p:ext uri="{BB962C8B-B14F-4D97-AF65-F5344CB8AC3E}">
        <p14:creationId xmlns:p14="http://schemas.microsoft.com/office/powerpoint/2010/main" val="4228451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AA938-A939-3EDA-E099-41DFC0A5B55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51C84EBC-83C1-AA23-A799-E22115E83F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2783A4F-8312-0522-10FB-F5152A17AB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0292F05-BA5E-0548-C5F2-A4F7C9ED19A1}"/>
              </a:ext>
            </a:extLst>
          </p:cNvPr>
          <p:cNvSpPr>
            <a:spLocks noGrp="1"/>
          </p:cNvSpPr>
          <p:nvPr>
            <p:ph type="dt" sz="half" idx="10"/>
          </p:nvPr>
        </p:nvSpPr>
        <p:spPr/>
        <p:txBody>
          <a:bodyPr/>
          <a:lstStyle/>
          <a:p>
            <a:fld id="{EBF515E6-245F-1E48-A522-DCC1D06C7F93}" type="datetimeFigureOut">
              <a:rPr lang="en-US" smtClean="0"/>
              <a:t>9/26/25</a:t>
            </a:fld>
            <a:endParaRPr lang="en-US"/>
          </a:p>
        </p:txBody>
      </p:sp>
      <p:sp>
        <p:nvSpPr>
          <p:cNvPr id="6" name="Footer Placeholder 5">
            <a:extLst>
              <a:ext uri="{FF2B5EF4-FFF2-40B4-BE49-F238E27FC236}">
                <a16:creationId xmlns:a16="http://schemas.microsoft.com/office/drawing/2014/main" id="{4A902EFF-946A-F734-E98F-42C80E1559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F5BA8B-523A-79F5-D098-999F582BC8DE}"/>
              </a:ext>
            </a:extLst>
          </p:cNvPr>
          <p:cNvSpPr>
            <a:spLocks noGrp="1"/>
          </p:cNvSpPr>
          <p:nvPr>
            <p:ph type="sldNum" sz="quarter" idx="12"/>
          </p:nvPr>
        </p:nvSpPr>
        <p:spPr/>
        <p:txBody>
          <a:bodyPr/>
          <a:lstStyle/>
          <a:p>
            <a:fld id="{CDE4C335-AD1E-304C-9292-556ECE521B94}" type="slidenum">
              <a:rPr lang="en-US" smtClean="0"/>
              <a:t>‹#›</a:t>
            </a:fld>
            <a:endParaRPr lang="en-US"/>
          </a:p>
        </p:txBody>
      </p:sp>
    </p:spTree>
    <p:extLst>
      <p:ext uri="{BB962C8B-B14F-4D97-AF65-F5344CB8AC3E}">
        <p14:creationId xmlns:p14="http://schemas.microsoft.com/office/powerpoint/2010/main" val="3543923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1AE06-FCF4-1F8B-07D1-0C89D9AFA46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7880184-8A8D-7175-1275-312B6E7EF4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A94EF70-3691-1131-7ACF-0ACC3B2DE8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323EAB4-9394-E349-1484-A69BC42AD338}"/>
              </a:ext>
            </a:extLst>
          </p:cNvPr>
          <p:cNvSpPr>
            <a:spLocks noGrp="1"/>
          </p:cNvSpPr>
          <p:nvPr>
            <p:ph type="dt" sz="half" idx="10"/>
          </p:nvPr>
        </p:nvSpPr>
        <p:spPr/>
        <p:txBody>
          <a:bodyPr/>
          <a:lstStyle/>
          <a:p>
            <a:fld id="{EBF515E6-245F-1E48-A522-DCC1D06C7F93}" type="datetimeFigureOut">
              <a:rPr lang="en-US" smtClean="0"/>
              <a:t>9/26/25</a:t>
            </a:fld>
            <a:endParaRPr lang="en-US"/>
          </a:p>
        </p:txBody>
      </p:sp>
      <p:sp>
        <p:nvSpPr>
          <p:cNvPr id="6" name="Footer Placeholder 5">
            <a:extLst>
              <a:ext uri="{FF2B5EF4-FFF2-40B4-BE49-F238E27FC236}">
                <a16:creationId xmlns:a16="http://schemas.microsoft.com/office/drawing/2014/main" id="{ACF0A821-4AED-1CF0-6EB6-3B6FAD1C88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1AAE91-9D3E-AC0E-1F90-C7EABD725608}"/>
              </a:ext>
            </a:extLst>
          </p:cNvPr>
          <p:cNvSpPr>
            <a:spLocks noGrp="1"/>
          </p:cNvSpPr>
          <p:nvPr>
            <p:ph type="sldNum" sz="quarter" idx="12"/>
          </p:nvPr>
        </p:nvSpPr>
        <p:spPr/>
        <p:txBody>
          <a:bodyPr/>
          <a:lstStyle/>
          <a:p>
            <a:fld id="{CDE4C335-AD1E-304C-9292-556ECE521B94}" type="slidenum">
              <a:rPr lang="en-US" smtClean="0"/>
              <a:t>‹#›</a:t>
            </a:fld>
            <a:endParaRPr lang="en-US"/>
          </a:p>
        </p:txBody>
      </p:sp>
    </p:spTree>
    <p:extLst>
      <p:ext uri="{BB962C8B-B14F-4D97-AF65-F5344CB8AC3E}">
        <p14:creationId xmlns:p14="http://schemas.microsoft.com/office/powerpoint/2010/main" val="3581348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ADA91-5967-15BF-434D-9BDEAD423A0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A874F75-8B1D-2FC6-DB60-43A679844DE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66F14A5-0509-8014-9738-D310872973C0}"/>
              </a:ext>
            </a:extLst>
          </p:cNvPr>
          <p:cNvSpPr>
            <a:spLocks noGrp="1"/>
          </p:cNvSpPr>
          <p:nvPr>
            <p:ph type="dt" sz="half" idx="10"/>
          </p:nvPr>
        </p:nvSpPr>
        <p:spPr/>
        <p:txBody>
          <a:bodyPr/>
          <a:lstStyle/>
          <a:p>
            <a:fld id="{EBF515E6-245F-1E48-A522-DCC1D06C7F93}" type="datetimeFigureOut">
              <a:rPr lang="en-US" smtClean="0"/>
              <a:t>9/26/25</a:t>
            </a:fld>
            <a:endParaRPr lang="en-US"/>
          </a:p>
        </p:txBody>
      </p:sp>
      <p:sp>
        <p:nvSpPr>
          <p:cNvPr id="5" name="Footer Placeholder 4">
            <a:extLst>
              <a:ext uri="{FF2B5EF4-FFF2-40B4-BE49-F238E27FC236}">
                <a16:creationId xmlns:a16="http://schemas.microsoft.com/office/drawing/2014/main" id="{EEE0354E-0630-3A73-4905-FF3A814AC4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E29C33-F460-AFA8-6D7F-820EA88D7535}"/>
              </a:ext>
            </a:extLst>
          </p:cNvPr>
          <p:cNvSpPr>
            <a:spLocks noGrp="1"/>
          </p:cNvSpPr>
          <p:nvPr>
            <p:ph type="sldNum" sz="quarter" idx="12"/>
          </p:nvPr>
        </p:nvSpPr>
        <p:spPr/>
        <p:txBody>
          <a:bodyPr/>
          <a:lstStyle/>
          <a:p>
            <a:fld id="{CDE4C335-AD1E-304C-9292-556ECE521B94}" type="slidenum">
              <a:rPr lang="en-US" smtClean="0"/>
              <a:t>‹#›</a:t>
            </a:fld>
            <a:endParaRPr lang="en-US"/>
          </a:p>
        </p:txBody>
      </p:sp>
    </p:spTree>
    <p:extLst>
      <p:ext uri="{BB962C8B-B14F-4D97-AF65-F5344CB8AC3E}">
        <p14:creationId xmlns:p14="http://schemas.microsoft.com/office/powerpoint/2010/main" val="1078532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5A334B-180C-5DEC-4408-CAC1560F73D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1AE3B0A-1B7B-9470-7C45-8F5BCA3F906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98C7405-70FD-82D5-BBF8-3691B4AE0090}"/>
              </a:ext>
            </a:extLst>
          </p:cNvPr>
          <p:cNvSpPr>
            <a:spLocks noGrp="1"/>
          </p:cNvSpPr>
          <p:nvPr>
            <p:ph type="dt" sz="half" idx="10"/>
          </p:nvPr>
        </p:nvSpPr>
        <p:spPr/>
        <p:txBody>
          <a:bodyPr/>
          <a:lstStyle/>
          <a:p>
            <a:fld id="{EBF515E6-245F-1E48-A522-DCC1D06C7F93}" type="datetimeFigureOut">
              <a:rPr lang="en-US" smtClean="0"/>
              <a:t>9/26/25</a:t>
            </a:fld>
            <a:endParaRPr lang="en-US"/>
          </a:p>
        </p:txBody>
      </p:sp>
      <p:sp>
        <p:nvSpPr>
          <p:cNvPr id="5" name="Footer Placeholder 4">
            <a:extLst>
              <a:ext uri="{FF2B5EF4-FFF2-40B4-BE49-F238E27FC236}">
                <a16:creationId xmlns:a16="http://schemas.microsoft.com/office/drawing/2014/main" id="{35A5A2E2-B0C0-D5AA-852B-142EE5DA4B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E3BFF7-CD54-F531-6006-913268AA529B}"/>
              </a:ext>
            </a:extLst>
          </p:cNvPr>
          <p:cNvSpPr>
            <a:spLocks noGrp="1"/>
          </p:cNvSpPr>
          <p:nvPr>
            <p:ph type="sldNum" sz="quarter" idx="12"/>
          </p:nvPr>
        </p:nvSpPr>
        <p:spPr/>
        <p:txBody>
          <a:bodyPr/>
          <a:lstStyle/>
          <a:p>
            <a:fld id="{CDE4C335-AD1E-304C-9292-556ECE521B94}" type="slidenum">
              <a:rPr lang="en-US" smtClean="0"/>
              <a:t>‹#›</a:t>
            </a:fld>
            <a:endParaRPr lang="en-US"/>
          </a:p>
        </p:txBody>
      </p:sp>
    </p:spTree>
    <p:extLst>
      <p:ext uri="{BB962C8B-B14F-4D97-AF65-F5344CB8AC3E}">
        <p14:creationId xmlns:p14="http://schemas.microsoft.com/office/powerpoint/2010/main" val="3055102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69FBCA-362A-7A29-B1B6-E434A8EA4E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AD7409F-526F-69D3-B6EE-455AEC7D2D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9E2BF25-8121-478B-50E8-2F97D4C3E3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F515E6-245F-1E48-A522-DCC1D06C7F93}" type="datetimeFigureOut">
              <a:rPr lang="en-US" smtClean="0"/>
              <a:t>9/26/25</a:t>
            </a:fld>
            <a:endParaRPr lang="en-US"/>
          </a:p>
        </p:txBody>
      </p:sp>
      <p:sp>
        <p:nvSpPr>
          <p:cNvPr id="5" name="Footer Placeholder 4">
            <a:extLst>
              <a:ext uri="{FF2B5EF4-FFF2-40B4-BE49-F238E27FC236}">
                <a16:creationId xmlns:a16="http://schemas.microsoft.com/office/drawing/2014/main" id="{2BE31A02-91D8-0A4E-5962-0F2EA0E377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D77E3FD-A506-9981-6A18-7CE4AF4AF6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E4C335-AD1E-304C-9292-556ECE521B94}" type="slidenum">
              <a:rPr lang="en-US" smtClean="0"/>
              <a:t>‹#›</a:t>
            </a:fld>
            <a:endParaRPr lang="en-US"/>
          </a:p>
        </p:txBody>
      </p:sp>
    </p:spTree>
    <p:extLst>
      <p:ext uri="{BB962C8B-B14F-4D97-AF65-F5344CB8AC3E}">
        <p14:creationId xmlns:p14="http://schemas.microsoft.com/office/powerpoint/2010/main" val="22439406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cantech.in/blog/what-is-nginx/"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cantech.in/blog/what-is-node-js-web-server/"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geeksforgeeks.org/" TargetMode="External"/><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geeksforgeeks.org/html/static-websites/" TargetMode="External"/><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geeksforgeeks.org/html/dynamic-websites/" TargetMode="External"/><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1EA1E0F5-E9D3-24B0-8C75-B57B66BC95F1}"/>
              </a:ext>
            </a:extLst>
          </p:cNvPr>
          <p:cNvSpPr>
            <a:spLocks noGrp="1"/>
          </p:cNvSpPr>
          <p:nvPr>
            <p:ph type="ctrTitle"/>
          </p:nvPr>
        </p:nvSpPr>
        <p:spPr>
          <a:xfrm>
            <a:off x="3502731" y="1542402"/>
            <a:ext cx="5186842" cy="2387918"/>
          </a:xfrm>
        </p:spPr>
        <p:txBody>
          <a:bodyPr anchor="b">
            <a:normAutofit/>
          </a:bodyPr>
          <a:lstStyle/>
          <a:p>
            <a:r>
              <a:rPr lang="en-GB" sz="5200" b="1" dirty="0">
                <a:solidFill>
                  <a:schemeClr val="tx2"/>
                </a:solidFill>
              </a:rPr>
              <a:t>Week 2. </a:t>
            </a:r>
            <a:br>
              <a:rPr lang="en-GB" sz="5200" b="1" dirty="0">
                <a:solidFill>
                  <a:schemeClr val="tx2"/>
                </a:solidFill>
              </a:rPr>
            </a:br>
            <a:r>
              <a:rPr lang="en-GB" sz="5200" b="1" dirty="0">
                <a:solidFill>
                  <a:schemeClr val="tx2"/>
                </a:solidFill>
              </a:rPr>
              <a:t>Web Server Fundamentals</a:t>
            </a:r>
            <a:endParaRPr lang="en-US" sz="5200" dirty="0">
              <a:solidFill>
                <a:schemeClr val="tx2"/>
              </a:solidFill>
            </a:endParaRPr>
          </a:p>
        </p:txBody>
      </p:sp>
      <p:sp>
        <p:nvSpPr>
          <p:cNvPr id="3" name="Subtitle 2">
            <a:extLst>
              <a:ext uri="{FF2B5EF4-FFF2-40B4-BE49-F238E27FC236}">
                <a16:creationId xmlns:a16="http://schemas.microsoft.com/office/drawing/2014/main" id="{DF1B4E41-3F9B-9F54-6474-2030342B2362}"/>
              </a:ext>
            </a:extLst>
          </p:cNvPr>
          <p:cNvSpPr>
            <a:spLocks noGrp="1"/>
          </p:cNvSpPr>
          <p:nvPr>
            <p:ph type="subTitle" idx="1"/>
          </p:nvPr>
        </p:nvSpPr>
        <p:spPr>
          <a:xfrm>
            <a:off x="3403746" y="5044436"/>
            <a:ext cx="5188034" cy="682079"/>
          </a:xfrm>
        </p:spPr>
        <p:txBody>
          <a:bodyPr>
            <a:normAutofit/>
          </a:bodyPr>
          <a:lstStyle/>
          <a:p>
            <a:r>
              <a:rPr lang="en-US">
                <a:solidFill>
                  <a:schemeClr val="tx2"/>
                </a:solidFill>
              </a:rPr>
              <a:t>Lecturer: Shakhnoza </a:t>
            </a:r>
            <a:r>
              <a:rPr lang="en-US" dirty="0">
                <a:solidFill>
                  <a:schemeClr val="tx2"/>
                </a:solidFill>
              </a:rPr>
              <a:t>Muksimova</a:t>
            </a: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TextBox 3">
            <a:extLst>
              <a:ext uri="{FF2B5EF4-FFF2-40B4-BE49-F238E27FC236}">
                <a16:creationId xmlns:a16="http://schemas.microsoft.com/office/drawing/2014/main" id="{ADA920BB-7C36-5458-15BE-7DD0AE459E16}"/>
              </a:ext>
            </a:extLst>
          </p:cNvPr>
          <p:cNvSpPr txBox="1"/>
          <p:nvPr/>
        </p:nvSpPr>
        <p:spPr>
          <a:xfrm>
            <a:off x="10733233" y="6363732"/>
            <a:ext cx="1303562" cy="369332"/>
          </a:xfrm>
          <a:prstGeom prst="rect">
            <a:avLst/>
          </a:prstGeom>
          <a:noFill/>
        </p:spPr>
        <p:txBody>
          <a:bodyPr wrap="none" rtlCol="0">
            <a:spAutoFit/>
          </a:bodyPr>
          <a:lstStyle/>
          <a:p>
            <a:r>
              <a:rPr lang="en-US" dirty="0"/>
              <a:t>19.09.2025</a:t>
            </a:r>
          </a:p>
        </p:txBody>
      </p:sp>
      <p:sp>
        <p:nvSpPr>
          <p:cNvPr id="5" name="TextBox 4">
            <a:extLst>
              <a:ext uri="{FF2B5EF4-FFF2-40B4-BE49-F238E27FC236}">
                <a16:creationId xmlns:a16="http://schemas.microsoft.com/office/drawing/2014/main" id="{39D43662-2EBE-B1F4-47B8-AB7583386C56}"/>
              </a:ext>
            </a:extLst>
          </p:cNvPr>
          <p:cNvSpPr txBox="1"/>
          <p:nvPr/>
        </p:nvSpPr>
        <p:spPr>
          <a:xfrm>
            <a:off x="10027920" y="599440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257082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58598-9B0B-F292-C640-085A03532BED}"/>
              </a:ext>
            </a:extLst>
          </p:cNvPr>
          <p:cNvSpPr>
            <a:spLocks noGrp="1"/>
          </p:cNvSpPr>
          <p:nvPr>
            <p:ph type="title"/>
          </p:nvPr>
        </p:nvSpPr>
        <p:spPr/>
        <p:txBody>
          <a:bodyPr/>
          <a:lstStyle/>
          <a:p>
            <a:r>
              <a:rPr lang="en-US" dirty="0"/>
              <a:t>Content</a:t>
            </a:r>
          </a:p>
        </p:txBody>
      </p:sp>
      <p:graphicFrame>
        <p:nvGraphicFramePr>
          <p:cNvPr id="12" name="Content Placeholder 2">
            <a:extLst>
              <a:ext uri="{FF2B5EF4-FFF2-40B4-BE49-F238E27FC236}">
                <a16:creationId xmlns:a16="http://schemas.microsoft.com/office/drawing/2014/main" id="{1D3A3BB2-E36E-E7C7-A159-963A98D2B66F}"/>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04250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F5CAF7-7EB8-C352-0456-169A12FDD2CB}"/>
              </a:ext>
            </a:extLst>
          </p:cNvPr>
          <p:cNvSpPr>
            <a:spLocks noGrp="1"/>
          </p:cNvSpPr>
          <p:nvPr>
            <p:ph type="title"/>
          </p:nvPr>
        </p:nvSpPr>
        <p:spPr>
          <a:xfrm>
            <a:off x="1171074" y="1396686"/>
            <a:ext cx="3240506" cy="4064628"/>
          </a:xfrm>
        </p:spPr>
        <p:txBody>
          <a:bodyPr>
            <a:normAutofit/>
          </a:bodyPr>
          <a:lstStyle/>
          <a:p>
            <a:r>
              <a:rPr lang="en-GB">
                <a:solidFill>
                  <a:srgbClr val="FFFFFF"/>
                </a:solidFill>
              </a:rPr>
              <a:t>Web servers</a:t>
            </a:r>
            <a:endParaRPr lang="en-US">
              <a:solidFill>
                <a:srgbClr val="FFFFFF"/>
              </a:solidFill>
            </a:endParaRPr>
          </a:p>
        </p:txBody>
      </p:sp>
      <p:sp>
        <p:nvSpPr>
          <p:cNvPr id="23" name="Arc 22">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30FF35D-B6D0-5B1A-10F0-FE1F9B97329A}"/>
              </a:ext>
            </a:extLst>
          </p:cNvPr>
          <p:cNvSpPr>
            <a:spLocks noGrp="1"/>
          </p:cNvSpPr>
          <p:nvPr>
            <p:ph idx="1"/>
          </p:nvPr>
        </p:nvSpPr>
        <p:spPr>
          <a:xfrm>
            <a:off x="5370153" y="1526033"/>
            <a:ext cx="5536397" cy="3935281"/>
          </a:xfrm>
        </p:spPr>
        <p:txBody>
          <a:bodyPr>
            <a:normAutofit/>
          </a:bodyPr>
          <a:lstStyle/>
          <a:p>
            <a:pPr fontAlgn="base"/>
            <a:r>
              <a:rPr lang="en-GB" sz="1800" dirty="0"/>
              <a:t>A web server is basically any hardware or software that uses Hypertext Transfer Protocol) HTTP and other protocols to transmit the requested web content over the Internet. Its main job is to deliver the website content such as images, texts and videos to users online. </a:t>
            </a:r>
          </a:p>
          <a:p>
            <a:pPr fontAlgn="base"/>
            <a:r>
              <a:rPr lang="en-GB" sz="1800" dirty="0"/>
              <a:t>The hardware component of a web server stores the website data while the software is responsible for processing requests and providing content such as HTML pages, images, and scripts. </a:t>
            </a:r>
          </a:p>
          <a:p>
            <a:pPr fontAlgn="base"/>
            <a:r>
              <a:rPr lang="en-GB" sz="1800" dirty="0"/>
              <a:t>In the context of web hosting, web servers are highly important as they store and process files required to make websites accessible.</a:t>
            </a:r>
            <a:endParaRPr lang="en-US" sz="1800" dirty="0"/>
          </a:p>
        </p:txBody>
      </p:sp>
    </p:spTree>
    <p:extLst>
      <p:ext uri="{BB962C8B-B14F-4D97-AF65-F5344CB8AC3E}">
        <p14:creationId xmlns:p14="http://schemas.microsoft.com/office/powerpoint/2010/main" val="3180006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F67B5F-9993-2CEE-9F0A-68466250902B}"/>
              </a:ext>
            </a:extLst>
          </p:cNvPr>
          <p:cNvSpPr>
            <a:spLocks noGrp="1"/>
          </p:cNvSpPr>
          <p:nvPr>
            <p:ph type="title"/>
          </p:nvPr>
        </p:nvSpPr>
        <p:spPr>
          <a:xfrm>
            <a:off x="1043631" y="809898"/>
            <a:ext cx="9942716" cy="1554480"/>
          </a:xfrm>
        </p:spPr>
        <p:txBody>
          <a:bodyPr anchor="ctr">
            <a:normAutofit/>
          </a:bodyPr>
          <a:lstStyle/>
          <a:p>
            <a:r>
              <a:rPr lang="en-GB" sz="4800" b="1"/>
              <a:t>How Does Web Server Work?</a:t>
            </a:r>
            <a:endParaRPr lang="en-US" sz="4800"/>
          </a:p>
        </p:txBody>
      </p:sp>
      <p:sp>
        <p:nvSpPr>
          <p:cNvPr id="3" name="Content Placeholder 2">
            <a:extLst>
              <a:ext uri="{FF2B5EF4-FFF2-40B4-BE49-F238E27FC236}">
                <a16:creationId xmlns:a16="http://schemas.microsoft.com/office/drawing/2014/main" id="{857A265C-BF7D-1A85-DE33-47E01B8723E5}"/>
              </a:ext>
            </a:extLst>
          </p:cNvPr>
          <p:cNvSpPr>
            <a:spLocks noGrp="1"/>
          </p:cNvSpPr>
          <p:nvPr>
            <p:ph idx="1"/>
          </p:nvPr>
        </p:nvSpPr>
        <p:spPr>
          <a:xfrm>
            <a:off x="1045028" y="2704014"/>
            <a:ext cx="9941319" cy="3438166"/>
          </a:xfrm>
        </p:spPr>
        <p:txBody>
          <a:bodyPr anchor="ctr">
            <a:normAutofit/>
          </a:bodyPr>
          <a:lstStyle/>
          <a:p>
            <a:r>
              <a:rPr lang="en-GB" sz="2000" dirty="0"/>
              <a:t>Web servers have a structured process for data exchange. This is how they work: </a:t>
            </a:r>
          </a:p>
          <a:p>
            <a:r>
              <a:rPr lang="en-GB" sz="2000" b="1" dirty="0"/>
              <a:t>Receive the Request</a:t>
            </a:r>
            <a:r>
              <a:rPr lang="en-GB" sz="2000" dirty="0"/>
              <a:t>: Firstly, the web server receives a user request, in the form of HTTP or HTTPS protocols. </a:t>
            </a:r>
          </a:p>
          <a:p>
            <a:r>
              <a:rPr lang="en-GB" sz="2000" b="1" dirty="0"/>
              <a:t>Process the Request:</a:t>
            </a:r>
            <a:r>
              <a:rPr lang="en-GB" sz="2000" dirty="0"/>
              <a:t> It identifies the requested file or resource and retrieves it from the stored data.</a:t>
            </a:r>
          </a:p>
          <a:p>
            <a:r>
              <a:rPr lang="en-GB" sz="2000" b="1" dirty="0"/>
              <a:t>Deliver the Content</a:t>
            </a:r>
            <a:r>
              <a:rPr lang="en-GB" sz="2000" dirty="0"/>
              <a:t>:  Finally, the web server sends the requested data back to the user’s browser, allowing them to view the webpage. </a:t>
            </a:r>
          </a:p>
          <a:p>
            <a:r>
              <a:rPr lang="en-GB" sz="2000" dirty="0"/>
              <a:t>The best part is, the entire process takes place in milliseconds, allowing users to browse websites within flash.  </a:t>
            </a:r>
          </a:p>
          <a:p>
            <a:endParaRPr lang="en-US" sz="20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6515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descr="Different Types of Web Servers">
            <a:extLst>
              <a:ext uri="{FF2B5EF4-FFF2-40B4-BE49-F238E27FC236}">
                <a16:creationId xmlns:a16="http://schemas.microsoft.com/office/drawing/2014/main" id="{F28A2F3E-48A6-AED9-01AA-61D84FEC52B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247" t="10916" r="2675" b="11624"/>
          <a:stretch>
            <a:fillRect/>
          </a:stretch>
        </p:blipFill>
        <p:spPr bwMode="auto">
          <a:xfrm>
            <a:off x="817054" y="643466"/>
            <a:ext cx="10557891"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1744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70" name="Rectangle 6169">
            <a:extLst>
              <a:ext uri="{FF2B5EF4-FFF2-40B4-BE49-F238E27FC236}">
                <a16:creationId xmlns:a16="http://schemas.microsoft.com/office/drawing/2014/main" id="{D1942232-83D0-49E2-AF9B-1F97E3C1EF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2" name="Rectangle 6171">
            <a:extLst>
              <a:ext uri="{FF2B5EF4-FFF2-40B4-BE49-F238E27FC236}">
                <a16:creationId xmlns:a16="http://schemas.microsoft.com/office/drawing/2014/main" id="{E9E70D72-6E23-4015-A4A6-85C120C191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D75A88-2B32-FE38-BE3A-EE1136696922}"/>
              </a:ext>
            </a:extLst>
          </p:cNvPr>
          <p:cNvSpPr>
            <a:spLocks noGrp="1"/>
          </p:cNvSpPr>
          <p:nvPr>
            <p:ph type="title"/>
          </p:nvPr>
        </p:nvSpPr>
        <p:spPr>
          <a:xfrm>
            <a:off x="1179576" y="1163848"/>
            <a:ext cx="9829800" cy="1325880"/>
          </a:xfrm>
        </p:spPr>
        <p:txBody>
          <a:bodyPr anchor="b">
            <a:normAutofit/>
          </a:bodyPr>
          <a:lstStyle/>
          <a:p>
            <a:pPr algn="ctr"/>
            <a:r>
              <a:rPr lang="en-GB" sz="3600" b="1">
                <a:solidFill>
                  <a:schemeClr val="tx2"/>
                </a:solidFill>
              </a:rPr>
              <a:t>Apache Web Servers</a:t>
            </a:r>
            <a:endParaRPr lang="en-US" sz="3600">
              <a:solidFill>
                <a:schemeClr val="tx2"/>
              </a:solidFill>
            </a:endParaRPr>
          </a:p>
        </p:txBody>
      </p:sp>
      <p:grpSp>
        <p:nvGrpSpPr>
          <p:cNvPr id="6174" name="Group 6173">
            <a:extLst>
              <a:ext uri="{FF2B5EF4-FFF2-40B4-BE49-F238E27FC236}">
                <a16:creationId xmlns:a16="http://schemas.microsoft.com/office/drawing/2014/main" id="{C28A977F-B603-4D81-B0FC-C8DE048A7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8"/>
            <a:chOff x="-305" y="-1"/>
            <a:chExt cx="3832880" cy="2876136"/>
          </a:xfrm>
        </p:grpSpPr>
        <p:sp>
          <p:nvSpPr>
            <p:cNvPr id="6175" name="Freeform: Shape 6174">
              <a:extLst>
                <a:ext uri="{FF2B5EF4-FFF2-40B4-BE49-F238E27FC236}">
                  <a16:creationId xmlns:a16="http://schemas.microsoft.com/office/drawing/2014/main" id="{0183CE8C-E039-4B2F-A36E-5FD5CD5DE1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6" name="Freeform: Shape 6175">
              <a:extLst>
                <a:ext uri="{FF2B5EF4-FFF2-40B4-BE49-F238E27FC236}">
                  <a16:creationId xmlns:a16="http://schemas.microsoft.com/office/drawing/2014/main" id="{3EB77281-FAB4-40D0-B3F3-264EC4AB20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77" name="Freeform: Shape 6176">
              <a:extLst>
                <a:ext uri="{FF2B5EF4-FFF2-40B4-BE49-F238E27FC236}">
                  <a16:creationId xmlns:a16="http://schemas.microsoft.com/office/drawing/2014/main" id="{815E59F3-75FC-494F-8737-5F00A4964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78" name="Freeform: Shape 6177">
              <a:extLst>
                <a:ext uri="{FF2B5EF4-FFF2-40B4-BE49-F238E27FC236}">
                  <a16:creationId xmlns:a16="http://schemas.microsoft.com/office/drawing/2014/main" id="{43ADDCFA-B066-4D79-AB71-062E66E58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146" name="Picture 2" descr="Apache web server">
            <a:extLst>
              <a:ext uri="{FF2B5EF4-FFF2-40B4-BE49-F238E27FC236}">
                <a16:creationId xmlns:a16="http://schemas.microsoft.com/office/drawing/2014/main" id="{88379298-61FB-4C51-8B0C-0A3A714B529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4671" y="3504987"/>
            <a:ext cx="4954693" cy="188278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38FFE40A-A8CB-A31A-D1B0-B6C07576BE42}"/>
              </a:ext>
            </a:extLst>
          </p:cNvPr>
          <p:cNvSpPr>
            <a:spLocks noGrp="1"/>
          </p:cNvSpPr>
          <p:nvPr>
            <p:ph idx="1"/>
          </p:nvPr>
        </p:nvSpPr>
        <p:spPr>
          <a:xfrm>
            <a:off x="6354871" y="2827419"/>
            <a:ext cx="5029200" cy="3227626"/>
          </a:xfrm>
        </p:spPr>
        <p:txBody>
          <a:bodyPr anchor="ctr">
            <a:normAutofit/>
          </a:bodyPr>
          <a:lstStyle/>
          <a:p>
            <a:r>
              <a:rPr lang="en-GB" sz="1800">
                <a:solidFill>
                  <a:schemeClr val="tx2"/>
                </a:solidFill>
              </a:rPr>
              <a:t>Apache is one of the most widely used web servers across the globe. It’s famous for flexibility and features that are abundant in this software. </a:t>
            </a:r>
          </a:p>
          <a:p>
            <a:r>
              <a:rPr lang="en-GB" sz="1800">
                <a:solidFill>
                  <a:schemeClr val="tx2"/>
                </a:solidFill>
              </a:rPr>
              <a:t>Apache supports Windows, Linux, and macOS. Being an open-source software, Apache offers maximum flexibility and can be easily customized to fit the needs of developers.</a:t>
            </a:r>
          </a:p>
        </p:txBody>
      </p:sp>
      <p:grpSp>
        <p:nvGrpSpPr>
          <p:cNvPr id="6180" name="Group 6179">
            <a:extLst>
              <a:ext uri="{FF2B5EF4-FFF2-40B4-BE49-F238E27FC236}">
                <a16:creationId xmlns:a16="http://schemas.microsoft.com/office/drawing/2014/main" id="{C78D9229-E61D-4FEE-8321-2F8B64A8CAD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6037" y="4852038"/>
            <a:ext cx="2151670" cy="1860256"/>
            <a:chOff x="-305" y="-4155"/>
            <a:chExt cx="2514948" cy="2174333"/>
          </a:xfrm>
        </p:grpSpPr>
        <p:sp>
          <p:nvSpPr>
            <p:cNvPr id="6181" name="Freeform: Shape 6180">
              <a:extLst>
                <a:ext uri="{FF2B5EF4-FFF2-40B4-BE49-F238E27FC236}">
                  <a16:creationId xmlns:a16="http://schemas.microsoft.com/office/drawing/2014/main" id="{1FDD3CCB-26A3-4D79-AEB6-7A60CF980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2" name="Freeform: Shape 6181">
              <a:extLst>
                <a:ext uri="{FF2B5EF4-FFF2-40B4-BE49-F238E27FC236}">
                  <a16:creationId xmlns:a16="http://schemas.microsoft.com/office/drawing/2014/main" id="{E9AC4470-5113-4709-B29F-CDB937F254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3" name="Freeform: Shape 6182">
              <a:extLst>
                <a:ext uri="{FF2B5EF4-FFF2-40B4-BE49-F238E27FC236}">
                  <a16:creationId xmlns:a16="http://schemas.microsoft.com/office/drawing/2014/main" id="{3E0D146C-9DAB-421E-AE88-5F854BF3F7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6184" name="Freeform: Shape 6183">
              <a:extLst>
                <a:ext uri="{FF2B5EF4-FFF2-40B4-BE49-F238E27FC236}">
                  <a16:creationId xmlns:a16="http://schemas.microsoft.com/office/drawing/2014/main" id="{12EB32A5-4408-4F6C-84B2-F9A908237A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635070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3" name="Arc 103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035" name="Freeform: Shape 103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a:extLst>
              <a:ext uri="{FF2B5EF4-FFF2-40B4-BE49-F238E27FC236}">
                <a16:creationId xmlns:a16="http://schemas.microsoft.com/office/drawing/2014/main" id="{BC6AF7E9-4989-15C7-0094-824500E74542}"/>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940" t="19937" r="1955" b="8674"/>
          <a:stretch>
            <a:fillRect/>
          </a:stretch>
        </p:blipFill>
        <p:spPr bwMode="auto">
          <a:xfrm>
            <a:off x="194027" y="441539"/>
            <a:ext cx="4777381" cy="4192806"/>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094D20D-2582-1E4E-8EC8-8743AE433B81}"/>
              </a:ext>
            </a:extLst>
          </p:cNvPr>
          <p:cNvSpPr txBox="1"/>
          <p:nvPr/>
        </p:nvSpPr>
        <p:spPr>
          <a:xfrm>
            <a:off x="5382479" y="955130"/>
            <a:ext cx="6146864" cy="5217070"/>
          </a:xfrm>
          <a:prstGeom prst="rect">
            <a:avLst/>
          </a:prstGeom>
        </p:spPr>
        <p:txBody>
          <a:bodyPr vert="horz" lIns="91440" tIns="45720" rIns="91440" bIns="45720" rtlCol="0">
            <a:normAutofit fontScale="92500" lnSpcReduction="10000"/>
          </a:bodyPr>
          <a:lstStyle/>
          <a:p>
            <a:pPr indent="-228600">
              <a:lnSpc>
                <a:spcPct val="90000"/>
              </a:lnSpc>
              <a:spcAft>
                <a:spcPts val="600"/>
              </a:spcAft>
              <a:buFont typeface="Arial" panose="020B0604020202020204" pitchFamily="34" charset="0"/>
              <a:buChar char="•"/>
            </a:pPr>
            <a:r>
              <a:rPr lang="en-US" sz="1600" b="0" i="0" dirty="0">
                <a:effectLst/>
              </a:rPr>
              <a:t>Apache is designed to run on various operating systems including Windows, Linux, macOS, and Unix-based systems.</a:t>
            </a:r>
          </a:p>
          <a:p>
            <a:pPr indent="-228600">
              <a:lnSpc>
                <a:spcPct val="90000"/>
              </a:lnSpc>
              <a:spcAft>
                <a:spcPts val="600"/>
              </a:spcAft>
              <a:buFont typeface="Arial" panose="020B0604020202020204" pitchFamily="34" charset="0"/>
              <a:buChar char="•"/>
            </a:pPr>
            <a:r>
              <a:rPr lang="en-US" sz="1600" b="0" i="0" dirty="0">
                <a:effectLst/>
              </a:rPr>
              <a:t>Modular architecture: Apache's </a:t>
            </a:r>
            <a:r>
              <a:rPr lang="en-US" sz="1600" b="1" i="0" dirty="0">
                <a:effectLst/>
              </a:rPr>
              <a:t>modular architecture </a:t>
            </a:r>
            <a:r>
              <a:rPr lang="en-US" sz="1600" b="0" i="0" dirty="0">
                <a:effectLst/>
              </a:rPr>
              <a:t>allows developers to add or remove functionality as needed. This makes it highly flexible and extensible.</a:t>
            </a:r>
          </a:p>
          <a:p>
            <a:pPr indent="-228600">
              <a:lnSpc>
                <a:spcPct val="90000"/>
              </a:lnSpc>
              <a:spcAft>
                <a:spcPts val="600"/>
              </a:spcAft>
              <a:buFont typeface="Arial" panose="020B0604020202020204" pitchFamily="34" charset="0"/>
              <a:buChar char="•"/>
            </a:pPr>
            <a:r>
              <a:rPr lang="en-US" sz="1600" b="0" i="0" dirty="0">
                <a:effectLst/>
              </a:rPr>
              <a:t>Security: Apache provides a range of security features including SSL/TLS encryption, IP-based access control, and password authentication. It also has a robust set of </a:t>
            </a:r>
            <a:r>
              <a:rPr lang="en-US" sz="1600" b="1" i="0" dirty="0">
                <a:effectLst/>
              </a:rPr>
              <a:t>security modules </a:t>
            </a:r>
            <a:r>
              <a:rPr lang="en-US" sz="1600" b="0" i="0" dirty="0">
                <a:effectLst/>
              </a:rPr>
              <a:t>to help protect against common attacks such as DoS attacks and SQL injection.</a:t>
            </a:r>
          </a:p>
          <a:p>
            <a:pPr indent="-228600">
              <a:lnSpc>
                <a:spcPct val="90000"/>
              </a:lnSpc>
              <a:spcAft>
                <a:spcPts val="600"/>
              </a:spcAft>
              <a:buFont typeface="Arial" panose="020B0604020202020204" pitchFamily="34" charset="0"/>
              <a:buChar char="•"/>
            </a:pPr>
            <a:r>
              <a:rPr lang="en-US" sz="1600" b="0" i="0" dirty="0">
                <a:effectLst/>
              </a:rPr>
              <a:t>Performance: Apache is known for </a:t>
            </a:r>
            <a:r>
              <a:rPr lang="en-US" sz="1600" b="1" i="0" dirty="0">
                <a:effectLst/>
              </a:rPr>
              <a:t>its excellent performance </a:t>
            </a:r>
            <a:r>
              <a:rPr lang="en-US" sz="1600" b="0" i="0" dirty="0">
                <a:effectLst/>
              </a:rPr>
              <a:t>and scalability. It supports various caching mechanisms, including reverse proxy caching, to help speed up content delivery.</a:t>
            </a:r>
          </a:p>
          <a:p>
            <a:pPr indent="-228600">
              <a:lnSpc>
                <a:spcPct val="90000"/>
              </a:lnSpc>
              <a:spcAft>
                <a:spcPts val="600"/>
              </a:spcAft>
              <a:buFont typeface="Arial" panose="020B0604020202020204" pitchFamily="34" charset="0"/>
              <a:buChar char="•"/>
            </a:pPr>
            <a:r>
              <a:rPr lang="en-US" sz="1600" b="0" i="0" dirty="0">
                <a:effectLst/>
              </a:rPr>
              <a:t>Apache supports </a:t>
            </a:r>
            <a:r>
              <a:rPr lang="en-US" sz="1600" b="1" i="0" dirty="0">
                <a:effectLst/>
              </a:rPr>
              <a:t>virtual hosting</a:t>
            </a:r>
            <a:r>
              <a:rPr lang="en-US" sz="1600" b="0" i="0" dirty="0">
                <a:effectLst/>
              </a:rPr>
              <a:t>, which allows multiple websites to be hosted on a single server.</a:t>
            </a:r>
          </a:p>
          <a:p>
            <a:pPr indent="-228600">
              <a:lnSpc>
                <a:spcPct val="90000"/>
              </a:lnSpc>
              <a:spcAft>
                <a:spcPts val="600"/>
              </a:spcAft>
              <a:buFont typeface="Arial" panose="020B0604020202020204" pitchFamily="34" charset="0"/>
              <a:buChar char="•"/>
            </a:pPr>
            <a:r>
              <a:rPr lang="en-US" sz="1600" b="0" i="0" dirty="0">
                <a:effectLst/>
              </a:rPr>
              <a:t>Apache provides powerful </a:t>
            </a:r>
            <a:r>
              <a:rPr lang="en-US" sz="1600" b="1" i="0" dirty="0">
                <a:effectLst/>
              </a:rPr>
              <a:t>URL rewriting </a:t>
            </a:r>
            <a:r>
              <a:rPr lang="en-US" sz="1600" b="0" i="0" dirty="0">
                <a:effectLst/>
              </a:rPr>
              <a:t>capabilities, which allow developers to modify the URLs of incoming requests before they are processed by the server.</a:t>
            </a:r>
          </a:p>
          <a:p>
            <a:pPr indent="-228600">
              <a:lnSpc>
                <a:spcPct val="90000"/>
              </a:lnSpc>
              <a:spcAft>
                <a:spcPts val="600"/>
              </a:spcAft>
              <a:buFont typeface="Arial" panose="020B0604020202020204" pitchFamily="34" charset="0"/>
              <a:buChar char="•"/>
            </a:pPr>
            <a:r>
              <a:rPr lang="en-US" sz="1600" b="0" i="0" dirty="0">
                <a:effectLst/>
              </a:rPr>
              <a:t>Apache provides extensive </a:t>
            </a:r>
            <a:r>
              <a:rPr lang="en-US" sz="1600" b="1" i="0" dirty="0">
                <a:effectLst/>
              </a:rPr>
              <a:t>logging </a:t>
            </a:r>
            <a:r>
              <a:rPr lang="en-US" sz="1600" i="0" dirty="0">
                <a:effectLst/>
              </a:rPr>
              <a:t>capabilities</a:t>
            </a:r>
            <a:r>
              <a:rPr lang="en-US" sz="1600" b="0" i="0" dirty="0">
                <a:effectLst/>
              </a:rPr>
              <a:t>, which allow developers to track and analyze server activity.</a:t>
            </a:r>
          </a:p>
          <a:p>
            <a:pPr indent="-228600">
              <a:lnSpc>
                <a:spcPct val="90000"/>
              </a:lnSpc>
              <a:spcAft>
                <a:spcPts val="600"/>
              </a:spcAft>
              <a:buFont typeface="Arial" panose="020B0604020202020204" pitchFamily="34" charset="0"/>
              <a:buChar char="•"/>
            </a:pPr>
            <a:r>
              <a:rPr lang="en-US" sz="1600" b="0" i="0" dirty="0">
                <a:effectLst/>
              </a:rPr>
              <a:t>Apache is an </a:t>
            </a:r>
            <a:r>
              <a:rPr lang="en-US" sz="1600" b="1" i="0" dirty="0">
                <a:effectLst/>
              </a:rPr>
              <a:t>open-source software</a:t>
            </a:r>
            <a:r>
              <a:rPr lang="en-US" sz="1600" b="0" i="0" dirty="0">
                <a:effectLst/>
              </a:rPr>
              <a:t>, which means that it is free to use and can be modified and distributed by anyone. This makes it a popular choice for businesses and developers who want to avoid vendor lock-in.</a:t>
            </a:r>
            <a:br>
              <a:rPr lang="en-US" sz="1100" dirty="0"/>
            </a:br>
            <a:endParaRPr lang="en-US" sz="1100" dirty="0"/>
          </a:p>
        </p:txBody>
      </p:sp>
    </p:spTree>
    <p:extLst>
      <p:ext uri="{BB962C8B-B14F-4D97-AF65-F5344CB8AC3E}">
        <p14:creationId xmlns:p14="http://schemas.microsoft.com/office/powerpoint/2010/main" val="1979665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84" name="Rectangle 7183">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6" name="Right Triangle 7185">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88" name="Rectangle 7187">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737516-F59C-A849-4BE8-1152488B2FDB}"/>
              </a:ext>
            </a:extLst>
          </p:cNvPr>
          <p:cNvSpPr>
            <a:spLocks noGrp="1"/>
          </p:cNvSpPr>
          <p:nvPr>
            <p:ph type="title"/>
          </p:nvPr>
        </p:nvSpPr>
        <p:spPr>
          <a:xfrm>
            <a:off x="895633" y="2894160"/>
            <a:ext cx="9471956" cy="1137111"/>
          </a:xfrm>
        </p:spPr>
        <p:txBody>
          <a:bodyPr>
            <a:normAutofit/>
          </a:bodyPr>
          <a:lstStyle/>
          <a:p>
            <a:r>
              <a:rPr lang="en-GB" sz="3400" b="1" dirty="0"/>
              <a:t>Nginx Web Servers</a:t>
            </a:r>
            <a:br>
              <a:rPr lang="en-GB" sz="3400" b="1" dirty="0"/>
            </a:br>
            <a:endParaRPr lang="en-US" sz="3400" dirty="0"/>
          </a:p>
        </p:txBody>
      </p:sp>
      <p:pic>
        <p:nvPicPr>
          <p:cNvPr id="7170" name="Picture 2" descr="Nginx web server">
            <a:extLst>
              <a:ext uri="{FF2B5EF4-FFF2-40B4-BE49-F238E27FC236}">
                <a16:creationId xmlns:a16="http://schemas.microsoft.com/office/drawing/2014/main" id="{D1A75E6A-21D9-43F5-19E9-AECDCDA22BD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95633" y="745886"/>
            <a:ext cx="7745969" cy="193649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2BEB2640-D2A3-41CB-863F-56C9BA127F6C}"/>
              </a:ext>
            </a:extLst>
          </p:cNvPr>
          <p:cNvSpPr>
            <a:spLocks noGrp="1"/>
          </p:cNvSpPr>
          <p:nvPr>
            <p:ph idx="1"/>
          </p:nvPr>
        </p:nvSpPr>
        <p:spPr>
          <a:xfrm>
            <a:off x="1162666" y="3618837"/>
            <a:ext cx="7745969" cy="1408222"/>
          </a:xfrm>
        </p:spPr>
        <p:txBody>
          <a:bodyPr anchor="t">
            <a:normAutofit/>
          </a:bodyPr>
          <a:lstStyle/>
          <a:p>
            <a:r>
              <a:rPr lang="en-GB" sz="1600" dirty="0"/>
              <a:t>Often considered the second web server after Apache, </a:t>
            </a:r>
            <a:r>
              <a:rPr lang="en-GB" sz="1600" dirty="0">
                <a:hlinkClick r:id="rId3"/>
              </a:rPr>
              <a:t>Nginx</a:t>
            </a:r>
            <a:r>
              <a:rPr lang="en-GB" sz="1600" dirty="0"/>
              <a:t> is great in terms of performance, scalability, and efficient usage of resources. </a:t>
            </a:r>
          </a:p>
          <a:p>
            <a:r>
              <a:rPr lang="en-GB" sz="1600" dirty="0"/>
              <a:t>It basically works on an event-driven architecture to make it work best for handling more than one request at a given time with fewer memory consumptions. This feature makes it a go-to choice for hosting high-traffic websites and applications.</a:t>
            </a:r>
          </a:p>
          <a:p>
            <a:pPr marL="0" indent="0">
              <a:buNone/>
            </a:pPr>
            <a:endParaRPr lang="en-US" sz="1600" dirty="0"/>
          </a:p>
        </p:txBody>
      </p:sp>
    </p:spTree>
    <p:extLst>
      <p:ext uri="{BB962C8B-B14F-4D97-AF65-F5344CB8AC3E}">
        <p14:creationId xmlns:p14="http://schemas.microsoft.com/office/powerpoint/2010/main" val="353745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7792DBED-48F4-D4C4-C647-E2ABF8E744C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950"/>
          <a:stretch>
            <a:fillRect/>
          </a:stretch>
        </p:blipFill>
        <p:spPr bwMode="auto">
          <a:xfrm>
            <a:off x="1432143" y="217068"/>
            <a:ext cx="8964461" cy="6423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7753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BAFE98-B1CC-613F-150D-0B7598563253}"/>
              </a:ext>
            </a:extLst>
          </p:cNvPr>
          <p:cNvSpPr>
            <a:spLocks noGrp="1"/>
          </p:cNvSpPr>
          <p:nvPr>
            <p:ph type="title"/>
          </p:nvPr>
        </p:nvSpPr>
        <p:spPr>
          <a:xfrm>
            <a:off x="793662" y="386930"/>
            <a:ext cx="10066122" cy="1298448"/>
          </a:xfrm>
        </p:spPr>
        <p:txBody>
          <a:bodyPr anchor="b">
            <a:normAutofit/>
          </a:bodyPr>
          <a:lstStyle/>
          <a:p>
            <a:r>
              <a:rPr lang="en-GB" sz="4100" b="1"/>
              <a:t>Microsoft Internet Information Services</a:t>
            </a:r>
            <a:br>
              <a:rPr lang="en-GB" sz="4100" b="1"/>
            </a:br>
            <a:r>
              <a:rPr lang="en-GB" sz="4100" b="1"/>
              <a:t>(IIS) Web Servers</a:t>
            </a:r>
            <a:endParaRPr lang="en-US" sz="4100"/>
          </a:p>
        </p:txBody>
      </p:sp>
      <p:sp>
        <p:nvSpPr>
          <p:cNvPr id="8201" name="Rectangle 820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3" name="Rectangle 820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1E6CB4E-A64F-B82B-B51F-264AE74BFF2D}"/>
              </a:ext>
            </a:extLst>
          </p:cNvPr>
          <p:cNvSpPr>
            <a:spLocks noGrp="1"/>
          </p:cNvSpPr>
          <p:nvPr>
            <p:ph idx="1"/>
          </p:nvPr>
        </p:nvSpPr>
        <p:spPr>
          <a:xfrm>
            <a:off x="673149" y="2407753"/>
            <a:ext cx="5616440" cy="3639450"/>
          </a:xfrm>
        </p:spPr>
        <p:txBody>
          <a:bodyPr anchor="ctr">
            <a:normAutofit/>
          </a:bodyPr>
          <a:lstStyle/>
          <a:p>
            <a:r>
              <a:rPr lang="en-GB" sz="2000" dirty="0"/>
              <a:t>IIS is a web server developed by Microsoft, known for its good performance and complete integration with the Windows operating system. </a:t>
            </a:r>
          </a:p>
          <a:p>
            <a:r>
              <a:rPr lang="en-GB" sz="2000" dirty="0"/>
              <a:t>Although the customer support is excellent, and it’s easy to use, IIS is proprietary, meaning that the code of this software isn’t open to modification. Even so, IIS is an excellent choice to host applications using the Windows OS. </a:t>
            </a:r>
          </a:p>
          <a:p>
            <a:pPr marL="0" indent="0">
              <a:buNone/>
            </a:pPr>
            <a:endParaRPr lang="en-US" sz="2000" dirty="0"/>
          </a:p>
        </p:txBody>
      </p:sp>
      <p:pic>
        <p:nvPicPr>
          <p:cNvPr id="8194" name="Picture 2" descr="iis-web-server">
            <a:extLst>
              <a:ext uri="{FF2B5EF4-FFF2-40B4-BE49-F238E27FC236}">
                <a16:creationId xmlns:a16="http://schemas.microsoft.com/office/drawing/2014/main" id="{496CFE29-AD5A-7EA1-46D3-6138414BD0D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738"/>
          <a:stretch>
            <a:fillRect/>
          </a:stretch>
        </p:blipFill>
        <p:spPr bwMode="auto">
          <a:xfrm>
            <a:off x="6722076" y="3337073"/>
            <a:ext cx="4339733" cy="2008608"/>
          </a:xfrm>
          <a:prstGeom prst="rect">
            <a:avLst/>
          </a:prstGeom>
          <a:noFill/>
          <a:extLst>
            <a:ext uri="{909E8E84-426E-40DD-AFC4-6F175D3DCCD1}">
              <a14:hiddenFill xmlns:a14="http://schemas.microsoft.com/office/drawing/2010/main">
                <a:solidFill>
                  <a:srgbClr val="FFFFFF"/>
                </a:solidFill>
              </a14:hiddenFill>
            </a:ext>
          </a:extLst>
        </p:spPr>
      </p:pic>
      <p:sp>
        <p:nvSpPr>
          <p:cNvPr id="8205" name="Rectangle 820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4032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5FF3DD-8AE4-0AC0-7DA4-931C93787824}"/>
              </a:ext>
            </a:extLst>
          </p:cNvPr>
          <p:cNvSpPr>
            <a:spLocks noGrp="1"/>
          </p:cNvSpPr>
          <p:nvPr>
            <p:ph type="title"/>
          </p:nvPr>
        </p:nvSpPr>
        <p:spPr>
          <a:xfrm>
            <a:off x="793662" y="386930"/>
            <a:ext cx="10066122" cy="1298448"/>
          </a:xfrm>
        </p:spPr>
        <p:txBody>
          <a:bodyPr anchor="b">
            <a:normAutofit/>
          </a:bodyPr>
          <a:lstStyle/>
          <a:p>
            <a:r>
              <a:rPr lang="en-GB" sz="4800" b="1"/>
              <a:t>Lighttp</a:t>
            </a:r>
          </a:p>
        </p:txBody>
      </p:sp>
      <p:sp>
        <p:nvSpPr>
          <p:cNvPr id="9225" name="Rectangle 922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7" name="Rectangle 922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7F129AC-6D98-157F-8978-89F93C2E61E4}"/>
              </a:ext>
            </a:extLst>
          </p:cNvPr>
          <p:cNvSpPr>
            <a:spLocks noGrp="1"/>
          </p:cNvSpPr>
          <p:nvPr>
            <p:ph idx="1"/>
          </p:nvPr>
        </p:nvSpPr>
        <p:spPr>
          <a:xfrm>
            <a:off x="793661" y="2599509"/>
            <a:ext cx="4530898" cy="3639450"/>
          </a:xfrm>
        </p:spPr>
        <p:txBody>
          <a:bodyPr anchor="ctr">
            <a:normAutofit/>
          </a:bodyPr>
          <a:lstStyle/>
          <a:p>
            <a:r>
              <a:rPr lang="en-GB" sz="2000" dirty="0" err="1"/>
              <a:t>Lighttp</a:t>
            </a:r>
            <a:r>
              <a:rPr lang="en-GB" sz="2000" dirty="0"/>
              <a:t>, is a lightweight web server known for speed, security, and low CPU usage. It is especially popular among developers who seek an efficient solution for hosting websites on devices with limited resources.</a:t>
            </a:r>
            <a:endParaRPr lang="en-US" sz="2000" dirty="0"/>
          </a:p>
        </p:txBody>
      </p:sp>
      <p:pic>
        <p:nvPicPr>
          <p:cNvPr id="9218" name="Picture 2">
            <a:extLst>
              <a:ext uri="{FF2B5EF4-FFF2-40B4-BE49-F238E27FC236}">
                <a16:creationId xmlns:a16="http://schemas.microsoft.com/office/drawing/2014/main" id="{119C6BC4-D5E9-5728-DD24-83A84197B1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20"/>
          <a:stretch>
            <a:fillRect/>
          </a:stretch>
        </p:blipFill>
        <p:spPr bwMode="auto">
          <a:xfrm>
            <a:off x="6376086" y="3337073"/>
            <a:ext cx="4685723" cy="2008608"/>
          </a:xfrm>
          <a:prstGeom prst="rect">
            <a:avLst/>
          </a:prstGeom>
          <a:noFill/>
          <a:extLst>
            <a:ext uri="{909E8E84-426E-40DD-AFC4-6F175D3DCCD1}">
              <a14:hiddenFill xmlns:a14="http://schemas.microsoft.com/office/drawing/2010/main">
                <a:solidFill>
                  <a:srgbClr val="FFFFFF"/>
                </a:solidFill>
              </a14:hiddenFill>
            </a:ext>
          </a:extLst>
        </p:spPr>
      </p:pic>
      <p:sp>
        <p:nvSpPr>
          <p:cNvPr id="9229" name="Rectangle 922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1564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49" name="Rectangle 1024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A937CC-7F47-5107-221B-24877DBE5352}"/>
              </a:ext>
            </a:extLst>
          </p:cNvPr>
          <p:cNvSpPr>
            <a:spLocks noGrp="1"/>
          </p:cNvSpPr>
          <p:nvPr>
            <p:ph type="title"/>
          </p:nvPr>
        </p:nvSpPr>
        <p:spPr>
          <a:xfrm>
            <a:off x="793662" y="386930"/>
            <a:ext cx="10066122" cy="1298448"/>
          </a:xfrm>
        </p:spPr>
        <p:txBody>
          <a:bodyPr anchor="b">
            <a:normAutofit/>
          </a:bodyPr>
          <a:lstStyle/>
          <a:p>
            <a:r>
              <a:rPr lang="en-GB" sz="4100" b="1"/>
              <a:t>Sun Java System Web Server</a:t>
            </a:r>
            <a:br>
              <a:rPr lang="en-GB" sz="4100" b="1"/>
            </a:br>
            <a:endParaRPr lang="en-US" sz="4100"/>
          </a:p>
        </p:txBody>
      </p:sp>
      <p:sp>
        <p:nvSpPr>
          <p:cNvPr id="10251" name="Rectangle 1025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3" name="Rectangle 1025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93AE39E-9F3A-D6F8-715F-C2170368E206}"/>
              </a:ext>
            </a:extLst>
          </p:cNvPr>
          <p:cNvSpPr>
            <a:spLocks noGrp="1"/>
          </p:cNvSpPr>
          <p:nvPr>
            <p:ph idx="1"/>
          </p:nvPr>
        </p:nvSpPr>
        <p:spPr>
          <a:xfrm>
            <a:off x="737407" y="2203079"/>
            <a:ext cx="5546734" cy="3639450"/>
          </a:xfrm>
        </p:spPr>
        <p:txBody>
          <a:bodyPr anchor="ctr">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sz="2000" b="0" i="0" u="none" strike="noStrike" cap="none" normalizeH="0" baseline="0" dirty="0">
                <a:ln>
                  <a:noFill/>
                </a:ln>
                <a:effectLst/>
                <a:latin typeface="Arial" panose="020B0604020202020204" pitchFamily="34" charset="0"/>
                <a:ea typeface="Hanken Grotesk"/>
              </a:rPr>
              <a:t>This server from Sun Microsystems boasts of being extremely powerful in its performance.              </a:t>
            </a:r>
            <a:endParaRPr kumimoji="0" lang="en-US" altLang="en-US" sz="20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r>
              <a:rPr kumimoji="0" lang="en-US" altLang="en-US" sz="2000" b="0" i="0" u="none" strike="noStrike" cap="none" normalizeH="0" baseline="0" dirty="0">
                <a:ln>
                  <a:noFill/>
                </a:ln>
                <a:effectLst/>
                <a:latin typeface="Arial" panose="020B0604020202020204" pitchFamily="34" charset="0"/>
                <a:ea typeface="Hanken Grotesk"/>
              </a:rPr>
              <a:t>Additionally, the product supports other technological innovations, for example, JSP (</a:t>
            </a:r>
            <a:r>
              <a:rPr kumimoji="0" lang="en-US" altLang="en-US" sz="2000" b="0" i="0" u="none" strike="noStrike" cap="none" normalizeH="0" baseline="0" dirty="0" err="1">
                <a:ln>
                  <a:noFill/>
                </a:ln>
                <a:effectLst/>
                <a:latin typeface="Arial" panose="020B0604020202020204" pitchFamily="34" charset="0"/>
                <a:ea typeface="Hanken Grotesk"/>
              </a:rPr>
              <a:t>JavaServer</a:t>
            </a:r>
            <a:r>
              <a:rPr kumimoji="0" lang="en-US" altLang="en-US" sz="2000" b="0" i="0" u="none" strike="noStrike" cap="none" normalizeH="0" baseline="0" dirty="0">
                <a:ln>
                  <a:noFill/>
                </a:ln>
                <a:effectLst/>
                <a:latin typeface="Arial" panose="020B0604020202020204" pitchFamily="34" charset="0"/>
                <a:ea typeface="Hanken Grotesk"/>
              </a:rPr>
              <a:t> Pages), and Server-Side JavaScript, which it incorporates into it. It has also seen extensive application within medium and large-scale sites that are noted to be extremely reliable and scalable.</a:t>
            </a:r>
            <a:endParaRPr kumimoji="0" lang="en-US" altLang="en-US" sz="2000" b="0" i="0" u="none" strike="noStrike" cap="none" normalizeH="0" baseline="0" dirty="0">
              <a:ln>
                <a:noFill/>
              </a:ln>
              <a:effectLst/>
              <a:latin typeface="Arial" panose="020B0604020202020204" pitchFamily="34" charset="0"/>
            </a:endParaRPr>
          </a:p>
        </p:txBody>
      </p:sp>
      <p:pic>
        <p:nvPicPr>
          <p:cNvPr id="10244" name="Picture 4" descr="sun-java-system-web-server">
            <a:extLst>
              <a:ext uri="{FF2B5EF4-FFF2-40B4-BE49-F238E27FC236}">
                <a16:creationId xmlns:a16="http://schemas.microsoft.com/office/drawing/2014/main" id="{13EBD3CA-14F5-F38E-4820-A6BEE53DB71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936"/>
          <a:stretch>
            <a:fillRect/>
          </a:stretch>
        </p:blipFill>
        <p:spPr bwMode="auto">
          <a:xfrm>
            <a:off x="7092778" y="3337073"/>
            <a:ext cx="3969031" cy="2008608"/>
          </a:xfrm>
          <a:prstGeom prst="rect">
            <a:avLst/>
          </a:prstGeom>
          <a:noFill/>
          <a:extLst>
            <a:ext uri="{909E8E84-426E-40DD-AFC4-6F175D3DCCD1}">
              <a14:hiddenFill xmlns:a14="http://schemas.microsoft.com/office/drawing/2010/main">
                <a:solidFill>
                  <a:srgbClr val="FFFFFF"/>
                </a:solidFill>
              </a14:hiddenFill>
            </a:ext>
          </a:extLst>
        </p:spPr>
      </p:pic>
      <p:sp>
        <p:nvSpPr>
          <p:cNvPr id="10255" name="Rectangle 1025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8354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1" name="Rectangle 1127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74F54E-A985-D8FD-FF86-718025673894}"/>
              </a:ext>
            </a:extLst>
          </p:cNvPr>
          <p:cNvSpPr>
            <a:spLocks noGrp="1"/>
          </p:cNvSpPr>
          <p:nvPr>
            <p:ph type="title"/>
          </p:nvPr>
        </p:nvSpPr>
        <p:spPr>
          <a:xfrm>
            <a:off x="793662" y="386930"/>
            <a:ext cx="10066122" cy="1298448"/>
          </a:xfrm>
        </p:spPr>
        <p:txBody>
          <a:bodyPr anchor="b">
            <a:normAutofit/>
          </a:bodyPr>
          <a:lstStyle/>
          <a:p>
            <a:r>
              <a:rPr lang="en-GB" sz="4800" b="1"/>
              <a:t>Node.js Web Server</a:t>
            </a:r>
            <a:endParaRPr lang="en-US" sz="4800"/>
          </a:p>
        </p:txBody>
      </p:sp>
      <p:sp>
        <p:nvSpPr>
          <p:cNvPr id="11273" name="Rectangle 1127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75" name="Rectangle 1127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0D0FB92-89A6-6608-FB7E-FFF62D9AF69B}"/>
              </a:ext>
            </a:extLst>
          </p:cNvPr>
          <p:cNvSpPr>
            <a:spLocks noGrp="1"/>
          </p:cNvSpPr>
          <p:nvPr>
            <p:ph idx="1"/>
          </p:nvPr>
        </p:nvSpPr>
        <p:spPr>
          <a:xfrm>
            <a:off x="793661" y="2599509"/>
            <a:ext cx="4530898" cy="3639450"/>
          </a:xfrm>
        </p:spPr>
        <p:txBody>
          <a:bodyPr anchor="ctr">
            <a:normAutofit/>
          </a:bodyPr>
          <a:lstStyle/>
          <a:p>
            <a:r>
              <a:rPr lang="en-GB" sz="2000"/>
              <a:t>Node.js is a runtime environment where developers can create network applications using JavaScript. </a:t>
            </a:r>
          </a:p>
          <a:p>
            <a:r>
              <a:rPr lang="en-GB" sz="2000">
                <a:hlinkClick r:id="rId2"/>
              </a:rPr>
              <a:t>Node.js Web Server</a:t>
            </a:r>
            <a:r>
              <a:rPr lang="en-GB" sz="2000"/>
              <a:t> is popular for its event-driven architecture and asynchronous I/O capabilities, which makes it highly efficient in real-time communication and browser-based applications like games and chat systems. </a:t>
            </a:r>
          </a:p>
          <a:p>
            <a:pPr marL="0" indent="0">
              <a:buNone/>
            </a:pPr>
            <a:endParaRPr lang="en-US" sz="2000"/>
          </a:p>
        </p:txBody>
      </p:sp>
      <p:pic>
        <p:nvPicPr>
          <p:cNvPr id="11266" name="Picture 2" descr="nodejs web server">
            <a:extLst>
              <a:ext uri="{FF2B5EF4-FFF2-40B4-BE49-F238E27FC236}">
                <a16:creationId xmlns:a16="http://schemas.microsoft.com/office/drawing/2014/main" id="{F1DDD90E-4AB5-EDFD-B551-199EA1A86D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740"/>
          <a:stretch>
            <a:fillRect/>
          </a:stretch>
        </p:blipFill>
        <p:spPr bwMode="auto">
          <a:xfrm>
            <a:off x="6413157" y="3337073"/>
            <a:ext cx="4648652" cy="2008608"/>
          </a:xfrm>
          <a:prstGeom prst="rect">
            <a:avLst/>
          </a:prstGeom>
          <a:noFill/>
          <a:extLst>
            <a:ext uri="{909E8E84-426E-40DD-AFC4-6F175D3DCCD1}">
              <a14:hiddenFill xmlns:a14="http://schemas.microsoft.com/office/drawing/2010/main">
                <a:solidFill>
                  <a:srgbClr val="FFFFFF"/>
                </a:solidFill>
              </a14:hiddenFill>
            </a:ext>
          </a:extLst>
        </p:spPr>
      </p:pic>
      <p:sp>
        <p:nvSpPr>
          <p:cNvPr id="11277" name="Rectangle 1127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8784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303" name="Rectangle 12302">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F123C5-90AE-9775-6E5D-F8B33888BDC1}"/>
              </a:ext>
            </a:extLst>
          </p:cNvPr>
          <p:cNvSpPr>
            <a:spLocks noGrp="1"/>
          </p:cNvSpPr>
          <p:nvPr>
            <p:ph type="title"/>
          </p:nvPr>
        </p:nvSpPr>
        <p:spPr>
          <a:xfrm>
            <a:off x="793662" y="386930"/>
            <a:ext cx="10066122" cy="1298448"/>
          </a:xfrm>
        </p:spPr>
        <p:txBody>
          <a:bodyPr anchor="b">
            <a:normAutofit/>
          </a:bodyPr>
          <a:lstStyle/>
          <a:p>
            <a:r>
              <a:rPr lang="en-GB" sz="4800" b="1"/>
              <a:t>Jigsaw Web Server</a:t>
            </a:r>
            <a:endParaRPr lang="en-US" sz="4800"/>
          </a:p>
        </p:txBody>
      </p:sp>
      <p:sp>
        <p:nvSpPr>
          <p:cNvPr id="12304" name="Rectangle 1230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05" name="Rectangle 1230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1516CA4-4426-E5A1-10A8-B35418A0557A}"/>
              </a:ext>
            </a:extLst>
          </p:cNvPr>
          <p:cNvSpPr>
            <a:spLocks noGrp="1"/>
          </p:cNvSpPr>
          <p:nvPr>
            <p:ph idx="1"/>
          </p:nvPr>
        </p:nvSpPr>
        <p:spPr>
          <a:xfrm>
            <a:off x="793661" y="2599509"/>
            <a:ext cx="5240332" cy="3639450"/>
          </a:xfrm>
        </p:spPr>
        <p:txBody>
          <a:bodyPr anchor="ctr">
            <a:normAutofit/>
          </a:bodyPr>
          <a:lstStyle/>
          <a:p>
            <a:r>
              <a:rPr lang="en-GB" sz="2000" dirty="0"/>
              <a:t>Jigsaw, a web server experiment developed by the World Wide Web Consortium, or W3C, was implemented in Java with advanced architecture.</a:t>
            </a:r>
          </a:p>
          <a:p>
            <a:r>
              <a:rPr lang="en-GB" sz="2000" dirty="0"/>
              <a:t>As a project that was once a test environment for new web technologies, it is now becoming a full-featured web server that offers interesting features and flexibility</a:t>
            </a:r>
          </a:p>
          <a:p>
            <a:pPr marL="0" indent="0">
              <a:buNone/>
            </a:pPr>
            <a:endParaRPr lang="en-US" sz="2000" dirty="0"/>
          </a:p>
        </p:txBody>
      </p:sp>
      <p:pic>
        <p:nvPicPr>
          <p:cNvPr id="12290" name="Picture 2" descr="jigsaw web server">
            <a:extLst>
              <a:ext uri="{FF2B5EF4-FFF2-40B4-BE49-F238E27FC236}">
                <a16:creationId xmlns:a16="http://schemas.microsoft.com/office/drawing/2014/main" id="{3ABC3199-CD8E-1691-AE3F-0D2C52ADD3F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026"/>
          <a:stretch>
            <a:fillRect/>
          </a:stretch>
        </p:blipFill>
        <p:spPr bwMode="auto">
          <a:xfrm>
            <a:off x="6530911" y="3337073"/>
            <a:ext cx="4530898" cy="2008608"/>
          </a:xfrm>
          <a:prstGeom prst="rect">
            <a:avLst/>
          </a:prstGeom>
          <a:noFill/>
          <a:extLst>
            <a:ext uri="{909E8E84-426E-40DD-AFC4-6F175D3DCCD1}">
              <a14:hiddenFill xmlns:a14="http://schemas.microsoft.com/office/drawing/2010/main">
                <a:solidFill>
                  <a:srgbClr val="FFFFFF"/>
                </a:solidFill>
              </a14:hiddenFill>
            </a:ext>
          </a:extLst>
        </p:spPr>
      </p:pic>
      <p:sp>
        <p:nvSpPr>
          <p:cNvPr id="12306" name="Rectangle 1230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1895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330" name="Rectangle 13329">
            <a:extLst>
              <a:ext uri="{FF2B5EF4-FFF2-40B4-BE49-F238E27FC236}">
                <a16:creationId xmlns:a16="http://schemas.microsoft.com/office/drawing/2014/main" id="{F541DB91-0B10-46D9-B34B-7BFF96026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32" name="Freeform: Shape 13331">
            <a:extLst>
              <a:ext uri="{FF2B5EF4-FFF2-40B4-BE49-F238E27FC236}">
                <a16:creationId xmlns:a16="http://schemas.microsoft.com/office/drawing/2014/main" id="{9CF7FE1C-8BC5-4B0C-A2BC-93AB72C90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13314" name="Picture 2" descr="Popular Uses of Web-Servers">
            <a:extLst>
              <a:ext uri="{FF2B5EF4-FFF2-40B4-BE49-F238E27FC236}">
                <a16:creationId xmlns:a16="http://schemas.microsoft.com/office/drawing/2014/main" id="{1743BC6E-93CC-C356-E45C-50CA4C03ABEB}"/>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2771" r="33400" b="12111"/>
          <a:stretch>
            <a:fillRect/>
          </a:stretch>
        </p:blipFill>
        <p:spPr bwMode="auto">
          <a:xfrm>
            <a:off x="247537" y="781930"/>
            <a:ext cx="3382301" cy="529414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ECEC520-D60E-133B-B3D7-61F0AC18ACB8}"/>
              </a:ext>
            </a:extLst>
          </p:cNvPr>
          <p:cNvSpPr txBox="1"/>
          <p:nvPr/>
        </p:nvSpPr>
        <p:spPr>
          <a:xfrm>
            <a:off x="3629838" y="265993"/>
            <a:ext cx="8311577" cy="5732119"/>
          </a:xfrm>
          <a:prstGeom prst="rect">
            <a:avLst/>
          </a:prstGeom>
        </p:spPr>
        <p:txBody>
          <a:bodyPr vert="horz" lIns="91440" tIns="45720" rIns="91440" bIns="45720" rtlCol="0" anchor="t">
            <a:noAutofit/>
          </a:bodyPr>
          <a:lstStyle/>
          <a:p>
            <a:pPr>
              <a:lnSpc>
                <a:spcPct val="90000"/>
              </a:lnSpc>
            </a:pPr>
            <a:r>
              <a:rPr lang="en-US" b="0" i="0" dirty="0">
                <a:effectLst/>
              </a:rPr>
              <a:t>Web servers perform a range of functions beyond simply hosting websites.</a:t>
            </a:r>
          </a:p>
          <a:p>
            <a:pPr>
              <a:lnSpc>
                <a:spcPct val="90000"/>
              </a:lnSpc>
            </a:pPr>
            <a:r>
              <a:rPr lang="en-US" b="0" i="0" dirty="0">
                <a:effectLst/>
              </a:rPr>
              <a:t>Some of their key uses include:</a:t>
            </a:r>
          </a:p>
          <a:p>
            <a:pPr>
              <a:lnSpc>
                <a:spcPct val="90000"/>
              </a:lnSpc>
              <a:spcBef>
                <a:spcPts val="1125"/>
              </a:spcBef>
              <a:spcAft>
                <a:spcPts val="1125"/>
              </a:spcAft>
            </a:pPr>
            <a:r>
              <a:rPr lang="en-US" b="1" i="0" dirty="0">
                <a:effectLst/>
              </a:rPr>
              <a:t>1. Data Storage and Security </a:t>
            </a:r>
          </a:p>
          <a:p>
            <a:pPr>
              <a:lnSpc>
                <a:spcPct val="90000"/>
              </a:lnSpc>
            </a:pPr>
            <a:r>
              <a:rPr lang="en-US" b="0" i="0" dirty="0">
                <a:effectLst/>
              </a:rPr>
              <a:t>Security is paramount when it comes to websites. Web servers securely store website data, keeping sensitive information protected from unauthorized access.</a:t>
            </a:r>
          </a:p>
          <a:p>
            <a:pPr>
              <a:lnSpc>
                <a:spcPct val="90000"/>
              </a:lnSpc>
              <a:spcBef>
                <a:spcPts val="1125"/>
              </a:spcBef>
              <a:spcAft>
                <a:spcPts val="1125"/>
              </a:spcAft>
            </a:pPr>
            <a:r>
              <a:rPr lang="en-US" b="1" i="0" dirty="0">
                <a:effectLst/>
              </a:rPr>
              <a:t>2. Dynamic Content Generation</a:t>
            </a:r>
          </a:p>
          <a:p>
            <a:pPr>
              <a:lnSpc>
                <a:spcPct val="90000"/>
              </a:lnSpc>
            </a:pPr>
            <a:r>
              <a:rPr lang="en-US" b="0" i="0" dirty="0">
                <a:effectLst/>
              </a:rPr>
              <a:t>Web servers are mainly used to develop dynamic web pages with the help of scripting languages like PHP, Python, and Ruby. This creates interactive features for websites, offering personalized content.</a:t>
            </a:r>
          </a:p>
          <a:p>
            <a:pPr>
              <a:lnSpc>
                <a:spcPct val="90000"/>
              </a:lnSpc>
              <a:spcBef>
                <a:spcPts val="1125"/>
              </a:spcBef>
              <a:spcAft>
                <a:spcPts val="1125"/>
              </a:spcAft>
            </a:pPr>
            <a:r>
              <a:rPr lang="en-US" b="1" i="0" dirty="0">
                <a:effectLst/>
              </a:rPr>
              <a:t>3. Virtual Hosting</a:t>
            </a:r>
          </a:p>
          <a:p>
            <a:pPr>
              <a:lnSpc>
                <a:spcPct val="90000"/>
              </a:lnSpc>
            </a:pPr>
            <a:r>
              <a:rPr lang="en-US" b="0" i="0" dirty="0">
                <a:effectLst/>
              </a:rPr>
              <a:t>One of the most important advantages of web servers is that they can host multiple websites on a single server.</a:t>
            </a:r>
          </a:p>
          <a:p>
            <a:pPr>
              <a:lnSpc>
                <a:spcPct val="90000"/>
              </a:lnSpc>
            </a:pPr>
            <a:r>
              <a:rPr lang="en-US" b="0" i="0" dirty="0">
                <a:effectLst/>
              </a:rPr>
              <a:t>This feature, known as virtual hosting, is particularly useful for businesses and individuals looking to save on hosting costs while maintaining multiple online properties.</a:t>
            </a:r>
          </a:p>
          <a:p>
            <a:pPr>
              <a:lnSpc>
                <a:spcPct val="90000"/>
              </a:lnSpc>
              <a:spcBef>
                <a:spcPts val="1125"/>
              </a:spcBef>
              <a:spcAft>
                <a:spcPts val="1125"/>
              </a:spcAft>
            </a:pPr>
            <a:r>
              <a:rPr lang="en-US" b="1" i="0" dirty="0">
                <a:effectLst/>
              </a:rPr>
              <a:t>4. File Sharing and Media Streaming</a:t>
            </a:r>
          </a:p>
          <a:p>
            <a:pPr>
              <a:lnSpc>
                <a:spcPct val="90000"/>
              </a:lnSpc>
            </a:pPr>
            <a:r>
              <a:rPr lang="en-US" b="0" i="0" dirty="0">
                <a:effectLst/>
              </a:rPr>
              <a:t>Web servers play a key role in file sharing and streaming media services. Online video sites, such as YouTube, Netflix, and Spotify, depend on web servers to deliver content to audiences across the globe.</a:t>
            </a:r>
          </a:p>
        </p:txBody>
      </p:sp>
    </p:spTree>
    <p:extLst>
      <p:ext uri="{BB962C8B-B14F-4D97-AF65-F5344CB8AC3E}">
        <p14:creationId xmlns:p14="http://schemas.microsoft.com/office/powerpoint/2010/main" val="5370798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99CA3-1DBB-37CC-9A8D-2E7690993517}"/>
              </a:ext>
            </a:extLst>
          </p:cNvPr>
          <p:cNvSpPr>
            <a:spLocks noGrp="1"/>
          </p:cNvSpPr>
          <p:nvPr>
            <p:ph type="title"/>
          </p:nvPr>
        </p:nvSpPr>
        <p:spPr>
          <a:xfrm>
            <a:off x="5868557" y="1138036"/>
            <a:ext cx="5444382" cy="1402470"/>
          </a:xfrm>
        </p:spPr>
        <p:txBody>
          <a:bodyPr anchor="t">
            <a:normAutofit/>
          </a:bodyPr>
          <a:lstStyle/>
          <a:p>
            <a:r>
              <a:rPr lang="en-GB" sz="3200" b="1"/>
              <a:t>What is Website?</a:t>
            </a:r>
            <a:r>
              <a:rPr lang="en-GB" sz="3200"/>
              <a:t> </a:t>
            </a:r>
            <a:endParaRPr lang="en-US" sz="3200"/>
          </a:p>
        </p:txBody>
      </p:sp>
      <p:pic>
        <p:nvPicPr>
          <p:cNvPr id="5" name="Picture 4" descr="Computer script on a screen">
            <a:extLst>
              <a:ext uri="{FF2B5EF4-FFF2-40B4-BE49-F238E27FC236}">
                <a16:creationId xmlns:a16="http://schemas.microsoft.com/office/drawing/2014/main" id="{2A799B54-CEFD-51D3-18F5-385C304AA880}"/>
              </a:ext>
            </a:extLst>
          </p:cNvPr>
          <p:cNvPicPr>
            <a:picLocks noChangeAspect="1"/>
          </p:cNvPicPr>
          <p:nvPr/>
        </p:nvPicPr>
        <p:blipFill>
          <a:blip r:embed="rId2"/>
          <a:srcRect l="5045" r="44817" b="-1"/>
          <a:stretch>
            <a:fillRect/>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87150E3-BB1C-E95E-2713-79F1FED4594F}"/>
              </a:ext>
            </a:extLst>
          </p:cNvPr>
          <p:cNvSpPr>
            <a:spLocks noGrp="1"/>
          </p:cNvSpPr>
          <p:nvPr>
            <p:ph idx="1"/>
          </p:nvPr>
        </p:nvSpPr>
        <p:spPr>
          <a:xfrm>
            <a:off x="5868557" y="2551176"/>
            <a:ext cx="5444382" cy="3591207"/>
          </a:xfrm>
        </p:spPr>
        <p:txBody>
          <a:bodyPr>
            <a:normAutofit/>
          </a:bodyPr>
          <a:lstStyle/>
          <a:p>
            <a:r>
              <a:rPr lang="en-GB" sz="2000"/>
              <a:t>Website is the collection of web pages, different multimedia content such as text, images, and videos which can be accessed by the URL which you can see in the address bar of the browser. For example: </a:t>
            </a:r>
            <a:r>
              <a:rPr lang="en-GB" sz="2000" u="sng">
                <a:hlinkClick r:id="rId3"/>
              </a:rPr>
              <a:t>https://www.geeksforgeeks.org/</a:t>
            </a:r>
            <a:r>
              <a:rPr lang="en-GB" sz="2000"/>
              <a:t> </a:t>
            </a:r>
            <a:endParaRPr lang="en-US" sz="2000"/>
          </a:p>
        </p:txBody>
      </p:sp>
    </p:spTree>
    <p:extLst>
      <p:ext uri="{BB962C8B-B14F-4D97-AF65-F5344CB8AC3E}">
        <p14:creationId xmlns:p14="http://schemas.microsoft.com/office/powerpoint/2010/main" val="3271660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311923-72B6-9731-E8F6-381BFF7C6D65}"/>
              </a:ext>
            </a:extLst>
          </p:cNvPr>
          <p:cNvSpPr>
            <a:spLocks noGrp="1"/>
          </p:cNvSpPr>
          <p:nvPr>
            <p:ph type="title"/>
          </p:nvPr>
        </p:nvSpPr>
        <p:spPr>
          <a:xfrm>
            <a:off x="645065" y="1463040"/>
            <a:ext cx="3796306" cy="2690949"/>
          </a:xfrm>
        </p:spPr>
        <p:txBody>
          <a:bodyPr anchor="t">
            <a:normAutofit/>
          </a:bodyPr>
          <a:lstStyle/>
          <a:p>
            <a:r>
              <a:rPr lang="en-GB" sz="4800" b="1"/>
              <a:t>How to access Websites?</a:t>
            </a:r>
            <a:r>
              <a:rPr lang="en-GB" sz="4800"/>
              <a:t> </a:t>
            </a:r>
            <a:endParaRPr lang="en-US" sz="4800"/>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7943FE3-E4BE-2B45-B1BA-A4831EBE1DBE}"/>
              </a:ext>
            </a:extLst>
          </p:cNvPr>
          <p:cNvSpPr>
            <a:spLocks noGrp="1"/>
          </p:cNvSpPr>
          <p:nvPr>
            <p:ph idx="1"/>
          </p:nvPr>
        </p:nvSpPr>
        <p:spPr>
          <a:xfrm>
            <a:off x="5656218" y="1463039"/>
            <a:ext cx="5542387" cy="4300447"/>
          </a:xfrm>
        </p:spPr>
        <p:txBody>
          <a:bodyPr anchor="t">
            <a:normAutofit/>
          </a:bodyPr>
          <a:lstStyle/>
          <a:p>
            <a:pPr marL="0" indent="0">
              <a:buNone/>
            </a:pPr>
            <a:br>
              <a:rPr lang="en-GB" sz="2200"/>
            </a:br>
            <a:r>
              <a:rPr lang="en-GB" sz="2200"/>
              <a:t>When we type a certain URL in a browser search bar, the browser requests the page from the Web server and the Web server returns the required web page and its content to the browser. Now, it differs how the server returns the information required in the case of static and dynamic websites. </a:t>
            </a:r>
            <a:endParaRPr lang="en-US" sz="2200"/>
          </a:p>
        </p:txBody>
      </p:sp>
    </p:spTree>
    <p:extLst>
      <p:ext uri="{BB962C8B-B14F-4D97-AF65-F5344CB8AC3E}">
        <p14:creationId xmlns:p14="http://schemas.microsoft.com/office/powerpoint/2010/main" val="1454062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86FD24A5-2A9F-01B8-11F7-BB16772ACA71}"/>
              </a:ext>
            </a:extLst>
          </p:cNvPr>
          <p:cNvSpPr>
            <a:spLocks noGrp="1"/>
          </p:cNvSpPr>
          <p:nvPr>
            <p:ph type="title"/>
          </p:nvPr>
        </p:nvSpPr>
        <p:spPr>
          <a:xfrm>
            <a:off x="479394" y="1070800"/>
            <a:ext cx="3939688" cy="5583126"/>
          </a:xfrm>
        </p:spPr>
        <p:txBody>
          <a:bodyPr>
            <a:normAutofit/>
          </a:bodyPr>
          <a:lstStyle/>
          <a:p>
            <a:pPr algn="r" fontAlgn="base"/>
            <a:r>
              <a:rPr lang="en-GB" sz="7400" b="1"/>
              <a:t>Types of Website:</a:t>
            </a:r>
            <a:r>
              <a:rPr lang="en-GB" sz="7400"/>
              <a:t> </a:t>
            </a:r>
            <a:endParaRPr lang="en-US" sz="7400"/>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629A11B6-A366-42CF-A4D1-9C2748BAFCBD}"/>
              </a:ext>
            </a:extLst>
          </p:cNvPr>
          <p:cNvGraphicFramePr>
            <a:graphicFrameLocks noGrp="1"/>
          </p:cNvGraphicFramePr>
          <p:nvPr>
            <p:ph idx="1"/>
            <p:extLst>
              <p:ext uri="{D42A27DB-BD31-4B8C-83A1-F6EECF244321}">
                <p14:modId xmlns:p14="http://schemas.microsoft.com/office/powerpoint/2010/main" val="3785236891"/>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9179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B451BF-F6C9-CB2F-0594-6D1F9A3BAEE9}"/>
              </a:ext>
            </a:extLst>
          </p:cNvPr>
          <p:cNvSpPr>
            <a:spLocks noGrp="1"/>
          </p:cNvSpPr>
          <p:nvPr>
            <p:ph type="title"/>
          </p:nvPr>
        </p:nvSpPr>
        <p:spPr>
          <a:xfrm>
            <a:off x="793662" y="386930"/>
            <a:ext cx="10066122" cy="1298448"/>
          </a:xfrm>
        </p:spPr>
        <p:txBody>
          <a:bodyPr anchor="b">
            <a:normAutofit/>
          </a:bodyPr>
          <a:lstStyle/>
          <a:p>
            <a:r>
              <a:rPr lang="en-GB" sz="4800" b="1"/>
              <a:t>Static Website:</a:t>
            </a:r>
            <a:r>
              <a:rPr lang="en-GB" sz="4800"/>
              <a:t> </a:t>
            </a:r>
            <a:endParaRPr lang="en-US" sz="4800"/>
          </a:p>
        </p:txBody>
      </p:sp>
      <p:sp>
        <p:nvSpPr>
          <p:cNvPr id="1033" name="Rectangle 103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CD5E410-BC61-A656-008C-DD256F87D08D}"/>
              </a:ext>
            </a:extLst>
          </p:cNvPr>
          <p:cNvSpPr>
            <a:spLocks noGrp="1"/>
          </p:cNvSpPr>
          <p:nvPr>
            <p:ph idx="1"/>
          </p:nvPr>
        </p:nvSpPr>
        <p:spPr>
          <a:xfrm>
            <a:off x="793661" y="2599509"/>
            <a:ext cx="4530898" cy="3639450"/>
          </a:xfrm>
        </p:spPr>
        <p:txBody>
          <a:bodyPr anchor="ctr">
            <a:normAutofit/>
          </a:bodyPr>
          <a:lstStyle/>
          <a:p>
            <a:r>
              <a:rPr lang="en-GB" sz="1900"/>
              <a:t>In Static Websites, Web pages are returned by the server which are prebuilt source code files built using simple languages such as HTML, CSS, or JavaScript. There is no processing of content on the server (according to the user) in Static Websites. Web pages are returned by the server with no change therefore, static Websites are fast. There is no interaction with databases. Also, they are less costly as the host does not need to support server-side processing with different languages. </a:t>
            </a:r>
            <a:endParaRPr lang="en-US" sz="1900"/>
          </a:p>
        </p:txBody>
      </p:sp>
      <p:pic>
        <p:nvPicPr>
          <p:cNvPr id="1026" name="Picture 2" descr="Lightbox">
            <a:extLst>
              <a:ext uri="{FF2B5EF4-FFF2-40B4-BE49-F238E27FC236}">
                <a16:creationId xmlns:a16="http://schemas.microsoft.com/office/drawing/2014/main" id="{BBBE62E6-D0F9-A5DE-3540-C989B2BFB46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41916" y="1256023"/>
            <a:ext cx="6386323" cy="4761717"/>
          </a:xfrm>
          <a:prstGeom prst="rect">
            <a:avLst/>
          </a:prstGeom>
          <a:noFill/>
          <a:extLst>
            <a:ext uri="{909E8E84-426E-40DD-AFC4-6F175D3DCCD1}">
              <a14:hiddenFill xmlns:a14="http://schemas.microsoft.com/office/drawing/2010/main">
                <a:solidFill>
                  <a:srgbClr val="FFFFFF"/>
                </a:solidFill>
              </a14:hiddenFill>
            </a:ext>
          </a:extLst>
        </p:spPr>
      </p:pic>
      <p:sp>
        <p:nvSpPr>
          <p:cNvPr id="1037" name="Rectangle 103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28047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F555B2-0ABC-758D-59A8-E75E3FF0BE41}"/>
              </a:ext>
            </a:extLst>
          </p:cNvPr>
          <p:cNvSpPr>
            <a:spLocks noGrp="1"/>
          </p:cNvSpPr>
          <p:nvPr>
            <p:ph type="title"/>
          </p:nvPr>
        </p:nvSpPr>
        <p:spPr>
          <a:xfrm>
            <a:off x="795528" y="386930"/>
            <a:ext cx="10141799" cy="1300554"/>
          </a:xfrm>
        </p:spPr>
        <p:txBody>
          <a:bodyPr anchor="b">
            <a:normAutofit/>
          </a:bodyPr>
          <a:lstStyle/>
          <a:p>
            <a:r>
              <a:rPr lang="en-GB" sz="4800" b="1"/>
              <a:t>Dynamic Website:</a:t>
            </a:r>
            <a:r>
              <a:rPr lang="en-GB" sz="4800"/>
              <a:t> </a:t>
            </a:r>
            <a:endParaRPr lang="en-US" sz="4800"/>
          </a:p>
        </p:txBody>
      </p:sp>
      <p:sp>
        <p:nvSpPr>
          <p:cNvPr id="2057" name="Rectangle 2056">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rchitecture of Static Website">
            <a:extLst>
              <a:ext uri="{FF2B5EF4-FFF2-40B4-BE49-F238E27FC236}">
                <a16:creationId xmlns:a16="http://schemas.microsoft.com/office/drawing/2014/main" id="{83D8103A-E6B1-5286-63C4-75FF624E52E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5295" y="3229463"/>
            <a:ext cx="5150277" cy="230474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90A982C-F695-24DD-3DA7-378FD640AED6}"/>
              </a:ext>
            </a:extLst>
          </p:cNvPr>
          <p:cNvSpPr>
            <a:spLocks noGrp="1"/>
          </p:cNvSpPr>
          <p:nvPr>
            <p:ph idx="1"/>
          </p:nvPr>
        </p:nvSpPr>
        <p:spPr>
          <a:xfrm>
            <a:off x="6406429" y="2599509"/>
            <a:ext cx="4530898" cy="3639450"/>
          </a:xfrm>
        </p:spPr>
        <p:txBody>
          <a:bodyPr anchor="ctr">
            <a:normAutofit/>
          </a:bodyPr>
          <a:lstStyle/>
          <a:p>
            <a:pPr fontAlgn="base"/>
            <a:r>
              <a:rPr lang="en-GB" sz="1400"/>
              <a:t>In Dynamic Websites, Web pages are returned by the server which are processed during runtime means they are not prebuilt web pages but they are built during runtime according to the user's demand with the help of server-side scripting languages such as PHP, Node.js, ASP.NET and many more supported by the server. So, they are slower than static websites but updates and interaction with databases are possible. </a:t>
            </a:r>
          </a:p>
          <a:p>
            <a:pPr fontAlgn="base"/>
            <a:r>
              <a:rPr lang="en-GB" sz="1400"/>
              <a:t>Dynamic Websites are used over Static Websites as updates can be done very easily as compared to static websites (Where altering in every page is required) but in Dynamic Websites, it is possible to do a common change once and it will reflect in all the web pages. </a:t>
            </a:r>
          </a:p>
          <a:p>
            <a:pPr marL="0" indent="0">
              <a:buNone/>
            </a:pPr>
            <a:endParaRPr lang="en-US" sz="1400"/>
          </a:p>
        </p:txBody>
      </p:sp>
      <p:sp>
        <p:nvSpPr>
          <p:cNvPr id="2061" name="Rectangle 2060">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4595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A1B77C9-BDE6-7A36-48FE-CFA7082090A7}"/>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b="1" kern="1200">
                <a:solidFill>
                  <a:schemeClr val="tx1"/>
                </a:solidFill>
                <a:latin typeface="+mj-lt"/>
                <a:ea typeface="+mj-ea"/>
                <a:cs typeface="+mj-cs"/>
              </a:rPr>
              <a:t>Difference Between Static and Dynamic Websites:</a:t>
            </a:r>
            <a:r>
              <a:rPr lang="en-US" sz="3600" kern="1200">
                <a:solidFill>
                  <a:schemeClr val="tx1"/>
                </a:solidFill>
                <a:latin typeface="+mj-lt"/>
                <a:ea typeface="+mj-ea"/>
                <a:cs typeface="+mj-cs"/>
              </a:rPr>
              <a:t>  </a:t>
            </a:r>
          </a:p>
        </p:txBody>
      </p:sp>
      <p:pic>
        <p:nvPicPr>
          <p:cNvPr id="5" name="Content Placeholder 4" descr="A screenshot of a website&#10;&#10;AI-generated content may be incorrect.">
            <a:extLst>
              <a:ext uri="{FF2B5EF4-FFF2-40B4-BE49-F238E27FC236}">
                <a16:creationId xmlns:a16="http://schemas.microsoft.com/office/drawing/2014/main" id="{342641C3-91B4-E085-4B7A-B7140263C592}"/>
              </a:ext>
            </a:extLst>
          </p:cNvPr>
          <p:cNvPicPr>
            <a:picLocks noChangeAspect="1"/>
          </p:cNvPicPr>
          <p:nvPr/>
        </p:nvPicPr>
        <p:blipFill>
          <a:blip r:embed="rId2"/>
          <a:stretch>
            <a:fillRect/>
          </a:stretch>
        </p:blipFill>
        <p:spPr>
          <a:xfrm>
            <a:off x="2108036" y="1699331"/>
            <a:ext cx="7975928" cy="3948085"/>
          </a:xfrm>
          <a:prstGeom prst="rect">
            <a:avLst/>
          </a:prstGeom>
        </p:spPr>
      </p:pic>
    </p:spTree>
    <p:extLst>
      <p:ext uri="{BB962C8B-B14F-4D97-AF65-F5344CB8AC3E}">
        <p14:creationId xmlns:p14="http://schemas.microsoft.com/office/powerpoint/2010/main" val="19404840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5" name="Rectangle 308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Rectangle 308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0E84EA-55EA-6835-3FD0-CA183B81E602}"/>
              </a:ext>
            </a:extLst>
          </p:cNvPr>
          <p:cNvSpPr>
            <a:spLocks noGrp="1"/>
          </p:cNvSpPr>
          <p:nvPr>
            <p:ph type="title"/>
          </p:nvPr>
        </p:nvSpPr>
        <p:spPr>
          <a:xfrm>
            <a:off x="1371599" y="5510253"/>
            <a:ext cx="9895951" cy="1033669"/>
          </a:xfrm>
        </p:spPr>
        <p:txBody>
          <a:bodyPr>
            <a:normAutofit/>
          </a:bodyPr>
          <a:lstStyle/>
          <a:p>
            <a:pPr fontAlgn="base"/>
            <a:r>
              <a:rPr lang="en-GB" sz="4000" b="1">
                <a:solidFill>
                  <a:srgbClr val="FFFFFF"/>
                </a:solidFill>
              </a:rPr>
              <a:t>What are Static Web Pages?</a:t>
            </a:r>
          </a:p>
        </p:txBody>
      </p:sp>
      <p:pic>
        <p:nvPicPr>
          <p:cNvPr id="3074" name="Picture 2" descr="Static Web Pages">
            <a:extLst>
              <a:ext uri="{FF2B5EF4-FFF2-40B4-BE49-F238E27FC236}">
                <a16:creationId xmlns:a16="http://schemas.microsoft.com/office/drawing/2014/main" id="{FDE35445-9552-AE5D-B045-1439F38DF41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940256" y="601075"/>
            <a:ext cx="8311487" cy="281826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8F2F1ECF-AB98-C977-7638-6C3CA6B452FD}"/>
              </a:ext>
            </a:extLst>
          </p:cNvPr>
          <p:cNvSpPr>
            <a:spLocks noGrp="1"/>
          </p:cNvSpPr>
          <p:nvPr>
            <p:ph idx="1"/>
          </p:nvPr>
        </p:nvSpPr>
        <p:spPr>
          <a:xfrm>
            <a:off x="766119" y="3833199"/>
            <a:ext cx="9996616" cy="1119982"/>
          </a:xfrm>
        </p:spPr>
        <p:txBody>
          <a:bodyPr anchor="ctr">
            <a:normAutofit/>
          </a:bodyPr>
          <a:lstStyle/>
          <a:p>
            <a:r>
              <a:rPr lang="en-GB" sz="1600" dirty="0"/>
              <a:t>Static Web pages are very simple. It is written in languages such as HTML, JavaScript, CSS, etc. For static web pages when a server receives a request for a web page, then the server sends the response to the client without doing any additional process. These web pages are seen through a web browser. In </a:t>
            </a:r>
            <a:r>
              <a:rPr lang="en-GB" sz="1600" u="sng" dirty="0">
                <a:hlinkClick r:id="rId3"/>
              </a:rPr>
              <a:t>static web pages</a:t>
            </a:r>
            <a:r>
              <a:rPr lang="en-GB" sz="1600" dirty="0"/>
              <a:t>, Pages will remain the same until someone changes it manually.</a:t>
            </a:r>
            <a:endParaRPr lang="en-US" sz="1600" dirty="0"/>
          </a:p>
        </p:txBody>
      </p:sp>
    </p:spTree>
    <p:extLst>
      <p:ext uri="{BB962C8B-B14F-4D97-AF65-F5344CB8AC3E}">
        <p14:creationId xmlns:p14="http://schemas.microsoft.com/office/powerpoint/2010/main" val="1151149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Rectangle 410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7" name="Rectangle 410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9" name="Rectangle 410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1" name="Rectangle 411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612EC8-21A9-F4DA-CF9D-746DBD4D044A}"/>
              </a:ext>
            </a:extLst>
          </p:cNvPr>
          <p:cNvSpPr>
            <a:spLocks noGrp="1"/>
          </p:cNvSpPr>
          <p:nvPr>
            <p:ph type="title"/>
          </p:nvPr>
        </p:nvSpPr>
        <p:spPr>
          <a:xfrm>
            <a:off x="1371599" y="5510253"/>
            <a:ext cx="9895951" cy="1033669"/>
          </a:xfrm>
        </p:spPr>
        <p:txBody>
          <a:bodyPr>
            <a:normAutofit/>
          </a:bodyPr>
          <a:lstStyle/>
          <a:p>
            <a:r>
              <a:rPr lang="en-GB" sz="3400" b="1">
                <a:solidFill>
                  <a:srgbClr val="FFFFFF"/>
                </a:solidFill>
              </a:rPr>
              <a:t>What are Dynamic Web Pages?</a:t>
            </a:r>
            <a:br>
              <a:rPr lang="en-GB" sz="3400" b="1">
                <a:solidFill>
                  <a:srgbClr val="FFFFFF"/>
                </a:solidFill>
              </a:rPr>
            </a:br>
            <a:endParaRPr lang="en-US" sz="3400">
              <a:solidFill>
                <a:srgbClr val="FFFFFF"/>
              </a:solidFill>
            </a:endParaRPr>
          </a:p>
        </p:txBody>
      </p:sp>
      <p:pic>
        <p:nvPicPr>
          <p:cNvPr id="4098" name="Picture 2" descr="Dynamic Web Pages">
            <a:extLst>
              <a:ext uri="{FF2B5EF4-FFF2-40B4-BE49-F238E27FC236}">
                <a16:creationId xmlns:a16="http://schemas.microsoft.com/office/drawing/2014/main" id="{8D6E3A1B-B0BB-BE18-3C72-C4E6F71CB9E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673634" y="402570"/>
            <a:ext cx="4844731" cy="321527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891CE8D1-F675-0784-A257-30C5891AA7E8}"/>
              </a:ext>
            </a:extLst>
          </p:cNvPr>
          <p:cNvSpPr>
            <a:spLocks noGrp="1"/>
          </p:cNvSpPr>
          <p:nvPr>
            <p:ph idx="1"/>
          </p:nvPr>
        </p:nvSpPr>
        <p:spPr>
          <a:xfrm>
            <a:off x="1940256" y="3833199"/>
            <a:ext cx="8332826" cy="1119982"/>
          </a:xfrm>
        </p:spPr>
        <p:txBody>
          <a:bodyPr anchor="ctr">
            <a:normAutofit/>
          </a:bodyPr>
          <a:lstStyle/>
          <a:p>
            <a:r>
              <a:rPr lang="en-GB" sz="1600"/>
              <a:t>Dynamic Web Pages are written in languages such as CGI, AJAX, ASP, ASP.NET, etc. In dynamic web pages, the Content of pages is different for different visitors. It takes more time to load than the static web page. </a:t>
            </a:r>
            <a:r>
              <a:rPr lang="en-GB" sz="1600" u="sng">
                <a:hlinkClick r:id="rId3"/>
              </a:rPr>
              <a:t>Dynamic web pages</a:t>
            </a:r>
            <a:r>
              <a:rPr lang="en-GB" sz="1600"/>
              <a:t> are used where the information is changed frequently, for example, stock prices, weather information, etc.</a:t>
            </a:r>
            <a:endParaRPr lang="en-US" sz="1600"/>
          </a:p>
        </p:txBody>
      </p:sp>
    </p:spTree>
    <p:extLst>
      <p:ext uri="{BB962C8B-B14F-4D97-AF65-F5344CB8AC3E}">
        <p14:creationId xmlns:p14="http://schemas.microsoft.com/office/powerpoint/2010/main" val="15997712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94913-F135-6176-10FF-A72FAB14C202}"/>
              </a:ext>
            </a:extLst>
          </p:cNvPr>
          <p:cNvSpPr>
            <a:spLocks noGrp="1"/>
          </p:cNvSpPr>
          <p:nvPr>
            <p:ph type="title"/>
          </p:nvPr>
        </p:nvSpPr>
        <p:spPr/>
        <p:txBody>
          <a:bodyPr>
            <a:normAutofit/>
          </a:bodyPr>
          <a:lstStyle/>
          <a:p>
            <a:r>
              <a:rPr lang="en-GB" b="1" dirty="0"/>
              <a:t>Difference Between Static and Dynamic Web Pages</a:t>
            </a:r>
            <a:endParaRPr lang="en-US" dirty="0"/>
          </a:p>
        </p:txBody>
      </p:sp>
      <p:pic>
        <p:nvPicPr>
          <p:cNvPr id="5" name="Content Placeholder 4" descr="A screenshot of a web page&#10;&#10;AI-generated content may be incorrect.">
            <a:extLst>
              <a:ext uri="{FF2B5EF4-FFF2-40B4-BE49-F238E27FC236}">
                <a16:creationId xmlns:a16="http://schemas.microsoft.com/office/drawing/2014/main" id="{85BD323D-E5C1-3A9E-8595-9EDAB7EC87F3}"/>
              </a:ext>
            </a:extLst>
          </p:cNvPr>
          <p:cNvPicPr>
            <a:picLocks noGrp="1" noChangeAspect="1"/>
          </p:cNvPicPr>
          <p:nvPr>
            <p:ph idx="1"/>
          </p:nvPr>
        </p:nvPicPr>
        <p:blipFill>
          <a:blip r:embed="rId2"/>
          <a:stretch>
            <a:fillRect/>
          </a:stretch>
        </p:blipFill>
        <p:spPr>
          <a:xfrm>
            <a:off x="2607121" y="1825625"/>
            <a:ext cx="6977757" cy="4351338"/>
          </a:xfrm>
        </p:spPr>
      </p:pic>
    </p:spTree>
    <p:extLst>
      <p:ext uri="{BB962C8B-B14F-4D97-AF65-F5344CB8AC3E}">
        <p14:creationId xmlns:p14="http://schemas.microsoft.com/office/powerpoint/2010/main" val="22339776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CFB26-3398-0654-023F-1CCD5E82ADA0}"/>
              </a:ext>
            </a:extLst>
          </p:cNvPr>
          <p:cNvSpPr>
            <a:spLocks noGrp="1"/>
          </p:cNvSpPr>
          <p:nvPr>
            <p:ph type="title"/>
          </p:nvPr>
        </p:nvSpPr>
        <p:spPr/>
        <p:txBody>
          <a:bodyPr/>
          <a:lstStyle/>
          <a:p>
            <a:r>
              <a:rPr lang="en-GB" b="1" dirty="0"/>
              <a:t>What is a local development server?</a:t>
            </a:r>
            <a:endParaRPr lang="en-US" dirty="0"/>
          </a:p>
        </p:txBody>
      </p:sp>
      <p:sp>
        <p:nvSpPr>
          <p:cNvPr id="3" name="Content Placeholder 2">
            <a:extLst>
              <a:ext uri="{FF2B5EF4-FFF2-40B4-BE49-F238E27FC236}">
                <a16:creationId xmlns:a16="http://schemas.microsoft.com/office/drawing/2014/main" id="{2963790F-4E8A-38DC-3D68-4084B72D8082}"/>
              </a:ext>
            </a:extLst>
          </p:cNvPr>
          <p:cNvSpPr>
            <a:spLocks noGrp="1"/>
          </p:cNvSpPr>
          <p:nvPr>
            <p:ph idx="1"/>
          </p:nvPr>
        </p:nvSpPr>
        <p:spPr/>
        <p:txBody>
          <a:bodyPr>
            <a:normAutofit lnSpcReduction="10000"/>
          </a:bodyPr>
          <a:lstStyle/>
          <a:p>
            <a:pPr marL="0" indent="0" fontAlgn="base">
              <a:buNone/>
            </a:pPr>
            <a:r>
              <a:rPr lang="en-GB" dirty="0"/>
              <a:t>You can run, test, and debug your applications on a local development server, which is an environment you set up on your own computer. It creates the actions of the real production server, helping you to:</a:t>
            </a:r>
          </a:p>
          <a:p>
            <a:pPr fontAlgn="base"/>
            <a:r>
              <a:rPr lang="en-GB" dirty="0"/>
              <a:t>Identify and resolve issues early.</a:t>
            </a:r>
          </a:p>
          <a:p>
            <a:pPr fontAlgn="base"/>
            <a:r>
              <a:rPr lang="en-GB" dirty="0"/>
              <a:t>Develop applications without internet connectivity.</a:t>
            </a:r>
          </a:p>
          <a:p>
            <a:pPr fontAlgn="base"/>
            <a:r>
              <a:rPr lang="en-GB" dirty="0"/>
              <a:t>Test configurations safely before going live.</a:t>
            </a:r>
          </a:p>
          <a:p>
            <a:pPr marL="0" indent="0" fontAlgn="base">
              <a:buNone/>
            </a:pPr>
            <a:r>
              <a:rPr lang="en-GB" dirty="0"/>
              <a:t>For instance, while developing a web application, using a local server enables you to render pages dynamically, process backend scripts, and test application logic in a controlled setup.</a:t>
            </a:r>
          </a:p>
        </p:txBody>
      </p:sp>
    </p:spTree>
    <p:extLst>
      <p:ext uri="{BB962C8B-B14F-4D97-AF65-F5344CB8AC3E}">
        <p14:creationId xmlns:p14="http://schemas.microsoft.com/office/powerpoint/2010/main" val="3635618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E6404-6A3B-5115-2951-46CE50CBB439}"/>
              </a:ext>
            </a:extLst>
          </p:cNvPr>
          <p:cNvSpPr>
            <a:spLocks noGrp="1"/>
          </p:cNvSpPr>
          <p:nvPr>
            <p:ph type="title"/>
          </p:nvPr>
        </p:nvSpPr>
        <p:spPr/>
        <p:txBody>
          <a:bodyPr/>
          <a:lstStyle/>
          <a:p>
            <a:pPr fontAlgn="base"/>
            <a:r>
              <a:rPr lang="en-GB" b="1" dirty="0"/>
              <a:t>Why Setting Up a Local Dev Server is Essential</a:t>
            </a:r>
          </a:p>
        </p:txBody>
      </p:sp>
      <p:sp>
        <p:nvSpPr>
          <p:cNvPr id="3" name="Content Placeholder 2">
            <a:extLst>
              <a:ext uri="{FF2B5EF4-FFF2-40B4-BE49-F238E27FC236}">
                <a16:creationId xmlns:a16="http://schemas.microsoft.com/office/drawing/2014/main" id="{5413F6CE-5181-B279-990A-54F014E3EA4F}"/>
              </a:ext>
            </a:extLst>
          </p:cNvPr>
          <p:cNvSpPr>
            <a:spLocks noGrp="1"/>
          </p:cNvSpPr>
          <p:nvPr>
            <p:ph idx="1"/>
          </p:nvPr>
        </p:nvSpPr>
        <p:spPr/>
        <p:txBody>
          <a:bodyPr>
            <a:normAutofit/>
          </a:bodyPr>
          <a:lstStyle/>
          <a:p>
            <a:pPr fontAlgn="base"/>
            <a:r>
              <a:rPr lang="en-GB" dirty="0"/>
              <a:t>Developers use local servers for several practical reasons:</a:t>
            </a:r>
          </a:p>
          <a:p>
            <a:pPr fontAlgn="base"/>
            <a:r>
              <a:rPr lang="en-GB" b="1" dirty="0"/>
              <a:t>Improved Workflow</a:t>
            </a:r>
            <a:r>
              <a:rPr lang="en-GB" dirty="0"/>
              <a:t>: Test code changes in real-time without delays.</a:t>
            </a:r>
          </a:p>
          <a:p>
            <a:pPr fontAlgn="base"/>
            <a:r>
              <a:rPr lang="en-GB" b="1" dirty="0"/>
              <a:t>Consistency Across Environments</a:t>
            </a:r>
            <a:r>
              <a:rPr lang="en-GB" dirty="0"/>
              <a:t>: Ensure the app works the same way locally as it will in production.</a:t>
            </a:r>
          </a:p>
          <a:p>
            <a:pPr fontAlgn="base"/>
            <a:r>
              <a:rPr lang="en-GB" b="1" dirty="0"/>
              <a:t>Faster Debugging</a:t>
            </a:r>
            <a:r>
              <a:rPr lang="en-GB" dirty="0"/>
              <a:t>: Quick identification and resolution of issues.</a:t>
            </a:r>
          </a:p>
          <a:p>
            <a:pPr fontAlgn="base"/>
            <a:r>
              <a:rPr lang="en-GB" b="1" dirty="0"/>
              <a:t>Enhanced Collaboration</a:t>
            </a:r>
            <a:r>
              <a:rPr lang="en-GB" dirty="0"/>
              <a:t>: Share your development setup with team members for synchronized development.</a:t>
            </a:r>
          </a:p>
          <a:p>
            <a:pPr marL="0" indent="0" fontAlgn="base">
              <a:buNone/>
            </a:pPr>
            <a:endParaRPr lang="en-GB" dirty="0"/>
          </a:p>
        </p:txBody>
      </p:sp>
    </p:spTree>
    <p:extLst>
      <p:ext uri="{BB962C8B-B14F-4D97-AF65-F5344CB8AC3E}">
        <p14:creationId xmlns:p14="http://schemas.microsoft.com/office/powerpoint/2010/main" val="25592991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10139</TotalTime>
  <Words>1785</Words>
  <Application>Microsoft Macintosh PowerPoint</Application>
  <PresentationFormat>Widescreen</PresentationFormat>
  <Paragraphs>86</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Aptos Display</vt:lpstr>
      <vt:lpstr>Arial</vt:lpstr>
      <vt:lpstr>Calibri</vt:lpstr>
      <vt:lpstr>Office Theme</vt:lpstr>
      <vt:lpstr>Week 2.  Web Server Fundamentals</vt:lpstr>
      <vt:lpstr>Content</vt:lpstr>
      <vt:lpstr>Web servers</vt:lpstr>
      <vt:lpstr>How Does Web Server Work?</vt:lpstr>
      <vt:lpstr>PowerPoint Presentation</vt:lpstr>
      <vt:lpstr>Apache Web Servers</vt:lpstr>
      <vt:lpstr>PowerPoint Presentation</vt:lpstr>
      <vt:lpstr>Nginx Web Servers </vt:lpstr>
      <vt:lpstr>PowerPoint Presentation</vt:lpstr>
      <vt:lpstr>Microsoft Internet Information Services (IIS) Web Servers</vt:lpstr>
      <vt:lpstr>Lighttp</vt:lpstr>
      <vt:lpstr>Sun Java System Web Server </vt:lpstr>
      <vt:lpstr>Node.js Web Server</vt:lpstr>
      <vt:lpstr>Jigsaw Web Server</vt:lpstr>
      <vt:lpstr>PowerPoint Presentation</vt:lpstr>
      <vt:lpstr>What is Website? </vt:lpstr>
      <vt:lpstr>How to access Websites? </vt:lpstr>
      <vt:lpstr>Types of Website: </vt:lpstr>
      <vt:lpstr>Static Website: </vt:lpstr>
      <vt:lpstr>Dynamic Website: </vt:lpstr>
      <vt:lpstr>Difference Between Static and Dynamic Websites:  </vt:lpstr>
      <vt:lpstr>What are Static Web Pages?</vt:lpstr>
      <vt:lpstr>What are Dynamic Web Pages? </vt:lpstr>
      <vt:lpstr>Difference Between Static and Dynamic Web Pages</vt:lpstr>
      <vt:lpstr>What is a local development server?</vt:lpstr>
      <vt:lpstr>Why Setting Up a Local Dev Server is Essential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Shakhnoza Muksimova</dc:creator>
  <cp:lastModifiedBy>Shakhnoza Muksimova</cp:lastModifiedBy>
  <cp:revision>3</cp:revision>
  <dcterms:created xsi:type="dcterms:W3CDTF">2025-09-19T01:44:45Z</dcterms:created>
  <dcterms:modified xsi:type="dcterms:W3CDTF">2025-09-26T02:50:15Z</dcterms:modified>
</cp:coreProperties>
</file>