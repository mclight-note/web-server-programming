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1" r:id="rId3"/>
    <p:sldId id="257" r:id="rId4"/>
    <p:sldId id="258" r:id="rId5"/>
    <p:sldId id="259" r:id="rId6"/>
    <p:sldId id="273" r:id="rId7"/>
    <p:sldId id="274" r:id="rId8"/>
    <p:sldId id="275" r:id="rId9"/>
    <p:sldId id="276" r:id="rId10"/>
    <p:sldId id="277" r:id="rId11"/>
    <p:sldId id="260"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80"/>
    <p:restoredTop sz="94632"/>
  </p:normalViewPr>
  <p:slideViewPr>
    <p:cSldViewPr snapToGrid="0">
      <p:cViewPr varScale="1">
        <p:scale>
          <a:sx n="125" d="100"/>
          <a:sy n="125" d="100"/>
        </p:scale>
        <p:origin x="176" y="8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64D26E-CAC3-431A-8624-E33CE3E619F7}" type="doc">
      <dgm:prSet loTypeId="urn:microsoft.com/office/officeart/2005/8/layout/list1" loCatId="list" qsTypeId="urn:microsoft.com/office/officeart/2005/8/quickstyle/simple4" qsCatId="simple" csTypeId="urn:microsoft.com/office/officeart/2005/8/colors/colorful1" csCatId="colorful"/>
      <dgm:spPr/>
      <dgm:t>
        <a:bodyPr/>
        <a:lstStyle/>
        <a:p>
          <a:endParaRPr lang="en-US"/>
        </a:p>
      </dgm:t>
    </dgm:pt>
    <dgm:pt modelId="{12ED1814-B1AF-40C9-99BD-1BCC8336DD91}">
      <dgm:prSet/>
      <dgm:spPr/>
      <dgm:t>
        <a:bodyPr/>
        <a:lstStyle/>
        <a:p>
          <a:r>
            <a:rPr lang="en-GB" dirty="0"/>
            <a:t>HTTP methods (GET, POST, PUT, DELETE)</a:t>
          </a:r>
          <a:endParaRPr lang="en-US" dirty="0"/>
        </a:p>
      </dgm:t>
    </dgm:pt>
    <dgm:pt modelId="{D489DCE5-25BC-4876-A688-6DAE39AD13AE}" type="parTrans" cxnId="{701A7855-1C2C-49DD-83D1-FE6E357FAC19}">
      <dgm:prSet/>
      <dgm:spPr/>
      <dgm:t>
        <a:bodyPr/>
        <a:lstStyle/>
        <a:p>
          <a:endParaRPr lang="en-US"/>
        </a:p>
      </dgm:t>
    </dgm:pt>
    <dgm:pt modelId="{AC5F4572-BE10-4F52-A218-96DE5964800E}" type="sibTrans" cxnId="{701A7855-1C2C-49DD-83D1-FE6E357FAC19}">
      <dgm:prSet/>
      <dgm:spPr/>
      <dgm:t>
        <a:bodyPr/>
        <a:lstStyle/>
        <a:p>
          <a:endParaRPr lang="en-US"/>
        </a:p>
      </dgm:t>
    </dgm:pt>
    <dgm:pt modelId="{5D35595B-FE14-41FD-8400-A3DE96369C3F}">
      <dgm:prSet/>
      <dgm:spPr/>
      <dgm:t>
        <a:bodyPr/>
        <a:lstStyle/>
        <a:p>
          <a:r>
            <a:rPr lang="en-GB"/>
            <a:t>Status codes</a:t>
          </a:r>
          <a:endParaRPr lang="en-US"/>
        </a:p>
      </dgm:t>
    </dgm:pt>
    <dgm:pt modelId="{116BEC27-0B6E-4C5B-9435-E19BB6AA324C}" type="parTrans" cxnId="{CAAD8360-5761-4634-ADED-26B3F62208E4}">
      <dgm:prSet/>
      <dgm:spPr/>
      <dgm:t>
        <a:bodyPr/>
        <a:lstStyle/>
        <a:p>
          <a:endParaRPr lang="en-US"/>
        </a:p>
      </dgm:t>
    </dgm:pt>
    <dgm:pt modelId="{C0BAB646-76E3-42A7-B54F-77A50A47FDF7}" type="sibTrans" cxnId="{CAAD8360-5761-4634-ADED-26B3F62208E4}">
      <dgm:prSet/>
      <dgm:spPr/>
      <dgm:t>
        <a:bodyPr/>
        <a:lstStyle/>
        <a:p>
          <a:endParaRPr lang="en-US"/>
        </a:p>
      </dgm:t>
    </dgm:pt>
    <dgm:pt modelId="{81440821-3A71-4D44-A6B8-64C9447A864C}">
      <dgm:prSet/>
      <dgm:spPr/>
      <dgm:t>
        <a:bodyPr/>
        <a:lstStyle/>
        <a:p>
          <a:r>
            <a:rPr lang="en-GB"/>
            <a:t>Headers, cookies, sessions</a:t>
          </a:r>
          <a:endParaRPr lang="en-US"/>
        </a:p>
      </dgm:t>
    </dgm:pt>
    <dgm:pt modelId="{8E9B2FA3-0A37-4EAE-AA82-AAD1454565D3}" type="parTrans" cxnId="{4D31C11B-5E56-40E4-A502-147F80629B02}">
      <dgm:prSet/>
      <dgm:spPr/>
      <dgm:t>
        <a:bodyPr/>
        <a:lstStyle/>
        <a:p>
          <a:endParaRPr lang="en-US"/>
        </a:p>
      </dgm:t>
    </dgm:pt>
    <dgm:pt modelId="{BDBCD112-77C5-4F27-87DD-098C70197E5A}" type="sibTrans" cxnId="{4D31C11B-5E56-40E4-A502-147F80629B02}">
      <dgm:prSet/>
      <dgm:spPr/>
      <dgm:t>
        <a:bodyPr/>
        <a:lstStyle/>
        <a:p>
          <a:endParaRPr lang="en-US"/>
        </a:p>
      </dgm:t>
    </dgm:pt>
    <dgm:pt modelId="{F848F3BA-E956-497C-9B19-39764FBC7FA3}">
      <dgm:prSet/>
      <dgm:spPr/>
      <dgm:t>
        <a:bodyPr/>
        <a:lstStyle/>
        <a:p>
          <a:r>
            <a:rPr lang="en-GB"/>
            <a:t>HTTPS and SSL basics</a:t>
          </a:r>
          <a:endParaRPr lang="en-US"/>
        </a:p>
      </dgm:t>
    </dgm:pt>
    <dgm:pt modelId="{D2C68758-FA92-4960-91B6-6088C11C0543}" type="parTrans" cxnId="{BED26121-2724-4913-BD02-BBD482771AEC}">
      <dgm:prSet/>
      <dgm:spPr/>
      <dgm:t>
        <a:bodyPr/>
        <a:lstStyle/>
        <a:p>
          <a:endParaRPr lang="en-US"/>
        </a:p>
      </dgm:t>
    </dgm:pt>
    <dgm:pt modelId="{DFA24BAA-5540-4AB4-A364-83FCB82F24A2}" type="sibTrans" cxnId="{BED26121-2724-4913-BD02-BBD482771AEC}">
      <dgm:prSet/>
      <dgm:spPr/>
      <dgm:t>
        <a:bodyPr/>
        <a:lstStyle/>
        <a:p>
          <a:endParaRPr lang="en-US"/>
        </a:p>
      </dgm:t>
    </dgm:pt>
    <dgm:pt modelId="{3A6928AF-6F36-B049-ADE4-E6E0DB532383}" type="pres">
      <dgm:prSet presAssocID="{C164D26E-CAC3-431A-8624-E33CE3E619F7}" presName="linear" presStyleCnt="0">
        <dgm:presLayoutVars>
          <dgm:dir/>
          <dgm:animLvl val="lvl"/>
          <dgm:resizeHandles val="exact"/>
        </dgm:presLayoutVars>
      </dgm:prSet>
      <dgm:spPr/>
    </dgm:pt>
    <dgm:pt modelId="{C1D79C08-7429-8E45-B22D-FF431967A03F}" type="pres">
      <dgm:prSet presAssocID="{12ED1814-B1AF-40C9-99BD-1BCC8336DD91}" presName="parentLin" presStyleCnt="0"/>
      <dgm:spPr/>
    </dgm:pt>
    <dgm:pt modelId="{E14FEE75-B109-C24C-A3EE-ACE6D2D4A877}" type="pres">
      <dgm:prSet presAssocID="{12ED1814-B1AF-40C9-99BD-1BCC8336DD91}" presName="parentLeftMargin" presStyleLbl="node1" presStyleIdx="0" presStyleCnt="4"/>
      <dgm:spPr/>
    </dgm:pt>
    <dgm:pt modelId="{5E2A058C-DFE5-514A-9C4C-92CCE4E5420E}" type="pres">
      <dgm:prSet presAssocID="{12ED1814-B1AF-40C9-99BD-1BCC8336DD91}" presName="parentText" presStyleLbl="node1" presStyleIdx="0" presStyleCnt="4">
        <dgm:presLayoutVars>
          <dgm:chMax val="0"/>
          <dgm:bulletEnabled val="1"/>
        </dgm:presLayoutVars>
      </dgm:prSet>
      <dgm:spPr/>
    </dgm:pt>
    <dgm:pt modelId="{2A22A650-DF81-6C4F-95EF-4B90364DC7B9}" type="pres">
      <dgm:prSet presAssocID="{12ED1814-B1AF-40C9-99BD-1BCC8336DD91}" presName="negativeSpace" presStyleCnt="0"/>
      <dgm:spPr/>
    </dgm:pt>
    <dgm:pt modelId="{4E3AD37C-6F52-CD4C-9251-33D20D63E7F9}" type="pres">
      <dgm:prSet presAssocID="{12ED1814-B1AF-40C9-99BD-1BCC8336DD91}" presName="childText" presStyleLbl="conFgAcc1" presStyleIdx="0" presStyleCnt="4">
        <dgm:presLayoutVars>
          <dgm:bulletEnabled val="1"/>
        </dgm:presLayoutVars>
      </dgm:prSet>
      <dgm:spPr/>
    </dgm:pt>
    <dgm:pt modelId="{91F609F0-29EC-CC47-992B-3730A72B47FA}" type="pres">
      <dgm:prSet presAssocID="{AC5F4572-BE10-4F52-A218-96DE5964800E}" presName="spaceBetweenRectangles" presStyleCnt="0"/>
      <dgm:spPr/>
    </dgm:pt>
    <dgm:pt modelId="{B07F3BB0-F99C-5742-80DC-81FD21026A87}" type="pres">
      <dgm:prSet presAssocID="{5D35595B-FE14-41FD-8400-A3DE96369C3F}" presName="parentLin" presStyleCnt="0"/>
      <dgm:spPr/>
    </dgm:pt>
    <dgm:pt modelId="{2E459DED-356F-A04E-BD6C-E987C5C271E1}" type="pres">
      <dgm:prSet presAssocID="{5D35595B-FE14-41FD-8400-A3DE96369C3F}" presName="parentLeftMargin" presStyleLbl="node1" presStyleIdx="0" presStyleCnt="4"/>
      <dgm:spPr/>
    </dgm:pt>
    <dgm:pt modelId="{F5857A26-ADD3-F642-81A5-224AD1904401}" type="pres">
      <dgm:prSet presAssocID="{5D35595B-FE14-41FD-8400-A3DE96369C3F}" presName="parentText" presStyleLbl="node1" presStyleIdx="1" presStyleCnt="4">
        <dgm:presLayoutVars>
          <dgm:chMax val="0"/>
          <dgm:bulletEnabled val="1"/>
        </dgm:presLayoutVars>
      </dgm:prSet>
      <dgm:spPr/>
    </dgm:pt>
    <dgm:pt modelId="{D480D69F-BB98-8340-A75E-6F70C4A283B5}" type="pres">
      <dgm:prSet presAssocID="{5D35595B-FE14-41FD-8400-A3DE96369C3F}" presName="negativeSpace" presStyleCnt="0"/>
      <dgm:spPr/>
    </dgm:pt>
    <dgm:pt modelId="{E75397A8-6CF1-4B4C-AFB0-724FCD2B99BC}" type="pres">
      <dgm:prSet presAssocID="{5D35595B-FE14-41FD-8400-A3DE96369C3F}" presName="childText" presStyleLbl="conFgAcc1" presStyleIdx="1" presStyleCnt="4">
        <dgm:presLayoutVars>
          <dgm:bulletEnabled val="1"/>
        </dgm:presLayoutVars>
      </dgm:prSet>
      <dgm:spPr/>
    </dgm:pt>
    <dgm:pt modelId="{7330BB9A-3FC1-DA41-8A30-6B1E13E18E7B}" type="pres">
      <dgm:prSet presAssocID="{C0BAB646-76E3-42A7-B54F-77A50A47FDF7}" presName="spaceBetweenRectangles" presStyleCnt="0"/>
      <dgm:spPr/>
    </dgm:pt>
    <dgm:pt modelId="{BA43CEEE-86B8-9641-8061-66F290B7AD21}" type="pres">
      <dgm:prSet presAssocID="{81440821-3A71-4D44-A6B8-64C9447A864C}" presName="parentLin" presStyleCnt="0"/>
      <dgm:spPr/>
    </dgm:pt>
    <dgm:pt modelId="{D607807E-1AE6-3446-9480-EC5A2A39CB8A}" type="pres">
      <dgm:prSet presAssocID="{81440821-3A71-4D44-A6B8-64C9447A864C}" presName="parentLeftMargin" presStyleLbl="node1" presStyleIdx="1" presStyleCnt="4"/>
      <dgm:spPr/>
    </dgm:pt>
    <dgm:pt modelId="{126D48B9-E66A-5A4B-97C6-25DD7D7407C0}" type="pres">
      <dgm:prSet presAssocID="{81440821-3A71-4D44-A6B8-64C9447A864C}" presName="parentText" presStyleLbl="node1" presStyleIdx="2" presStyleCnt="4">
        <dgm:presLayoutVars>
          <dgm:chMax val="0"/>
          <dgm:bulletEnabled val="1"/>
        </dgm:presLayoutVars>
      </dgm:prSet>
      <dgm:spPr/>
    </dgm:pt>
    <dgm:pt modelId="{EF74E20C-D04C-164B-9CFA-E6CFA3B2E3A6}" type="pres">
      <dgm:prSet presAssocID="{81440821-3A71-4D44-A6B8-64C9447A864C}" presName="negativeSpace" presStyleCnt="0"/>
      <dgm:spPr/>
    </dgm:pt>
    <dgm:pt modelId="{1BF61510-D9F7-AA4C-9D53-E289D2526ED0}" type="pres">
      <dgm:prSet presAssocID="{81440821-3A71-4D44-A6B8-64C9447A864C}" presName="childText" presStyleLbl="conFgAcc1" presStyleIdx="2" presStyleCnt="4">
        <dgm:presLayoutVars>
          <dgm:bulletEnabled val="1"/>
        </dgm:presLayoutVars>
      </dgm:prSet>
      <dgm:spPr/>
    </dgm:pt>
    <dgm:pt modelId="{3EA1B3EA-5BE7-A842-AC2D-61E32CED8879}" type="pres">
      <dgm:prSet presAssocID="{BDBCD112-77C5-4F27-87DD-098C70197E5A}" presName="spaceBetweenRectangles" presStyleCnt="0"/>
      <dgm:spPr/>
    </dgm:pt>
    <dgm:pt modelId="{07AAAE53-2F13-3E46-B364-E3C69ED89F2F}" type="pres">
      <dgm:prSet presAssocID="{F848F3BA-E956-497C-9B19-39764FBC7FA3}" presName="parentLin" presStyleCnt="0"/>
      <dgm:spPr/>
    </dgm:pt>
    <dgm:pt modelId="{4E5EDDF8-E2AF-E040-88B2-0554DFABE72B}" type="pres">
      <dgm:prSet presAssocID="{F848F3BA-E956-497C-9B19-39764FBC7FA3}" presName="parentLeftMargin" presStyleLbl="node1" presStyleIdx="2" presStyleCnt="4"/>
      <dgm:spPr/>
    </dgm:pt>
    <dgm:pt modelId="{FD8DC680-5110-9348-BBC9-4FB4445199F8}" type="pres">
      <dgm:prSet presAssocID="{F848F3BA-E956-497C-9B19-39764FBC7FA3}" presName="parentText" presStyleLbl="node1" presStyleIdx="3" presStyleCnt="4">
        <dgm:presLayoutVars>
          <dgm:chMax val="0"/>
          <dgm:bulletEnabled val="1"/>
        </dgm:presLayoutVars>
      </dgm:prSet>
      <dgm:spPr/>
    </dgm:pt>
    <dgm:pt modelId="{81C3711D-7312-864C-BD4F-75A7EBE76BF4}" type="pres">
      <dgm:prSet presAssocID="{F848F3BA-E956-497C-9B19-39764FBC7FA3}" presName="negativeSpace" presStyleCnt="0"/>
      <dgm:spPr/>
    </dgm:pt>
    <dgm:pt modelId="{93B07923-E0DB-F34B-B332-700660DFE1CC}" type="pres">
      <dgm:prSet presAssocID="{F848F3BA-E956-497C-9B19-39764FBC7FA3}" presName="childText" presStyleLbl="conFgAcc1" presStyleIdx="3" presStyleCnt="4">
        <dgm:presLayoutVars>
          <dgm:bulletEnabled val="1"/>
        </dgm:presLayoutVars>
      </dgm:prSet>
      <dgm:spPr/>
    </dgm:pt>
  </dgm:ptLst>
  <dgm:cxnLst>
    <dgm:cxn modelId="{4D31C11B-5E56-40E4-A502-147F80629B02}" srcId="{C164D26E-CAC3-431A-8624-E33CE3E619F7}" destId="{81440821-3A71-4D44-A6B8-64C9447A864C}" srcOrd="2" destOrd="0" parTransId="{8E9B2FA3-0A37-4EAE-AA82-AAD1454565D3}" sibTransId="{BDBCD112-77C5-4F27-87DD-098C70197E5A}"/>
    <dgm:cxn modelId="{BED26121-2724-4913-BD02-BBD482771AEC}" srcId="{C164D26E-CAC3-431A-8624-E33CE3E619F7}" destId="{F848F3BA-E956-497C-9B19-39764FBC7FA3}" srcOrd="3" destOrd="0" parTransId="{D2C68758-FA92-4960-91B6-6088C11C0543}" sibTransId="{DFA24BAA-5540-4AB4-A364-83FCB82F24A2}"/>
    <dgm:cxn modelId="{04FE513B-0FFA-C64E-A0BB-4AF6A0C4D474}" type="presOf" srcId="{F848F3BA-E956-497C-9B19-39764FBC7FA3}" destId="{4E5EDDF8-E2AF-E040-88B2-0554DFABE72B}" srcOrd="0" destOrd="0" presId="urn:microsoft.com/office/officeart/2005/8/layout/list1"/>
    <dgm:cxn modelId="{6B68E63C-F9E7-0347-842C-0E05558E028B}" type="presOf" srcId="{81440821-3A71-4D44-A6B8-64C9447A864C}" destId="{126D48B9-E66A-5A4B-97C6-25DD7D7407C0}" srcOrd="1" destOrd="0" presId="urn:microsoft.com/office/officeart/2005/8/layout/list1"/>
    <dgm:cxn modelId="{701A7855-1C2C-49DD-83D1-FE6E357FAC19}" srcId="{C164D26E-CAC3-431A-8624-E33CE3E619F7}" destId="{12ED1814-B1AF-40C9-99BD-1BCC8336DD91}" srcOrd="0" destOrd="0" parTransId="{D489DCE5-25BC-4876-A688-6DAE39AD13AE}" sibTransId="{AC5F4572-BE10-4F52-A218-96DE5964800E}"/>
    <dgm:cxn modelId="{CAAD8360-5761-4634-ADED-26B3F62208E4}" srcId="{C164D26E-CAC3-431A-8624-E33CE3E619F7}" destId="{5D35595B-FE14-41FD-8400-A3DE96369C3F}" srcOrd="1" destOrd="0" parTransId="{116BEC27-0B6E-4C5B-9435-E19BB6AA324C}" sibTransId="{C0BAB646-76E3-42A7-B54F-77A50A47FDF7}"/>
    <dgm:cxn modelId="{F8CDA578-57F0-694B-BD1A-DE11B5046BBD}" type="presOf" srcId="{F848F3BA-E956-497C-9B19-39764FBC7FA3}" destId="{FD8DC680-5110-9348-BBC9-4FB4445199F8}" srcOrd="1" destOrd="0" presId="urn:microsoft.com/office/officeart/2005/8/layout/list1"/>
    <dgm:cxn modelId="{FD0CBE7A-F0FE-394A-9351-8C9F854B579E}" type="presOf" srcId="{12ED1814-B1AF-40C9-99BD-1BCC8336DD91}" destId="{5E2A058C-DFE5-514A-9C4C-92CCE4E5420E}" srcOrd="1" destOrd="0" presId="urn:microsoft.com/office/officeart/2005/8/layout/list1"/>
    <dgm:cxn modelId="{3A90FA8C-77F2-394A-A18F-48B146467223}" type="presOf" srcId="{5D35595B-FE14-41FD-8400-A3DE96369C3F}" destId="{F5857A26-ADD3-F642-81A5-224AD1904401}" srcOrd="1" destOrd="0" presId="urn:microsoft.com/office/officeart/2005/8/layout/list1"/>
    <dgm:cxn modelId="{DD71AE90-9431-D047-852C-D032E3F9E103}" type="presOf" srcId="{5D35595B-FE14-41FD-8400-A3DE96369C3F}" destId="{2E459DED-356F-A04E-BD6C-E987C5C271E1}" srcOrd="0" destOrd="0" presId="urn:microsoft.com/office/officeart/2005/8/layout/list1"/>
    <dgm:cxn modelId="{F02843CA-8191-F34C-8F2C-B567472E5D91}" type="presOf" srcId="{81440821-3A71-4D44-A6B8-64C9447A864C}" destId="{D607807E-1AE6-3446-9480-EC5A2A39CB8A}" srcOrd="0" destOrd="0" presId="urn:microsoft.com/office/officeart/2005/8/layout/list1"/>
    <dgm:cxn modelId="{02798DED-17E6-B948-A1C5-4390011E0CE9}" type="presOf" srcId="{C164D26E-CAC3-431A-8624-E33CE3E619F7}" destId="{3A6928AF-6F36-B049-ADE4-E6E0DB532383}" srcOrd="0" destOrd="0" presId="urn:microsoft.com/office/officeart/2005/8/layout/list1"/>
    <dgm:cxn modelId="{E5A0E9F2-C73B-B448-BE03-48DFA0AD3A12}" type="presOf" srcId="{12ED1814-B1AF-40C9-99BD-1BCC8336DD91}" destId="{E14FEE75-B109-C24C-A3EE-ACE6D2D4A877}" srcOrd="0" destOrd="0" presId="urn:microsoft.com/office/officeart/2005/8/layout/list1"/>
    <dgm:cxn modelId="{2191D962-9525-A64B-8CA9-A0D8C67A3091}" type="presParOf" srcId="{3A6928AF-6F36-B049-ADE4-E6E0DB532383}" destId="{C1D79C08-7429-8E45-B22D-FF431967A03F}" srcOrd="0" destOrd="0" presId="urn:microsoft.com/office/officeart/2005/8/layout/list1"/>
    <dgm:cxn modelId="{5533E9FA-2B27-6F4C-8DAC-E6AA653EE4CE}" type="presParOf" srcId="{C1D79C08-7429-8E45-B22D-FF431967A03F}" destId="{E14FEE75-B109-C24C-A3EE-ACE6D2D4A877}" srcOrd="0" destOrd="0" presId="urn:microsoft.com/office/officeart/2005/8/layout/list1"/>
    <dgm:cxn modelId="{F37C91CC-9EB5-A94A-9DE7-EB4BA2183C54}" type="presParOf" srcId="{C1D79C08-7429-8E45-B22D-FF431967A03F}" destId="{5E2A058C-DFE5-514A-9C4C-92CCE4E5420E}" srcOrd="1" destOrd="0" presId="urn:microsoft.com/office/officeart/2005/8/layout/list1"/>
    <dgm:cxn modelId="{AD394540-AFEC-504F-9649-E56DC806078A}" type="presParOf" srcId="{3A6928AF-6F36-B049-ADE4-E6E0DB532383}" destId="{2A22A650-DF81-6C4F-95EF-4B90364DC7B9}" srcOrd="1" destOrd="0" presId="urn:microsoft.com/office/officeart/2005/8/layout/list1"/>
    <dgm:cxn modelId="{DD897280-9518-114C-A71E-9D800F1BDF67}" type="presParOf" srcId="{3A6928AF-6F36-B049-ADE4-E6E0DB532383}" destId="{4E3AD37C-6F52-CD4C-9251-33D20D63E7F9}" srcOrd="2" destOrd="0" presId="urn:microsoft.com/office/officeart/2005/8/layout/list1"/>
    <dgm:cxn modelId="{97EF4843-966D-2649-AD8C-9982DFEF15F2}" type="presParOf" srcId="{3A6928AF-6F36-B049-ADE4-E6E0DB532383}" destId="{91F609F0-29EC-CC47-992B-3730A72B47FA}" srcOrd="3" destOrd="0" presId="urn:microsoft.com/office/officeart/2005/8/layout/list1"/>
    <dgm:cxn modelId="{10F71F1F-3D9D-3C49-916B-82F32CF5AACC}" type="presParOf" srcId="{3A6928AF-6F36-B049-ADE4-E6E0DB532383}" destId="{B07F3BB0-F99C-5742-80DC-81FD21026A87}" srcOrd="4" destOrd="0" presId="urn:microsoft.com/office/officeart/2005/8/layout/list1"/>
    <dgm:cxn modelId="{8E8886D7-91F5-7542-837B-8DC38A6F643A}" type="presParOf" srcId="{B07F3BB0-F99C-5742-80DC-81FD21026A87}" destId="{2E459DED-356F-A04E-BD6C-E987C5C271E1}" srcOrd="0" destOrd="0" presId="urn:microsoft.com/office/officeart/2005/8/layout/list1"/>
    <dgm:cxn modelId="{C187E45F-E2F4-FE4B-B1A1-8A53EEDC96F9}" type="presParOf" srcId="{B07F3BB0-F99C-5742-80DC-81FD21026A87}" destId="{F5857A26-ADD3-F642-81A5-224AD1904401}" srcOrd="1" destOrd="0" presId="urn:microsoft.com/office/officeart/2005/8/layout/list1"/>
    <dgm:cxn modelId="{31714B65-E004-9C4E-AECE-51C884099B97}" type="presParOf" srcId="{3A6928AF-6F36-B049-ADE4-E6E0DB532383}" destId="{D480D69F-BB98-8340-A75E-6F70C4A283B5}" srcOrd="5" destOrd="0" presId="urn:microsoft.com/office/officeart/2005/8/layout/list1"/>
    <dgm:cxn modelId="{BBD3045E-359C-AF41-AE32-10EB0AFAD7F1}" type="presParOf" srcId="{3A6928AF-6F36-B049-ADE4-E6E0DB532383}" destId="{E75397A8-6CF1-4B4C-AFB0-724FCD2B99BC}" srcOrd="6" destOrd="0" presId="urn:microsoft.com/office/officeart/2005/8/layout/list1"/>
    <dgm:cxn modelId="{4D4179BB-F45F-AF4A-96C9-5A7665EE2B1E}" type="presParOf" srcId="{3A6928AF-6F36-B049-ADE4-E6E0DB532383}" destId="{7330BB9A-3FC1-DA41-8A30-6B1E13E18E7B}" srcOrd="7" destOrd="0" presId="urn:microsoft.com/office/officeart/2005/8/layout/list1"/>
    <dgm:cxn modelId="{9DEDED73-F990-A241-91FE-79ED7EEF1D6C}" type="presParOf" srcId="{3A6928AF-6F36-B049-ADE4-E6E0DB532383}" destId="{BA43CEEE-86B8-9641-8061-66F290B7AD21}" srcOrd="8" destOrd="0" presId="urn:microsoft.com/office/officeart/2005/8/layout/list1"/>
    <dgm:cxn modelId="{54D2140A-6688-054B-A986-D6677D090627}" type="presParOf" srcId="{BA43CEEE-86B8-9641-8061-66F290B7AD21}" destId="{D607807E-1AE6-3446-9480-EC5A2A39CB8A}" srcOrd="0" destOrd="0" presId="urn:microsoft.com/office/officeart/2005/8/layout/list1"/>
    <dgm:cxn modelId="{3DFEF8FF-5677-0341-835E-D2411C85A655}" type="presParOf" srcId="{BA43CEEE-86B8-9641-8061-66F290B7AD21}" destId="{126D48B9-E66A-5A4B-97C6-25DD7D7407C0}" srcOrd="1" destOrd="0" presId="urn:microsoft.com/office/officeart/2005/8/layout/list1"/>
    <dgm:cxn modelId="{33EB3776-42C3-F442-944D-A675E529A9A5}" type="presParOf" srcId="{3A6928AF-6F36-B049-ADE4-E6E0DB532383}" destId="{EF74E20C-D04C-164B-9CFA-E6CFA3B2E3A6}" srcOrd="9" destOrd="0" presId="urn:microsoft.com/office/officeart/2005/8/layout/list1"/>
    <dgm:cxn modelId="{93FE8831-347B-904B-B393-26664465249F}" type="presParOf" srcId="{3A6928AF-6F36-B049-ADE4-E6E0DB532383}" destId="{1BF61510-D9F7-AA4C-9D53-E289D2526ED0}" srcOrd="10" destOrd="0" presId="urn:microsoft.com/office/officeart/2005/8/layout/list1"/>
    <dgm:cxn modelId="{F5328443-DC7E-8649-BEF7-4634452BBCDE}" type="presParOf" srcId="{3A6928AF-6F36-B049-ADE4-E6E0DB532383}" destId="{3EA1B3EA-5BE7-A842-AC2D-61E32CED8879}" srcOrd="11" destOrd="0" presId="urn:microsoft.com/office/officeart/2005/8/layout/list1"/>
    <dgm:cxn modelId="{065292E7-B0BE-9841-AFC9-B536AD842A61}" type="presParOf" srcId="{3A6928AF-6F36-B049-ADE4-E6E0DB532383}" destId="{07AAAE53-2F13-3E46-B364-E3C69ED89F2F}" srcOrd="12" destOrd="0" presId="urn:microsoft.com/office/officeart/2005/8/layout/list1"/>
    <dgm:cxn modelId="{F3AF3715-7F07-E444-A3F5-FD375A662D36}" type="presParOf" srcId="{07AAAE53-2F13-3E46-B364-E3C69ED89F2F}" destId="{4E5EDDF8-E2AF-E040-88B2-0554DFABE72B}" srcOrd="0" destOrd="0" presId="urn:microsoft.com/office/officeart/2005/8/layout/list1"/>
    <dgm:cxn modelId="{68B45D12-69C3-DF4E-950C-129D7FF1BDC3}" type="presParOf" srcId="{07AAAE53-2F13-3E46-B364-E3C69ED89F2F}" destId="{FD8DC680-5110-9348-BBC9-4FB4445199F8}" srcOrd="1" destOrd="0" presId="urn:microsoft.com/office/officeart/2005/8/layout/list1"/>
    <dgm:cxn modelId="{92AF7F3A-CF72-AD47-94F7-434F1D5EA5D9}" type="presParOf" srcId="{3A6928AF-6F36-B049-ADE4-E6E0DB532383}" destId="{81C3711D-7312-864C-BD4F-75A7EBE76BF4}" srcOrd="13" destOrd="0" presId="urn:microsoft.com/office/officeart/2005/8/layout/list1"/>
    <dgm:cxn modelId="{0FD94AE5-9213-DE4B-B947-0278159953BC}" type="presParOf" srcId="{3A6928AF-6F36-B049-ADE4-E6E0DB532383}" destId="{93B07923-E0DB-F34B-B332-700660DFE1CC}"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3AD37C-6F52-CD4C-9251-33D20D63E7F9}">
      <dsp:nvSpPr>
        <dsp:cNvPr id="0" name=""/>
        <dsp:cNvSpPr/>
      </dsp:nvSpPr>
      <dsp:spPr>
        <a:xfrm>
          <a:off x="0" y="1335020"/>
          <a:ext cx="6666833" cy="478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E2A058C-DFE5-514A-9C4C-92CCE4E5420E}">
      <dsp:nvSpPr>
        <dsp:cNvPr id="0" name=""/>
        <dsp:cNvSpPr/>
      </dsp:nvSpPr>
      <dsp:spPr>
        <a:xfrm>
          <a:off x="333341" y="1054580"/>
          <a:ext cx="4666783" cy="56087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GB" sz="1900" kern="1200" dirty="0"/>
            <a:t>HTTP methods (GET, POST, PUT, DELETE)</a:t>
          </a:r>
          <a:endParaRPr lang="en-US" sz="1900" kern="1200" dirty="0"/>
        </a:p>
      </dsp:txBody>
      <dsp:txXfrm>
        <a:off x="360721" y="1081960"/>
        <a:ext cx="4612023" cy="506119"/>
      </dsp:txXfrm>
    </dsp:sp>
    <dsp:sp modelId="{E75397A8-6CF1-4B4C-AFB0-724FCD2B99BC}">
      <dsp:nvSpPr>
        <dsp:cNvPr id="0" name=""/>
        <dsp:cNvSpPr/>
      </dsp:nvSpPr>
      <dsp:spPr>
        <a:xfrm>
          <a:off x="0" y="2196860"/>
          <a:ext cx="6666833" cy="4788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5857A26-ADD3-F642-81A5-224AD1904401}">
      <dsp:nvSpPr>
        <dsp:cNvPr id="0" name=""/>
        <dsp:cNvSpPr/>
      </dsp:nvSpPr>
      <dsp:spPr>
        <a:xfrm>
          <a:off x="333341" y="1916420"/>
          <a:ext cx="4666783" cy="560879"/>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GB" sz="1900" kern="1200"/>
            <a:t>Status codes</a:t>
          </a:r>
          <a:endParaRPr lang="en-US" sz="1900" kern="1200"/>
        </a:p>
      </dsp:txBody>
      <dsp:txXfrm>
        <a:off x="360721" y="1943800"/>
        <a:ext cx="4612023" cy="506119"/>
      </dsp:txXfrm>
    </dsp:sp>
    <dsp:sp modelId="{1BF61510-D9F7-AA4C-9D53-E289D2526ED0}">
      <dsp:nvSpPr>
        <dsp:cNvPr id="0" name=""/>
        <dsp:cNvSpPr/>
      </dsp:nvSpPr>
      <dsp:spPr>
        <a:xfrm>
          <a:off x="0" y="3058700"/>
          <a:ext cx="6666833" cy="4788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126D48B9-E66A-5A4B-97C6-25DD7D7407C0}">
      <dsp:nvSpPr>
        <dsp:cNvPr id="0" name=""/>
        <dsp:cNvSpPr/>
      </dsp:nvSpPr>
      <dsp:spPr>
        <a:xfrm>
          <a:off x="333341" y="2778259"/>
          <a:ext cx="4666783" cy="560879"/>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GB" sz="1900" kern="1200"/>
            <a:t>Headers, cookies, sessions</a:t>
          </a:r>
          <a:endParaRPr lang="en-US" sz="1900" kern="1200"/>
        </a:p>
      </dsp:txBody>
      <dsp:txXfrm>
        <a:off x="360721" y="2805639"/>
        <a:ext cx="4612023" cy="506119"/>
      </dsp:txXfrm>
    </dsp:sp>
    <dsp:sp modelId="{93B07923-E0DB-F34B-B332-700660DFE1CC}">
      <dsp:nvSpPr>
        <dsp:cNvPr id="0" name=""/>
        <dsp:cNvSpPr/>
      </dsp:nvSpPr>
      <dsp:spPr>
        <a:xfrm>
          <a:off x="0" y="3920539"/>
          <a:ext cx="6666833" cy="4788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D8DC680-5110-9348-BBC9-4FB4445199F8}">
      <dsp:nvSpPr>
        <dsp:cNvPr id="0" name=""/>
        <dsp:cNvSpPr/>
      </dsp:nvSpPr>
      <dsp:spPr>
        <a:xfrm>
          <a:off x="333341" y="3640100"/>
          <a:ext cx="4666783" cy="56087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GB" sz="1900" kern="1200"/>
            <a:t>HTTPS and SSL basics</a:t>
          </a:r>
          <a:endParaRPr lang="en-US" sz="1900" kern="1200"/>
        </a:p>
      </dsp:txBody>
      <dsp:txXfrm>
        <a:off x="360721" y="3667480"/>
        <a:ext cx="4612023" cy="50611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EF30D-864B-9FEE-95FD-5B40DC3F98F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EBD180D-DEEB-0094-811C-B648D15524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91E76B1-A732-105F-3858-9E736F57343F}"/>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5" name="Footer Placeholder 4">
            <a:extLst>
              <a:ext uri="{FF2B5EF4-FFF2-40B4-BE49-F238E27FC236}">
                <a16:creationId xmlns:a16="http://schemas.microsoft.com/office/drawing/2014/main" id="{663D4A9A-67BA-26AE-72F8-EFC12699D9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F0791E-BD7E-DA0A-7D00-66D258BE9167}"/>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3801537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A0FD-2574-BE4B-0C5E-984FB6116EB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FE11C0C-CF60-C120-41C6-349312FD7BB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DA115C8-CAF6-6641-531C-602F16770358}"/>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5" name="Footer Placeholder 4">
            <a:extLst>
              <a:ext uri="{FF2B5EF4-FFF2-40B4-BE49-F238E27FC236}">
                <a16:creationId xmlns:a16="http://schemas.microsoft.com/office/drawing/2014/main" id="{1792F5E9-829F-7B37-7B27-BA31D2C277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5D6DFE-7428-0132-2647-C053EF810B0E}"/>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1651255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F765C-8F4B-B1B2-4F6E-F55D81A83A8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28AAE0D-8F56-8E20-51D2-86AAE3B7BD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1EE0638-8972-DBDC-51D2-E9842A53CB3D}"/>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5" name="Footer Placeholder 4">
            <a:extLst>
              <a:ext uri="{FF2B5EF4-FFF2-40B4-BE49-F238E27FC236}">
                <a16:creationId xmlns:a16="http://schemas.microsoft.com/office/drawing/2014/main" id="{24047054-1A25-34F6-6285-86E0442299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D3434-AA44-A520-4115-A168CFCB8975}"/>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2888616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5DB18-A692-E4E2-B9B3-F2D7F84FA91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37A8E10-B04F-3EF9-0C23-F843EBF363E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CE3ACB0-D628-30F8-3803-3338FD0DB2C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4805245-15C4-EA77-1CD3-5A3486283FD2}"/>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6" name="Footer Placeholder 5">
            <a:extLst>
              <a:ext uri="{FF2B5EF4-FFF2-40B4-BE49-F238E27FC236}">
                <a16:creationId xmlns:a16="http://schemas.microsoft.com/office/drawing/2014/main" id="{0A46DAC5-CB4F-B24F-4291-7534BE6366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879384-FC8F-231D-FC1B-C3054B8ADC9F}"/>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2845274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76A6-7DF3-C133-B851-FCF1F16CC0D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B52104-6909-CDEB-98BE-5995A91BE4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04EE736-56DF-B1D2-62BA-C2794E58631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AB803E5-CBBD-2187-5C07-30AEFAD278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65C3949-B421-F737-5FA4-4D297CCFB7B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D38FCAD-B42A-F10C-C98F-B2859BEC07B1}"/>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8" name="Footer Placeholder 7">
            <a:extLst>
              <a:ext uri="{FF2B5EF4-FFF2-40B4-BE49-F238E27FC236}">
                <a16:creationId xmlns:a16="http://schemas.microsoft.com/office/drawing/2014/main" id="{882B1710-33CA-1D69-F672-529BEB7CFD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7DCCA3-1C7A-0F69-37C9-1D2826797F0E}"/>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1436966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E3DA-2221-0DA9-E1A8-427313B3622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222E477-55A4-1859-C6FE-EE26F0B9CAA7}"/>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4" name="Footer Placeholder 3">
            <a:extLst>
              <a:ext uri="{FF2B5EF4-FFF2-40B4-BE49-F238E27FC236}">
                <a16:creationId xmlns:a16="http://schemas.microsoft.com/office/drawing/2014/main" id="{0AD38757-390B-A104-5780-FC2D7258E7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BD15E3-BD19-CC14-3802-0C689D3074F6}"/>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3068778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A5C03D-55C6-A533-47B6-17504D652241}"/>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3" name="Footer Placeholder 2">
            <a:extLst>
              <a:ext uri="{FF2B5EF4-FFF2-40B4-BE49-F238E27FC236}">
                <a16:creationId xmlns:a16="http://schemas.microsoft.com/office/drawing/2014/main" id="{788B1951-E2EC-3E68-5B51-DA331D8558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D3A68B-605C-3E7D-2278-577283E80277}"/>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1231295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6167-FA96-6755-E62B-5F74A5B21CF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EF0D8E7-2F13-0FD6-2F83-97B22CA049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F2FB09E-2688-5EB4-AA03-4AEE9DC7A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44D0550-2356-58E7-E442-3FC376218F8F}"/>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6" name="Footer Placeholder 5">
            <a:extLst>
              <a:ext uri="{FF2B5EF4-FFF2-40B4-BE49-F238E27FC236}">
                <a16:creationId xmlns:a16="http://schemas.microsoft.com/office/drawing/2014/main" id="{14B9C4E8-80CB-0AC8-1A80-58789420C3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0BC0F4-76AD-210E-5735-9B112B0C4D85}"/>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1585437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CC273-EC35-39E4-BD05-DC08D296E4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597E681-C280-3E7E-B2AB-94047D0544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8AA0F5-F771-5328-639C-7DC769D4B9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1F3EE95-574F-A195-0178-A1DD175566E1}"/>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6" name="Footer Placeholder 5">
            <a:extLst>
              <a:ext uri="{FF2B5EF4-FFF2-40B4-BE49-F238E27FC236}">
                <a16:creationId xmlns:a16="http://schemas.microsoft.com/office/drawing/2014/main" id="{A760B367-0CC4-3C2D-203E-8EF0C623A8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5C7F8E-2329-2839-53BB-32C566EB1F62}"/>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3106079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24A21-E706-C404-DE70-BB2B5D07FB4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911BCB8-92DB-B8AC-D6F9-68EA4942E44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61CA6E1-C17F-B727-7038-C93D06389F6B}"/>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5" name="Footer Placeholder 4">
            <a:extLst>
              <a:ext uri="{FF2B5EF4-FFF2-40B4-BE49-F238E27FC236}">
                <a16:creationId xmlns:a16="http://schemas.microsoft.com/office/drawing/2014/main" id="{4745F734-B00C-926A-713E-4AC0B17F91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55AE9-534A-07A0-BACD-104A83D36D42}"/>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661536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F0D234-0DFE-A63C-1496-56F810E9A0E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FAFF165-CE1F-F8D4-FE77-9054CF16D70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0B38BF9-3469-C667-7930-43970A6A779C}"/>
              </a:ext>
            </a:extLst>
          </p:cNvPr>
          <p:cNvSpPr>
            <a:spLocks noGrp="1"/>
          </p:cNvSpPr>
          <p:nvPr>
            <p:ph type="dt" sz="half" idx="10"/>
          </p:nvPr>
        </p:nvSpPr>
        <p:spPr/>
        <p:txBody>
          <a:bodyPr/>
          <a:lstStyle/>
          <a:p>
            <a:fld id="{5D533EC4-4C47-0348-837F-C08D220A69FA}" type="datetimeFigureOut">
              <a:rPr lang="en-US" smtClean="0"/>
              <a:t>9/19/25</a:t>
            </a:fld>
            <a:endParaRPr lang="en-US"/>
          </a:p>
        </p:txBody>
      </p:sp>
      <p:sp>
        <p:nvSpPr>
          <p:cNvPr id="5" name="Footer Placeholder 4">
            <a:extLst>
              <a:ext uri="{FF2B5EF4-FFF2-40B4-BE49-F238E27FC236}">
                <a16:creationId xmlns:a16="http://schemas.microsoft.com/office/drawing/2014/main" id="{51C28822-2FE5-1A08-89D5-7A71145AFE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2198AD-5886-A3EB-938C-097DEB74435E}"/>
              </a:ext>
            </a:extLst>
          </p:cNvPr>
          <p:cNvSpPr>
            <a:spLocks noGrp="1"/>
          </p:cNvSpPr>
          <p:nvPr>
            <p:ph type="sldNum" sz="quarter" idx="12"/>
          </p:nvPr>
        </p:nvSpPr>
        <p:spPr/>
        <p:txBody>
          <a:bodyPr/>
          <a:lstStyle/>
          <a:p>
            <a:fld id="{38A7E387-82D4-734A-B818-0F8264073BC8}" type="slidenum">
              <a:rPr lang="en-US" smtClean="0"/>
              <a:t>‹#›</a:t>
            </a:fld>
            <a:endParaRPr lang="en-US"/>
          </a:p>
        </p:txBody>
      </p:sp>
    </p:spTree>
    <p:extLst>
      <p:ext uri="{BB962C8B-B14F-4D97-AF65-F5344CB8AC3E}">
        <p14:creationId xmlns:p14="http://schemas.microsoft.com/office/powerpoint/2010/main" val="3315687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D402FB-B33D-EC60-EF17-E3A5733662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40B07C-2BFD-6E7D-6372-75D9BEF13E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6E0D1EA-0D3A-5F91-E617-0DE9F021BB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533EC4-4C47-0348-837F-C08D220A69FA}" type="datetimeFigureOut">
              <a:rPr lang="en-US" smtClean="0"/>
              <a:t>9/19/25</a:t>
            </a:fld>
            <a:endParaRPr lang="en-US"/>
          </a:p>
        </p:txBody>
      </p:sp>
      <p:sp>
        <p:nvSpPr>
          <p:cNvPr id="5" name="Footer Placeholder 4">
            <a:extLst>
              <a:ext uri="{FF2B5EF4-FFF2-40B4-BE49-F238E27FC236}">
                <a16:creationId xmlns:a16="http://schemas.microsoft.com/office/drawing/2014/main" id="{640DBF06-B04F-9A5D-E0AD-EAA850C5B1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EF0C790-2B1D-BD52-2761-E6AB7B33E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A7E387-82D4-734A-B818-0F8264073BC8}" type="slidenum">
              <a:rPr lang="en-US" smtClean="0"/>
              <a:t>‹#›</a:t>
            </a:fld>
            <a:endParaRPr lang="en-US"/>
          </a:p>
        </p:txBody>
      </p:sp>
    </p:spTree>
    <p:extLst>
      <p:ext uri="{BB962C8B-B14F-4D97-AF65-F5344CB8AC3E}">
        <p14:creationId xmlns:p14="http://schemas.microsoft.com/office/powerpoint/2010/main" val="1866652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s://www.geeksforgeeks.org/computer-networks/domain-name-system-dns-in-application-layer/"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python/python-introduction-to-web-development-using-flask/"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blogs/http-full-form/" TargetMode="External"/><Relationship Id="rId2" Type="http://schemas.openxmlformats.org/officeDocument/2006/relationships/hyperlink" Target="https://www.geeksforgeeks.org/computer-networks/what-are-http-status-code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blogs/http-full-form/" TargetMode="External"/><Relationship Id="rId2" Type="http://schemas.openxmlformats.org/officeDocument/2006/relationships/hyperlink" Target="https://www.geeksforgeeks.org/computer-networks/https-full-for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geeksforgeeks.org/computer-networks/secure-socket-layer-ss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geeksforgeeks.org/computer-networks/difference-between-http-and-https-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A48D9A-2FA1-B15F-4FFF-0FA13E2B3A6F}"/>
              </a:ext>
            </a:extLst>
          </p:cNvPr>
          <p:cNvSpPr>
            <a:spLocks noGrp="1"/>
          </p:cNvSpPr>
          <p:nvPr>
            <p:ph type="ctrTitle"/>
          </p:nvPr>
        </p:nvSpPr>
        <p:spPr>
          <a:xfrm>
            <a:off x="1524000" y="1293338"/>
            <a:ext cx="9144000" cy="3274592"/>
          </a:xfrm>
        </p:spPr>
        <p:txBody>
          <a:bodyPr anchor="ctr">
            <a:normAutofit/>
          </a:bodyPr>
          <a:lstStyle/>
          <a:p>
            <a:r>
              <a:rPr lang="en-GB" sz="7200" b="1"/>
              <a:t>Week 3. HTTP in Depth</a:t>
            </a:r>
            <a:endParaRPr lang="en-US" sz="7200"/>
          </a:p>
        </p:txBody>
      </p:sp>
      <p:sp>
        <p:nvSpPr>
          <p:cNvPr id="3" name="Subtitle 2">
            <a:extLst>
              <a:ext uri="{FF2B5EF4-FFF2-40B4-BE49-F238E27FC236}">
                <a16:creationId xmlns:a16="http://schemas.microsoft.com/office/drawing/2014/main" id="{E3CB2A92-A16F-89F8-540A-7F54171D0039}"/>
              </a:ext>
            </a:extLst>
          </p:cNvPr>
          <p:cNvSpPr>
            <a:spLocks noGrp="1"/>
          </p:cNvSpPr>
          <p:nvPr>
            <p:ph type="subTitle" idx="1"/>
          </p:nvPr>
        </p:nvSpPr>
        <p:spPr>
          <a:xfrm>
            <a:off x="1524000" y="4543266"/>
            <a:ext cx="9144000" cy="651910"/>
          </a:xfrm>
        </p:spPr>
        <p:txBody>
          <a:bodyPr anchor="ctr">
            <a:normAutofit/>
          </a:bodyPr>
          <a:lstStyle/>
          <a:p>
            <a:r>
              <a:rPr lang="en-US" dirty="0"/>
              <a:t>Lecturer: </a:t>
            </a:r>
            <a:r>
              <a:rPr lang="en-US" dirty="0" err="1"/>
              <a:t>MuksimovaShakhnoza</a:t>
            </a:r>
            <a:endParaRPr lang="en-US" dirty="0"/>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3AC68D5-EA7F-3DC0-D5BD-E96740A060E6}"/>
              </a:ext>
            </a:extLst>
          </p:cNvPr>
          <p:cNvSpPr txBox="1"/>
          <p:nvPr/>
        </p:nvSpPr>
        <p:spPr>
          <a:xfrm>
            <a:off x="10373360" y="5852052"/>
            <a:ext cx="1300480" cy="369332"/>
          </a:xfrm>
          <a:prstGeom prst="rect">
            <a:avLst/>
          </a:prstGeom>
          <a:noFill/>
        </p:spPr>
        <p:txBody>
          <a:bodyPr wrap="square" rtlCol="0">
            <a:spAutoFit/>
          </a:bodyPr>
          <a:lstStyle/>
          <a:p>
            <a:r>
              <a:rPr lang="en-US" dirty="0"/>
              <a:t>26.09.2025</a:t>
            </a:r>
          </a:p>
        </p:txBody>
      </p:sp>
    </p:spTree>
    <p:extLst>
      <p:ext uri="{BB962C8B-B14F-4D97-AF65-F5344CB8AC3E}">
        <p14:creationId xmlns:p14="http://schemas.microsoft.com/office/powerpoint/2010/main" val="2089000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9234A9-D14C-5F16-2E45-FE10927EC553}"/>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Content</a:t>
            </a:r>
          </a:p>
        </p:txBody>
      </p:sp>
      <p:graphicFrame>
        <p:nvGraphicFramePr>
          <p:cNvPr id="14" name="Content Placeholder 2">
            <a:extLst>
              <a:ext uri="{FF2B5EF4-FFF2-40B4-BE49-F238E27FC236}">
                <a16:creationId xmlns:a16="http://schemas.microsoft.com/office/drawing/2014/main" id="{211801A4-1119-EC65-105B-6B35A1D4008D}"/>
              </a:ext>
            </a:extLst>
          </p:cNvPr>
          <p:cNvGraphicFramePr>
            <a:graphicFrameLocks noGrp="1"/>
          </p:cNvGraphicFramePr>
          <p:nvPr>
            <p:ph idx="1"/>
            <p:extLst>
              <p:ext uri="{D42A27DB-BD31-4B8C-83A1-F6EECF244321}">
                <p14:modId xmlns:p14="http://schemas.microsoft.com/office/powerpoint/2010/main" val="57855169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952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mputer script on a screen">
            <a:extLst>
              <a:ext uri="{FF2B5EF4-FFF2-40B4-BE49-F238E27FC236}">
                <a16:creationId xmlns:a16="http://schemas.microsoft.com/office/drawing/2014/main" id="{DBAAE70C-7807-CDEF-B417-132B7583066F}"/>
              </a:ext>
            </a:extLst>
          </p:cNvPr>
          <p:cNvPicPr>
            <a:picLocks noChangeAspect="1"/>
          </p:cNvPicPr>
          <p:nvPr/>
        </p:nvPicPr>
        <p:blipFill>
          <a:blip r:embed="rId2"/>
          <a:srcRect l="347" r="4011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5B2025F0-A454-EFA6-74F3-4AD46472C41A}"/>
              </a:ext>
            </a:extLst>
          </p:cNvPr>
          <p:cNvSpPr>
            <a:spLocks noGrp="1"/>
          </p:cNvSpPr>
          <p:nvPr>
            <p:ph idx="1"/>
          </p:nvPr>
        </p:nvSpPr>
        <p:spPr>
          <a:xfrm>
            <a:off x="6513788" y="2333297"/>
            <a:ext cx="4840010" cy="3843666"/>
          </a:xfrm>
        </p:spPr>
        <p:txBody>
          <a:bodyPr>
            <a:normAutofit/>
          </a:bodyPr>
          <a:lstStyle/>
          <a:p>
            <a:pPr fontAlgn="base"/>
            <a:r>
              <a:rPr lang="en-GB" sz="1700" b="1"/>
              <a:t>HTTP</a:t>
            </a:r>
            <a:r>
              <a:rPr lang="en-GB" sz="1700"/>
              <a:t> stands for </a:t>
            </a:r>
            <a:r>
              <a:rPr lang="en-GB" sz="1700" b="1"/>
              <a:t>Hypertext Transfer Protocol</a:t>
            </a:r>
            <a:r>
              <a:rPr lang="en-GB" sz="1700"/>
              <a:t>, and it’s the system that allows communication between web browsers (like Google Chrome or Firefox) and websites. When you visit a website, your browser uses HTTP to send a request to the server hosting that site, and the server sends back the data needed to display the page.</a:t>
            </a:r>
          </a:p>
          <a:p>
            <a:pPr fontAlgn="base"/>
            <a:r>
              <a:rPr lang="en-GB" sz="1700"/>
              <a:t>Think of HTTP as a set of rules or a language used by your browser and the web server to talk to each other, ensuring that websites load properly when you type in their URLs.</a:t>
            </a:r>
          </a:p>
          <a:p>
            <a:endParaRPr lang="en-US" sz="1700"/>
          </a:p>
        </p:txBody>
      </p:sp>
    </p:spTree>
    <p:extLst>
      <p:ext uri="{BB962C8B-B14F-4D97-AF65-F5344CB8AC3E}">
        <p14:creationId xmlns:p14="http://schemas.microsoft.com/office/powerpoint/2010/main" val="1151517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9CBEA6-CB61-4141-4ABB-7B970BFA571E}"/>
              </a:ext>
            </a:extLst>
          </p:cNvPr>
          <p:cNvSpPr>
            <a:spLocks noGrp="1"/>
          </p:cNvSpPr>
          <p:nvPr>
            <p:ph type="title"/>
          </p:nvPr>
        </p:nvSpPr>
        <p:spPr>
          <a:xfrm>
            <a:off x="793662" y="386930"/>
            <a:ext cx="10066122" cy="1298448"/>
          </a:xfrm>
        </p:spPr>
        <p:txBody>
          <a:bodyPr anchor="b">
            <a:normAutofit/>
          </a:bodyPr>
          <a:lstStyle/>
          <a:p>
            <a:r>
              <a:rPr lang="en-GB" sz="4100" b="1"/>
              <a:t>How HTTP Works:</a:t>
            </a:r>
            <a:br>
              <a:rPr lang="en-GB" sz="4100" b="1"/>
            </a:br>
            <a:endParaRPr lang="en-US" sz="4100"/>
          </a:p>
        </p:txBody>
      </p:sp>
      <p:sp>
        <p:nvSpPr>
          <p:cNvPr id="1044" name="Rectangle 104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DF40AC1-E9D0-43DD-FB30-6B22C300B0A1}"/>
              </a:ext>
            </a:extLst>
          </p:cNvPr>
          <p:cNvSpPr>
            <a:spLocks noGrp="1"/>
          </p:cNvSpPr>
          <p:nvPr>
            <p:ph idx="1"/>
          </p:nvPr>
        </p:nvSpPr>
        <p:spPr>
          <a:xfrm>
            <a:off x="793661" y="2599509"/>
            <a:ext cx="4530898" cy="3639450"/>
          </a:xfrm>
        </p:spPr>
        <p:txBody>
          <a:bodyPr anchor="ctr">
            <a:normAutofit/>
          </a:bodyPr>
          <a:lstStyle/>
          <a:p>
            <a:pPr fontAlgn="base"/>
            <a:r>
              <a:rPr lang="en-GB" sz="1300" b="1"/>
              <a:t>Open Web Browser</a:t>
            </a:r>
            <a:r>
              <a:rPr lang="en-GB" sz="1300"/>
              <a:t>: First, you open your web browser and type a website URL (e.g., www.example.com).</a:t>
            </a:r>
          </a:p>
          <a:p>
            <a:pPr fontAlgn="base"/>
            <a:r>
              <a:rPr lang="en-GB" sz="1300" b="1"/>
              <a:t>DNS Lookup</a:t>
            </a:r>
            <a:r>
              <a:rPr lang="en-GB" sz="1300"/>
              <a:t>: Your browser asks a </a:t>
            </a:r>
            <a:r>
              <a:rPr lang="en-GB" sz="1300" u="sng">
                <a:hlinkClick r:id="rId2"/>
              </a:rPr>
              <a:t>Domain Name System (DNS)</a:t>
            </a:r>
            <a:r>
              <a:rPr lang="en-GB" sz="1300"/>
              <a:t> server to find out the IP address associated with that URL. Think of this as looking up the phone number of the website.</a:t>
            </a:r>
          </a:p>
          <a:p>
            <a:pPr fontAlgn="base"/>
            <a:r>
              <a:rPr lang="en-GB" sz="1300" b="1"/>
              <a:t>Send HTTP Request</a:t>
            </a:r>
            <a:r>
              <a:rPr lang="en-GB" sz="1300"/>
              <a:t>: Once the browser has the website’s IP address, it sends an HTTP </a:t>
            </a:r>
            <a:r>
              <a:rPr lang="en-GB" sz="1300" b="1"/>
              <a:t>request</a:t>
            </a:r>
            <a:r>
              <a:rPr lang="en-GB" sz="1300"/>
              <a:t> to the server. The request asks the server for the resources needed to display the page (like text, images, and videos).</a:t>
            </a:r>
          </a:p>
          <a:p>
            <a:pPr fontAlgn="base"/>
            <a:r>
              <a:rPr lang="en-GB" sz="1300" b="1"/>
              <a:t>Server Response</a:t>
            </a:r>
            <a:r>
              <a:rPr lang="en-GB" sz="1300"/>
              <a:t>: The server processes your request and sends back an HTTP </a:t>
            </a:r>
            <a:r>
              <a:rPr lang="en-GB" sz="1300" b="1"/>
              <a:t>response</a:t>
            </a:r>
            <a:r>
              <a:rPr lang="en-GB" sz="1300"/>
              <a:t>. This response contains the requested resources (like HTML, CSS, JavaScript) needed to load the page.</a:t>
            </a:r>
          </a:p>
          <a:p>
            <a:pPr fontAlgn="base"/>
            <a:r>
              <a:rPr lang="en-GB" sz="1300" b="1"/>
              <a:t>Rendering the Web Page</a:t>
            </a:r>
            <a:r>
              <a:rPr lang="en-GB" sz="1300"/>
              <a:t>: Your browser receives the data from the server and displays the webpage on your screen.</a:t>
            </a:r>
          </a:p>
          <a:p>
            <a:endParaRPr lang="en-US" sz="1300" dirty="0"/>
          </a:p>
        </p:txBody>
      </p:sp>
      <p:pic>
        <p:nvPicPr>
          <p:cNvPr id="1026" name="Picture 2">
            <a:extLst>
              <a:ext uri="{FF2B5EF4-FFF2-40B4-BE49-F238E27FC236}">
                <a16:creationId xmlns:a16="http://schemas.microsoft.com/office/drawing/2014/main" id="{84EDA609-0940-C000-45D1-76305C8D4DD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11532" y="3053808"/>
            <a:ext cx="5150277" cy="2575138"/>
          </a:xfrm>
          <a:prstGeom prst="rect">
            <a:avLst/>
          </a:prstGeom>
          <a:noFill/>
          <a:extLst>
            <a:ext uri="{909E8E84-426E-40DD-AFC4-6F175D3DCCD1}">
              <a14:hiddenFill xmlns:a14="http://schemas.microsoft.com/office/drawing/2010/main">
                <a:solidFill>
                  <a:srgbClr val="FFFFFF"/>
                </a:solidFill>
              </a14:hiddenFill>
            </a:ext>
          </a:extLst>
        </p:spPr>
      </p:pic>
      <p:sp>
        <p:nvSpPr>
          <p:cNvPr id="1061" name="Rectangle 106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0168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1FEFC-53D8-A789-4913-86671381A612}"/>
              </a:ext>
            </a:extLst>
          </p:cNvPr>
          <p:cNvSpPr>
            <a:spLocks noGrp="1"/>
          </p:cNvSpPr>
          <p:nvPr>
            <p:ph type="title"/>
          </p:nvPr>
        </p:nvSpPr>
        <p:spPr/>
        <p:txBody>
          <a:bodyPr/>
          <a:lstStyle/>
          <a:p>
            <a:r>
              <a:rPr lang="en-GB" b="1" dirty="0"/>
              <a:t>What is </a:t>
            </a:r>
            <a:r>
              <a:rPr lang="en-GB" b="1" dirty="0" err="1"/>
              <a:t>HyperText</a:t>
            </a:r>
            <a:r>
              <a:rPr lang="en-GB" b="1" dirty="0"/>
              <a:t>?</a:t>
            </a:r>
            <a:br>
              <a:rPr lang="en-GB" b="1" dirty="0"/>
            </a:br>
            <a:endParaRPr lang="en-US" dirty="0"/>
          </a:p>
        </p:txBody>
      </p:sp>
      <p:sp>
        <p:nvSpPr>
          <p:cNvPr id="3" name="Content Placeholder 2">
            <a:extLst>
              <a:ext uri="{FF2B5EF4-FFF2-40B4-BE49-F238E27FC236}">
                <a16:creationId xmlns:a16="http://schemas.microsoft.com/office/drawing/2014/main" id="{9A1F2D20-4304-4F9B-A1F8-7E12EEC364D5}"/>
              </a:ext>
            </a:extLst>
          </p:cNvPr>
          <p:cNvSpPr>
            <a:spLocks noGrp="1"/>
          </p:cNvSpPr>
          <p:nvPr>
            <p:ph idx="1"/>
          </p:nvPr>
        </p:nvSpPr>
        <p:spPr/>
        <p:txBody>
          <a:bodyPr>
            <a:normAutofit lnSpcReduction="10000"/>
          </a:bodyPr>
          <a:lstStyle/>
          <a:p>
            <a:pPr fontAlgn="base"/>
            <a:r>
              <a:rPr lang="en-GB" b="1" dirty="0" err="1"/>
              <a:t>HyperText</a:t>
            </a:r>
            <a:r>
              <a:rPr lang="en-GB" dirty="0"/>
              <a:t> is a way of structuring text so that it can contain links (called "hyperlinks") to other documents or resources. When you click on a link in a webpage, you are typically directed to another page or resource on the internet. HTML (</a:t>
            </a:r>
            <a:r>
              <a:rPr lang="en-GB" dirty="0" err="1"/>
              <a:t>HyperText</a:t>
            </a:r>
            <a:r>
              <a:rPr lang="en-GB" dirty="0"/>
              <a:t> Markup Language) is used to create and format this type of text for web pages.</a:t>
            </a:r>
          </a:p>
          <a:p>
            <a:pPr fontAlgn="base"/>
            <a:r>
              <a:rPr lang="en-GB" dirty="0"/>
              <a:t>HTTP is the protocol used to transfer this hypertext between the web browser and the server, allowing you to click links and move around the web.</a:t>
            </a:r>
          </a:p>
          <a:p>
            <a:pPr marL="0" indent="0">
              <a:buNone/>
            </a:pPr>
            <a:br>
              <a:rPr lang="en-GB" dirty="0"/>
            </a:br>
            <a:endParaRPr lang="en-US" dirty="0"/>
          </a:p>
        </p:txBody>
      </p:sp>
    </p:spTree>
    <p:extLst>
      <p:ext uri="{BB962C8B-B14F-4D97-AF65-F5344CB8AC3E}">
        <p14:creationId xmlns:p14="http://schemas.microsoft.com/office/powerpoint/2010/main" val="4285181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FF4FC-BEBD-A1C1-D186-A27545BA8DE7}"/>
              </a:ext>
            </a:extLst>
          </p:cNvPr>
          <p:cNvSpPr>
            <a:spLocks noGrp="1"/>
          </p:cNvSpPr>
          <p:nvPr>
            <p:ph type="title"/>
          </p:nvPr>
        </p:nvSpPr>
        <p:spPr>
          <a:xfrm>
            <a:off x="686834" y="1153572"/>
            <a:ext cx="3200400" cy="4461163"/>
          </a:xfrm>
        </p:spPr>
        <p:txBody>
          <a:bodyPr>
            <a:normAutofit/>
          </a:bodyPr>
          <a:lstStyle/>
          <a:p>
            <a:r>
              <a:rPr lang="en-GB">
                <a:solidFill>
                  <a:srgbClr val="FFFFFF"/>
                </a:solidFill>
              </a:rPr>
              <a:t>HTTP methods (GET, POST, PUT, DELETE)</a:t>
            </a:r>
            <a:br>
              <a:rPr lang="en-US">
                <a:solidFill>
                  <a:srgbClr val="FFFFFF"/>
                </a:solidFill>
              </a:rPr>
            </a:br>
            <a:endParaRPr lang="en-US">
              <a:solidFill>
                <a:srgbClr val="FFFFFF"/>
              </a:solidFill>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F101682-9D81-4818-2272-01AC46F4DF2A}"/>
              </a:ext>
            </a:extLst>
          </p:cNvPr>
          <p:cNvSpPr>
            <a:spLocks noGrp="1"/>
          </p:cNvSpPr>
          <p:nvPr>
            <p:ph idx="1"/>
          </p:nvPr>
        </p:nvSpPr>
        <p:spPr>
          <a:xfrm>
            <a:off x="4447308" y="591344"/>
            <a:ext cx="6906491" cy="5585619"/>
          </a:xfrm>
        </p:spPr>
        <p:txBody>
          <a:bodyPr anchor="ctr">
            <a:normAutofit/>
          </a:bodyPr>
          <a:lstStyle/>
          <a:p>
            <a:pPr fontAlgn="base"/>
            <a:r>
              <a:rPr lang="en-GB" sz="2600" dirty="0"/>
              <a:t>HTTP Protocol is necessary for data communication. In the context of the World Wide Web, an HTTP method is a request method that a client (e.g. a web browser) can use when making a request to a server (e.g. a web server). There are several HTTP methods that a client can use when making a request. In </a:t>
            </a:r>
            <a:r>
              <a:rPr lang="en-GB" sz="2600" u="sng" dirty="0">
                <a:hlinkClick r:id="rId2"/>
              </a:rPr>
              <a:t>Flask</a:t>
            </a:r>
            <a:r>
              <a:rPr lang="en-GB" sz="2600" dirty="0"/>
              <a:t>, there are different methods to handle HTTP requests. </a:t>
            </a:r>
            <a:r>
              <a:rPr lang="en-GB" sz="2600" dirty="0" err="1"/>
              <a:t>e.g</a:t>
            </a:r>
            <a:r>
              <a:rPr lang="en-GB" sz="2600" dirty="0"/>
              <a:t> GET, POST, PUT, DELETE, HEAD. These methods are used to Send, Request, and Modify data on the server. </a:t>
            </a:r>
            <a:br>
              <a:rPr lang="en-GB" sz="2600" dirty="0"/>
            </a:br>
            <a:endParaRPr lang="en-US" sz="2600" dirty="0"/>
          </a:p>
        </p:txBody>
      </p:sp>
    </p:spTree>
    <p:extLst>
      <p:ext uri="{BB962C8B-B14F-4D97-AF65-F5344CB8AC3E}">
        <p14:creationId xmlns:p14="http://schemas.microsoft.com/office/powerpoint/2010/main" val="1549600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15E53-1850-311F-E225-2DE127C718D0}"/>
              </a:ext>
            </a:extLst>
          </p:cNvPr>
          <p:cNvSpPr>
            <a:spLocks noGrp="1"/>
          </p:cNvSpPr>
          <p:nvPr>
            <p:ph type="title"/>
          </p:nvPr>
        </p:nvSpPr>
        <p:spPr/>
        <p:txBody>
          <a:bodyPr/>
          <a:lstStyle/>
          <a:p>
            <a:r>
              <a:rPr lang="en-GB" b="1" dirty="0"/>
              <a:t>The GET Method</a:t>
            </a:r>
          </a:p>
        </p:txBody>
      </p:sp>
      <p:sp>
        <p:nvSpPr>
          <p:cNvPr id="3" name="Content Placeholder 2">
            <a:extLst>
              <a:ext uri="{FF2B5EF4-FFF2-40B4-BE49-F238E27FC236}">
                <a16:creationId xmlns:a16="http://schemas.microsoft.com/office/drawing/2014/main" id="{1431E9DB-3FC6-3EEF-3207-2E415239113D}"/>
              </a:ext>
            </a:extLst>
          </p:cNvPr>
          <p:cNvSpPr>
            <a:spLocks noGrp="1"/>
          </p:cNvSpPr>
          <p:nvPr>
            <p:ph idx="1"/>
          </p:nvPr>
        </p:nvSpPr>
        <p:spPr/>
        <p:txBody>
          <a:bodyPr>
            <a:normAutofit fontScale="85000" lnSpcReduction="20000"/>
          </a:bodyPr>
          <a:lstStyle/>
          <a:p>
            <a:pPr marL="0" indent="0">
              <a:buNone/>
            </a:pPr>
            <a:r>
              <a:rPr lang="en-GB" dirty="0"/>
              <a:t>GET is used to request data from a specified resource.</a:t>
            </a:r>
          </a:p>
          <a:p>
            <a:pPr marL="0" indent="0">
              <a:buNone/>
            </a:pPr>
            <a:r>
              <a:rPr lang="en-GB" dirty="0"/>
              <a:t>Note that the query string (name/value pairs) is sent in the URL of a GET request:</a:t>
            </a:r>
          </a:p>
          <a:p>
            <a:pPr marL="0" indent="0">
              <a:buNone/>
            </a:pPr>
            <a:r>
              <a:rPr lang="en-GB" dirty="0"/>
              <a:t>/test/demo_form.php?name1=value1&amp;name2=value2</a:t>
            </a:r>
          </a:p>
          <a:p>
            <a:pPr marL="0" indent="0">
              <a:buNone/>
            </a:pPr>
            <a:r>
              <a:rPr lang="en-GB" b="1" dirty="0"/>
              <a:t>Some notes on GET requests:</a:t>
            </a:r>
            <a:endParaRPr lang="en-GB" dirty="0"/>
          </a:p>
          <a:p>
            <a:r>
              <a:rPr lang="en-GB" dirty="0"/>
              <a:t>GET requests can be cached</a:t>
            </a:r>
          </a:p>
          <a:p>
            <a:r>
              <a:rPr lang="en-GB" dirty="0"/>
              <a:t>GET requests remain in the browser history</a:t>
            </a:r>
          </a:p>
          <a:p>
            <a:r>
              <a:rPr lang="en-GB" dirty="0"/>
              <a:t>GET requests can be bookmarked</a:t>
            </a:r>
          </a:p>
          <a:p>
            <a:r>
              <a:rPr lang="en-GB" dirty="0"/>
              <a:t>GET requests should never be used when dealing with sensitive data</a:t>
            </a:r>
          </a:p>
          <a:p>
            <a:r>
              <a:rPr lang="en-GB" dirty="0"/>
              <a:t>GET requests have length restrictions</a:t>
            </a:r>
          </a:p>
          <a:p>
            <a:r>
              <a:rPr lang="en-GB" dirty="0"/>
              <a:t>GET requests are only used to request data (not modify)</a:t>
            </a:r>
          </a:p>
          <a:p>
            <a:pPr marL="0" indent="0">
              <a:buNone/>
            </a:pPr>
            <a:endParaRPr lang="en-US" dirty="0"/>
          </a:p>
        </p:txBody>
      </p:sp>
    </p:spTree>
    <p:extLst>
      <p:ext uri="{BB962C8B-B14F-4D97-AF65-F5344CB8AC3E}">
        <p14:creationId xmlns:p14="http://schemas.microsoft.com/office/powerpoint/2010/main" val="2449820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109BE-B318-2977-FE65-DED03C616AA5}"/>
              </a:ext>
            </a:extLst>
          </p:cNvPr>
          <p:cNvSpPr>
            <a:spLocks noGrp="1"/>
          </p:cNvSpPr>
          <p:nvPr>
            <p:ph type="title"/>
          </p:nvPr>
        </p:nvSpPr>
        <p:spPr/>
        <p:txBody>
          <a:bodyPr/>
          <a:lstStyle/>
          <a:p>
            <a:r>
              <a:rPr lang="en-GB" b="1" dirty="0"/>
              <a:t>The POST Method</a:t>
            </a:r>
            <a:br>
              <a:rPr lang="en-GB" dirty="0"/>
            </a:br>
            <a:endParaRPr lang="en-US" dirty="0"/>
          </a:p>
        </p:txBody>
      </p:sp>
      <p:sp>
        <p:nvSpPr>
          <p:cNvPr id="3" name="Content Placeholder 2">
            <a:extLst>
              <a:ext uri="{FF2B5EF4-FFF2-40B4-BE49-F238E27FC236}">
                <a16:creationId xmlns:a16="http://schemas.microsoft.com/office/drawing/2014/main" id="{2827BDDA-A139-46FF-5FBD-0B9BFE5D21E4}"/>
              </a:ext>
            </a:extLst>
          </p:cNvPr>
          <p:cNvSpPr>
            <a:spLocks noGrp="1"/>
          </p:cNvSpPr>
          <p:nvPr>
            <p:ph idx="1"/>
          </p:nvPr>
        </p:nvSpPr>
        <p:spPr/>
        <p:txBody>
          <a:bodyPr>
            <a:normAutofit fontScale="85000" lnSpcReduction="20000"/>
          </a:bodyPr>
          <a:lstStyle/>
          <a:p>
            <a:pPr marL="0" indent="0">
              <a:buNone/>
            </a:pPr>
            <a:r>
              <a:rPr lang="en-GB" dirty="0"/>
              <a:t>POST is used to send data to a server to create/update a resource.</a:t>
            </a:r>
          </a:p>
          <a:p>
            <a:pPr marL="0" indent="0">
              <a:buNone/>
            </a:pPr>
            <a:r>
              <a:rPr lang="en-GB" dirty="0"/>
              <a:t>The data sent to the server with POST is stored in the request body of the HTTP request:</a:t>
            </a:r>
          </a:p>
          <a:p>
            <a:pPr marL="0" indent="0">
              <a:buNone/>
            </a:pPr>
            <a:r>
              <a:rPr lang="en-GB" dirty="0"/>
              <a:t>POST /test/</a:t>
            </a:r>
            <a:r>
              <a:rPr lang="en-GB" dirty="0" err="1"/>
              <a:t>demo_form.php</a:t>
            </a:r>
            <a:r>
              <a:rPr lang="en-GB" dirty="0"/>
              <a:t> HTTP/1.1</a:t>
            </a:r>
            <a:br>
              <a:rPr lang="en-GB" dirty="0"/>
            </a:br>
            <a:r>
              <a:rPr lang="en-GB" dirty="0"/>
              <a:t>Host: w3schools.com</a:t>
            </a:r>
            <a:br>
              <a:rPr lang="en-GB" dirty="0"/>
            </a:br>
            <a:br>
              <a:rPr lang="en-GB" dirty="0"/>
            </a:br>
            <a:r>
              <a:rPr lang="en-GB" dirty="0"/>
              <a:t>name1=value1&amp;name2=value2</a:t>
            </a:r>
          </a:p>
          <a:p>
            <a:pPr marL="0" indent="0">
              <a:buNone/>
            </a:pPr>
            <a:r>
              <a:rPr lang="en-GB" b="1" dirty="0"/>
              <a:t>Some notes on POST requests:</a:t>
            </a:r>
            <a:endParaRPr lang="en-GB" dirty="0"/>
          </a:p>
          <a:p>
            <a:r>
              <a:rPr lang="en-GB" dirty="0"/>
              <a:t>POST requests are never cached</a:t>
            </a:r>
          </a:p>
          <a:p>
            <a:r>
              <a:rPr lang="en-GB" dirty="0"/>
              <a:t>POST requests do not remain in the browser history</a:t>
            </a:r>
          </a:p>
          <a:p>
            <a:r>
              <a:rPr lang="en-GB" dirty="0"/>
              <a:t>POST requests cannot be bookmarked</a:t>
            </a:r>
          </a:p>
          <a:p>
            <a:r>
              <a:rPr lang="en-GB" dirty="0"/>
              <a:t>POST requests have no restrictions on data length</a:t>
            </a:r>
          </a:p>
        </p:txBody>
      </p:sp>
    </p:spTree>
    <p:extLst>
      <p:ext uri="{BB962C8B-B14F-4D97-AF65-F5344CB8AC3E}">
        <p14:creationId xmlns:p14="http://schemas.microsoft.com/office/powerpoint/2010/main" val="2625489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18D77-4876-D391-A227-D25FA270A5F5}"/>
              </a:ext>
            </a:extLst>
          </p:cNvPr>
          <p:cNvSpPr>
            <a:spLocks noGrp="1"/>
          </p:cNvSpPr>
          <p:nvPr>
            <p:ph type="title"/>
          </p:nvPr>
        </p:nvSpPr>
        <p:spPr/>
        <p:txBody>
          <a:bodyPr/>
          <a:lstStyle/>
          <a:p>
            <a:r>
              <a:rPr lang="en-GB" b="1" dirty="0"/>
              <a:t>The PUT Method</a:t>
            </a:r>
            <a:endParaRPr lang="en-US" b="1" dirty="0"/>
          </a:p>
        </p:txBody>
      </p:sp>
      <p:sp>
        <p:nvSpPr>
          <p:cNvPr id="3" name="Content Placeholder 2">
            <a:extLst>
              <a:ext uri="{FF2B5EF4-FFF2-40B4-BE49-F238E27FC236}">
                <a16:creationId xmlns:a16="http://schemas.microsoft.com/office/drawing/2014/main" id="{3A154656-2C2A-A47C-8EAE-5C1915D56B13}"/>
              </a:ext>
            </a:extLst>
          </p:cNvPr>
          <p:cNvSpPr>
            <a:spLocks noGrp="1"/>
          </p:cNvSpPr>
          <p:nvPr>
            <p:ph idx="1"/>
          </p:nvPr>
        </p:nvSpPr>
        <p:spPr/>
        <p:txBody>
          <a:bodyPr/>
          <a:lstStyle/>
          <a:p>
            <a:r>
              <a:rPr lang="en-GB" dirty="0"/>
              <a:t>PUT is used to send data to a server to create/update a resource.</a:t>
            </a:r>
          </a:p>
          <a:p>
            <a:r>
              <a:rPr lang="en-GB" dirty="0"/>
              <a:t>The difference between POST and PUT is that PUT requests are idempotent. That is, calling the same PUT request multiple times will always produce the same result. In contrast, calling a POST request repeatedly have side effects of creating the same resource multiple times.</a:t>
            </a:r>
          </a:p>
          <a:p>
            <a:endParaRPr lang="en-US" dirty="0"/>
          </a:p>
        </p:txBody>
      </p:sp>
    </p:spTree>
    <p:extLst>
      <p:ext uri="{BB962C8B-B14F-4D97-AF65-F5344CB8AC3E}">
        <p14:creationId xmlns:p14="http://schemas.microsoft.com/office/powerpoint/2010/main" val="1307353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21345-8090-852B-ECB9-6094C57F5C66}"/>
              </a:ext>
            </a:extLst>
          </p:cNvPr>
          <p:cNvSpPr>
            <a:spLocks noGrp="1"/>
          </p:cNvSpPr>
          <p:nvPr>
            <p:ph type="title"/>
          </p:nvPr>
        </p:nvSpPr>
        <p:spPr/>
        <p:txBody>
          <a:bodyPr/>
          <a:lstStyle/>
          <a:p>
            <a:r>
              <a:rPr lang="en-GB" dirty="0"/>
              <a:t>The HEAD Method</a:t>
            </a:r>
            <a:endParaRPr lang="en-US" dirty="0"/>
          </a:p>
        </p:txBody>
      </p:sp>
      <p:sp>
        <p:nvSpPr>
          <p:cNvPr id="3" name="Content Placeholder 2">
            <a:extLst>
              <a:ext uri="{FF2B5EF4-FFF2-40B4-BE49-F238E27FC236}">
                <a16:creationId xmlns:a16="http://schemas.microsoft.com/office/drawing/2014/main" id="{7085BF6B-5516-A445-56C5-C932F8CFC480}"/>
              </a:ext>
            </a:extLst>
          </p:cNvPr>
          <p:cNvSpPr>
            <a:spLocks noGrp="1"/>
          </p:cNvSpPr>
          <p:nvPr>
            <p:ph idx="1"/>
          </p:nvPr>
        </p:nvSpPr>
        <p:spPr/>
        <p:txBody>
          <a:bodyPr/>
          <a:lstStyle/>
          <a:p>
            <a:r>
              <a:rPr lang="en-GB" dirty="0"/>
              <a:t>HEAD is almost identical to GET, but without the response body.</a:t>
            </a:r>
          </a:p>
          <a:p>
            <a:r>
              <a:rPr lang="en-GB" dirty="0"/>
              <a:t>In other words, if GET /users returns a list of users, then HEAD /users will make the same request but will not return the list of users.</a:t>
            </a:r>
          </a:p>
          <a:p>
            <a:r>
              <a:rPr lang="en-GB" dirty="0"/>
              <a:t>A HEAD request is useful for checking what a GET request will return before actually making a GET request - a HEAD request can read the Content-Length header to check the size of the file, without actually downloading the file.</a:t>
            </a:r>
          </a:p>
          <a:p>
            <a:endParaRPr lang="en-US" dirty="0"/>
          </a:p>
        </p:txBody>
      </p:sp>
    </p:spTree>
    <p:extLst>
      <p:ext uri="{BB962C8B-B14F-4D97-AF65-F5344CB8AC3E}">
        <p14:creationId xmlns:p14="http://schemas.microsoft.com/office/powerpoint/2010/main" val="1238902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05E5CD-4E5D-4B76-3306-3EAF0E52865F}"/>
              </a:ext>
            </a:extLst>
          </p:cNvPr>
          <p:cNvSpPr>
            <a:spLocks noGrp="1"/>
          </p:cNvSpPr>
          <p:nvPr>
            <p:ph type="title"/>
          </p:nvPr>
        </p:nvSpPr>
        <p:spPr>
          <a:xfrm>
            <a:off x="686834" y="1153572"/>
            <a:ext cx="3200400" cy="4461163"/>
          </a:xfrm>
        </p:spPr>
        <p:txBody>
          <a:bodyPr>
            <a:normAutofit/>
          </a:bodyPr>
          <a:lstStyle/>
          <a:p>
            <a:r>
              <a:rPr lang="en-GB" b="1">
                <a:solidFill>
                  <a:srgbClr val="FFFFFF"/>
                </a:solidFill>
              </a:rPr>
              <a:t>What are HTTP Status Codes ?</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01C4A88-DB3B-AE25-8115-AB5141AA6D62}"/>
              </a:ext>
            </a:extLst>
          </p:cNvPr>
          <p:cNvSpPr>
            <a:spLocks noGrp="1"/>
          </p:cNvSpPr>
          <p:nvPr>
            <p:ph idx="1"/>
          </p:nvPr>
        </p:nvSpPr>
        <p:spPr>
          <a:xfrm>
            <a:off x="4447308" y="591344"/>
            <a:ext cx="6906491" cy="5585619"/>
          </a:xfrm>
        </p:spPr>
        <p:txBody>
          <a:bodyPr anchor="ctr">
            <a:normAutofit/>
          </a:bodyPr>
          <a:lstStyle/>
          <a:p>
            <a:pPr marL="0" indent="0" fontAlgn="base">
              <a:buNone/>
            </a:pPr>
            <a:r>
              <a:rPr lang="en-GB" sz="2400" dirty="0"/>
              <a:t>The </a:t>
            </a:r>
            <a:r>
              <a:rPr lang="en-GB" sz="2400" b="1" i="1" u="sng" dirty="0">
                <a:hlinkClick r:id="rId2"/>
              </a:rPr>
              <a:t>HTTP status code</a:t>
            </a:r>
            <a:r>
              <a:rPr lang="en-GB" sz="2400" i="1" dirty="0"/>
              <a:t> is a response made by the server to the client's request. </a:t>
            </a:r>
            <a:r>
              <a:rPr lang="en-GB" sz="2400" dirty="0"/>
              <a:t>These are three-digit codes. There are over </a:t>
            </a:r>
            <a:r>
              <a:rPr lang="en-GB" sz="2400" b="1" dirty="0"/>
              <a:t>60 status codes</a:t>
            </a:r>
            <a:r>
              <a:rPr lang="en-GB" sz="2400" dirty="0"/>
              <a:t>, but they fall into five main categories:</a:t>
            </a:r>
          </a:p>
          <a:p>
            <a:pPr fontAlgn="base"/>
            <a:r>
              <a:rPr lang="en-GB" sz="2400" dirty="0"/>
              <a:t>HTTP Protocol is used everywhere from the server page to each service communication, deploying service to monitoring service. HTTP codes give an extension of</a:t>
            </a:r>
            <a:r>
              <a:rPr lang="en-GB" sz="2400" u="sng" dirty="0">
                <a:hlinkClick r:id="rId3"/>
              </a:rPr>
              <a:t> HTTP protocol</a:t>
            </a:r>
            <a:r>
              <a:rPr lang="en-GB" sz="2400" dirty="0"/>
              <a:t> to debug network problems using curl, telnet able to check server availability, service responses</a:t>
            </a:r>
          </a:p>
          <a:p>
            <a:pPr fontAlgn="base"/>
            <a:r>
              <a:rPr lang="en-GB" sz="2400" dirty="0"/>
              <a:t>HTTP status code is used for search engine optimization of how your pages get indexed, as well as how search engines perceive the performance of your site</a:t>
            </a:r>
            <a:r>
              <a:rPr lang="en-US" sz="2400" dirty="0"/>
              <a:t>.</a:t>
            </a:r>
            <a:endParaRPr lang="en-GB" sz="2400" dirty="0"/>
          </a:p>
        </p:txBody>
      </p:sp>
    </p:spTree>
    <p:extLst>
      <p:ext uri="{BB962C8B-B14F-4D97-AF65-F5344CB8AC3E}">
        <p14:creationId xmlns:p14="http://schemas.microsoft.com/office/powerpoint/2010/main" val="2308012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24973-3B5D-4F70-7750-9FE1275DE0DE}"/>
              </a:ext>
            </a:extLst>
          </p:cNvPr>
          <p:cNvSpPr>
            <a:spLocks noGrp="1"/>
          </p:cNvSpPr>
          <p:nvPr>
            <p:ph type="title"/>
          </p:nvPr>
        </p:nvSpPr>
        <p:spPr/>
        <p:txBody>
          <a:bodyPr/>
          <a:lstStyle/>
          <a:p>
            <a:r>
              <a:rPr lang="en-GB" b="1" dirty="0"/>
              <a:t>HTTP Response Status Codes</a:t>
            </a:r>
            <a:endParaRPr lang="en-US" dirty="0"/>
          </a:p>
        </p:txBody>
      </p:sp>
      <p:sp>
        <p:nvSpPr>
          <p:cNvPr id="3" name="Content Placeholder 2">
            <a:extLst>
              <a:ext uri="{FF2B5EF4-FFF2-40B4-BE49-F238E27FC236}">
                <a16:creationId xmlns:a16="http://schemas.microsoft.com/office/drawing/2014/main" id="{3124149B-5D6A-08EB-9A11-7B173F810986}"/>
              </a:ext>
            </a:extLst>
          </p:cNvPr>
          <p:cNvSpPr>
            <a:spLocks noGrp="1"/>
          </p:cNvSpPr>
          <p:nvPr>
            <p:ph idx="1"/>
          </p:nvPr>
        </p:nvSpPr>
        <p:spPr/>
        <p:txBody>
          <a:bodyPr/>
          <a:lstStyle/>
          <a:p>
            <a:pPr fontAlgn="base"/>
            <a:r>
              <a:rPr lang="en-GB" b="1" dirty="0"/>
              <a:t>1xx - </a:t>
            </a:r>
            <a:r>
              <a:rPr lang="en-GB" dirty="0"/>
              <a:t>Informational Response (These status codes are all about the information received by the server when a request is made).</a:t>
            </a:r>
          </a:p>
          <a:p>
            <a:pPr fontAlgn="base"/>
            <a:r>
              <a:rPr lang="en-GB" b="1" dirty="0"/>
              <a:t>2xx -</a:t>
            </a:r>
            <a:r>
              <a:rPr lang="en-GB" dirty="0"/>
              <a:t> Success (This status code depicts that the request made has been fulfilled by the server and the expected response has been achieved).</a:t>
            </a:r>
          </a:p>
          <a:p>
            <a:pPr fontAlgn="base"/>
            <a:r>
              <a:rPr lang="en-GB" b="1" dirty="0"/>
              <a:t>3xx -</a:t>
            </a:r>
            <a:r>
              <a:rPr lang="en-GB" dirty="0"/>
              <a:t> Redirection (The requested URL is redirected elsewhere).</a:t>
            </a:r>
          </a:p>
          <a:p>
            <a:pPr fontAlgn="base"/>
            <a:r>
              <a:rPr lang="en-GB" b="1" dirty="0"/>
              <a:t>4xx - </a:t>
            </a:r>
            <a:r>
              <a:rPr lang="en-GB" dirty="0"/>
              <a:t>Client Errors (This indicates that the page is not found).</a:t>
            </a:r>
          </a:p>
          <a:p>
            <a:pPr fontAlgn="base"/>
            <a:r>
              <a:rPr lang="en-GB" b="1" dirty="0"/>
              <a:t>5xx - </a:t>
            </a:r>
            <a:r>
              <a:rPr lang="en-GB" dirty="0"/>
              <a:t>Server Errors (A request made by the client but the server fails to complete the request). </a:t>
            </a:r>
          </a:p>
          <a:p>
            <a:endParaRPr lang="en-US" dirty="0"/>
          </a:p>
        </p:txBody>
      </p:sp>
    </p:spTree>
    <p:extLst>
      <p:ext uri="{BB962C8B-B14F-4D97-AF65-F5344CB8AC3E}">
        <p14:creationId xmlns:p14="http://schemas.microsoft.com/office/powerpoint/2010/main" val="2797183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D33B6E-D864-4951-7DA2-38576880F83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a:solidFill>
                  <a:srgbClr val="FFFFFF"/>
                </a:solidFill>
                <a:latin typeface="+mj-lt"/>
                <a:ea typeface="+mj-ea"/>
                <a:cs typeface="+mj-cs"/>
              </a:rPr>
              <a:t>Informational Responses</a:t>
            </a:r>
            <a:br>
              <a:rPr lang="en-US" sz="3700" b="1" kern="1200">
                <a:solidFill>
                  <a:srgbClr val="FFFFFF"/>
                </a:solidFill>
                <a:latin typeface="+mj-lt"/>
                <a:ea typeface="+mj-ea"/>
                <a:cs typeface="+mj-cs"/>
              </a:rPr>
            </a:br>
            <a:endParaRPr lang="en-US" sz="3700" kern="1200">
              <a:solidFill>
                <a:srgbClr val="FFFFFF"/>
              </a:solidFill>
              <a:latin typeface="+mj-lt"/>
              <a:ea typeface="+mj-ea"/>
              <a:cs typeface="+mj-cs"/>
            </a:endParaRPr>
          </a:p>
        </p:txBody>
      </p:sp>
      <p:pic>
        <p:nvPicPr>
          <p:cNvPr id="5" name="Content Placeholder 4" descr="A screenshot of a web page&#10;&#10;AI-generated content may be incorrect.">
            <a:extLst>
              <a:ext uri="{FF2B5EF4-FFF2-40B4-BE49-F238E27FC236}">
                <a16:creationId xmlns:a16="http://schemas.microsoft.com/office/drawing/2014/main" id="{6AAA6B76-717A-7AA2-D13C-4E3BDF051563}"/>
              </a:ext>
            </a:extLst>
          </p:cNvPr>
          <p:cNvPicPr>
            <a:picLocks noGrp="1" noChangeAspect="1"/>
          </p:cNvPicPr>
          <p:nvPr>
            <p:ph idx="1"/>
          </p:nvPr>
        </p:nvPicPr>
        <p:blipFill>
          <a:blip r:embed="rId2"/>
          <a:stretch>
            <a:fillRect/>
          </a:stretch>
        </p:blipFill>
        <p:spPr>
          <a:xfrm>
            <a:off x="1855848" y="1966293"/>
            <a:ext cx="8480303" cy="4452160"/>
          </a:xfrm>
          <a:prstGeom prst="rect">
            <a:avLst/>
          </a:prstGeom>
        </p:spPr>
      </p:pic>
    </p:spTree>
    <p:extLst>
      <p:ext uri="{BB962C8B-B14F-4D97-AF65-F5344CB8AC3E}">
        <p14:creationId xmlns:p14="http://schemas.microsoft.com/office/powerpoint/2010/main" val="799208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9C93746-54ED-782F-F13B-8838EDADB7C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a:solidFill>
                  <a:srgbClr val="FFFFFF"/>
                </a:solidFill>
                <a:latin typeface="+mj-lt"/>
                <a:ea typeface="+mj-ea"/>
                <a:cs typeface="+mj-cs"/>
              </a:rPr>
              <a:t>Success Response</a:t>
            </a:r>
            <a:br>
              <a:rPr lang="en-US" sz="4000" b="1" kern="1200">
                <a:solidFill>
                  <a:srgbClr val="FFFFFF"/>
                </a:solidFill>
                <a:latin typeface="+mj-lt"/>
                <a:ea typeface="+mj-ea"/>
                <a:cs typeface="+mj-cs"/>
              </a:rPr>
            </a:br>
            <a:endParaRPr lang="en-US" sz="4000" kern="1200">
              <a:solidFill>
                <a:srgbClr val="FFFFFF"/>
              </a:solidFill>
              <a:latin typeface="+mj-lt"/>
              <a:ea typeface="+mj-ea"/>
              <a:cs typeface="+mj-cs"/>
            </a:endParaRPr>
          </a:p>
        </p:txBody>
      </p:sp>
      <p:pic>
        <p:nvPicPr>
          <p:cNvPr id="5" name="Content Placeholder 4" descr="A screenshot of a computer&#10;&#10;AI-generated content may be incorrect.">
            <a:extLst>
              <a:ext uri="{FF2B5EF4-FFF2-40B4-BE49-F238E27FC236}">
                <a16:creationId xmlns:a16="http://schemas.microsoft.com/office/drawing/2014/main" id="{A24A6E90-7BB4-7A4B-DE8A-BC3FB5BE73A9}"/>
              </a:ext>
            </a:extLst>
          </p:cNvPr>
          <p:cNvPicPr>
            <a:picLocks noChangeAspect="1"/>
          </p:cNvPicPr>
          <p:nvPr/>
        </p:nvPicPr>
        <p:blipFill>
          <a:blip r:embed="rId2"/>
          <a:stretch>
            <a:fillRect/>
          </a:stretch>
        </p:blipFill>
        <p:spPr>
          <a:xfrm>
            <a:off x="4502428" y="845796"/>
            <a:ext cx="7225748" cy="5166407"/>
          </a:xfrm>
          <a:prstGeom prst="rect">
            <a:avLst/>
          </a:prstGeom>
        </p:spPr>
      </p:pic>
    </p:spTree>
    <p:extLst>
      <p:ext uri="{BB962C8B-B14F-4D97-AF65-F5344CB8AC3E}">
        <p14:creationId xmlns:p14="http://schemas.microsoft.com/office/powerpoint/2010/main" val="3833318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43D76F-7B02-1E9D-2D1C-E585C37F4200}"/>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a:solidFill>
                  <a:srgbClr val="FFFFFF"/>
                </a:solidFill>
                <a:latin typeface="+mj-lt"/>
                <a:ea typeface="+mj-ea"/>
                <a:cs typeface="+mj-cs"/>
              </a:rPr>
              <a:t>Redirection Messages</a:t>
            </a:r>
            <a:br>
              <a:rPr lang="en-US" sz="3600" b="1" kern="1200">
                <a:solidFill>
                  <a:srgbClr val="FFFFFF"/>
                </a:solidFill>
                <a:latin typeface="+mj-lt"/>
                <a:ea typeface="+mj-ea"/>
                <a:cs typeface="+mj-cs"/>
              </a:rPr>
            </a:br>
            <a:endParaRPr lang="en-US" sz="3600" kern="1200">
              <a:solidFill>
                <a:srgbClr val="FFFFFF"/>
              </a:solidFill>
              <a:latin typeface="+mj-lt"/>
              <a:ea typeface="+mj-ea"/>
              <a:cs typeface="+mj-cs"/>
            </a:endParaRPr>
          </a:p>
        </p:txBody>
      </p:sp>
      <p:pic>
        <p:nvPicPr>
          <p:cNvPr id="5" name="Content Placeholder 4" descr="A screenshot of a computer&#10;&#10;AI-generated content may be incorrect.">
            <a:extLst>
              <a:ext uri="{FF2B5EF4-FFF2-40B4-BE49-F238E27FC236}">
                <a16:creationId xmlns:a16="http://schemas.microsoft.com/office/drawing/2014/main" id="{BCAFF5F1-B969-DF54-EA83-C4064DB34364}"/>
              </a:ext>
            </a:extLst>
          </p:cNvPr>
          <p:cNvPicPr>
            <a:picLocks noGrp="1" noChangeAspect="1"/>
          </p:cNvPicPr>
          <p:nvPr>
            <p:ph idx="1"/>
          </p:nvPr>
        </p:nvPicPr>
        <p:blipFill>
          <a:blip r:embed="rId2"/>
          <a:stretch>
            <a:fillRect/>
          </a:stretch>
        </p:blipFill>
        <p:spPr>
          <a:xfrm>
            <a:off x="4792673" y="643466"/>
            <a:ext cx="6749986" cy="5568739"/>
          </a:xfrm>
          <a:prstGeom prst="rect">
            <a:avLst/>
          </a:prstGeom>
        </p:spPr>
      </p:pic>
    </p:spTree>
    <p:extLst>
      <p:ext uri="{BB962C8B-B14F-4D97-AF65-F5344CB8AC3E}">
        <p14:creationId xmlns:p14="http://schemas.microsoft.com/office/powerpoint/2010/main" val="3634511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E30543-29F6-0751-317E-BF18A3228BD8}"/>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b="1" kern="1200">
                <a:solidFill>
                  <a:schemeClr val="tx1"/>
                </a:solidFill>
                <a:latin typeface="+mj-lt"/>
                <a:ea typeface="+mj-ea"/>
                <a:cs typeface="+mj-cs"/>
              </a:rPr>
              <a:t>Client Error Responses</a:t>
            </a:r>
            <a:endParaRPr lang="en-US" sz="4800" kern="1200">
              <a:solidFill>
                <a:schemeClr val="tx1"/>
              </a:solidFill>
              <a:latin typeface="+mj-lt"/>
              <a:ea typeface="+mj-ea"/>
              <a:cs typeface="+mj-cs"/>
            </a:endParaRP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Content Placeholder 4" descr="A screenshot of a white page&#10;&#10;AI-generated content may be incorrect.">
            <a:extLst>
              <a:ext uri="{FF2B5EF4-FFF2-40B4-BE49-F238E27FC236}">
                <a16:creationId xmlns:a16="http://schemas.microsoft.com/office/drawing/2014/main" id="{3BFA3830-5181-F79C-8AAD-C9C3559C82C0}"/>
              </a:ext>
            </a:extLst>
          </p:cNvPr>
          <p:cNvPicPr>
            <a:picLocks noGrp="1" noChangeAspect="1"/>
          </p:cNvPicPr>
          <p:nvPr>
            <p:ph idx="1"/>
          </p:nvPr>
        </p:nvPicPr>
        <p:blipFill>
          <a:blip r:embed="rId2"/>
          <a:stretch>
            <a:fillRect/>
          </a:stretch>
        </p:blipFill>
        <p:spPr>
          <a:xfrm>
            <a:off x="4883659" y="479377"/>
            <a:ext cx="6847632" cy="6008797"/>
          </a:xfrm>
          <a:prstGeom prst="rect">
            <a:avLst/>
          </a:prstGeom>
        </p:spPr>
      </p:pic>
    </p:spTree>
    <p:extLst>
      <p:ext uri="{BB962C8B-B14F-4D97-AF65-F5344CB8AC3E}">
        <p14:creationId xmlns:p14="http://schemas.microsoft.com/office/powerpoint/2010/main" val="2455301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90CD31-A819-8E99-EDC4-D951521D3B2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a:solidFill>
                  <a:srgbClr val="FFFFFF"/>
                </a:solidFill>
                <a:latin typeface="+mj-lt"/>
                <a:ea typeface="+mj-ea"/>
                <a:cs typeface="+mj-cs"/>
              </a:rPr>
              <a:t>Server Error Responses</a:t>
            </a:r>
            <a:endParaRPr lang="en-US" sz="3600" kern="1200">
              <a:solidFill>
                <a:srgbClr val="FFFFFF"/>
              </a:solidFill>
              <a:latin typeface="+mj-lt"/>
              <a:ea typeface="+mj-ea"/>
              <a:cs typeface="+mj-cs"/>
            </a:endParaRPr>
          </a:p>
        </p:txBody>
      </p:sp>
      <p:pic>
        <p:nvPicPr>
          <p:cNvPr id="5" name="Content Placeholder 4" descr="A screenshot of a computer error message&#10;&#10;AI-generated content may be incorrect.">
            <a:extLst>
              <a:ext uri="{FF2B5EF4-FFF2-40B4-BE49-F238E27FC236}">
                <a16:creationId xmlns:a16="http://schemas.microsoft.com/office/drawing/2014/main" id="{606F0663-DEB5-7F9F-3848-49A9C635DF7D}"/>
              </a:ext>
            </a:extLst>
          </p:cNvPr>
          <p:cNvPicPr>
            <a:picLocks noGrp="1" noChangeAspect="1"/>
          </p:cNvPicPr>
          <p:nvPr>
            <p:ph idx="1"/>
          </p:nvPr>
        </p:nvPicPr>
        <p:blipFill>
          <a:blip r:embed="rId2"/>
          <a:stretch>
            <a:fillRect/>
          </a:stretch>
        </p:blipFill>
        <p:spPr>
          <a:xfrm>
            <a:off x="4289547" y="194597"/>
            <a:ext cx="7371858" cy="6468806"/>
          </a:xfrm>
          <a:prstGeom prst="rect">
            <a:avLst/>
          </a:prstGeom>
        </p:spPr>
      </p:pic>
    </p:spTree>
    <p:extLst>
      <p:ext uri="{BB962C8B-B14F-4D97-AF65-F5344CB8AC3E}">
        <p14:creationId xmlns:p14="http://schemas.microsoft.com/office/powerpoint/2010/main" val="3820505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A09250-75CF-A565-91BF-F1207011E125}"/>
              </a:ext>
            </a:extLst>
          </p:cNvPr>
          <p:cNvSpPr>
            <a:spLocks noGrp="1"/>
          </p:cNvSpPr>
          <p:nvPr>
            <p:ph type="title"/>
          </p:nvPr>
        </p:nvSpPr>
        <p:spPr>
          <a:xfrm>
            <a:off x="793662" y="386930"/>
            <a:ext cx="10066122" cy="1298448"/>
          </a:xfrm>
        </p:spPr>
        <p:txBody>
          <a:bodyPr anchor="b">
            <a:normAutofit/>
          </a:bodyPr>
          <a:lstStyle/>
          <a:p>
            <a:r>
              <a:rPr lang="en-GB" sz="4800" b="1"/>
              <a:t>HTTP headers | Cookie</a:t>
            </a:r>
            <a:endParaRPr lang="en-US" sz="48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7660BE1-7D93-D33D-55D8-472C33073D7F}"/>
              </a:ext>
            </a:extLst>
          </p:cNvPr>
          <p:cNvSpPr>
            <a:spLocks noGrp="1"/>
          </p:cNvSpPr>
          <p:nvPr>
            <p:ph idx="1"/>
          </p:nvPr>
        </p:nvSpPr>
        <p:spPr>
          <a:xfrm>
            <a:off x="793661" y="2599509"/>
            <a:ext cx="4530898" cy="3639450"/>
          </a:xfrm>
        </p:spPr>
        <p:txBody>
          <a:bodyPr anchor="ctr">
            <a:normAutofit/>
          </a:bodyPr>
          <a:lstStyle/>
          <a:p>
            <a:r>
              <a:rPr lang="en-GB" sz="2000"/>
              <a:t>HTTP headers are used to pass additional information with HTTP response or HTTP requests. A cookie is an HTTP request header i.e. used in the requests sent by the user to the server. It contains the cookies previously sent by the server using one or more </a:t>
            </a:r>
            <a:r>
              <a:rPr lang="en-GB" sz="2000" i="1"/>
              <a:t>set-cookie </a:t>
            </a:r>
            <a:r>
              <a:rPr lang="en-GB" sz="2000"/>
              <a:t>headers. It is an optional header.</a:t>
            </a:r>
            <a:endParaRPr lang="en-US" sz="2000"/>
          </a:p>
        </p:txBody>
      </p:sp>
      <p:pic>
        <p:nvPicPr>
          <p:cNvPr id="5" name="Picture 4" descr="A screenshot of a computer code&#10;&#10;AI-generated content may be incorrect.">
            <a:extLst>
              <a:ext uri="{FF2B5EF4-FFF2-40B4-BE49-F238E27FC236}">
                <a16:creationId xmlns:a16="http://schemas.microsoft.com/office/drawing/2014/main" id="{AED0F8BB-B41C-BA8D-36C0-FBD045DDD851}"/>
              </a:ext>
            </a:extLst>
          </p:cNvPr>
          <p:cNvPicPr>
            <a:picLocks noChangeAspect="1"/>
          </p:cNvPicPr>
          <p:nvPr/>
        </p:nvPicPr>
        <p:blipFill>
          <a:blip r:embed="rId2"/>
          <a:stretch>
            <a:fillRect/>
          </a:stretch>
        </p:blipFill>
        <p:spPr>
          <a:xfrm>
            <a:off x="5911532" y="2680413"/>
            <a:ext cx="5150277" cy="3321927"/>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1303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A8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BF02FAAA-9C3E-3B69-D120-A2D1C88E2DA3}"/>
              </a:ext>
            </a:extLst>
          </p:cNvPr>
          <p:cNvPicPr>
            <a:picLocks noGrp="1" noChangeAspect="1"/>
          </p:cNvPicPr>
          <p:nvPr>
            <p:ph idx="1"/>
          </p:nvPr>
        </p:nvPicPr>
        <p:blipFill>
          <a:blip r:embed="rId2"/>
          <a:stretch>
            <a:fillRect/>
          </a:stretch>
        </p:blipFill>
        <p:spPr>
          <a:xfrm>
            <a:off x="2894238" y="643467"/>
            <a:ext cx="6403524" cy="5571066"/>
          </a:xfrm>
          <a:prstGeom prst="rect">
            <a:avLst/>
          </a:prstGeom>
        </p:spPr>
      </p:pic>
    </p:spTree>
    <p:extLst>
      <p:ext uri="{BB962C8B-B14F-4D97-AF65-F5344CB8AC3E}">
        <p14:creationId xmlns:p14="http://schemas.microsoft.com/office/powerpoint/2010/main" val="1167639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B3BA52-19C7-9B7F-8C6B-EE7AF69A3E0F}"/>
              </a:ext>
            </a:extLst>
          </p:cNvPr>
          <p:cNvSpPr>
            <a:spLocks noGrp="1"/>
          </p:cNvSpPr>
          <p:nvPr>
            <p:ph type="title"/>
          </p:nvPr>
        </p:nvSpPr>
        <p:spPr>
          <a:xfrm>
            <a:off x="1043631" y="809898"/>
            <a:ext cx="9942716" cy="1554480"/>
          </a:xfrm>
        </p:spPr>
        <p:txBody>
          <a:bodyPr anchor="ctr">
            <a:normAutofit/>
          </a:bodyPr>
          <a:lstStyle/>
          <a:p>
            <a:r>
              <a:rPr lang="en-GB" sz="4100" b="1"/>
              <a:t>SSL vs HTTPS - Which One is More Secure?</a:t>
            </a:r>
            <a:br>
              <a:rPr lang="en-GB" sz="4100" b="1"/>
            </a:br>
            <a:r>
              <a:rPr lang="en-GB" sz="4100" b="1"/>
              <a:t>HTTPS</a:t>
            </a:r>
            <a:endParaRPr lang="en-US" sz="4100"/>
          </a:p>
        </p:txBody>
      </p:sp>
      <p:sp>
        <p:nvSpPr>
          <p:cNvPr id="3" name="Content Placeholder 2">
            <a:extLst>
              <a:ext uri="{FF2B5EF4-FFF2-40B4-BE49-F238E27FC236}">
                <a16:creationId xmlns:a16="http://schemas.microsoft.com/office/drawing/2014/main" id="{F853189E-A93D-750A-57C1-7FFEE8EDB064}"/>
              </a:ext>
            </a:extLst>
          </p:cNvPr>
          <p:cNvSpPr>
            <a:spLocks noGrp="1"/>
          </p:cNvSpPr>
          <p:nvPr>
            <p:ph idx="1"/>
          </p:nvPr>
        </p:nvSpPr>
        <p:spPr>
          <a:xfrm>
            <a:off x="1043631" y="2508070"/>
            <a:ext cx="9941319" cy="3124658"/>
          </a:xfrm>
        </p:spPr>
        <p:txBody>
          <a:bodyPr anchor="ctr">
            <a:normAutofit/>
          </a:bodyPr>
          <a:lstStyle/>
          <a:p>
            <a:r>
              <a:rPr lang="en-GB" sz="2000" dirty="0"/>
              <a:t>HTTPS stands for Hypertext Transfer Protocol Secure. It is the basic Internet protocol used by websites on web browsers. </a:t>
            </a:r>
            <a:r>
              <a:rPr lang="en-GB" sz="2000" u="sng" dirty="0">
                <a:hlinkClick r:id="rId2"/>
              </a:rPr>
              <a:t>HTTPS </a:t>
            </a:r>
            <a:r>
              <a:rPr lang="en-GB" sz="2000" dirty="0"/>
              <a:t>is the secure version of the </a:t>
            </a:r>
            <a:r>
              <a:rPr lang="en-GB" sz="2000" u="sng" dirty="0">
                <a:hlinkClick r:id="rId3"/>
              </a:rPr>
              <a:t>HTTP protocol</a:t>
            </a:r>
            <a:r>
              <a:rPr lang="en-GB" sz="2000" dirty="0"/>
              <a:t>. It is encrypted so it keeps all data transferred with the protocol completely safe. The HTTPS protocol is highly useful in places like logging in to a personal account or using banking credentials for a financial platform. HTTPS enables the information transferred between the web browser and the server to be confidential, and it can only be viewed by authorized users only. In the normal HTTP protocol, the information between the browser and the server is divided in the form of data packets and then transferred, so it becomes easy for attackers to sniff these data packets and then read out the sensitive information. But this cannot take place in HTTPS protocol.</a:t>
            </a:r>
            <a:endParaRPr lang="en-US"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64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09F081-0B79-1635-54BA-A788A0FC6ADA}"/>
              </a:ext>
            </a:extLst>
          </p:cNvPr>
          <p:cNvSpPr>
            <a:spLocks noGrp="1"/>
          </p:cNvSpPr>
          <p:nvPr>
            <p:ph type="title"/>
          </p:nvPr>
        </p:nvSpPr>
        <p:spPr>
          <a:xfrm>
            <a:off x="808638" y="386930"/>
            <a:ext cx="9236700" cy="1188950"/>
          </a:xfrm>
        </p:spPr>
        <p:txBody>
          <a:bodyPr anchor="b">
            <a:normAutofit/>
          </a:bodyPr>
          <a:lstStyle/>
          <a:p>
            <a:r>
              <a:rPr lang="en-GB" sz="5400" b="1"/>
              <a:t>SSL</a:t>
            </a:r>
            <a:endParaRPr lang="en-US"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32D68C-BDA1-D1DA-350C-BA8ECBEE53BB}"/>
              </a:ext>
            </a:extLst>
          </p:cNvPr>
          <p:cNvSpPr>
            <a:spLocks noGrp="1"/>
          </p:cNvSpPr>
          <p:nvPr>
            <p:ph idx="1"/>
          </p:nvPr>
        </p:nvSpPr>
        <p:spPr>
          <a:xfrm>
            <a:off x="793660" y="2599509"/>
            <a:ext cx="10143668" cy="3435531"/>
          </a:xfrm>
        </p:spPr>
        <p:txBody>
          <a:bodyPr anchor="ctr">
            <a:normAutofit/>
          </a:bodyPr>
          <a:lstStyle/>
          <a:p>
            <a:pPr fontAlgn="base"/>
            <a:r>
              <a:rPr lang="en-GB" sz="2400"/>
              <a:t>The </a:t>
            </a:r>
            <a:r>
              <a:rPr lang="en-GB" sz="2400" u="sng">
                <a:hlinkClick r:id="rId2"/>
              </a:rPr>
              <a:t>SSL </a:t>
            </a:r>
            <a:r>
              <a:rPr lang="en-GB" sz="2400"/>
              <a:t>stands for secure socket layers. SSL is basically a part of HTTPS protocol which is responsible for the encryption of the Internet security protocol. It is responsible for the integrity of data, the confidentiality of data, and its availability to authorized users only. SSL is the main protocol that performs the encryption task in HTTPS protocol to convert it into a random string of alphabets and numbers. SSL has a popular handshake authentication procedure where it authenticates and only allows authorized devices to perform the communication over the Internet. SSL also performs digital signatures on each of the conversations that take place over the Internet. </a:t>
            </a:r>
          </a:p>
          <a:p>
            <a:pPr marL="0" indent="0">
              <a:buNone/>
            </a:pPr>
            <a:endParaRPr lang="en-US" sz="2400"/>
          </a:p>
        </p:txBody>
      </p:sp>
    </p:spTree>
    <p:extLst>
      <p:ext uri="{BB962C8B-B14F-4D97-AF65-F5344CB8AC3E}">
        <p14:creationId xmlns:p14="http://schemas.microsoft.com/office/powerpoint/2010/main" val="58873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236EB-1E87-DB8F-67FC-A642059F513B}"/>
              </a:ext>
            </a:extLst>
          </p:cNvPr>
          <p:cNvSpPr>
            <a:spLocks noGrp="1"/>
          </p:cNvSpPr>
          <p:nvPr>
            <p:ph type="title"/>
          </p:nvPr>
        </p:nvSpPr>
        <p:spPr>
          <a:xfrm>
            <a:off x="793662" y="386930"/>
            <a:ext cx="10066122" cy="1298448"/>
          </a:xfrm>
        </p:spPr>
        <p:txBody>
          <a:bodyPr anchor="b">
            <a:normAutofit/>
          </a:bodyPr>
          <a:lstStyle/>
          <a:p>
            <a:r>
              <a:rPr lang="en-GB" sz="4800" b="1"/>
              <a:t>SSL or Https Which Is More Secure?</a:t>
            </a:r>
            <a:endParaRPr lang="en-US" sz="4800"/>
          </a:p>
        </p:txBody>
      </p:sp>
      <p:sp>
        <p:nvSpPr>
          <p:cNvPr id="2057" name="Rectangle 205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8E9FE1-BEF9-0E32-C377-511FE758493F}"/>
              </a:ext>
            </a:extLst>
          </p:cNvPr>
          <p:cNvSpPr>
            <a:spLocks noGrp="1"/>
          </p:cNvSpPr>
          <p:nvPr>
            <p:ph idx="1"/>
          </p:nvPr>
        </p:nvSpPr>
        <p:spPr>
          <a:xfrm>
            <a:off x="380628" y="2389218"/>
            <a:ext cx="5150277" cy="3639450"/>
          </a:xfrm>
        </p:spPr>
        <p:txBody>
          <a:bodyPr anchor="ctr">
            <a:normAutofit fontScale="92500" lnSpcReduction="20000"/>
          </a:bodyPr>
          <a:lstStyle/>
          <a:p>
            <a:pPr fontAlgn="base"/>
            <a:r>
              <a:rPr lang="en-GB" sz="1400" dirty="0"/>
              <a:t>Both HTTPS and SSL perform the same thing of making the online transactions and conversations to be more secure and encrypted over the Internet. HTTPS and SSL are similar things but not the same.</a:t>
            </a:r>
          </a:p>
          <a:p>
            <a:pPr fontAlgn="base"/>
            <a:r>
              <a:rPr lang="en-GB" sz="1400" dirty="0"/>
              <a:t>HTTPS basically a standard Internet protocol that makes the online data to be encrypted and is a more advanced and secure version of the HTTP protocol.</a:t>
            </a:r>
          </a:p>
          <a:p>
            <a:pPr fontAlgn="base"/>
            <a:r>
              <a:rPr lang="en-GB" sz="1400" dirty="0"/>
              <a:t>SSL is a part of the HTTPS protocol that performs the encryption of the data.</a:t>
            </a:r>
          </a:p>
          <a:p>
            <a:pPr fontAlgn="base"/>
            <a:r>
              <a:rPr lang="en-GB" sz="1400" dirty="0"/>
              <a:t>HTTPS uses a combination of technologies like </a:t>
            </a:r>
            <a:r>
              <a:rPr lang="en-GB" sz="1400" u="sng" dirty="0">
                <a:hlinkClick r:id="rId2"/>
              </a:rPr>
              <a:t>HTTP</a:t>
            </a:r>
            <a:r>
              <a:rPr lang="en-GB" sz="1400" dirty="0"/>
              <a:t> and SLL/TLS together to perform the encryption whereas the SSL protocol is a cryptographic protocol that will encrypt online communication.</a:t>
            </a:r>
          </a:p>
          <a:p>
            <a:pPr fontAlgn="base"/>
            <a:r>
              <a:rPr lang="en-GB" sz="1400" dirty="0"/>
              <a:t>HTTPS and SSL are fundamentally and structurally similar things and they perform operations but they are quite different in their approach.</a:t>
            </a:r>
          </a:p>
          <a:p>
            <a:pPr fontAlgn="base"/>
            <a:r>
              <a:rPr lang="en-GB" sz="1400" dirty="0"/>
              <a:t>SSL is a secure protocol that provides safer conversations between two or more parties across the internet. It works on top of the HTTP to provide security. In terms of security, SSL is more secure than HTTPS.</a:t>
            </a:r>
          </a:p>
        </p:txBody>
      </p:sp>
      <p:pic>
        <p:nvPicPr>
          <p:cNvPr id="2050" name="Picture 2">
            <a:extLst>
              <a:ext uri="{FF2B5EF4-FFF2-40B4-BE49-F238E27FC236}">
                <a16:creationId xmlns:a16="http://schemas.microsoft.com/office/drawing/2014/main" id="{B6DB8D5C-50A5-96FB-2460-B613E1BC1D9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11532" y="3411848"/>
            <a:ext cx="5150277" cy="1859057"/>
          </a:xfrm>
          <a:prstGeom prst="rect">
            <a:avLst/>
          </a:prstGeom>
          <a:noFill/>
          <a:extLst>
            <a:ext uri="{909E8E84-426E-40DD-AFC4-6F175D3DCCD1}">
              <a14:hiddenFill xmlns:a14="http://schemas.microsoft.com/office/drawing/2010/main">
                <a:solidFill>
                  <a:srgbClr val="FFFFFF"/>
                </a:solidFill>
              </a14:hiddenFill>
            </a:ext>
          </a:extLst>
        </p:spPr>
      </p:pic>
      <p:sp>
        <p:nvSpPr>
          <p:cNvPr id="2061" name="Rectangle 206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1816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10199</TotalTime>
  <Words>1636</Words>
  <Application>Microsoft Macintosh PowerPoint</Application>
  <PresentationFormat>Widescreen</PresentationFormat>
  <Paragraphs>77</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Calibri</vt:lpstr>
      <vt:lpstr>Office Theme</vt:lpstr>
      <vt:lpstr>Week 3. HTTP in Depth</vt:lpstr>
      <vt:lpstr>Content</vt:lpstr>
      <vt:lpstr>PowerPoint Presentation</vt:lpstr>
      <vt:lpstr>How HTTP Works: </vt:lpstr>
      <vt:lpstr>What is HyperText? </vt:lpstr>
      <vt:lpstr>HTTP methods (GET, POST, PUT, DELETE) </vt:lpstr>
      <vt:lpstr>The GET Method</vt:lpstr>
      <vt:lpstr>The POST Method </vt:lpstr>
      <vt:lpstr>The PUT Method</vt:lpstr>
      <vt:lpstr>The HEAD Method</vt:lpstr>
      <vt:lpstr>What are HTTP Status Codes ?</vt:lpstr>
      <vt:lpstr>HTTP Response Status Codes</vt:lpstr>
      <vt:lpstr>Informational Responses </vt:lpstr>
      <vt:lpstr>Success Response </vt:lpstr>
      <vt:lpstr>Redirection Messages </vt:lpstr>
      <vt:lpstr>Client Error Responses</vt:lpstr>
      <vt:lpstr>Server Error Responses</vt:lpstr>
      <vt:lpstr>HTTP headers | Cookie</vt:lpstr>
      <vt:lpstr>PowerPoint Presentation</vt:lpstr>
      <vt:lpstr>SSL vs HTTPS - Which One is More Secure? HTTPS</vt:lpstr>
      <vt:lpstr>SSL</vt:lpstr>
      <vt:lpstr>SSL or Https Which Is More Secure?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Shakhnoza Muksimova</dc:creator>
  <cp:lastModifiedBy>Shakhnoza Muksimova</cp:lastModifiedBy>
  <cp:revision>1</cp:revision>
  <dcterms:created xsi:type="dcterms:W3CDTF">2025-09-19T01:41:51Z</dcterms:created>
  <dcterms:modified xsi:type="dcterms:W3CDTF">2025-09-26T03:40:55Z</dcterms:modified>
</cp:coreProperties>
</file>